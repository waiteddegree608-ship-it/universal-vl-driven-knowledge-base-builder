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1"/>
  </p:notesMasterIdLst>
  <p:sldIdLst>
    <p:sldId id="256" r:id="rId3"/>
    <p:sldId id="257" r:id="rId4"/>
    <p:sldId id="258" r:id="rId5"/>
    <p:sldId id="259" r:id="rId6"/>
    <p:sldId id="260" r:id="rId7"/>
    <p:sldId id="261" r:id="rId8"/>
    <p:sldId id="289" r:id="rId9"/>
    <p:sldId id="290" r:id="rId10"/>
    <p:sldId id="291" r:id="rId11"/>
    <p:sldId id="292" r:id="rId12"/>
    <p:sldId id="293" r:id="rId13"/>
    <p:sldId id="262" r:id="rId14"/>
    <p:sldId id="263" r:id="rId15"/>
    <p:sldId id="267" r:id="rId16"/>
    <p:sldId id="264" r:id="rId17"/>
    <p:sldId id="265" r:id="rId18"/>
    <p:sldId id="268" r:id="rId19"/>
    <p:sldId id="266" r:id="rId20"/>
    <p:sldId id="294" r:id="rId21"/>
    <p:sldId id="269" r:id="rId22"/>
    <p:sldId id="270" r:id="rId23"/>
    <p:sldId id="271" r:id="rId24"/>
    <p:sldId id="272" r:id="rId25"/>
    <p:sldId id="274" r:id="rId26"/>
    <p:sldId id="275" r:id="rId27"/>
    <p:sldId id="273" r:id="rId28"/>
    <p:sldId id="276" r:id="rId29"/>
    <p:sldId id="285" r:id="rId30"/>
    <p:sldId id="286" r:id="rId31"/>
    <p:sldId id="277" r:id="rId32"/>
    <p:sldId id="278" r:id="rId33"/>
    <p:sldId id="280" r:id="rId34"/>
    <p:sldId id="281" r:id="rId35"/>
    <p:sldId id="282" r:id="rId36"/>
    <p:sldId id="302" r:id="rId37"/>
    <p:sldId id="284" r:id="rId38"/>
    <p:sldId id="287" r:id="rId39"/>
    <p:sldId id="288" r:id="rId40"/>
    <p:sldId id="307" r:id="rId41"/>
    <p:sldId id="303" r:id="rId42"/>
    <p:sldId id="279" r:id="rId43"/>
    <p:sldId id="304" r:id="rId44"/>
    <p:sldId id="305" r:id="rId45"/>
    <p:sldId id="308" r:id="rId46"/>
    <p:sldId id="311" r:id="rId47"/>
    <p:sldId id="312" r:id="rId48"/>
    <p:sldId id="315" r:id="rId49"/>
    <p:sldId id="350" r:id="rId50"/>
    <p:sldId id="352" r:id="rId51"/>
    <p:sldId id="351" r:id="rId52"/>
    <p:sldId id="313" r:id="rId53"/>
    <p:sldId id="316" r:id="rId54"/>
    <p:sldId id="309" r:id="rId55"/>
    <p:sldId id="317" r:id="rId56"/>
    <p:sldId id="318" r:id="rId57"/>
    <p:sldId id="322" r:id="rId58"/>
    <p:sldId id="319" r:id="rId59"/>
    <p:sldId id="323" r:id="rId60"/>
    <p:sldId id="320" r:id="rId61"/>
    <p:sldId id="321" r:id="rId62"/>
    <p:sldId id="324" r:id="rId63"/>
    <p:sldId id="389" r:id="rId64"/>
    <p:sldId id="390" r:id="rId65"/>
    <p:sldId id="391" r:id="rId66"/>
    <p:sldId id="325" r:id="rId67"/>
    <p:sldId id="326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8" r:id="rId77"/>
    <p:sldId id="336" r:id="rId78"/>
    <p:sldId id="337" r:id="rId79"/>
    <p:sldId id="339" r:id="rId80"/>
    <p:sldId id="340" r:id="rId81"/>
    <p:sldId id="341" r:id="rId82"/>
    <p:sldId id="342" r:id="rId83"/>
    <p:sldId id="344" r:id="rId84"/>
    <p:sldId id="345" r:id="rId85"/>
    <p:sldId id="346" r:id="rId86"/>
    <p:sldId id="347" r:id="rId87"/>
    <p:sldId id="348" r:id="rId88"/>
    <p:sldId id="349" r:id="rId89"/>
    <p:sldId id="353" r:id="rId90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6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4AFF0E"/>
    <a:srgbClr val="1997F4"/>
    <a:srgbClr val="FF3300"/>
    <a:srgbClr val="FF3D0C"/>
    <a:srgbClr val="FF4C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500" y="324"/>
      </p:cViewPr>
      <p:guideLst>
        <p:guide orient="horz" pos="2936"/>
        <p:guide pos="21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bleStyles" Target="tableStyles.xml"/><Relationship Id="rId93" Type="http://schemas.openxmlformats.org/officeDocument/2006/relationships/viewProps" Target="viewProps.xml"/><Relationship Id="rId92" Type="http://schemas.openxmlformats.org/officeDocument/2006/relationships/presProps" Target="presProps.xml"/><Relationship Id="rId91" Type="http://schemas.openxmlformats.org/officeDocument/2006/relationships/notesMaster" Target="notesMasters/notesMaster1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26.emf"/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5.emf"/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19.vml.rels><?xml version="1.0" encoding="UTF-8" standalone="yes"?>
<Relationships xmlns="http://schemas.openxmlformats.org/package/2006/relationships"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emf"/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9"/>
          <p:cNvGrpSpPr/>
          <p:nvPr/>
        </p:nvGrpSpPr>
        <p:grpSpPr>
          <a:xfrm>
            <a:off x="0" y="2760663"/>
            <a:ext cx="9151938" cy="4113212"/>
            <a:chOff x="0" y="1739"/>
            <a:chExt cx="5765" cy="2591"/>
          </a:xfrm>
        </p:grpSpPr>
        <p:grpSp>
          <p:nvGrpSpPr>
            <p:cNvPr id="2051" name="Group 17"/>
            <p:cNvGrpSpPr/>
            <p:nvPr/>
          </p:nvGrpSpPr>
          <p:grpSpPr>
            <a:xfrm>
              <a:off x="0" y="3652"/>
              <a:ext cx="5765" cy="678"/>
              <a:chOff x="0" y="3652"/>
              <a:chExt cx="5765" cy="678"/>
            </a:xfrm>
          </p:grpSpPr>
          <p:sp>
            <p:nvSpPr>
              <p:cNvPr id="2052" name="Rectangle 2"/>
              <p:cNvSpPr/>
              <p:nvPr/>
            </p:nvSpPr>
            <p:spPr>
              <a:xfrm>
                <a:off x="0" y="3676"/>
                <a:ext cx="5764" cy="643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 eaLnBrk="0" hangingPunc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053" name="Group 16"/>
              <p:cNvGrpSpPr/>
              <p:nvPr/>
            </p:nvGrpSpPr>
            <p:grpSpPr>
              <a:xfrm>
                <a:off x="0" y="3652"/>
                <a:ext cx="5765" cy="678"/>
                <a:chOff x="0" y="3652"/>
                <a:chExt cx="5765" cy="678"/>
              </a:xfrm>
            </p:grpSpPr>
            <p:sp useBgFill="1">
              <p:nvSpPr>
                <p:cNvPr id="2054" name="Freeform 3"/>
                <p:cNvSpPr/>
                <p:nvPr/>
              </p:nvSpPr>
              <p:spPr>
                <a:xfrm>
                  <a:off x="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5" name="Freeform 4"/>
                <p:cNvSpPr/>
                <p:nvPr/>
              </p:nvSpPr>
              <p:spPr>
                <a:xfrm>
                  <a:off x="43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6" name="Freeform 5"/>
                <p:cNvSpPr/>
                <p:nvPr/>
              </p:nvSpPr>
              <p:spPr>
                <a:xfrm>
                  <a:off x="87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7" name="Freeform 6"/>
                <p:cNvSpPr/>
                <p:nvPr/>
              </p:nvSpPr>
              <p:spPr>
                <a:xfrm>
                  <a:off x="132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8" name="Freeform 7"/>
                <p:cNvSpPr/>
                <p:nvPr/>
              </p:nvSpPr>
              <p:spPr>
                <a:xfrm>
                  <a:off x="176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9" name="Freeform 8"/>
                <p:cNvSpPr/>
                <p:nvPr/>
              </p:nvSpPr>
              <p:spPr>
                <a:xfrm>
                  <a:off x="221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0" name="Freeform 9"/>
                <p:cNvSpPr/>
                <p:nvPr/>
              </p:nvSpPr>
              <p:spPr>
                <a:xfrm>
                  <a:off x="2646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1" name="Freeform 10"/>
                <p:cNvSpPr/>
                <p:nvPr/>
              </p:nvSpPr>
              <p:spPr>
                <a:xfrm>
                  <a:off x="3090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2" name="Freeform 11"/>
                <p:cNvSpPr/>
                <p:nvPr/>
              </p:nvSpPr>
              <p:spPr>
                <a:xfrm>
                  <a:off x="3547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3" name="Freeform 12"/>
                <p:cNvSpPr/>
                <p:nvPr/>
              </p:nvSpPr>
              <p:spPr>
                <a:xfrm>
                  <a:off x="4004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4" name="Freeform 13"/>
                <p:cNvSpPr/>
                <p:nvPr/>
              </p:nvSpPr>
              <p:spPr>
                <a:xfrm>
                  <a:off x="4473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5" name="Freeform 14"/>
                <p:cNvSpPr/>
                <p:nvPr/>
              </p:nvSpPr>
              <p:spPr>
                <a:xfrm>
                  <a:off x="493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6" name="Freeform 15"/>
                <p:cNvSpPr/>
                <p:nvPr/>
              </p:nvSpPr>
              <p:spPr>
                <a:xfrm>
                  <a:off x="5403" y="3825"/>
                  <a:ext cx="362" cy="505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361" y="0"/>
                    </a:cxn>
                    <a:cxn ang="0">
                      <a:pos x="361" y="122"/>
                    </a:cxn>
                    <a:cxn ang="0">
                      <a:pos x="96" y="504"/>
                    </a:cxn>
                    <a:cxn ang="0">
                      <a:pos x="0" y="504"/>
                    </a:cxn>
                  </a:cxnLst>
                  <a:pathLst>
                    <a:path w="362" h="505">
                      <a:moveTo>
                        <a:pt x="0" y="504"/>
                      </a:moveTo>
                      <a:lnTo>
                        <a:pt x="361" y="0"/>
                      </a:lnTo>
                      <a:lnTo>
                        <a:pt x="361" y="122"/>
                      </a:lnTo>
                      <a:lnTo>
                        <a:pt x="96" y="504"/>
                      </a:lnTo>
                      <a:lnTo>
                        <a:pt x="0" y="504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2067" name="Freeform 18"/>
            <p:cNvSpPr/>
            <p:nvPr/>
          </p:nvSpPr>
          <p:spPr>
            <a:xfrm>
              <a:off x="0" y="1739"/>
              <a:ext cx="516" cy="9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15" y="0"/>
                </a:cxn>
                <a:cxn ang="0">
                  <a:pos x="0" y="912"/>
                </a:cxn>
                <a:cxn ang="0">
                  <a:pos x="0" y="0"/>
                </a:cxn>
              </a:cxnLst>
              <a:pathLst>
                <a:path w="516" h="913">
                  <a:moveTo>
                    <a:pt x="0" y="0"/>
                  </a:moveTo>
                  <a:lnTo>
                    <a:pt x="515" y="0"/>
                  </a:lnTo>
                  <a:lnTo>
                    <a:pt x="0" y="912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092" name="Rectangle 2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en-US" altLang="zh-CN" strike="noStrike" noProof="1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fontAlgn="base"/>
            <a:r>
              <a:rPr lang="en-US" altLang="zh-CN" strike="noStrike" noProof="1"/>
              <a:t>Click to edit Master subtitle style</a:t>
            </a:r>
            <a:endParaRPr lang="en-US" altLang="zh-CN" strike="noStrike" noProof="1"/>
          </a:p>
        </p:txBody>
      </p:sp>
      <p:sp>
        <p:nvSpPr>
          <p:cNvPr id="41" name="Rectangle 2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2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76B49D-9DFB-474D-800C-ABC0F9927A3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4E38-078E-4FAC-86F3-4D24FE2B207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4E38-078E-4FAC-86F3-4D24FE2B207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4E38-078E-4FAC-86F3-4D24FE2B207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4E38-078E-4FAC-86F3-4D24FE2B207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4E38-078E-4FAC-86F3-4D24FE2B207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4E38-078E-4FAC-86F3-4D24FE2B207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4E38-078E-4FAC-86F3-4D24FE2B207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4E38-078E-4FAC-86F3-4D24FE2B207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4E38-078E-4FAC-86F3-4D24FE2B207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4E38-078E-4FAC-86F3-4D24FE2B207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7"/>
          <p:cNvGrpSpPr/>
          <p:nvPr/>
        </p:nvGrpSpPr>
        <p:grpSpPr>
          <a:xfrm>
            <a:off x="0" y="5797550"/>
            <a:ext cx="9167813" cy="1076325"/>
            <a:chOff x="0" y="3652"/>
            <a:chExt cx="5775" cy="678"/>
          </a:xfrm>
        </p:grpSpPr>
        <p:sp>
          <p:nvSpPr>
            <p:cNvPr id="1027" name="Rectangle 2"/>
            <p:cNvSpPr/>
            <p:nvPr/>
          </p:nvSpPr>
          <p:spPr>
            <a:xfrm>
              <a:off x="0" y="3676"/>
              <a:ext cx="5774" cy="64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eaLnBrk="0" hangingPunc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028" name="Group 16"/>
            <p:cNvGrpSpPr/>
            <p:nvPr/>
          </p:nvGrpSpPr>
          <p:grpSpPr>
            <a:xfrm>
              <a:off x="0" y="3652"/>
              <a:ext cx="5775" cy="678"/>
              <a:chOff x="0" y="3652"/>
              <a:chExt cx="5775" cy="678"/>
            </a:xfrm>
          </p:grpSpPr>
          <p:sp useBgFill="1">
            <p:nvSpPr>
              <p:cNvPr id="1029" name="Freeform 3"/>
              <p:cNvSpPr/>
              <p:nvPr/>
            </p:nvSpPr>
            <p:spPr>
              <a:xfrm>
                <a:off x="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0" name="Freeform 4"/>
              <p:cNvSpPr/>
              <p:nvPr/>
            </p:nvSpPr>
            <p:spPr>
              <a:xfrm>
                <a:off x="43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1" name="Freeform 5"/>
              <p:cNvSpPr/>
              <p:nvPr/>
            </p:nvSpPr>
            <p:spPr>
              <a:xfrm>
                <a:off x="879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2" name="Freeform 6"/>
              <p:cNvSpPr/>
              <p:nvPr/>
            </p:nvSpPr>
            <p:spPr>
              <a:xfrm>
                <a:off x="1325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3" name="Freeform 7"/>
              <p:cNvSpPr/>
              <p:nvPr/>
            </p:nvSpPr>
            <p:spPr>
              <a:xfrm>
                <a:off x="177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4" name="Freeform 8"/>
              <p:cNvSpPr/>
              <p:nvPr/>
            </p:nvSpPr>
            <p:spPr>
              <a:xfrm>
                <a:off x="2216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5" name="Freeform 9"/>
              <p:cNvSpPr/>
              <p:nvPr/>
            </p:nvSpPr>
            <p:spPr>
              <a:xfrm>
                <a:off x="265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6" name="Freeform 10"/>
              <p:cNvSpPr/>
              <p:nvPr/>
            </p:nvSpPr>
            <p:spPr>
              <a:xfrm>
                <a:off x="3096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7" name="Freeform 11"/>
              <p:cNvSpPr/>
              <p:nvPr/>
            </p:nvSpPr>
            <p:spPr>
              <a:xfrm>
                <a:off x="355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8" name="Freeform 12"/>
              <p:cNvSpPr/>
              <p:nvPr/>
            </p:nvSpPr>
            <p:spPr>
              <a:xfrm>
                <a:off x="401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9" name="Freeform 13"/>
              <p:cNvSpPr/>
              <p:nvPr/>
            </p:nvSpPr>
            <p:spPr>
              <a:xfrm>
                <a:off x="448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0" name="Freeform 14"/>
              <p:cNvSpPr/>
              <p:nvPr/>
            </p:nvSpPr>
            <p:spPr>
              <a:xfrm>
                <a:off x="4939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1" name="Freeform 15"/>
              <p:cNvSpPr/>
              <p:nvPr/>
            </p:nvSpPr>
            <p:spPr>
              <a:xfrm>
                <a:off x="5413" y="3825"/>
                <a:ext cx="362" cy="505"/>
              </a:xfrm>
              <a:custGeom>
                <a:avLst/>
                <a:gdLst/>
                <a:ahLst/>
                <a:cxnLst>
                  <a:cxn ang="0">
                    <a:pos x="0" y="504"/>
                  </a:cxn>
                  <a:cxn ang="0">
                    <a:pos x="361" y="0"/>
                  </a:cxn>
                  <a:cxn ang="0">
                    <a:pos x="361" y="122"/>
                  </a:cxn>
                  <a:cxn ang="0">
                    <a:pos x="96" y="504"/>
                  </a:cxn>
                  <a:cxn ang="0">
                    <a:pos x="0" y="504"/>
                  </a:cxn>
                </a:cxnLst>
                <a:pathLst>
                  <a:path w="362" h="505">
                    <a:moveTo>
                      <a:pt x="0" y="504"/>
                    </a:moveTo>
                    <a:lnTo>
                      <a:pt x="361" y="0"/>
                    </a:lnTo>
                    <a:lnTo>
                      <a:pt x="361" y="122"/>
                    </a:lnTo>
                    <a:lnTo>
                      <a:pt x="96" y="504"/>
                    </a:lnTo>
                    <a:lnTo>
                      <a:pt x="0" y="504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042" name="Rectangle 18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43" name="Rectangle 19"/>
          <p:cNvSpPr>
            <a:spLocks noGrp="1"/>
          </p:cNvSpPr>
          <p:nvPr>
            <p:ph type="body"/>
          </p:nvPr>
        </p:nvSpPr>
        <p:spPr>
          <a:xfrm>
            <a:off x="685800" y="1485900"/>
            <a:ext cx="7772400" cy="44577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4E38-078E-4FAC-86F3-4D24FE2B207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v"/>
        <a:defRPr sz="32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wmf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emf"/><Relationship Id="rId1" Type="http://schemas.openxmlformats.org/officeDocument/2006/relationships/oleObject" Target="../embeddings/oleObject6.bin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e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5.emf"/><Relationship Id="rId1" Type="http://schemas.openxmlformats.org/officeDocument/2006/relationships/oleObject" Target="../embeddings/oleObject7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e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7.emf"/><Relationship Id="rId1" Type="http://schemas.openxmlformats.org/officeDocument/2006/relationships/oleObject" Target="../embeddings/oleObject9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0.e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1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2.e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21.emf"/><Relationship Id="rId1" Type="http://schemas.openxmlformats.org/officeDocument/2006/relationships/oleObject" Target="../embeddings/oleObject13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6.e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25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4.e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3.e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15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30.e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8.e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27.emf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32.e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31.emf"/><Relationship Id="rId1" Type="http://schemas.openxmlformats.org/officeDocument/2006/relationships/oleObject" Target="../embeddings/oleObject19.bin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4.e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33.emf"/><Relationship Id="rId1" Type="http://schemas.openxmlformats.org/officeDocument/2006/relationships/oleObject" Target="../embeddings/oleObject25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wmf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6.emf"/><Relationship Id="rId2" Type="http://schemas.openxmlformats.org/officeDocument/2006/relationships/oleObject" Target="../embeddings/oleObject27.bin"/><Relationship Id="rId1" Type="http://schemas.openxmlformats.org/officeDocument/2006/relationships/image" Target="../media/image35.wmf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emf"/><Relationship Id="rId2" Type="http://schemas.openxmlformats.org/officeDocument/2006/relationships/oleObject" Target="../embeddings/oleObject28.bin"/><Relationship Id="rId1" Type="http://schemas.openxmlformats.org/officeDocument/2006/relationships/image" Target="../media/image35.wmf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8.emf"/><Relationship Id="rId2" Type="http://schemas.openxmlformats.org/officeDocument/2006/relationships/oleObject" Target="../embeddings/oleObject29.bin"/><Relationship Id="rId1" Type="http://schemas.openxmlformats.org/officeDocument/2006/relationships/image" Target="../media/image35.wmf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.emf"/><Relationship Id="rId2" Type="http://schemas.openxmlformats.org/officeDocument/2006/relationships/oleObject" Target="../embeddings/oleObject30.bin"/><Relationship Id="rId1" Type="http://schemas.openxmlformats.org/officeDocument/2006/relationships/image" Target="../media/image35.wmf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1.e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40.emf"/><Relationship Id="rId1" Type="http://schemas.openxmlformats.org/officeDocument/2006/relationships/oleObject" Target="../embeddings/oleObject31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45.emf"/><Relationship Id="rId7" Type="http://schemas.openxmlformats.org/officeDocument/2006/relationships/oleObject" Target="../embeddings/oleObject36.bin"/><Relationship Id="rId6" Type="http://schemas.openxmlformats.org/officeDocument/2006/relationships/image" Target="../media/image44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3.e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42.e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33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.bin"/><Relationship Id="rId8" Type="http://schemas.openxmlformats.org/officeDocument/2006/relationships/image" Target="../media/image49.emf"/><Relationship Id="rId7" Type="http://schemas.openxmlformats.org/officeDocument/2006/relationships/oleObject" Target="../embeddings/oleObject40.bin"/><Relationship Id="rId6" Type="http://schemas.openxmlformats.org/officeDocument/2006/relationships/image" Target="../media/image48.e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7.e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46.emf"/><Relationship Id="rId14" Type="http://schemas.openxmlformats.org/officeDocument/2006/relationships/vmlDrawing" Target="../drawings/vmlDrawing19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51.emf"/><Relationship Id="rId11" Type="http://schemas.openxmlformats.org/officeDocument/2006/relationships/oleObject" Target="../embeddings/oleObject42.bin"/><Relationship Id="rId10" Type="http://schemas.openxmlformats.org/officeDocument/2006/relationships/image" Target="../media/image50.emf"/><Relationship Id="rId1" Type="http://schemas.openxmlformats.org/officeDocument/2006/relationships/oleObject" Target="../embeddings/oleObject37.bin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0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4.emf"/><Relationship Id="rId4" Type="http://schemas.openxmlformats.org/officeDocument/2006/relationships/oleObject" Target="../embeddings/oleObject44.bin"/><Relationship Id="rId3" Type="http://schemas.openxmlformats.org/officeDocument/2006/relationships/image" Target="../media/image53.emf"/><Relationship Id="rId2" Type="http://schemas.openxmlformats.org/officeDocument/2006/relationships/oleObject" Target="../embeddings/oleObject43.bin"/><Relationship Id="rId1" Type="http://schemas.openxmlformats.org/officeDocument/2006/relationships/image" Target="../media/image52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8.emf"/><Relationship Id="rId1" Type="http://schemas.openxmlformats.org/officeDocument/2006/relationships/oleObject" Target="../embeddings/oleObject45.bin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9.emf"/><Relationship Id="rId1" Type="http://schemas.openxmlformats.org/officeDocument/2006/relationships/oleObject" Target="../embeddings/oleObject46.bin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1.e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60.emf"/><Relationship Id="rId1" Type="http://schemas.openxmlformats.org/officeDocument/2006/relationships/oleObject" Target="../embeddings/oleObject47.bin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2.emf"/><Relationship Id="rId1" Type="http://schemas.openxmlformats.org/officeDocument/2006/relationships/oleObject" Target="../embeddings/oleObject49.bin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3.emf"/><Relationship Id="rId1" Type="http://schemas.openxmlformats.org/officeDocument/2006/relationships/oleObject" Target="../embeddings/oleObject50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w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w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w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w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2.w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w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4.w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5.wmf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6.w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7.wmf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8.w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8.wmf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Rectangle 2"/>
          <p:cNvSpPr>
            <a:spLocks noGrp="1"/>
          </p:cNvSpPr>
          <p:nvPr>
            <p:ph type="ctrTitle" sz="quarter"/>
          </p:nvPr>
        </p:nvSpPr>
        <p:spPr>
          <a:ln/>
        </p:spPr>
        <p:txBody>
          <a:bodyPr vert="horz" wrap="square" lIns="92075" tIns="46038" rIns="92075" bIns="46038" anchor="ctr" anchorCtr="0"/>
          <a:p>
            <a:pPr>
              <a:buClrTx/>
              <a:buSzTx/>
              <a:buFontTx/>
            </a:pP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Chapter Twenty-One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098" name="Rectangle 3"/>
          <p:cNvSpPr>
            <a:spLocks noGrp="1"/>
          </p:cNvSpPr>
          <p:nvPr>
            <p:ph type="subTitle" sz="quarter" idx="1"/>
          </p:nvPr>
        </p:nvSpPr>
        <p:spPr/>
        <p:txBody>
          <a:bodyPr vert="horz" wrap="square" lIns="92075" tIns="46038" rIns="92075" bIns="46038" anchor="t" anchorCtr="0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0" lang="en-US" altLang="zh-CN" sz="40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Cost Curves</a:t>
            </a:r>
            <a:endParaRPr kumimoji="0" lang="en-US" altLang="zh-CN" sz="40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40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成本曲线</a:t>
            </a:r>
            <a:endParaRPr kumimoji="0" lang="en-US" altLang="zh-CN" sz="40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Types of Cost Curves</a:t>
            </a:r>
            <a:r>
              <a:rPr lang="zh-CN" altLang="en-US" dirty="0">
                <a:ea typeface="宋体" panose="02010600030101010101" pitchFamily="2" charset="-122"/>
              </a:rPr>
              <a:t>成本曲线的类型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total cost curve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总成本曲线</a:t>
            </a:r>
            <a:r>
              <a:rPr lang="en-US" altLang="zh-CN" dirty="0">
                <a:ea typeface="宋体" panose="02010600030101010101" pitchFamily="2" charset="-122"/>
              </a:rPr>
              <a:t> is the graph of a firm’s total cost function.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variable cost curve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可变成本曲线</a:t>
            </a:r>
            <a:r>
              <a:rPr lang="en-US" altLang="zh-CN" dirty="0">
                <a:ea typeface="宋体" panose="02010600030101010101" pitchFamily="2" charset="-122"/>
              </a:rPr>
              <a:t> is the graph of a firm’s variable cost function.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An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average total cost curve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平均成本曲线</a:t>
            </a:r>
            <a:r>
              <a:rPr lang="en-US" altLang="zh-CN" dirty="0">
                <a:ea typeface="宋体" panose="02010600030101010101" pitchFamily="2" charset="-122"/>
              </a:rPr>
              <a:t> is the graph of a firm’s average total cost function.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Types of Cost Curves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An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average variable cost curve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平均成本曲线</a:t>
            </a:r>
            <a:r>
              <a:rPr lang="en-US" altLang="zh-CN" dirty="0">
                <a:ea typeface="宋体" panose="02010600030101010101" pitchFamily="2" charset="-122"/>
              </a:rPr>
              <a:t> is the graph of a firm’s average variable cost function.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An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average fixed cost curve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平均固定成本曲线</a:t>
            </a:r>
            <a:r>
              <a:rPr lang="en-US" altLang="zh-CN" dirty="0">
                <a:ea typeface="宋体" panose="02010600030101010101" pitchFamily="2" charset="-122"/>
              </a:rPr>
              <a:t> is the graph of a firm’s average fixed cost function.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marginal cost curve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边际成本曲线</a:t>
            </a:r>
            <a:r>
              <a:rPr lang="en-US" altLang="zh-CN" dirty="0">
                <a:ea typeface="宋体" panose="02010600030101010101" pitchFamily="2" charset="-122"/>
              </a:rPr>
              <a:t> is the graph of a firm’s marginal cost function.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Types of Cost Curves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How are these cost curves related to each other?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How are a firm’s long-run and short-run cost curves related?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Fixed, Variable &amp; Total Cost Functions</a:t>
            </a:r>
            <a:br>
              <a:rPr lang="en-US" altLang="zh-CN" sz="4000" dirty="0">
                <a:ea typeface="宋体" panose="02010600030101010101" pitchFamily="2" charset="-122"/>
              </a:rPr>
            </a:br>
            <a:r>
              <a:rPr lang="zh-CN" altLang="en-US" sz="4000" dirty="0">
                <a:ea typeface="宋体" panose="02010600030101010101" pitchFamily="2" charset="-122"/>
              </a:rPr>
              <a:t>固定、可变和总成本函数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8194" name="Rectangle 3"/>
          <p:cNvSpPr>
            <a:spLocks noGrp="1"/>
          </p:cNvSpPr>
          <p:nvPr>
            <p:ph idx="1"/>
          </p:nvPr>
        </p:nvSpPr>
        <p:spPr>
          <a:xfrm>
            <a:off x="381000" y="1181100"/>
            <a:ext cx="8305800" cy="46863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F is the total cost to a firm of its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short-run fixed inputs</a:t>
            </a:r>
            <a:r>
              <a:rPr lang="en-US" altLang="zh-CN" dirty="0">
                <a:ea typeface="宋体" panose="02010600030101010101" pitchFamily="2" charset="-122"/>
              </a:rPr>
              <a:t>.  F, the firm’s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fixed cost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固定成本</a:t>
            </a:r>
            <a:r>
              <a:rPr lang="en-US" altLang="zh-CN" dirty="0">
                <a:ea typeface="宋体" panose="02010600030101010101" pitchFamily="2" charset="-122"/>
              </a:rPr>
              <a:t>, does not vary with the firm’s output level.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ea typeface="宋体" panose="02010600030101010101" pitchFamily="2" charset="-122"/>
              </a:rPr>
              <a:t>v</a:t>
            </a:r>
            <a:r>
              <a:rPr lang="en-US" altLang="zh-CN" dirty="0">
                <a:ea typeface="宋体" panose="02010600030101010101" pitchFamily="2" charset="-122"/>
              </a:rPr>
              <a:t>(y) is the total cost to a firm of its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variable inputs</a:t>
            </a:r>
            <a:r>
              <a:rPr lang="en-US" altLang="zh-CN" dirty="0">
                <a:ea typeface="宋体" panose="02010600030101010101" pitchFamily="2" charset="-122"/>
              </a:rPr>
              <a:t> when producing y output units.  c</a:t>
            </a:r>
            <a:r>
              <a:rPr lang="en-US" altLang="zh-CN" baseline="-25000" dirty="0">
                <a:ea typeface="宋体" panose="02010600030101010101" pitchFamily="2" charset="-122"/>
              </a:rPr>
              <a:t>v</a:t>
            </a:r>
            <a:r>
              <a:rPr lang="en-US" altLang="zh-CN" dirty="0">
                <a:ea typeface="宋体" panose="02010600030101010101" pitchFamily="2" charset="-122"/>
              </a:rPr>
              <a:t>(y) is the firm’s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variable cost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可变成本</a:t>
            </a:r>
            <a:r>
              <a:rPr lang="en-US" altLang="zh-CN" dirty="0">
                <a:ea typeface="宋体" panose="02010600030101010101" pitchFamily="2" charset="-122"/>
              </a:rPr>
              <a:t> function.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ea typeface="宋体" panose="02010600030101010101" pitchFamily="2" charset="-122"/>
              </a:rPr>
              <a:t>v</a:t>
            </a:r>
            <a:r>
              <a:rPr lang="en-US" altLang="zh-CN" dirty="0">
                <a:ea typeface="宋体" panose="02010600030101010101" pitchFamily="2" charset="-122"/>
              </a:rPr>
              <a:t>(y) depends upon the levels of the fixed inputs.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Fixed, Variable &amp; Total Cost Functions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c(y) is the total cost of all inputs,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fixed and variable</a:t>
            </a:r>
            <a:r>
              <a:rPr lang="en-US" altLang="zh-CN" dirty="0">
                <a:ea typeface="宋体" panose="02010600030101010101" pitchFamily="2" charset="-122"/>
              </a:rPr>
              <a:t>, when producing y output units.  c(y) is the firm’s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total cost</a:t>
            </a:r>
            <a:r>
              <a:rPr lang="en-US" altLang="zh-CN" dirty="0">
                <a:ea typeface="宋体" panose="02010600030101010101" pitchFamily="2" charset="-122"/>
              </a:rPr>
              <a:t> function</a:t>
            </a:r>
            <a:r>
              <a:rPr lang="zh-CN" altLang="en-US" dirty="0">
                <a:ea typeface="宋体" panose="02010600030101010101" pitchFamily="2" charset="-122"/>
              </a:rPr>
              <a:t>总成本函数</a:t>
            </a:r>
            <a:r>
              <a:rPr lang="en-US" altLang="zh-CN" dirty="0">
                <a:ea typeface="宋体" panose="02010600030101010101" pitchFamily="2" charset="-122"/>
              </a:rPr>
              <a:t>;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9219" name="Object 1024"/>
          <p:cNvGraphicFramePr/>
          <p:nvPr/>
        </p:nvGraphicFramePr>
        <p:xfrm>
          <a:off x="2751138" y="3743325"/>
          <a:ext cx="33845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976755" imgH="321945" progId="Equation.2">
                  <p:embed/>
                </p:oleObj>
              </mc:Choice>
              <mc:Fallback>
                <p:oleObj name="" r:id="rId1" imgW="1976755" imgH="321945" progId="Equation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51138" y="3743325"/>
                        <a:ext cx="338455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2" name="Rectangle 3"/>
          <p:cNvSpPr/>
          <p:nvPr/>
        </p:nvSpPr>
        <p:spPr>
          <a:xfrm>
            <a:off x="8027988" y="6062663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Rectangle 4"/>
          <p:cNvSpPr/>
          <p:nvPr/>
        </p:nvSpPr>
        <p:spPr>
          <a:xfrm>
            <a:off x="765175" y="442913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Rectangle 5"/>
          <p:cNvSpPr/>
          <p:nvPr/>
        </p:nvSpPr>
        <p:spPr>
          <a:xfrm>
            <a:off x="8218488" y="5157788"/>
            <a:ext cx="4016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6" name="Rectangle 3"/>
          <p:cNvSpPr/>
          <p:nvPr/>
        </p:nvSpPr>
        <p:spPr>
          <a:xfrm>
            <a:off x="8027988" y="6062663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Rectangle 4"/>
          <p:cNvSpPr/>
          <p:nvPr/>
        </p:nvSpPr>
        <p:spPr>
          <a:xfrm>
            <a:off x="765175" y="442913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Rectangle 5"/>
          <p:cNvSpPr/>
          <p:nvPr/>
        </p:nvSpPr>
        <p:spPr>
          <a:xfrm>
            <a:off x="8194675" y="1728788"/>
            <a:ext cx="9525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89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0" name="Rectangle 3"/>
          <p:cNvSpPr/>
          <p:nvPr/>
        </p:nvSpPr>
        <p:spPr>
          <a:xfrm>
            <a:off x="8027988" y="6062663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Rectangle 4"/>
          <p:cNvSpPr/>
          <p:nvPr/>
        </p:nvSpPr>
        <p:spPr>
          <a:xfrm>
            <a:off x="765175" y="442913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Rectangle 5"/>
          <p:cNvSpPr/>
          <p:nvPr/>
        </p:nvSpPr>
        <p:spPr>
          <a:xfrm>
            <a:off x="8218488" y="5157788"/>
            <a:ext cx="4016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Rectangle 6"/>
          <p:cNvSpPr/>
          <p:nvPr/>
        </p:nvSpPr>
        <p:spPr>
          <a:xfrm>
            <a:off x="8194675" y="1728788"/>
            <a:ext cx="9525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4" name="Rectangle 3"/>
          <p:cNvSpPr/>
          <p:nvPr/>
        </p:nvSpPr>
        <p:spPr>
          <a:xfrm>
            <a:off x="8027988" y="6062663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Rectangle 4"/>
          <p:cNvSpPr/>
          <p:nvPr/>
        </p:nvSpPr>
        <p:spPr>
          <a:xfrm>
            <a:off x="765175" y="442913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Rectangle 5"/>
          <p:cNvSpPr/>
          <p:nvPr/>
        </p:nvSpPr>
        <p:spPr>
          <a:xfrm>
            <a:off x="8218488" y="5157788"/>
            <a:ext cx="4016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Rectangle 6"/>
          <p:cNvSpPr/>
          <p:nvPr/>
        </p:nvSpPr>
        <p:spPr>
          <a:xfrm>
            <a:off x="8194675" y="1728788"/>
            <a:ext cx="9540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8" name="Rectangle 7"/>
          <p:cNvSpPr/>
          <p:nvPr/>
        </p:nvSpPr>
        <p:spPr>
          <a:xfrm>
            <a:off x="8194675" y="1085850"/>
            <a:ext cx="8159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9" name="Line 8"/>
          <p:cNvSpPr/>
          <p:nvPr/>
        </p:nvSpPr>
        <p:spPr>
          <a:xfrm flipV="1">
            <a:off x="6223000" y="2933700"/>
            <a:ext cx="0" cy="52070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3320" name="Rectangle 9"/>
          <p:cNvSpPr/>
          <p:nvPr/>
        </p:nvSpPr>
        <p:spPr>
          <a:xfrm>
            <a:off x="5775325" y="30622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321" name="Object 1024"/>
          <p:cNvGraphicFramePr/>
          <p:nvPr/>
        </p:nvGraphicFramePr>
        <p:xfrm>
          <a:off x="1890713" y="2076450"/>
          <a:ext cx="32861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1924685" imgH="321945" progId="Equation.2">
                  <p:embed/>
                </p:oleObj>
              </mc:Choice>
              <mc:Fallback>
                <p:oleObj name="" r:id="rId2" imgW="1924685" imgH="321945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90713" y="2076450"/>
                        <a:ext cx="3286125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277350" cy="1219200"/>
          </a:xfrm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Av. Fixed, Av. Variable &amp; Av. Total Cost Curves</a:t>
            </a:r>
            <a:r>
              <a:rPr lang="zh-CN" altLang="en-US" sz="4000" dirty="0">
                <a:ea typeface="宋体" panose="02010600030101010101" pitchFamily="2" charset="-122"/>
              </a:rPr>
              <a:t>平均固定、平均可变和平均总成本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1433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firm’s total cost function is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For y &gt; 0, the firm’s average total cost function is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4339" name="Object 1024"/>
          <p:cNvGraphicFramePr/>
          <p:nvPr/>
        </p:nvGraphicFramePr>
        <p:xfrm>
          <a:off x="3046413" y="1990725"/>
          <a:ext cx="33845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1976755" imgH="321945" progId="Equation.2">
                  <p:embed/>
                </p:oleObj>
              </mc:Choice>
              <mc:Fallback>
                <p:oleObj name="" r:id="rId1" imgW="1976755" imgH="321945" progId="Equation.2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6413" y="1990725"/>
                        <a:ext cx="338455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1025"/>
          <p:cNvGraphicFramePr/>
          <p:nvPr/>
        </p:nvGraphicFramePr>
        <p:xfrm>
          <a:off x="2103438" y="3513138"/>
          <a:ext cx="5661025" cy="184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" imgW="3326765" imgH="1123315" progId="Equation.2">
                  <p:embed/>
                </p:oleObj>
              </mc:Choice>
              <mc:Fallback>
                <p:oleObj name="" r:id="rId3" imgW="3326765" imgH="1123315" progId="Equation.2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03438" y="3513138"/>
                        <a:ext cx="5661025" cy="184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What does an average fixed cost curve look like?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AFC(y) is a rectangular hyperbola</a:t>
            </a:r>
            <a:r>
              <a:rPr lang="zh-CN" altLang="en-US" dirty="0">
                <a:ea typeface="宋体" panose="02010600030101010101" pitchFamily="2" charset="-122"/>
              </a:rPr>
              <a:t>直角双曲线</a:t>
            </a:r>
            <a:r>
              <a:rPr lang="en-US" altLang="zh-CN" dirty="0">
                <a:ea typeface="宋体" panose="02010600030101010101" pitchFamily="2" charset="-122"/>
              </a:rPr>
              <a:t> so its graph looks like ...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5362" name="Object 1024"/>
          <p:cNvGraphicFramePr/>
          <p:nvPr/>
        </p:nvGraphicFramePr>
        <p:xfrm>
          <a:off x="2895600" y="2301875"/>
          <a:ext cx="2465388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1445895" imgH="705485" progId="Equation.2">
                  <p:embed/>
                </p:oleObj>
              </mc:Choice>
              <mc:Fallback>
                <p:oleObj name="" r:id="rId1" imgW="1445895" imgH="705485" progId="Equation.2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95600" y="2301875"/>
                        <a:ext cx="2465388" cy="1179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258300" cy="1219200"/>
          </a:xfrm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Av. Fixed, Av. Variable &amp; Av. Total Cost Curves</a:t>
            </a:r>
            <a:r>
              <a:rPr lang="zh-CN" altLang="en-US" sz="4000" dirty="0">
                <a:ea typeface="宋体" panose="02010600030101010101" pitchFamily="2" charset="-122"/>
              </a:rPr>
              <a:t>平均固定、平均可变和平均总成本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85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6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Rectangle 4"/>
          <p:cNvSpPr/>
          <p:nvPr/>
        </p:nvSpPr>
        <p:spPr>
          <a:xfrm>
            <a:off x="7408863" y="5300663"/>
            <a:ext cx="1349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AFC(y)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5"/>
          <p:cNvSpPr/>
          <p:nvPr/>
        </p:nvSpPr>
        <p:spPr>
          <a:xfrm>
            <a:off x="807561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Rectangle 6"/>
          <p:cNvSpPr/>
          <p:nvPr/>
        </p:nvSpPr>
        <p:spPr>
          <a:xfrm>
            <a:off x="74136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Rectangle 7"/>
          <p:cNvSpPr/>
          <p:nvPr/>
        </p:nvSpPr>
        <p:spPr>
          <a:xfrm>
            <a:off x="3289300" y="2970213"/>
            <a:ext cx="4179888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AFC(y)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®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0 as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® ¥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In a short-run with a fixed amount of at least one input, the Law of Diminishing (Marginal) Returns must apply, causing the firm’s average variable cost of production to increase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eventually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r>
              <a:rPr lang="zh-CN" altLang="en-US" dirty="0">
                <a:ea typeface="宋体" panose="02010600030101010101" pitchFamily="2" charset="-122"/>
              </a:rPr>
              <a:t>边际报酬递减导致平均可变成本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最终</a:t>
            </a:r>
            <a:r>
              <a:rPr lang="zh-CN" altLang="en-US" dirty="0">
                <a:ea typeface="宋体" panose="02010600030101010101" pitchFamily="2" charset="-122"/>
              </a:rPr>
              <a:t>增加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286875" cy="1219200"/>
          </a:xfrm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Av. Fixed, Av. Variable &amp; Av. Total Cost Curves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43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4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Rectangle 4"/>
          <p:cNvSpPr/>
          <p:nvPr/>
        </p:nvSpPr>
        <p:spPr>
          <a:xfrm>
            <a:off x="7408863" y="4419600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Rectangle 5"/>
          <p:cNvSpPr/>
          <p:nvPr/>
        </p:nvSpPr>
        <p:spPr>
          <a:xfrm>
            <a:off x="807561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6"/>
          <p:cNvSpPr/>
          <p:nvPr/>
        </p:nvSpPr>
        <p:spPr>
          <a:xfrm>
            <a:off x="74136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57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8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Rectangle 4"/>
          <p:cNvSpPr/>
          <p:nvPr/>
        </p:nvSpPr>
        <p:spPr>
          <a:xfrm>
            <a:off x="7408863" y="5300663"/>
            <a:ext cx="1349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AFC(y)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Rectangle 5"/>
          <p:cNvSpPr/>
          <p:nvPr/>
        </p:nvSpPr>
        <p:spPr>
          <a:xfrm>
            <a:off x="7408863" y="4419600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6"/>
          <p:cNvSpPr/>
          <p:nvPr/>
        </p:nvSpPr>
        <p:spPr>
          <a:xfrm>
            <a:off x="807561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Rectangle 7"/>
          <p:cNvSpPr/>
          <p:nvPr/>
        </p:nvSpPr>
        <p:spPr>
          <a:xfrm>
            <a:off x="74136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And    ATC(y) = AFC(y) + AVC(y)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286875" cy="1219200"/>
          </a:xfrm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Av. Fixed, Av. Variable &amp; Av. Total Cost Curves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5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6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Rectangle 4"/>
          <p:cNvSpPr/>
          <p:nvPr/>
        </p:nvSpPr>
        <p:spPr>
          <a:xfrm>
            <a:off x="7408863" y="5300663"/>
            <a:ext cx="1349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AFC(y)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Rectangle 5"/>
          <p:cNvSpPr/>
          <p:nvPr/>
        </p:nvSpPr>
        <p:spPr>
          <a:xfrm>
            <a:off x="7408863" y="4419600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Rectangle 6"/>
          <p:cNvSpPr/>
          <p:nvPr/>
        </p:nvSpPr>
        <p:spPr>
          <a:xfrm>
            <a:off x="7408863" y="3657600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Rectangle 7"/>
          <p:cNvSpPr/>
          <p:nvPr/>
        </p:nvSpPr>
        <p:spPr>
          <a:xfrm>
            <a:off x="807561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1" name="Rectangle 8"/>
          <p:cNvSpPr/>
          <p:nvPr/>
        </p:nvSpPr>
        <p:spPr>
          <a:xfrm>
            <a:off x="74136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2" name="Rectangle 9"/>
          <p:cNvSpPr/>
          <p:nvPr/>
        </p:nvSpPr>
        <p:spPr>
          <a:xfrm>
            <a:off x="2006600" y="2662238"/>
            <a:ext cx="512921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ATC(y) = AFC(y) + AVC(y)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29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0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Rectangle 4"/>
          <p:cNvSpPr/>
          <p:nvPr/>
        </p:nvSpPr>
        <p:spPr>
          <a:xfrm>
            <a:off x="7408863" y="5300663"/>
            <a:ext cx="1349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AFC(y)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Rectangle 5"/>
          <p:cNvSpPr/>
          <p:nvPr/>
        </p:nvSpPr>
        <p:spPr>
          <a:xfrm>
            <a:off x="7408863" y="4419600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Rectangle 6"/>
          <p:cNvSpPr/>
          <p:nvPr/>
        </p:nvSpPr>
        <p:spPr>
          <a:xfrm>
            <a:off x="7408863" y="3657600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Rectangle 7"/>
          <p:cNvSpPr/>
          <p:nvPr/>
        </p:nvSpPr>
        <p:spPr>
          <a:xfrm>
            <a:off x="807561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5" name="Rectangle 8"/>
          <p:cNvSpPr/>
          <p:nvPr/>
        </p:nvSpPr>
        <p:spPr>
          <a:xfrm>
            <a:off x="74136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6" name="Rectangle 9"/>
          <p:cNvSpPr/>
          <p:nvPr/>
        </p:nvSpPr>
        <p:spPr>
          <a:xfrm>
            <a:off x="2006600" y="2662238"/>
            <a:ext cx="502761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AFC(y) = ATC(y) - AVC(y)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7" name="Line 10"/>
          <p:cNvSpPr/>
          <p:nvPr/>
        </p:nvSpPr>
        <p:spPr>
          <a:xfrm flipV="1">
            <a:off x="2825750" y="4481513"/>
            <a:ext cx="0" cy="6064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22538" name="Rectangle 11"/>
          <p:cNvSpPr/>
          <p:nvPr/>
        </p:nvSpPr>
        <p:spPr>
          <a:xfrm>
            <a:off x="2863850" y="450532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AFC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5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4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5" name="Rectangle 4"/>
          <p:cNvSpPr/>
          <p:nvPr/>
        </p:nvSpPr>
        <p:spPr>
          <a:xfrm>
            <a:off x="7408863" y="5300663"/>
            <a:ext cx="1349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AFC(y)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Rectangle 5"/>
          <p:cNvSpPr/>
          <p:nvPr/>
        </p:nvSpPr>
        <p:spPr>
          <a:xfrm>
            <a:off x="7408863" y="4419600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Rectangle 6"/>
          <p:cNvSpPr/>
          <p:nvPr/>
        </p:nvSpPr>
        <p:spPr>
          <a:xfrm>
            <a:off x="7408863" y="3657600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8" name="Rectangle 7"/>
          <p:cNvSpPr/>
          <p:nvPr/>
        </p:nvSpPr>
        <p:spPr>
          <a:xfrm>
            <a:off x="807561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9" name="Rectangle 8"/>
          <p:cNvSpPr/>
          <p:nvPr/>
        </p:nvSpPr>
        <p:spPr>
          <a:xfrm>
            <a:off x="74136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0" name="Rectangle 9"/>
          <p:cNvSpPr/>
          <p:nvPr/>
        </p:nvSpPr>
        <p:spPr>
          <a:xfrm>
            <a:off x="2908300" y="231775"/>
            <a:ext cx="54895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Since AFC(y)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®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0 as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® ¥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ATC(y)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®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AVC(y) as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® ¥.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23561" name="Line 10"/>
          <p:cNvSpPr/>
          <p:nvPr/>
        </p:nvSpPr>
        <p:spPr>
          <a:xfrm flipV="1">
            <a:off x="2825750" y="4481513"/>
            <a:ext cx="0" cy="6064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23562" name="Rectangle 11"/>
          <p:cNvSpPr/>
          <p:nvPr/>
        </p:nvSpPr>
        <p:spPr>
          <a:xfrm>
            <a:off x="2863850" y="450532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AFC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7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8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Rectangle 4"/>
          <p:cNvSpPr/>
          <p:nvPr/>
        </p:nvSpPr>
        <p:spPr>
          <a:xfrm>
            <a:off x="7408863" y="5300663"/>
            <a:ext cx="1349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AFC(y)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Rectangle 5"/>
          <p:cNvSpPr/>
          <p:nvPr/>
        </p:nvSpPr>
        <p:spPr>
          <a:xfrm>
            <a:off x="7408863" y="4419600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6"/>
          <p:cNvSpPr/>
          <p:nvPr/>
        </p:nvSpPr>
        <p:spPr>
          <a:xfrm>
            <a:off x="7408863" y="3657600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2" name="Rectangle 7"/>
          <p:cNvSpPr/>
          <p:nvPr/>
        </p:nvSpPr>
        <p:spPr>
          <a:xfrm>
            <a:off x="807561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3" name="Rectangle 8"/>
          <p:cNvSpPr/>
          <p:nvPr/>
        </p:nvSpPr>
        <p:spPr>
          <a:xfrm>
            <a:off x="741363" y="60515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4" name="Rectangle 9"/>
          <p:cNvSpPr/>
          <p:nvPr/>
        </p:nvSpPr>
        <p:spPr>
          <a:xfrm>
            <a:off x="2908300" y="231775"/>
            <a:ext cx="54895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Since AFC(y)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®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0 as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® ¥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ATC(y)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®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AVC(y) as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® ¥.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24585" name="Rectangle 10"/>
          <p:cNvSpPr/>
          <p:nvPr/>
        </p:nvSpPr>
        <p:spPr>
          <a:xfrm>
            <a:off x="1765300" y="1470025"/>
            <a:ext cx="6765925" cy="15541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And since short-run AVC(y) must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eventually increase, ATC(y) must 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eventually increase in a short-run.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Cost Function</a:t>
            </a:r>
            <a:r>
              <a:rPr lang="zh-CN" altLang="en-US" dirty="0">
                <a:ea typeface="宋体" panose="02010600030101010101" pitchFamily="2" charset="-122"/>
              </a:rPr>
              <a:t>边际成本函数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Marginal cost is the rate-of-change of variable production cost as the output level changes</a:t>
            </a:r>
            <a:r>
              <a:rPr lang="zh-CN" altLang="en-US" dirty="0">
                <a:ea typeface="宋体" panose="02010600030101010101" pitchFamily="2" charset="-122"/>
              </a:rPr>
              <a:t>边际成本是可变成本关于产量的函数</a:t>
            </a:r>
            <a:r>
              <a:rPr lang="en-US" altLang="zh-CN" dirty="0">
                <a:ea typeface="宋体" panose="02010600030101010101" pitchFamily="2" charset="-122"/>
              </a:rPr>
              <a:t>.  That is,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5603" name="Object 1024"/>
          <p:cNvGraphicFramePr/>
          <p:nvPr/>
        </p:nvGraphicFramePr>
        <p:xfrm>
          <a:off x="2697163" y="3468688"/>
          <a:ext cx="3627437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2124710" imgH="705485" progId="Equation.2">
                  <p:embed/>
                </p:oleObj>
              </mc:Choice>
              <mc:Fallback>
                <p:oleObj name="" r:id="rId1" imgW="2124710" imgH="705485" progId="Equation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97163" y="3468688"/>
                        <a:ext cx="3627437" cy="1179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Cost Function</a:t>
            </a:r>
            <a:r>
              <a:rPr lang="zh-CN" altLang="en-US" dirty="0">
                <a:ea typeface="宋体" panose="02010600030101010101" pitchFamily="2" charset="-122"/>
              </a:rPr>
              <a:t>边际成本函数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662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firm’s total cost function is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and the fixed cost F does not change with the output level y, so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MC is the slope of both the variable cost and the total cost functions.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6627" name="Object 1024"/>
          <p:cNvGraphicFramePr/>
          <p:nvPr/>
        </p:nvGraphicFramePr>
        <p:xfrm>
          <a:off x="2557463" y="1981200"/>
          <a:ext cx="32861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924685" imgH="321945" progId="Equation.2">
                  <p:embed/>
                </p:oleObj>
              </mc:Choice>
              <mc:Fallback>
                <p:oleObj name="" r:id="rId1" imgW="1924685" imgH="321945" progId="Equation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57463" y="1981200"/>
                        <a:ext cx="3286125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1025"/>
          <p:cNvGraphicFramePr/>
          <p:nvPr/>
        </p:nvGraphicFramePr>
        <p:xfrm>
          <a:off x="1835150" y="3421063"/>
          <a:ext cx="5341938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3134995" imgH="705485" progId="Equation.2">
                  <p:embed/>
                </p:oleObj>
              </mc:Choice>
              <mc:Fallback>
                <p:oleObj name="" r:id="rId3" imgW="3134995" imgH="705485" progId="Equation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3421063"/>
                        <a:ext cx="5341938" cy="1169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and Variable Cost Functions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边际成本和可变成本函数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Since MC(y) is the derivative of c</a:t>
            </a:r>
            <a:r>
              <a:rPr lang="en-US" altLang="zh-CN" baseline="-25000" dirty="0">
                <a:ea typeface="宋体" panose="02010600030101010101" pitchFamily="2" charset="-122"/>
              </a:rPr>
              <a:t>v</a:t>
            </a:r>
            <a:r>
              <a:rPr lang="en-US" altLang="zh-CN" dirty="0">
                <a:ea typeface="宋体" panose="02010600030101010101" pitchFamily="2" charset="-122"/>
              </a:rPr>
              <a:t>(y), c</a:t>
            </a:r>
            <a:r>
              <a:rPr lang="en-US" altLang="zh-CN" baseline="-25000" dirty="0">
                <a:ea typeface="宋体" panose="02010600030101010101" pitchFamily="2" charset="-122"/>
              </a:rPr>
              <a:t>v</a:t>
            </a:r>
            <a:r>
              <a:rPr lang="en-US" altLang="zh-CN" dirty="0">
                <a:ea typeface="宋体" panose="02010600030101010101" pitchFamily="2" charset="-122"/>
              </a:rPr>
              <a:t>(y) must be the integral of MC(y).  That is,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7651" name="Object 1024"/>
          <p:cNvGraphicFramePr/>
          <p:nvPr/>
        </p:nvGraphicFramePr>
        <p:xfrm>
          <a:off x="2936875" y="2516188"/>
          <a:ext cx="3470275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037715" imgH="705485" progId="Equation.2">
                  <p:embed/>
                </p:oleObj>
              </mc:Choice>
              <mc:Fallback>
                <p:oleObj name="" r:id="rId1" imgW="2037715" imgH="705485" progId="Equation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36875" y="2516188"/>
                        <a:ext cx="3470275" cy="1169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1025"/>
          <p:cNvGraphicFramePr/>
          <p:nvPr/>
        </p:nvGraphicFramePr>
        <p:xfrm>
          <a:off x="2109788" y="3575050"/>
          <a:ext cx="4964112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2926080" imgH="836295" progId="Equation.2">
                  <p:embed/>
                </p:oleObj>
              </mc:Choice>
              <mc:Fallback>
                <p:oleObj name="" r:id="rId3" imgW="2926080" imgH="836295" progId="Equation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09788" y="3575050"/>
                        <a:ext cx="4964112" cy="1368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and Variable Cost Functions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8674" name="Line 5"/>
          <p:cNvSpPr/>
          <p:nvPr/>
        </p:nvSpPr>
        <p:spPr>
          <a:xfrm>
            <a:off x="5172075" y="3743325"/>
            <a:ext cx="0" cy="133350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8675" name="Freeform 6"/>
          <p:cNvSpPr/>
          <p:nvPr/>
        </p:nvSpPr>
        <p:spPr>
          <a:xfrm>
            <a:off x="1285875" y="3743325"/>
            <a:ext cx="3887788" cy="13350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</a:cxnLst>
            <a:pathLst>
              <a:path w="2449" h="841">
                <a:moveTo>
                  <a:pt x="12" y="174"/>
                </a:moveTo>
                <a:lnTo>
                  <a:pt x="288" y="246"/>
                </a:lnTo>
                <a:lnTo>
                  <a:pt x="366" y="270"/>
                </a:lnTo>
                <a:lnTo>
                  <a:pt x="504" y="294"/>
                </a:lnTo>
                <a:lnTo>
                  <a:pt x="756" y="330"/>
                </a:lnTo>
                <a:lnTo>
                  <a:pt x="948" y="348"/>
                </a:lnTo>
                <a:lnTo>
                  <a:pt x="1266" y="348"/>
                </a:lnTo>
                <a:lnTo>
                  <a:pt x="1554" y="312"/>
                </a:lnTo>
                <a:lnTo>
                  <a:pt x="1806" y="270"/>
                </a:lnTo>
                <a:lnTo>
                  <a:pt x="2058" y="192"/>
                </a:lnTo>
                <a:lnTo>
                  <a:pt x="2238" y="114"/>
                </a:lnTo>
                <a:lnTo>
                  <a:pt x="2448" y="0"/>
                </a:lnTo>
                <a:lnTo>
                  <a:pt x="2448" y="840"/>
                </a:lnTo>
                <a:lnTo>
                  <a:pt x="0" y="840"/>
                </a:lnTo>
                <a:lnTo>
                  <a:pt x="12" y="174"/>
                </a:lnTo>
              </a:path>
            </a:pathLst>
          </a:custGeom>
          <a:solidFill>
            <a:srgbClr val="1997F4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8676" name="Arc 7"/>
          <p:cNvSpPr/>
          <p:nvPr/>
        </p:nvSpPr>
        <p:spPr>
          <a:xfrm rot="-9720000">
            <a:off x="1643063" y="1843088"/>
            <a:ext cx="4038600" cy="288131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21055" h="21600" fill="none">
                <a:moveTo>
                  <a:pt x="-1" y="16779"/>
                </a:moveTo>
                <a:cubicBezTo>
                  <a:pt x="2246" y="6964"/>
                  <a:pt x="10977" y="3"/>
                  <a:pt x="21047" y="0"/>
                </a:cubicBezTo>
              </a:path>
              <a:path w="21055" h="21600" stroke="0">
                <a:moveTo>
                  <a:pt x="-1" y="16779"/>
                </a:moveTo>
                <a:cubicBezTo>
                  <a:pt x="2246" y="6964"/>
                  <a:pt x="10977" y="3"/>
                  <a:pt x="21047" y="0"/>
                </a:cubicBezTo>
                <a:lnTo>
                  <a:pt x="21055" y="21600"/>
                </a:lnTo>
                <a:lnTo>
                  <a:pt x="-1" y="16779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8677" name="Rectangle 8"/>
          <p:cNvSpPr/>
          <p:nvPr/>
        </p:nvSpPr>
        <p:spPr>
          <a:xfrm>
            <a:off x="5821363" y="28019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8" name="Rectangle 9"/>
          <p:cNvSpPr/>
          <p:nvPr/>
        </p:nvSpPr>
        <p:spPr>
          <a:xfrm>
            <a:off x="6110288" y="5075238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9" name="Rectangle 10"/>
          <p:cNvSpPr/>
          <p:nvPr/>
        </p:nvSpPr>
        <p:spPr>
          <a:xfrm>
            <a:off x="1103313" y="5075238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8680" name="Object 1024"/>
          <p:cNvGraphicFramePr/>
          <p:nvPr/>
        </p:nvGraphicFramePr>
        <p:xfrm>
          <a:off x="2178050" y="1281113"/>
          <a:ext cx="39497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2333625" imgH="836295" progId="Equation.2">
                  <p:embed/>
                </p:oleObj>
              </mc:Choice>
              <mc:Fallback>
                <p:oleObj name="" r:id="rId1" imgW="2333625" imgH="836295" progId="Equation.2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78050" y="1281113"/>
                        <a:ext cx="3949700" cy="1358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1025"/>
          <p:cNvGraphicFramePr/>
          <p:nvPr/>
        </p:nvGraphicFramePr>
        <p:xfrm>
          <a:off x="4954588" y="5159375"/>
          <a:ext cx="4333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260985" imgH="304800" progId="Equation.2">
                  <p:embed/>
                </p:oleObj>
              </mc:Choice>
              <mc:Fallback>
                <p:oleObj name="" r:id="rId3" imgW="260985" imgH="304800" progId="Equation.2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54588" y="5159375"/>
                        <a:ext cx="433387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Rectangle 13"/>
          <p:cNvSpPr/>
          <p:nvPr/>
        </p:nvSpPr>
        <p:spPr>
          <a:xfrm>
            <a:off x="1222375" y="4189413"/>
            <a:ext cx="4037013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Area is the variable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cost of making y’ units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83" name="Rectangle 14"/>
          <p:cNvSpPr/>
          <p:nvPr/>
        </p:nvSpPr>
        <p:spPr>
          <a:xfrm>
            <a:off x="217488" y="106203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84" name="Line 3"/>
          <p:cNvSpPr/>
          <p:nvPr/>
        </p:nvSpPr>
        <p:spPr>
          <a:xfrm>
            <a:off x="1285875" y="1571625"/>
            <a:ext cx="0" cy="3500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8685" name="Line 4"/>
          <p:cNvSpPr/>
          <p:nvPr/>
        </p:nvSpPr>
        <p:spPr>
          <a:xfrm>
            <a:off x="1285875" y="5072063"/>
            <a:ext cx="48815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&amp; Average Cost Functions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How is marginal cost related to  average variable cost?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Marginal &amp; Average Cost Functions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30722" name="Rectangle 3"/>
          <p:cNvSpPr/>
          <p:nvPr/>
        </p:nvSpPr>
        <p:spPr>
          <a:xfrm>
            <a:off x="350838" y="1365250"/>
            <a:ext cx="12684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Since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0723" name="Object 1024"/>
          <p:cNvGraphicFramePr/>
          <p:nvPr/>
        </p:nvGraphicFramePr>
        <p:xfrm>
          <a:off x="2260600" y="1200150"/>
          <a:ext cx="3294063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072640" imgH="705485" progId="Equation.2">
                  <p:embed/>
                </p:oleObj>
              </mc:Choice>
              <mc:Fallback>
                <p:oleObj name="" r:id="rId1" imgW="2072640" imgH="705485" progId="Equation.2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60600" y="1200150"/>
                        <a:ext cx="3294063" cy="1114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1025"/>
          <p:cNvGraphicFramePr/>
          <p:nvPr/>
        </p:nvGraphicFramePr>
        <p:xfrm>
          <a:off x="1227138" y="2395538"/>
          <a:ext cx="66198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4171315" imgH="766445" progId="Equation.2">
                  <p:embed/>
                </p:oleObj>
              </mc:Choice>
              <mc:Fallback>
                <p:oleObj name="" r:id="rId3" imgW="4171315" imgH="766445" progId="Equation.2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27138" y="2395538"/>
                        <a:ext cx="6619875" cy="1200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Marginal &amp; Average Cost Functions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31746" name="Rectangle 3"/>
          <p:cNvSpPr/>
          <p:nvPr/>
        </p:nvSpPr>
        <p:spPr>
          <a:xfrm>
            <a:off x="360363" y="1336675"/>
            <a:ext cx="12684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Since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1747" name="Object 1024"/>
          <p:cNvGraphicFramePr/>
          <p:nvPr/>
        </p:nvGraphicFramePr>
        <p:xfrm>
          <a:off x="2298700" y="1162050"/>
          <a:ext cx="3294063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2072640" imgH="705485" progId="Equation.2">
                  <p:embed/>
                </p:oleObj>
              </mc:Choice>
              <mc:Fallback>
                <p:oleObj name="" r:id="rId1" imgW="2072640" imgH="705485" progId="Equation.2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98700" y="1162050"/>
                        <a:ext cx="3294063" cy="1114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1025"/>
          <p:cNvGraphicFramePr/>
          <p:nvPr/>
        </p:nvGraphicFramePr>
        <p:xfrm>
          <a:off x="1274763" y="2309813"/>
          <a:ext cx="66198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4171315" imgH="766445" progId="Equation.2">
                  <p:embed/>
                </p:oleObj>
              </mc:Choice>
              <mc:Fallback>
                <p:oleObj name="" r:id="rId3" imgW="4171315" imgH="766445" progId="Equation.2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74763" y="2309813"/>
                        <a:ext cx="6619875" cy="1200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Rectangle 6"/>
          <p:cNvSpPr/>
          <p:nvPr/>
        </p:nvSpPr>
        <p:spPr>
          <a:xfrm>
            <a:off x="527050" y="3455988"/>
            <a:ext cx="21717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Therefore,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1750" name="Object 1026"/>
          <p:cNvGraphicFramePr/>
          <p:nvPr/>
        </p:nvGraphicFramePr>
        <p:xfrm>
          <a:off x="811213" y="3973513"/>
          <a:ext cx="2478087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5" imgW="1584960" imgH="853440" progId="Equation.2">
                  <p:embed/>
                </p:oleObj>
              </mc:Choice>
              <mc:Fallback>
                <p:oleObj name="" r:id="rId5" imgW="1584960" imgH="853440" progId="Equation.2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11213" y="3973513"/>
                        <a:ext cx="2478087" cy="1298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1027"/>
          <p:cNvGraphicFramePr/>
          <p:nvPr/>
        </p:nvGraphicFramePr>
        <p:xfrm>
          <a:off x="4595813" y="3895725"/>
          <a:ext cx="3500437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7" imgW="2211705" imgH="870585" progId="Equation.2">
                  <p:embed/>
                </p:oleObj>
              </mc:Choice>
              <mc:Fallback>
                <p:oleObj name="" r:id="rId7" imgW="2211705" imgH="870585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95813" y="3895725"/>
                        <a:ext cx="3500437" cy="1354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Rectangle 9"/>
          <p:cNvSpPr/>
          <p:nvPr/>
        </p:nvSpPr>
        <p:spPr>
          <a:xfrm>
            <a:off x="3694113" y="4256088"/>
            <a:ext cx="6365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Marginal &amp; Average Cost Functions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32770" name="Rectangle 3"/>
          <p:cNvSpPr/>
          <p:nvPr/>
        </p:nvSpPr>
        <p:spPr>
          <a:xfrm>
            <a:off x="369888" y="1336675"/>
            <a:ext cx="12684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Since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2771" name="Object 0"/>
          <p:cNvGraphicFramePr/>
          <p:nvPr/>
        </p:nvGraphicFramePr>
        <p:xfrm>
          <a:off x="2308225" y="1104900"/>
          <a:ext cx="3294063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2072640" imgH="705485" progId="Equation.2">
                  <p:embed/>
                </p:oleObj>
              </mc:Choice>
              <mc:Fallback>
                <p:oleObj name="" r:id="rId1" imgW="2072640" imgH="705485" progId="Equation.2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08225" y="1104900"/>
                        <a:ext cx="3294063" cy="1114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1"/>
          <p:cNvGraphicFramePr/>
          <p:nvPr/>
        </p:nvGraphicFramePr>
        <p:xfrm>
          <a:off x="1303338" y="2271713"/>
          <a:ext cx="66198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4171315" imgH="766445" progId="Equation.2">
                  <p:embed/>
                </p:oleObj>
              </mc:Choice>
              <mc:Fallback>
                <p:oleObj name="" r:id="rId3" imgW="4171315" imgH="766445" progId="Equation.2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03338" y="2271713"/>
                        <a:ext cx="6619875" cy="1200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Rectangle 6"/>
          <p:cNvSpPr/>
          <p:nvPr/>
        </p:nvSpPr>
        <p:spPr>
          <a:xfrm>
            <a:off x="527050" y="3398838"/>
            <a:ext cx="21717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Therefore,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2774" name="Object 2"/>
          <p:cNvGraphicFramePr/>
          <p:nvPr/>
        </p:nvGraphicFramePr>
        <p:xfrm>
          <a:off x="820738" y="3840163"/>
          <a:ext cx="2478087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584960" imgH="853440" progId="Equation.2">
                  <p:embed/>
                </p:oleObj>
              </mc:Choice>
              <mc:Fallback>
                <p:oleObj name="" r:id="rId5" imgW="1584960" imgH="853440" progId="Equation.2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0738" y="3840163"/>
                        <a:ext cx="2478087" cy="1298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3"/>
          <p:cNvGraphicFramePr/>
          <p:nvPr/>
        </p:nvGraphicFramePr>
        <p:xfrm>
          <a:off x="4586288" y="3829050"/>
          <a:ext cx="3500437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7" imgW="2211705" imgH="870585" progId="Equation.2">
                  <p:embed/>
                </p:oleObj>
              </mc:Choice>
              <mc:Fallback>
                <p:oleObj name="" r:id="rId7" imgW="2211705" imgH="870585" progId="Equation.2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86288" y="3829050"/>
                        <a:ext cx="3500437" cy="1354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Rectangle 9"/>
          <p:cNvSpPr/>
          <p:nvPr/>
        </p:nvSpPr>
        <p:spPr>
          <a:xfrm>
            <a:off x="3694113" y="4208463"/>
            <a:ext cx="6365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2777" name="Object 4"/>
          <p:cNvGraphicFramePr/>
          <p:nvPr/>
        </p:nvGraphicFramePr>
        <p:xfrm>
          <a:off x="4111625" y="5186363"/>
          <a:ext cx="4868863" cy="134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9" imgW="3082925" imgH="870585" progId="Equation.2">
                  <p:embed/>
                </p:oleObj>
              </mc:Choice>
              <mc:Fallback>
                <p:oleObj name="" r:id="rId9" imgW="3082925" imgH="870585" progId="Equation.2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11625" y="5186363"/>
                        <a:ext cx="4868863" cy="1344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Rectangle 11"/>
          <p:cNvSpPr/>
          <p:nvPr/>
        </p:nvSpPr>
        <p:spPr>
          <a:xfrm>
            <a:off x="3432175" y="5541963"/>
            <a:ext cx="6350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2779" name="Object 5"/>
          <p:cNvGraphicFramePr/>
          <p:nvPr/>
        </p:nvGraphicFramePr>
        <p:xfrm>
          <a:off x="820738" y="5184775"/>
          <a:ext cx="2487612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1" imgW="1584960" imgH="870585" progId="Equation.2">
                  <p:embed/>
                </p:oleObj>
              </mc:Choice>
              <mc:Fallback>
                <p:oleObj name="" r:id="rId11" imgW="1584960" imgH="870585" progId="Equation.2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0738" y="5184775"/>
                        <a:ext cx="2487612" cy="1335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Marginal &amp; Average Cost Functions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graphicFrame>
        <p:nvGraphicFramePr>
          <p:cNvPr id="33794" name="Object 3"/>
          <p:cNvGraphicFramePr/>
          <p:nvPr/>
        </p:nvGraphicFramePr>
        <p:xfrm>
          <a:off x="4686300" y="1193800"/>
          <a:ext cx="3319463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2107565" imgH="853440" progId="Equation.2">
                  <p:embed/>
                </p:oleObj>
              </mc:Choice>
              <mc:Fallback>
                <p:oleObj name="" r:id="rId1" imgW="2107565" imgH="853440" progId="Equation.2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6300" y="1193800"/>
                        <a:ext cx="3319463" cy="1309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Rectangle 4"/>
          <p:cNvSpPr/>
          <p:nvPr/>
        </p:nvSpPr>
        <p:spPr>
          <a:xfrm>
            <a:off x="3970338" y="1546225"/>
            <a:ext cx="63658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3796" name="Object 5"/>
          <p:cNvGraphicFramePr/>
          <p:nvPr/>
        </p:nvGraphicFramePr>
        <p:xfrm>
          <a:off x="1325563" y="1208088"/>
          <a:ext cx="2487612" cy="133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1584960" imgH="870585" progId="Equation.2">
                  <p:embed/>
                </p:oleObj>
              </mc:Choice>
              <mc:Fallback>
                <p:oleObj name="" r:id="rId3" imgW="1584960" imgH="870585" progId="Equation.2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25563" y="1208088"/>
                        <a:ext cx="2487612" cy="1335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7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8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Rectangle 4"/>
          <p:cNvSpPr/>
          <p:nvPr/>
        </p:nvSpPr>
        <p:spPr>
          <a:xfrm>
            <a:off x="8099425" y="61341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Rectangle 5"/>
          <p:cNvSpPr/>
          <p:nvPr/>
        </p:nvSpPr>
        <p:spPr>
          <a:xfrm>
            <a:off x="7551738" y="4371975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Rectangle 6"/>
          <p:cNvSpPr/>
          <p:nvPr/>
        </p:nvSpPr>
        <p:spPr>
          <a:xfrm>
            <a:off x="7718425" y="27289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1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2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3" name="Rectangle 4"/>
          <p:cNvSpPr/>
          <p:nvPr/>
        </p:nvSpPr>
        <p:spPr>
          <a:xfrm>
            <a:off x="8099425" y="61341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4" name="Rectangle 5"/>
          <p:cNvSpPr/>
          <p:nvPr/>
        </p:nvSpPr>
        <p:spPr>
          <a:xfrm>
            <a:off x="7551738" y="4371975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5" name="Rectangle 6"/>
          <p:cNvSpPr/>
          <p:nvPr/>
        </p:nvSpPr>
        <p:spPr>
          <a:xfrm>
            <a:off x="7718425" y="27289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6" name="Line 7"/>
          <p:cNvSpPr/>
          <p:nvPr/>
        </p:nvSpPr>
        <p:spPr>
          <a:xfrm>
            <a:off x="920750" y="5197475"/>
            <a:ext cx="2497138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graphicFrame>
        <p:nvGraphicFramePr>
          <p:cNvPr id="35847" name="Object 1024"/>
          <p:cNvGraphicFramePr/>
          <p:nvPr/>
        </p:nvGraphicFramePr>
        <p:xfrm>
          <a:off x="1439863" y="1096963"/>
          <a:ext cx="648176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2" imgW="4128135" imgH="705485" progId="Equation.2">
                  <p:embed/>
                </p:oleObj>
              </mc:Choice>
              <mc:Fallback>
                <p:oleObj name="" r:id="rId2" imgW="4128135" imgH="705485" progId="Equation.2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39863" y="1096963"/>
                        <a:ext cx="6481762" cy="106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5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6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7" name="Rectangle 4"/>
          <p:cNvSpPr/>
          <p:nvPr/>
        </p:nvSpPr>
        <p:spPr>
          <a:xfrm>
            <a:off x="8099425" y="61341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Rectangle 5"/>
          <p:cNvSpPr/>
          <p:nvPr/>
        </p:nvSpPr>
        <p:spPr>
          <a:xfrm>
            <a:off x="7551738" y="4371975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Rectangle 6"/>
          <p:cNvSpPr/>
          <p:nvPr/>
        </p:nvSpPr>
        <p:spPr>
          <a:xfrm>
            <a:off x="7718425" y="27289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0" name="Line 7"/>
          <p:cNvSpPr/>
          <p:nvPr/>
        </p:nvSpPr>
        <p:spPr>
          <a:xfrm>
            <a:off x="3357563" y="5197475"/>
            <a:ext cx="4856162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graphicFrame>
        <p:nvGraphicFramePr>
          <p:cNvPr id="36871" name="Object 1024"/>
          <p:cNvGraphicFramePr/>
          <p:nvPr/>
        </p:nvGraphicFramePr>
        <p:xfrm>
          <a:off x="1439863" y="858838"/>
          <a:ext cx="648176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2" imgW="4128135" imgH="705485" progId="Equation.2">
                  <p:embed/>
                </p:oleObj>
              </mc:Choice>
              <mc:Fallback>
                <p:oleObj name="" r:id="rId2" imgW="4128135" imgH="705485" progId="Equation.2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39863" y="858838"/>
                        <a:ext cx="6481762" cy="106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89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0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1" name="Rectangle 4"/>
          <p:cNvSpPr/>
          <p:nvPr/>
        </p:nvSpPr>
        <p:spPr>
          <a:xfrm>
            <a:off x="8099425" y="61341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Rectangle 5"/>
          <p:cNvSpPr/>
          <p:nvPr/>
        </p:nvSpPr>
        <p:spPr>
          <a:xfrm>
            <a:off x="7551738" y="4371975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Rectangle 6"/>
          <p:cNvSpPr/>
          <p:nvPr/>
        </p:nvSpPr>
        <p:spPr>
          <a:xfrm>
            <a:off x="7718425" y="27289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7894" name="Object 1024"/>
          <p:cNvGraphicFramePr/>
          <p:nvPr/>
        </p:nvGraphicFramePr>
        <p:xfrm>
          <a:off x="1427163" y="858838"/>
          <a:ext cx="649922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2" imgW="4145280" imgH="705485" progId="Equation.2">
                  <p:embed/>
                </p:oleObj>
              </mc:Choice>
              <mc:Fallback>
                <p:oleObj name="" r:id="rId2" imgW="4145280" imgH="705485" progId="Equation.2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27163" y="858838"/>
                        <a:ext cx="6499225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Oval 8"/>
          <p:cNvSpPr/>
          <p:nvPr/>
        </p:nvSpPr>
        <p:spPr>
          <a:xfrm>
            <a:off x="3319463" y="4549775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891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4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5" name="Rectangle 4"/>
          <p:cNvSpPr/>
          <p:nvPr/>
        </p:nvSpPr>
        <p:spPr>
          <a:xfrm>
            <a:off x="8099425" y="61341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Rectangle 5"/>
          <p:cNvSpPr/>
          <p:nvPr/>
        </p:nvSpPr>
        <p:spPr>
          <a:xfrm>
            <a:off x="7551738" y="4371975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7" name="Rectangle 6"/>
          <p:cNvSpPr/>
          <p:nvPr/>
        </p:nvSpPr>
        <p:spPr>
          <a:xfrm>
            <a:off x="7718425" y="27289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8918" name="Object 1024"/>
          <p:cNvGraphicFramePr/>
          <p:nvPr/>
        </p:nvGraphicFramePr>
        <p:xfrm>
          <a:off x="1427163" y="858838"/>
          <a:ext cx="649922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2" imgW="4145280" imgH="705485" progId="Equation.2">
                  <p:embed/>
                </p:oleObj>
              </mc:Choice>
              <mc:Fallback>
                <p:oleObj name="" r:id="rId2" imgW="4145280" imgH="705485" progId="Equation.2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27163" y="858838"/>
                        <a:ext cx="6499225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Oval 8"/>
          <p:cNvSpPr/>
          <p:nvPr/>
        </p:nvSpPr>
        <p:spPr>
          <a:xfrm>
            <a:off x="3319463" y="4549775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20" name="Rectangle 9"/>
          <p:cNvSpPr/>
          <p:nvPr/>
        </p:nvSpPr>
        <p:spPr>
          <a:xfrm>
            <a:off x="1217613" y="1898650"/>
            <a:ext cx="6856412" cy="20621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short-run MC curve intersects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short-run AVC curve from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below at the AVC curve’s 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minimum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Marginal &amp; Average Cost Functions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39938" name="Rectangle 3"/>
          <p:cNvSpPr/>
          <p:nvPr/>
        </p:nvSpPr>
        <p:spPr>
          <a:xfrm>
            <a:off x="360363" y="1231900"/>
            <a:ext cx="31432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Similarly, since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9939" name="Object 0"/>
          <p:cNvGraphicFramePr/>
          <p:nvPr/>
        </p:nvGraphicFramePr>
        <p:xfrm>
          <a:off x="3813175" y="1076325"/>
          <a:ext cx="297973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1880870" imgH="705485" progId="Equation.2">
                  <p:embed/>
                </p:oleObj>
              </mc:Choice>
              <mc:Fallback>
                <p:oleObj name="" r:id="rId1" imgW="1880870" imgH="705485" progId="Equation.2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13175" y="1076325"/>
                        <a:ext cx="2979738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1"/>
          <p:cNvGraphicFramePr/>
          <p:nvPr/>
        </p:nvGraphicFramePr>
        <p:xfrm>
          <a:off x="1438275" y="2195513"/>
          <a:ext cx="6319838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3988435" imgH="766445" progId="Equation.2">
                  <p:embed/>
                </p:oleObj>
              </mc:Choice>
              <mc:Fallback>
                <p:oleObj name="" r:id="rId3" imgW="3988435" imgH="766445" progId="Equation.2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38275" y="2195513"/>
                        <a:ext cx="6319838" cy="1190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Marginal &amp; Average Cost Functions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40962" name="Rectangle 3"/>
          <p:cNvSpPr/>
          <p:nvPr/>
        </p:nvSpPr>
        <p:spPr>
          <a:xfrm>
            <a:off x="360363" y="1231900"/>
            <a:ext cx="31432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Similarly, since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63" name="Object 4"/>
          <p:cNvGraphicFramePr/>
          <p:nvPr/>
        </p:nvGraphicFramePr>
        <p:xfrm>
          <a:off x="3803650" y="1114425"/>
          <a:ext cx="297973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1880870" imgH="705485" progId="Equation.2">
                  <p:embed/>
                </p:oleObj>
              </mc:Choice>
              <mc:Fallback>
                <p:oleObj name="" r:id="rId1" imgW="1880870" imgH="705485" progId="Equation.2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03650" y="1114425"/>
                        <a:ext cx="2979738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5"/>
          <p:cNvGraphicFramePr/>
          <p:nvPr/>
        </p:nvGraphicFramePr>
        <p:xfrm>
          <a:off x="1438275" y="2195513"/>
          <a:ext cx="6319838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" imgW="3988435" imgH="766445" progId="Equation.2">
                  <p:embed/>
                </p:oleObj>
              </mc:Choice>
              <mc:Fallback>
                <p:oleObj name="" r:id="rId3" imgW="3988435" imgH="766445" progId="Equation.2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38275" y="2195513"/>
                        <a:ext cx="6319838" cy="1190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Rectangle 6"/>
          <p:cNvSpPr/>
          <p:nvPr/>
        </p:nvSpPr>
        <p:spPr>
          <a:xfrm>
            <a:off x="527050" y="3398838"/>
            <a:ext cx="21717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Therefore,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66" name="Object 7"/>
          <p:cNvGraphicFramePr/>
          <p:nvPr/>
        </p:nvGraphicFramePr>
        <p:xfrm>
          <a:off x="827088" y="3840163"/>
          <a:ext cx="2454275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5" imgW="1576070" imgH="853440" progId="Equation.2">
                  <p:embed/>
                </p:oleObj>
              </mc:Choice>
              <mc:Fallback>
                <p:oleObj name="" r:id="rId5" imgW="1576070" imgH="853440" progId="Equation.2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3840163"/>
                        <a:ext cx="2454275" cy="1289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8"/>
          <p:cNvGraphicFramePr/>
          <p:nvPr/>
        </p:nvGraphicFramePr>
        <p:xfrm>
          <a:off x="4722813" y="3841750"/>
          <a:ext cx="321627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7" imgW="2037715" imgH="853440" progId="Equation.2">
                  <p:embed/>
                </p:oleObj>
              </mc:Choice>
              <mc:Fallback>
                <p:oleObj name="" r:id="rId7" imgW="2037715" imgH="853440" progId="Equation.2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22813" y="3841750"/>
                        <a:ext cx="3216275" cy="1317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Rectangle 9"/>
          <p:cNvSpPr/>
          <p:nvPr/>
        </p:nvSpPr>
        <p:spPr>
          <a:xfrm>
            <a:off x="3694113" y="4208463"/>
            <a:ext cx="6365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Marginal &amp; Average Cost Functions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41986" name="Rectangle 3"/>
          <p:cNvSpPr/>
          <p:nvPr/>
        </p:nvSpPr>
        <p:spPr>
          <a:xfrm>
            <a:off x="369888" y="1298575"/>
            <a:ext cx="31432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Similarly, since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987" name="Object 4"/>
          <p:cNvGraphicFramePr/>
          <p:nvPr/>
        </p:nvGraphicFramePr>
        <p:xfrm>
          <a:off x="3870325" y="1104900"/>
          <a:ext cx="297973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1880870" imgH="705485" progId="Equation.2">
                  <p:embed/>
                </p:oleObj>
              </mc:Choice>
              <mc:Fallback>
                <p:oleObj name="" r:id="rId1" imgW="1880870" imgH="705485" progId="Equation.2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70325" y="1104900"/>
                        <a:ext cx="2979738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5"/>
          <p:cNvGraphicFramePr/>
          <p:nvPr/>
        </p:nvGraphicFramePr>
        <p:xfrm>
          <a:off x="1438275" y="2195513"/>
          <a:ext cx="6319838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3" imgW="3988435" imgH="766445" progId="Equation.2">
                  <p:embed/>
                </p:oleObj>
              </mc:Choice>
              <mc:Fallback>
                <p:oleObj name="" r:id="rId3" imgW="3988435" imgH="766445" progId="Equation.2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38275" y="2195513"/>
                        <a:ext cx="6319838" cy="1190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Rectangle 6"/>
          <p:cNvSpPr/>
          <p:nvPr/>
        </p:nvSpPr>
        <p:spPr>
          <a:xfrm>
            <a:off x="527050" y="3398838"/>
            <a:ext cx="21717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Therefore,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990" name="Object 7"/>
          <p:cNvGraphicFramePr/>
          <p:nvPr/>
        </p:nvGraphicFramePr>
        <p:xfrm>
          <a:off x="827088" y="3840163"/>
          <a:ext cx="2454275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5" imgW="1576070" imgH="853440" progId="Equation.2">
                  <p:embed/>
                </p:oleObj>
              </mc:Choice>
              <mc:Fallback>
                <p:oleObj name="" r:id="rId5" imgW="1576070" imgH="853440" progId="Equation.2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3840163"/>
                        <a:ext cx="2454275" cy="1289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8"/>
          <p:cNvGraphicFramePr/>
          <p:nvPr/>
        </p:nvGraphicFramePr>
        <p:xfrm>
          <a:off x="4722813" y="3841750"/>
          <a:ext cx="321627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7" imgW="2037715" imgH="853440" progId="Equation.2">
                  <p:embed/>
                </p:oleObj>
              </mc:Choice>
              <mc:Fallback>
                <p:oleObj name="" r:id="rId7" imgW="2037715" imgH="853440" progId="Equation.2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22813" y="3841750"/>
                        <a:ext cx="3216275" cy="1317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2" name="Rectangle 9"/>
          <p:cNvSpPr/>
          <p:nvPr/>
        </p:nvSpPr>
        <p:spPr>
          <a:xfrm>
            <a:off x="3694113" y="4208463"/>
            <a:ext cx="6365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993" name="Object 10"/>
          <p:cNvGraphicFramePr/>
          <p:nvPr/>
        </p:nvGraphicFramePr>
        <p:xfrm>
          <a:off x="4262438" y="5199063"/>
          <a:ext cx="4556125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9" imgW="2891155" imgH="853440" progId="Equation.2">
                  <p:embed/>
                </p:oleObj>
              </mc:Choice>
              <mc:Fallback>
                <p:oleObj name="" r:id="rId9" imgW="2891155" imgH="853440" progId="Equation.2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62438" y="5199063"/>
                        <a:ext cx="4556125" cy="1308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Rectangle 11"/>
          <p:cNvSpPr/>
          <p:nvPr/>
        </p:nvSpPr>
        <p:spPr>
          <a:xfrm>
            <a:off x="3455988" y="5589588"/>
            <a:ext cx="6365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995" name="Object 12"/>
          <p:cNvGraphicFramePr/>
          <p:nvPr/>
        </p:nvGraphicFramePr>
        <p:xfrm>
          <a:off x="827088" y="5197475"/>
          <a:ext cx="246380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1" imgW="1576070" imgH="853440" progId="Equation.2">
                  <p:embed/>
                </p:oleObj>
              </mc:Choice>
              <mc:Fallback>
                <p:oleObj name="" r:id="rId11" imgW="1576070" imgH="853440" progId="Equation.2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5197475"/>
                        <a:ext cx="2463800" cy="1298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009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0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1" name="Rectangle 4"/>
          <p:cNvSpPr/>
          <p:nvPr/>
        </p:nvSpPr>
        <p:spPr>
          <a:xfrm>
            <a:off x="8099425" y="61341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2" name="Rectangle 5"/>
          <p:cNvSpPr/>
          <p:nvPr/>
        </p:nvSpPr>
        <p:spPr>
          <a:xfrm>
            <a:off x="7718425" y="27289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3" name="Rectangle 6"/>
          <p:cNvSpPr/>
          <p:nvPr/>
        </p:nvSpPr>
        <p:spPr>
          <a:xfrm>
            <a:off x="7551738" y="3919538"/>
            <a:ext cx="1349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3014" name="Object 7"/>
          <p:cNvGraphicFramePr/>
          <p:nvPr/>
        </p:nvGraphicFramePr>
        <p:xfrm>
          <a:off x="5527675" y="960438"/>
          <a:ext cx="3176588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2" imgW="2028825" imgH="853440" progId="Equation.2">
                  <p:embed/>
                </p:oleObj>
              </mc:Choice>
              <mc:Fallback>
                <p:oleObj name="" r:id="rId2" imgW="2028825" imgH="853440" progId="Equation.2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27675" y="960438"/>
                        <a:ext cx="3176588" cy="1289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Rectangle 8"/>
          <p:cNvSpPr/>
          <p:nvPr/>
        </p:nvSpPr>
        <p:spPr>
          <a:xfrm>
            <a:off x="4732338" y="1303338"/>
            <a:ext cx="6365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3016" name="Object 9"/>
          <p:cNvGraphicFramePr/>
          <p:nvPr/>
        </p:nvGraphicFramePr>
        <p:xfrm>
          <a:off x="2103438" y="958850"/>
          <a:ext cx="246380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4" imgW="1576070" imgH="853440" progId="Equation.2">
                  <p:embed/>
                </p:oleObj>
              </mc:Choice>
              <mc:Fallback>
                <p:oleObj name="" r:id="rId4" imgW="1576070" imgH="853440" progId="Equation.2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03438" y="958850"/>
                        <a:ext cx="2463800" cy="1298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Oval 10"/>
          <p:cNvSpPr/>
          <p:nvPr/>
        </p:nvSpPr>
        <p:spPr>
          <a:xfrm>
            <a:off x="5795963" y="3835400"/>
            <a:ext cx="187325" cy="187325"/>
          </a:xfrm>
          <a:prstGeom prst="ellipse">
            <a:avLst/>
          </a:prstGeom>
          <a:solidFill>
            <a:srgbClr val="1997F4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&amp; Average Cost Functions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403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short-run MC curve intersects the short-run AVC curve from below at the AVC curve’s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minimum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短期边际成本曲线穿过短期平均可变成本曲线最低点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And, similarly, the short-run MC curve intersects the short-run ATC curve from below at the ATC curve’s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minimum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短期边际成本曲线穿过短期平均总成本曲线最低点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7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8" name="Rectangle 3"/>
          <p:cNvSpPr/>
          <p:nvPr/>
        </p:nvSpPr>
        <p:spPr>
          <a:xfrm>
            <a:off x="193675" y="41910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59" name="Rectangle 4"/>
          <p:cNvSpPr/>
          <p:nvPr/>
        </p:nvSpPr>
        <p:spPr>
          <a:xfrm>
            <a:off x="8099425" y="61341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0" name="Rectangle 5"/>
          <p:cNvSpPr/>
          <p:nvPr/>
        </p:nvSpPr>
        <p:spPr>
          <a:xfrm>
            <a:off x="7551738" y="4371975"/>
            <a:ext cx="1370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AVC(y)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1" name="Rectangle 6"/>
          <p:cNvSpPr/>
          <p:nvPr/>
        </p:nvSpPr>
        <p:spPr>
          <a:xfrm>
            <a:off x="7718425" y="27289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2" name="Rectangle 7"/>
          <p:cNvSpPr/>
          <p:nvPr/>
        </p:nvSpPr>
        <p:spPr>
          <a:xfrm>
            <a:off x="7551738" y="3514725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3" name="Oval 8"/>
          <p:cNvSpPr/>
          <p:nvPr/>
        </p:nvSpPr>
        <p:spPr>
          <a:xfrm>
            <a:off x="3319463" y="4549775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4" name="Oval 9"/>
          <p:cNvSpPr/>
          <p:nvPr/>
        </p:nvSpPr>
        <p:spPr>
          <a:xfrm>
            <a:off x="5176838" y="4025900"/>
            <a:ext cx="187325" cy="187325"/>
          </a:xfrm>
          <a:prstGeom prst="ellipse">
            <a:avLst/>
          </a:prstGeom>
          <a:solidFill>
            <a:srgbClr val="1997F4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 Curves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608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firm has a different short-run total cost curve for each possible short-run circumstance</a:t>
            </a:r>
            <a:r>
              <a:rPr lang="zh-CN" altLang="en-US" dirty="0">
                <a:ea typeface="宋体" panose="02010600030101010101" pitchFamily="2" charset="-122"/>
              </a:rPr>
              <a:t>短期成本曲线因固定成本的不同而不同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Suppose the firm can be in one of just three short-runs;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	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or  	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ea typeface="宋体" panose="02010600030101010101" pitchFamily="2" charset="-122"/>
              </a:rPr>
              <a:t>           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ea typeface="宋体" panose="02010600030101010101" pitchFamily="2" charset="-122"/>
              </a:rPr>
              <a:t> &lt;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ea typeface="宋体" panose="02010600030101010101" pitchFamily="2" charset="-122"/>
              </a:rPr>
              <a:t> &lt;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or  	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105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6" name="Rectangle 3"/>
          <p:cNvSpPr/>
          <p:nvPr/>
        </p:nvSpPr>
        <p:spPr>
          <a:xfrm>
            <a:off x="8218488" y="6015038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07" name="Rectangle 4"/>
          <p:cNvSpPr/>
          <p:nvPr/>
        </p:nvSpPr>
        <p:spPr>
          <a:xfrm>
            <a:off x="765175" y="608647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08" name="Rectangle 5"/>
          <p:cNvSpPr/>
          <p:nvPr/>
        </p:nvSpPr>
        <p:spPr>
          <a:xfrm>
            <a:off x="1289050" y="1422400"/>
            <a:ext cx="19351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w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47109" name="Rectangle 6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47110" name="Rectangle 7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11" name="Rectangle 8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129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0" name="Rectangle 3"/>
          <p:cNvSpPr/>
          <p:nvPr/>
        </p:nvSpPr>
        <p:spPr>
          <a:xfrm>
            <a:off x="8218488" y="6015038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1" name="Rectangle 4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48132" name="Rectangle 5"/>
          <p:cNvSpPr/>
          <p:nvPr/>
        </p:nvSpPr>
        <p:spPr>
          <a:xfrm>
            <a:off x="765175" y="608647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3" name="Rectangle 6"/>
          <p:cNvSpPr/>
          <p:nvPr/>
        </p:nvSpPr>
        <p:spPr>
          <a:xfrm>
            <a:off x="1289050" y="1422400"/>
            <a:ext cx="19351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w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48134" name="Rectangle 7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48135" name="Rectangle 8"/>
          <p:cNvSpPr/>
          <p:nvPr/>
        </p:nvSpPr>
        <p:spPr>
          <a:xfrm>
            <a:off x="1169988" y="1874838"/>
            <a:ext cx="21351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w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48136" name="Rectangle 9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7" name="Rectangle 10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8" name="Rectangle 11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15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4" name="Rectangle 3"/>
          <p:cNvSpPr/>
          <p:nvPr/>
        </p:nvSpPr>
        <p:spPr>
          <a:xfrm>
            <a:off x="8218488" y="6015038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5" name="Rectangle 4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49156" name="Rectangle 5"/>
          <p:cNvSpPr/>
          <p:nvPr/>
        </p:nvSpPr>
        <p:spPr>
          <a:xfrm>
            <a:off x="765175" y="608647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Rectangle 6"/>
          <p:cNvSpPr/>
          <p:nvPr/>
        </p:nvSpPr>
        <p:spPr>
          <a:xfrm>
            <a:off x="1289050" y="1422400"/>
            <a:ext cx="19351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w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49158" name="Rectangle 8"/>
          <p:cNvSpPr/>
          <p:nvPr/>
        </p:nvSpPr>
        <p:spPr>
          <a:xfrm>
            <a:off x="1169988" y="1874838"/>
            <a:ext cx="21351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w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49159" name="Rectangle 9"/>
          <p:cNvSpPr/>
          <p:nvPr/>
        </p:nvSpPr>
        <p:spPr>
          <a:xfrm>
            <a:off x="1050925" y="2517775"/>
            <a:ext cx="5581650" cy="15541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 larger amount of the fixed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input increases the firm’s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fixed cost.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60" name="Rectangle 10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61" name="Rectangle 11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62" name="Rectangle 12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63" name="Rectangle 13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0177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78" name="Rectangle 3"/>
          <p:cNvSpPr/>
          <p:nvPr/>
        </p:nvSpPr>
        <p:spPr>
          <a:xfrm>
            <a:off x="8218488" y="6015038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79" name="Rectangle 4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0180" name="Rectangle 5"/>
          <p:cNvSpPr/>
          <p:nvPr/>
        </p:nvSpPr>
        <p:spPr>
          <a:xfrm>
            <a:off x="765175" y="608647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1" name="Rectangle 6"/>
          <p:cNvSpPr/>
          <p:nvPr/>
        </p:nvSpPr>
        <p:spPr>
          <a:xfrm>
            <a:off x="1289050" y="1422400"/>
            <a:ext cx="2063750" cy="58578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w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0182" name="Rectangle 8"/>
          <p:cNvSpPr/>
          <p:nvPr/>
        </p:nvSpPr>
        <p:spPr>
          <a:xfrm>
            <a:off x="1169988" y="1874838"/>
            <a:ext cx="2230437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w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0183" name="Rectangle 9"/>
          <p:cNvSpPr/>
          <p:nvPr/>
        </p:nvSpPr>
        <p:spPr>
          <a:xfrm>
            <a:off x="1050925" y="2517775"/>
            <a:ext cx="5581650" cy="15541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 larger amount of the fixed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input increases the firm’s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fixed cost.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4" name="Rectangle 10"/>
          <p:cNvSpPr/>
          <p:nvPr/>
        </p:nvSpPr>
        <p:spPr>
          <a:xfrm>
            <a:off x="2071688" y="3898900"/>
            <a:ext cx="7070725" cy="20621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Why does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a larger amount of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the fixed input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reduce the slope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of the firm’s total cost curve?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5" name="Rectangle 11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6" name="Rectangle 12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7" name="Rectangle 13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8" name="Rectangle 14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/>
          <p:nvPr/>
        </p:nvSpPr>
        <p:spPr>
          <a:xfrm>
            <a:off x="479425" y="1470025"/>
            <a:ext cx="8340725" cy="25288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MP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is the marginal physical productivity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 the variable input 1, so one extra unit of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input 1 gives MP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extra output units.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Therefore, the extra amount of input 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needed for 1 extra output unit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 Curves</a:t>
            </a:r>
            <a:r>
              <a:rPr lang="zh-CN" altLang="en-US" dirty="0">
                <a:ea typeface="宋体" panose="02010600030101010101" pitchFamily="2" charset="-122"/>
              </a:rPr>
              <a:t>短期和长期总成本曲线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2"/>
          <p:cNvSpPr/>
          <p:nvPr/>
        </p:nvSpPr>
        <p:spPr>
          <a:xfrm>
            <a:off x="479425" y="1470025"/>
            <a:ext cx="8340725" cy="25288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MP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is the marginal physical productivity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 the variable input 1, so one extra unit of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input 1 gives MP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extra output units.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Therefore, the extra amount of input 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needed for 1 extra output unit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26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 Curves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2227" name="Text Box 7"/>
          <p:cNvSpPr txBox="1"/>
          <p:nvPr/>
        </p:nvSpPr>
        <p:spPr>
          <a:xfrm>
            <a:off x="479425" y="3916363"/>
            <a:ext cx="4554538" cy="579437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units of input 1.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2228" name="Object 0"/>
          <p:cNvGraphicFramePr/>
          <p:nvPr/>
        </p:nvGraphicFramePr>
        <p:xfrm>
          <a:off x="603250" y="4030663"/>
          <a:ext cx="109696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705485" imgH="287655" progId="Equation.3">
                  <p:embed/>
                </p:oleObj>
              </mc:Choice>
              <mc:Fallback>
                <p:oleObj name="" r:id="rId1" imgW="705485" imgH="28765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3250" y="4030663"/>
                        <a:ext cx="1096963" cy="43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/>
          <p:nvPr/>
        </p:nvSpPr>
        <p:spPr>
          <a:xfrm>
            <a:off x="479425" y="1470025"/>
            <a:ext cx="8340725" cy="25288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MP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is the marginal physical productivity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 the variable input 1, so one extra unit of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input 1 gives MP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extra output units.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Therefore, the extra amount of input 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needed for 1 extra output unit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50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 Curves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1" name="Text Box 5"/>
          <p:cNvSpPr txBox="1"/>
          <p:nvPr/>
        </p:nvSpPr>
        <p:spPr>
          <a:xfrm>
            <a:off x="479425" y="3916363"/>
            <a:ext cx="8945563" cy="2062162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units of input 1</a:t>
            </a: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每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单位边际产出的投入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Each unit of input 1 costs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so the firm’s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extra cost from producing one extra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 output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3252" name="Object 6"/>
          <p:cNvGraphicFramePr/>
          <p:nvPr/>
        </p:nvGraphicFramePr>
        <p:xfrm>
          <a:off x="603250" y="4030663"/>
          <a:ext cx="109696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705485" imgH="287655" progId="Equation.3">
                  <p:embed/>
                </p:oleObj>
              </mc:Choice>
              <mc:Fallback>
                <p:oleObj name="" r:id="rId1" imgW="705485" imgH="287655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3250" y="4030663"/>
                        <a:ext cx="1096963" cy="43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/>
          <p:nvPr/>
        </p:nvSpPr>
        <p:spPr>
          <a:xfrm>
            <a:off x="479425" y="1470025"/>
            <a:ext cx="8340725" cy="25288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MP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is the marginal physical productivity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 the variable input 1, so one extra unit of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input 1 gives MP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extra output units.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Therefore, the extra amount of input 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needed for 1 extra output unit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74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 Curves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4275" name="Object 4"/>
          <p:cNvGraphicFramePr/>
          <p:nvPr/>
        </p:nvGraphicFramePr>
        <p:xfrm>
          <a:off x="3346450" y="5780088"/>
          <a:ext cx="218440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" imgW="1410970" imgH="714375" progId="Equation.2">
                  <p:embed/>
                </p:oleObj>
              </mc:Choice>
              <mc:Fallback>
                <p:oleObj name="" r:id="rId1" imgW="1410970" imgH="714375" progId="Equation.2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6450" y="5780088"/>
                        <a:ext cx="2184400" cy="1077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6" name="Text Box 5"/>
          <p:cNvSpPr txBox="1"/>
          <p:nvPr/>
        </p:nvSpPr>
        <p:spPr>
          <a:xfrm>
            <a:off x="479425" y="3916363"/>
            <a:ext cx="8401050" cy="2062162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units of input 1.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Each unit of input 1 costs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so the firm’s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extra cost from producing one extra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 output is</a:t>
            </a: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每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单位边际产出的成本是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4277" name="Object 6"/>
          <p:cNvGraphicFramePr/>
          <p:nvPr/>
        </p:nvGraphicFramePr>
        <p:xfrm>
          <a:off x="603250" y="4030663"/>
          <a:ext cx="109696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3" imgW="705485" imgH="287655" progId="Equation.3">
                  <p:embed/>
                </p:oleObj>
              </mc:Choice>
              <mc:Fallback>
                <p:oleObj name="" r:id="rId3" imgW="705485" imgH="287655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3250" y="4030663"/>
                        <a:ext cx="1096963" cy="43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 Curves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5298" name="Object 3"/>
          <p:cNvGraphicFramePr/>
          <p:nvPr/>
        </p:nvGraphicFramePr>
        <p:xfrm>
          <a:off x="527050" y="1585913"/>
          <a:ext cx="1993900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1323975" imgH="714375" progId="Equation.2">
                  <p:embed/>
                </p:oleObj>
              </mc:Choice>
              <mc:Fallback>
                <p:oleObj name="" r:id="rId1" imgW="1323975" imgH="714375" progId="Equation.2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7050" y="1585913"/>
                        <a:ext cx="1993900" cy="1068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9" name="Rectangle 4"/>
          <p:cNvSpPr/>
          <p:nvPr/>
        </p:nvSpPr>
        <p:spPr>
          <a:xfrm>
            <a:off x="2741613" y="1803400"/>
            <a:ext cx="5973762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is the slope of the firm’s total cost curve.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 Curves</a:t>
            </a:r>
            <a:r>
              <a:rPr lang="zh-CN" altLang="en-US" dirty="0">
                <a:ea typeface="宋体" panose="02010600030101010101" pitchFamily="2" charset="-122"/>
              </a:rPr>
              <a:t>短期和长期总成本曲线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6322" name="Object 3"/>
          <p:cNvGraphicFramePr/>
          <p:nvPr/>
        </p:nvGraphicFramePr>
        <p:xfrm>
          <a:off x="527050" y="1585913"/>
          <a:ext cx="1993900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1323975" imgH="714375" progId="Equation.2">
                  <p:embed/>
                </p:oleObj>
              </mc:Choice>
              <mc:Fallback>
                <p:oleObj name="" r:id="rId1" imgW="1323975" imgH="714375" progId="Equation.2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7050" y="1585913"/>
                        <a:ext cx="1993900" cy="1068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3" name="Rectangle 4"/>
          <p:cNvSpPr/>
          <p:nvPr/>
        </p:nvSpPr>
        <p:spPr>
          <a:xfrm>
            <a:off x="2741613" y="1803400"/>
            <a:ext cx="5973762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is the slope of the firm’s total cost curve.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24" name="Rectangle 5"/>
          <p:cNvSpPr/>
          <p:nvPr/>
        </p:nvSpPr>
        <p:spPr>
          <a:xfrm>
            <a:off x="527050" y="2994025"/>
            <a:ext cx="8616950" cy="20621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If input 2 is a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complement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to input 1 then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MP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is higher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higher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如果要素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与要素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互补会提高要素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的边际产出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Hence,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 is lower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for higher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25" name="Rectangle 6"/>
          <p:cNvSpPr/>
          <p:nvPr/>
        </p:nvSpPr>
        <p:spPr>
          <a:xfrm>
            <a:off x="508000" y="5113338"/>
            <a:ext cx="84169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That is, a short-run total cost curve starts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higher and has a lower slope if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is larger.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7345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6" name="Rectangle 3"/>
          <p:cNvSpPr/>
          <p:nvPr/>
        </p:nvSpPr>
        <p:spPr>
          <a:xfrm>
            <a:off x="8218488" y="6015038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47" name="Rectangle 4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7348" name="Rectangle 5"/>
          <p:cNvSpPr/>
          <p:nvPr/>
        </p:nvSpPr>
        <p:spPr>
          <a:xfrm>
            <a:off x="765175" y="608647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49" name="Rectangle 6"/>
          <p:cNvSpPr/>
          <p:nvPr/>
        </p:nvSpPr>
        <p:spPr>
          <a:xfrm>
            <a:off x="1289050" y="1422400"/>
            <a:ext cx="1935163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w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7350" name="Rectangle 8"/>
          <p:cNvSpPr/>
          <p:nvPr/>
        </p:nvSpPr>
        <p:spPr>
          <a:xfrm>
            <a:off x="1169988" y="1874838"/>
            <a:ext cx="215900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w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7351" name="Rectangle 9"/>
          <p:cNvSpPr/>
          <p:nvPr/>
        </p:nvSpPr>
        <p:spPr>
          <a:xfrm>
            <a:off x="190500" y="4303713"/>
            <a:ext cx="75565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endParaRPr lang="en-US" altLang="zh-CN" dirty="0">
              <a:solidFill>
                <a:schemeClr val="hlink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7352" name="Rectangle 10"/>
          <p:cNvSpPr/>
          <p:nvPr/>
        </p:nvSpPr>
        <p:spPr>
          <a:xfrm>
            <a:off x="1098550" y="2327275"/>
            <a:ext cx="2449513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w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endParaRPr lang="en-US" altLang="zh-CN" dirty="0">
              <a:solidFill>
                <a:schemeClr val="hlink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7353" name="Rectangle 11"/>
          <p:cNvSpPr/>
          <p:nvPr/>
        </p:nvSpPr>
        <p:spPr>
          <a:xfrm>
            <a:off x="7096125" y="3756025"/>
            <a:ext cx="1905000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54" name="Rectangle 12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55" name="Rectangle 13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56" name="Rectangle 14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57" name="Rectangle 15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 Curves</a:t>
            </a:r>
            <a:r>
              <a:rPr lang="zh-CN" altLang="en-US" dirty="0">
                <a:ea typeface="宋体" panose="02010600030101010101" pitchFamily="2" charset="-122"/>
              </a:rPr>
              <a:t>短期和长期总成本曲线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837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firm has three short-run total cost curves.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In the long-run the firm is free to choose amongst these three since it is free to select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equal to any of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ea typeface="宋体" panose="02010600030101010101" pitchFamily="2" charset="-122"/>
              </a:rPr>
              <a:t>,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ea typeface="宋体" panose="02010600030101010101" pitchFamily="2" charset="-122"/>
              </a:rPr>
              <a:t>, or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How does the firm make this choice?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939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394" name="Rectangle 3"/>
          <p:cNvSpPr/>
          <p:nvPr/>
        </p:nvSpPr>
        <p:spPr>
          <a:xfrm>
            <a:off x="8218488" y="60452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395" name="Rectangle 4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9396" name="Rectangle 5"/>
          <p:cNvSpPr/>
          <p:nvPr/>
        </p:nvSpPr>
        <p:spPr>
          <a:xfrm>
            <a:off x="765175" y="60452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397" name="Rectangle 7"/>
          <p:cNvSpPr/>
          <p:nvPr/>
        </p:nvSpPr>
        <p:spPr>
          <a:xfrm>
            <a:off x="190500" y="4303713"/>
            <a:ext cx="75565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endParaRPr lang="en-US" altLang="zh-CN" dirty="0">
              <a:solidFill>
                <a:schemeClr val="hlink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9398" name="Line 8"/>
          <p:cNvSpPr/>
          <p:nvPr/>
        </p:nvSpPr>
        <p:spPr>
          <a:xfrm>
            <a:off x="3662363" y="4843463"/>
            <a:ext cx="0" cy="10810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9399" name="Line 9"/>
          <p:cNvSpPr/>
          <p:nvPr/>
        </p:nvSpPr>
        <p:spPr>
          <a:xfrm>
            <a:off x="6332538" y="4006850"/>
            <a:ext cx="0" cy="19177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9400" name="Rectangle 10"/>
          <p:cNvSpPr/>
          <p:nvPr/>
        </p:nvSpPr>
        <p:spPr>
          <a:xfrm>
            <a:off x="3441700" y="6015038"/>
            <a:ext cx="5111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9401" name="Rectangle 11"/>
          <p:cNvSpPr/>
          <p:nvPr/>
        </p:nvSpPr>
        <p:spPr>
          <a:xfrm>
            <a:off x="6110288" y="6015038"/>
            <a:ext cx="6111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9402" name="Rectangle 12"/>
          <p:cNvSpPr/>
          <p:nvPr/>
        </p:nvSpPr>
        <p:spPr>
          <a:xfrm>
            <a:off x="979488" y="1112838"/>
            <a:ext cx="54784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0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?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03" name="Line 13"/>
          <p:cNvSpPr/>
          <p:nvPr/>
        </p:nvSpPr>
        <p:spPr>
          <a:xfrm>
            <a:off x="920750" y="5761038"/>
            <a:ext cx="2713038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59404" name="Rectangle 14"/>
          <p:cNvSpPr/>
          <p:nvPr/>
        </p:nvSpPr>
        <p:spPr>
          <a:xfrm>
            <a:off x="7096125" y="3756025"/>
            <a:ext cx="1905000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05" name="Rectangle 15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06" name="Rectangle 16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07" name="Rectangle 17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08" name="Rectangle 18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0417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18" name="Rectangle 3"/>
          <p:cNvSpPr/>
          <p:nvPr/>
        </p:nvSpPr>
        <p:spPr>
          <a:xfrm>
            <a:off x="8218488" y="60452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19" name="Rectangle 4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0420" name="Rectangle 5"/>
          <p:cNvSpPr/>
          <p:nvPr/>
        </p:nvSpPr>
        <p:spPr>
          <a:xfrm>
            <a:off x="765175" y="60452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21" name="Rectangle 7"/>
          <p:cNvSpPr/>
          <p:nvPr/>
        </p:nvSpPr>
        <p:spPr>
          <a:xfrm>
            <a:off x="190500" y="4303713"/>
            <a:ext cx="75565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endParaRPr lang="en-US" altLang="zh-CN" dirty="0">
              <a:solidFill>
                <a:schemeClr val="hlink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0422" name="Line 8"/>
          <p:cNvSpPr/>
          <p:nvPr/>
        </p:nvSpPr>
        <p:spPr>
          <a:xfrm>
            <a:off x="3662363" y="4843463"/>
            <a:ext cx="0" cy="10810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0423" name="Line 9"/>
          <p:cNvSpPr/>
          <p:nvPr/>
        </p:nvSpPr>
        <p:spPr>
          <a:xfrm>
            <a:off x="6332538" y="4006850"/>
            <a:ext cx="0" cy="19177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0424" name="Rectangle 10"/>
          <p:cNvSpPr/>
          <p:nvPr/>
        </p:nvSpPr>
        <p:spPr>
          <a:xfrm>
            <a:off x="3441700" y="6015038"/>
            <a:ext cx="5111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0425" name="Rectangle 11"/>
          <p:cNvSpPr/>
          <p:nvPr/>
        </p:nvSpPr>
        <p:spPr>
          <a:xfrm>
            <a:off x="6110288" y="6015038"/>
            <a:ext cx="6111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0426" name="Line 12"/>
          <p:cNvSpPr/>
          <p:nvPr/>
        </p:nvSpPr>
        <p:spPr>
          <a:xfrm>
            <a:off x="920750" y="5761038"/>
            <a:ext cx="2713038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60427" name="Rectangle 13"/>
          <p:cNvSpPr/>
          <p:nvPr/>
        </p:nvSpPr>
        <p:spPr>
          <a:xfrm>
            <a:off x="979488" y="1112838"/>
            <a:ext cx="5868987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0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28" name="Rectangle 14"/>
          <p:cNvSpPr/>
          <p:nvPr/>
        </p:nvSpPr>
        <p:spPr>
          <a:xfrm>
            <a:off x="7096125" y="3756025"/>
            <a:ext cx="1905000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29" name="Rectangle 15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30" name="Rectangle 16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31" name="Rectangle 17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32" name="Rectangle 18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41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2" name="Rectangle 3"/>
          <p:cNvSpPr/>
          <p:nvPr/>
        </p:nvSpPr>
        <p:spPr>
          <a:xfrm>
            <a:off x="8218488" y="60452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3" name="Rectangle 4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1444" name="Rectangle 5"/>
          <p:cNvSpPr/>
          <p:nvPr/>
        </p:nvSpPr>
        <p:spPr>
          <a:xfrm>
            <a:off x="765175" y="60452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5" name="Rectangle 7"/>
          <p:cNvSpPr/>
          <p:nvPr/>
        </p:nvSpPr>
        <p:spPr>
          <a:xfrm>
            <a:off x="190500" y="4303713"/>
            <a:ext cx="75565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endParaRPr lang="en-US" altLang="zh-CN" dirty="0">
              <a:solidFill>
                <a:schemeClr val="hlink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1446" name="Line 8"/>
          <p:cNvSpPr/>
          <p:nvPr/>
        </p:nvSpPr>
        <p:spPr>
          <a:xfrm>
            <a:off x="3662363" y="4843463"/>
            <a:ext cx="0" cy="10810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1447" name="Line 9"/>
          <p:cNvSpPr/>
          <p:nvPr/>
        </p:nvSpPr>
        <p:spPr>
          <a:xfrm>
            <a:off x="6332538" y="4006850"/>
            <a:ext cx="0" cy="19177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1448" name="Rectangle 10"/>
          <p:cNvSpPr/>
          <p:nvPr/>
        </p:nvSpPr>
        <p:spPr>
          <a:xfrm>
            <a:off x="3441700" y="6015038"/>
            <a:ext cx="5111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1449" name="Rectangle 11"/>
          <p:cNvSpPr/>
          <p:nvPr/>
        </p:nvSpPr>
        <p:spPr>
          <a:xfrm>
            <a:off x="6110288" y="6015038"/>
            <a:ext cx="6111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1450" name="Rectangle 12"/>
          <p:cNvSpPr/>
          <p:nvPr/>
        </p:nvSpPr>
        <p:spPr>
          <a:xfrm>
            <a:off x="979488" y="1112838"/>
            <a:ext cx="5868987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0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51" name="Rectangle 13"/>
          <p:cNvSpPr/>
          <p:nvPr/>
        </p:nvSpPr>
        <p:spPr>
          <a:xfrm>
            <a:off x="979488" y="1684338"/>
            <a:ext cx="56800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?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52" name="Line 14"/>
          <p:cNvSpPr/>
          <p:nvPr/>
        </p:nvSpPr>
        <p:spPr>
          <a:xfrm>
            <a:off x="3662363" y="5761038"/>
            <a:ext cx="268605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61453" name="Rectangle 15"/>
          <p:cNvSpPr/>
          <p:nvPr/>
        </p:nvSpPr>
        <p:spPr>
          <a:xfrm>
            <a:off x="7096125" y="3756025"/>
            <a:ext cx="1905000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54" name="Rectangle 16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55" name="Rectangle 17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56" name="Rectangle 18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57" name="Rectangle 19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2465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66" name="Rectangle 3"/>
          <p:cNvSpPr/>
          <p:nvPr/>
        </p:nvSpPr>
        <p:spPr>
          <a:xfrm>
            <a:off x="8218488" y="60452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67" name="Rectangle 4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2468" name="Rectangle 5"/>
          <p:cNvSpPr/>
          <p:nvPr/>
        </p:nvSpPr>
        <p:spPr>
          <a:xfrm>
            <a:off x="765175" y="60452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69" name="Rectangle 7"/>
          <p:cNvSpPr/>
          <p:nvPr/>
        </p:nvSpPr>
        <p:spPr>
          <a:xfrm>
            <a:off x="190500" y="4303713"/>
            <a:ext cx="75565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endParaRPr lang="en-US" altLang="zh-CN" dirty="0">
              <a:solidFill>
                <a:schemeClr val="hlink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2470" name="Line 8"/>
          <p:cNvSpPr/>
          <p:nvPr/>
        </p:nvSpPr>
        <p:spPr>
          <a:xfrm>
            <a:off x="3662363" y="4843463"/>
            <a:ext cx="0" cy="10810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2471" name="Line 9"/>
          <p:cNvSpPr/>
          <p:nvPr/>
        </p:nvSpPr>
        <p:spPr>
          <a:xfrm>
            <a:off x="6332538" y="4006850"/>
            <a:ext cx="0" cy="19177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2472" name="Rectangle 10"/>
          <p:cNvSpPr/>
          <p:nvPr/>
        </p:nvSpPr>
        <p:spPr>
          <a:xfrm>
            <a:off x="3441700" y="6015038"/>
            <a:ext cx="5111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2473" name="Rectangle 11"/>
          <p:cNvSpPr/>
          <p:nvPr/>
        </p:nvSpPr>
        <p:spPr>
          <a:xfrm>
            <a:off x="6110288" y="6015038"/>
            <a:ext cx="6111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2474" name="Rectangle 12"/>
          <p:cNvSpPr/>
          <p:nvPr/>
        </p:nvSpPr>
        <p:spPr>
          <a:xfrm>
            <a:off x="979488" y="1112838"/>
            <a:ext cx="5868987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0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75" name="Rectangle 13"/>
          <p:cNvSpPr/>
          <p:nvPr/>
        </p:nvSpPr>
        <p:spPr>
          <a:xfrm>
            <a:off x="979488" y="1684338"/>
            <a:ext cx="6172200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76" name="Line 14"/>
          <p:cNvSpPr/>
          <p:nvPr/>
        </p:nvSpPr>
        <p:spPr>
          <a:xfrm>
            <a:off x="3662363" y="5761038"/>
            <a:ext cx="268605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62477" name="Rectangle 15"/>
          <p:cNvSpPr/>
          <p:nvPr/>
        </p:nvSpPr>
        <p:spPr>
          <a:xfrm>
            <a:off x="7096125" y="3756025"/>
            <a:ext cx="1905000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78" name="Rectangle 16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79" name="Rectangle 17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80" name="Rectangle 18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81" name="Rectangle 19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3489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0" name="Rectangle 3"/>
          <p:cNvSpPr/>
          <p:nvPr/>
        </p:nvSpPr>
        <p:spPr>
          <a:xfrm>
            <a:off x="8218488" y="60452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1" name="Rectangle 4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3492" name="Rectangle 5"/>
          <p:cNvSpPr/>
          <p:nvPr/>
        </p:nvSpPr>
        <p:spPr>
          <a:xfrm>
            <a:off x="765175" y="60452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3" name="Rectangle 7"/>
          <p:cNvSpPr/>
          <p:nvPr/>
        </p:nvSpPr>
        <p:spPr>
          <a:xfrm>
            <a:off x="190500" y="4303713"/>
            <a:ext cx="75565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endParaRPr lang="en-US" altLang="zh-CN" dirty="0">
              <a:solidFill>
                <a:schemeClr val="hlink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3494" name="Line 8"/>
          <p:cNvSpPr/>
          <p:nvPr/>
        </p:nvSpPr>
        <p:spPr>
          <a:xfrm>
            <a:off x="3662363" y="4843463"/>
            <a:ext cx="0" cy="10810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3495" name="Line 9"/>
          <p:cNvSpPr/>
          <p:nvPr/>
        </p:nvSpPr>
        <p:spPr>
          <a:xfrm>
            <a:off x="6332538" y="4006850"/>
            <a:ext cx="0" cy="19177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3496" name="Rectangle 10"/>
          <p:cNvSpPr/>
          <p:nvPr/>
        </p:nvSpPr>
        <p:spPr>
          <a:xfrm>
            <a:off x="3441700" y="6015038"/>
            <a:ext cx="5111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3497" name="Rectangle 11"/>
          <p:cNvSpPr/>
          <p:nvPr/>
        </p:nvSpPr>
        <p:spPr>
          <a:xfrm>
            <a:off x="6110288" y="6015038"/>
            <a:ext cx="6111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3498" name="Rectangle 12"/>
          <p:cNvSpPr/>
          <p:nvPr/>
        </p:nvSpPr>
        <p:spPr>
          <a:xfrm>
            <a:off x="979488" y="1112838"/>
            <a:ext cx="5868987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0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9" name="Rectangle 13"/>
          <p:cNvSpPr/>
          <p:nvPr/>
        </p:nvSpPr>
        <p:spPr>
          <a:xfrm>
            <a:off x="979488" y="1684338"/>
            <a:ext cx="6172200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0" name="Rectangle 14"/>
          <p:cNvSpPr/>
          <p:nvPr/>
        </p:nvSpPr>
        <p:spPr>
          <a:xfrm>
            <a:off x="979488" y="2255838"/>
            <a:ext cx="49022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&lt;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?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1" name="Line 15"/>
          <p:cNvSpPr/>
          <p:nvPr/>
        </p:nvSpPr>
        <p:spPr>
          <a:xfrm>
            <a:off x="6334125" y="5761038"/>
            <a:ext cx="2278063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63502" name="Rectangle 16"/>
          <p:cNvSpPr/>
          <p:nvPr/>
        </p:nvSpPr>
        <p:spPr>
          <a:xfrm>
            <a:off x="7096125" y="3756025"/>
            <a:ext cx="1905000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3" name="Rectangle 17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4" name="Rectangle 18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5" name="Rectangle 19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6" name="Rectangle 20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451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4" name="Rectangle 3"/>
          <p:cNvSpPr/>
          <p:nvPr/>
        </p:nvSpPr>
        <p:spPr>
          <a:xfrm>
            <a:off x="8218488" y="60452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5" name="Rectangle 4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4516" name="Rectangle 5"/>
          <p:cNvSpPr/>
          <p:nvPr/>
        </p:nvSpPr>
        <p:spPr>
          <a:xfrm>
            <a:off x="765175" y="60452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7" name="Rectangle 7"/>
          <p:cNvSpPr/>
          <p:nvPr/>
        </p:nvSpPr>
        <p:spPr>
          <a:xfrm>
            <a:off x="190500" y="4303713"/>
            <a:ext cx="75565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endParaRPr lang="en-US" altLang="zh-CN" dirty="0">
              <a:solidFill>
                <a:schemeClr val="hlink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4518" name="Rectangle 8"/>
          <p:cNvSpPr/>
          <p:nvPr/>
        </p:nvSpPr>
        <p:spPr>
          <a:xfrm>
            <a:off x="7096125" y="3756025"/>
            <a:ext cx="1905000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9" name="Line 9"/>
          <p:cNvSpPr/>
          <p:nvPr/>
        </p:nvSpPr>
        <p:spPr>
          <a:xfrm>
            <a:off x="3662363" y="4843463"/>
            <a:ext cx="0" cy="10810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4520" name="Line 10"/>
          <p:cNvSpPr/>
          <p:nvPr/>
        </p:nvSpPr>
        <p:spPr>
          <a:xfrm>
            <a:off x="6332538" y="4006850"/>
            <a:ext cx="0" cy="19177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4521" name="Rectangle 11"/>
          <p:cNvSpPr/>
          <p:nvPr/>
        </p:nvSpPr>
        <p:spPr>
          <a:xfrm>
            <a:off x="3441700" y="6015038"/>
            <a:ext cx="5111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4522" name="Rectangle 12"/>
          <p:cNvSpPr/>
          <p:nvPr/>
        </p:nvSpPr>
        <p:spPr>
          <a:xfrm>
            <a:off x="6110288" y="6015038"/>
            <a:ext cx="6111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4523" name="Rectangle 13"/>
          <p:cNvSpPr/>
          <p:nvPr/>
        </p:nvSpPr>
        <p:spPr>
          <a:xfrm>
            <a:off x="979488" y="1112838"/>
            <a:ext cx="5868987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0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4" name="Rectangle 14"/>
          <p:cNvSpPr/>
          <p:nvPr/>
        </p:nvSpPr>
        <p:spPr>
          <a:xfrm>
            <a:off x="979488" y="1684338"/>
            <a:ext cx="6172200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5" name="Rectangle 15"/>
          <p:cNvSpPr/>
          <p:nvPr/>
        </p:nvSpPr>
        <p:spPr>
          <a:xfrm>
            <a:off x="979488" y="2255838"/>
            <a:ext cx="5459412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&lt;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FF33CC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FF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6" name="Line 16"/>
          <p:cNvSpPr/>
          <p:nvPr/>
        </p:nvSpPr>
        <p:spPr>
          <a:xfrm>
            <a:off x="6334125" y="5761038"/>
            <a:ext cx="2278063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64527" name="Rectangle 17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8" name="Rectangle 18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9" name="Rectangle 19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30" name="Rectangle 20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5537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38" name="Rectangle 3"/>
          <p:cNvSpPr/>
          <p:nvPr/>
        </p:nvSpPr>
        <p:spPr>
          <a:xfrm>
            <a:off x="8218488" y="60452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39" name="Rectangle 4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5540" name="Rectangle 5"/>
          <p:cNvSpPr/>
          <p:nvPr/>
        </p:nvSpPr>
        <p:spPr>
          <a:xfrm>
            <a:off x="765175" y="60452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1" name="Rectangle 7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2" name="Rectangle 8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3" name="Rectangle 9"/>
          <p:cNvSpPr/>
          <p:nvPr/>
        </p:nvSpPr>
        <p:spPr>
          <a:xfrm>
            <a:off x="190500" y="4303713"/>
            <a:ext cx="75565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endParaRPr lang="en-US" altLang="zh-CN" dirty="0">
              <a:solidFill>
                <a:schemeClr val="hlink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5544" name="Rectangle 10"/>
          <p:cNvSpPr/>
          <p:nvPr/>
        </p:nvSpPr>
        <p:spPr>
          <a:xfrm>
            <a:off x="1690688" y="3732213"/>
            <a:ext cx="190500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5" name="Line 11"/>
          <p:cNvSpPr/>
          <p:nvPr/>
        </p:nvSpPr>
        <p:spPr>
          <a:xfrm>
            <a:off x="3662363" y="4843463"/>
            <a:ext cx="0" cy="10810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5546" name="Line 12"/>
          <p:cNvSpPr/>
          <p:nvPr/>
        </p:nvSpPr>
        <p:spPr>
          <a:xfrm>
            <a:off x="6332538" y="4006850"/>
            <a:ext cx="0" cy="19177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5547" name="Rectangle 13"/>
          <p:cNvSpPr/>
          <p:nvPr/>
        </p:nvSpPr>
        <p:spPr>
          <a:xfrm>
            <a:off x="3441700" y="6015038"/>
            <a:ext cx="5111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5548" name="Rectangle 14"/>
          <p:cNvSpPr/>
          <p:nvPr/>
        </p:nvSpPr>
        <p:spPr>
          <a:xfrm>
            <a:off x="6110288" y="6015038"/>
            <a:ext cx="61118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5549" name="Rectangle 15"/>
          <p:cNvSpPr/>
          <p:nvPr/>
        </p:nvSpPr>
        <p:spPr>
          <a:xfrm>
            <a:off x="979488" y="1112838"/>
            <a:ext cx="5868987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0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50" name="Rectangle 16"/>
          <p:cNvSpPr/>
          <p:nvPr/>
        </p:nvSpPr>
        <p:spPr>
          <a:xfrm>
            <a:off x="979488" y="1684338"/>
            <a:ext cx="6172200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£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51" name="Rectangle 17"/>
          <p:cNvSpPr/>
          <p:nvPr/>
        </p:nvSpPr>
        <p:spPr>
          <a:xfrm>
            <a:off x="979488" y="2255838"/>
            <a:ext cx="5459412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y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&lt;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y, choose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x</a:t>
            </a:r>
            <a:r>
              <a:rPr lang="en-US" altLang="zh-CN" baseline="-25000" dirty="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FF33CC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FF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52" name="Rectangle 18"/>
          <p:cNvSpPr/>
          <p:nvPr/>
        </p:nvSpPr>
        <p:spPr>
          <a:xfrm>
            <a:off x="6480175" y="3946525"/>
            <a:ext cx="2397125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c(y), the</a:t>
            </a:r>
            <a:b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firm’s long-</a:t>
            </a:r>
            <a:b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run total</a:t>
            </a:r>
            <a:b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cost curve.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53" name="Rectangle 19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54" name="Rectangle 20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656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650" y="857250"/>
            <a:ext cx="5092700" cy="2568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50" y="3425825"/>
            <a:ext cx="5092700" cy="2547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758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963" y="2347913"/>
            <a:ext cx="3048000" cy="2162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86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963" y="2347913"/>
            <a:ext cx="3246437" cy="2162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60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" y="2146300"/>
            <a:ext cx="3473450" cy="2606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0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50" y="2146300"/>
            <a:ext cx="3721100" cy="2606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 Curves</a:t>
            </a:r>
            <a:r>
              <a:rPr lang="zh-CN" altLang="en-US" dirty="0">
                <a:ea typeface="宋体" panose="02010600030101010101" pitchFamily="2" charset="-122"/>
              </a:rPr>
              <a:t>短期和长期总成本曲线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963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firm’s long-run total cost curve consists of the lowest parts of the  short-run total cost curves. 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The long-run total cost curve is the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lower envelope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包络线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 of the short-run total cost curves.</a:t>
            </a:r>
            <a:endParaRPr lang="en-US" altLang="zh-CN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 Curves</a:t>
            </a:r>
            <a:r>
              <a:rPr lang="zh-CN" altLang="en-US" dirty="0">
                <a:ea typeface="宋体" panose="02010600030101010101" pitchFamily="2" charset="-122"/>
              </a:rPr>
              <a:t>短期和长期总成本曲线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065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input 2 is available in continuous amounts then there is an infinity of short-run total cost curves but the long-run total cost curve is still the lower envelope of all of the short-run total cost curves.</a:t>
            </a:r>
            <a:r>
              <a:rPr lang="zh-CN" altLang="en-US" dirty="0">
                <a:ea typeface="宋体" panose="02010600030101010101" pitchFamily="2" charset="-122"/>
              </a:rPr>
              <a:t>在连续的情况下存在无数条短期总成本曲线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681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2" name="Rectangle 3"/>
          <p:cNvSpPr/>
          <p:nvPr/>
        </p:nvSpPr>
        <p:spPr>
          <a:xfrm>
            <a:off x="765175" y="442913"/>
            <a:ext cx="377825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3" name="Rectangle 4"/>
          <p:cNvSpPr/>
          <p:nvPr/>
        </p:nvSpPr>
        <p:spPr>
          <a:xfrm>
            <a:off x="8218488" y="60452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4" name="Rectangle 5"/>
          <p:cNvSpPr/>
          <p:nvPr/>
        </p:nvSpPr>
        <p:spPr>
          <a:xfrm>
            <a:off x="407988" y="54943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solidFill>
                <a:srgbClr val="4AFF0E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1685" name="Rectangle 6"/>
          <p:cNvSpPr/>
          <p:nvPr/>
        </p:nvSpPr>
        <p:spPr>
          <a:xfrm>
            <a:off x="765175" y="60452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6" name="Rectangle 8"/>
          <p:cNvSpPr/>
          <p:nvPr/>
        </p:nvSpPr>
        <p:spPr>
          <a:xfrm>
            <a:off x="190500" y="4303713"/>
            <a:ext cx="75565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endParaRPr lang="en-US" altLang="zh-CN" dirty="0">
              <a:solidFill>
                <a:schemeClr val="hlink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1687" name="Rectangle 9"/>
          <p:cNvSpPr/>
          <p:nvPr/>
        </p:nvSpPr>
        <p:spPr>
          <a:xfrm>
            <a:off x="6789738" y="1184275"/>
            <a:ext cx="1687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8" name="Rectangle 10"/>
          <p:cNvSpPr/>
          <p:nvPr/>
        </p:nvSpPr>
        <p:spPr>
          <a:xfrm>
            <a:off x="7167563" y="2613025"/>
            <a:ext cx="1787525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9" name="Rectangle 11"/>
          <p:cNvSpPr/>
          <p:nvPr/>
        </p:nvSpPr>
        <p:spPr>
          <a:xfrm>
            <a:off x="1690688" y="3732213"/>
            <a:ext cx="1905000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90" name="Oval 13"/>
          <p:cNvSpPr/>
          <p:nvPr/>
        </p:nvSpPr>
        <p:spPr>
          <a:xfrm>
            <a:off x="2540000" y="5048250"/>
            <a:ext cx="301625" cy="301625"/>
          </a:xfrm>
          <a:prstGeom prst="ellipse">
            <a:avLst/>
          </a:prstGeom>
          <a:solidFill>
            <a:srgbClr val="4AFF0E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91" name="Oval 14"/>
          <p:cNvSpPr/>
          <p:nvPr/>
        </p:nvSpPr>
        <p:spPr>
          <a:xfrm>
            <a:off x="4794250" y="4318000"/>
            <a:ext cx="301625" cy="301625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92" name="Oval 15"/>
          <p:cNvSpPr/>
          <p:nvPr/>
        </p:nvSpPr>
        <p:spPr>
          <a:xfrm>
            <a:off x="7556500" y="3603625"/>
            <a:ext cx="301625" cy="301625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93" name="Rectangle 16"/>
          <p:cNvSpPr/>
          <p:nvPr/>
        </p:nvSpPr>
        <p:spPr>
          <a:xfrm>
            <a:off x="8051800" y="3756025"/>
            <a:ext cx="9048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94" name="Rectangle 17"/>
          <p:cNvSpPr/>
          <p:nvPr/>
        </p:nvSpPr>
        <p:spPr>
          <a:xfrm>
            <a:off x="312738" y="5065713"/>
            <a:ext cx="657225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endParaRPr lang="en-US" altLang="zh-CN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1695" name="Freeform 18"/>
          <p:cNvSpPr/>
          <p:nvPr/>
        </p:nvSpPr>
        <p:spPr>
          <a:xfrm>
            <a:off x="923925" y="3656013"/>
            <a:ext cx="7762875" cy="229076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4890" h="1443">
                <a:moveTo>
                  <a:pt x="0" y="1443"/>
                </a:moveTo>
                <a:cubicBezTo>
                  <a:pt x="185" y="1366"/>
                  <a:pt x="685" y="1131"/>
                  <a:pt x="1109" y="979"/>
                </a:cubicBezTo>
                <a:cubicBezTo>
                  <a:pt x="1533" y="827"/>
                  <a:pt x="2016" y="682"/>
                  <a:pt x="2545" y="534"/>
                </a:cubicBezTo>
                <a:cubicBezTo>
                  <a:pt x="3074" y="386"/>
                  <a:pt x="3890" y="176"/>
                  <a:pt x="4281" y="88"/>
                </a:cubicBezTo>
                <a:cubicBezTo>
                  <a:pt x="4672" y="0"/>
                  <a:pt x="4763" y="23"/>
                  <a:pt x="4890" y="6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Average Total Cost Curves</a:t>
            </a:r>
            <a:r>
              <a:rPr lang="zh-CN" altLang="en-US" dirty="0">
                <a:ea typeface="宋体" panose="02010600030101010101" pitchFamily="2" charset="-122"/>
              </a:rPr>
              <a:t>短期和长期平均成本曲线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2706" name="Rectangle 3"/>
          <p:cNvSpPr>
            <a:spLocks noGrp="1"/>
          </p:cNvSpPr>
          <p:nvPr>
            <p:ph idx="1"/>
          </p:nvPr>
        </p:nvSpPr>
        <p:spPr>
          <a:xfrm>
            <a:off x="523875" y="1485900"/>
            <a:ext cx="8486775" cy="44577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For any output level y, the long-run total cost curve always gives the lowest possible total production cost.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Therefore, the long-run av. total cost curve must always give the lowest possible av. total production cost.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The long-run av. total cost curve must be the lower envelope of all of the firm’s short-run av. total cost curves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长期平均总成本曲线是短期平均总成本曲线的包络线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Average Total Cost Curves</a:t>
            </a:r>
            <a:r>
              <a:rPr lang="zh-CN" altLang="en-US" dirty="0">
                <a:ea typeface="宋体" panose="02010600030101010101" pitchFamily="2" charset="-122"/>
              </a:rPr>
              <a:t>短期和长期平均成本曲线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373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E.g. suppose again that the firm can be in one of just three short-runs;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	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or  	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ea typeface="宋体" panose="02010600030101010101" pitchFamily="2" charset="-122"/>
              </a:rPr>
              <a:t>          (x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ea typeface="宋体" panose="02010600030101010101" pitchFamily="2" charset="-122"/>
              </a:rPr>
              <a:t> &lt;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ea typeface="宋体" panose="02010600030101010101" pitchFamily="2" charset="-122"/>
              </a:rPr>
              <a:t> &lt;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or  	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then the firm’s three short-run average total cost curves are ...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475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54" name="Rectangle 3"/>
          <p:cNvSpPr/>
          <p:nvPr/>
        </p:nvSpPr>
        <p:spPr>
          <a:xfrm>
            <a:off x="80756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5" name="Rectangle 4"/>
          <p:cNvSpPr/>
          <p:nvPr/>
        </p:nvSpPr>
        <p:spPr>
          <a:xfrm>
            <a:off x="122238" y="32385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6" name="Rectangle 5"/>
          <p:cNvSpPr/>
          <p:nvPr/>
        </p:nvSpPr>
        <p:spPr>
          <a:xfrm>
            <a:off x="6862763" y="4565650"/>
            <a:ext cx="22272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7" name="Rectangle 6"/>
          <p:cNvSpPr/>
          <p:nvPr/>
        </p:nvSpPr>
        <p:spPr>
          <a:xfrm>
            <a:off x="6915150" y="3660775"/>
            <a:ext cx="21256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8" name="Rectangle 7"/>
          <p:cNvSpPr/>
          <p:nvPr/>
        </p:nvSpPr>
        <p:spPr>
          <a:xfrm>
            <a:off x="6986588" y="2732088"/>
            <a:ext cx="20240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Average Total Cost Curves</a:t>
            </a:r>
            <a:r>
              <a:rPr lang="zh-CN" altLang="en-US" dirty="0">
                <a:ea typeface="宋体" panose="02010600030101010101" pitchFamily="2" charset="-122"/>
              </a:rPr>
              <a:t>短期和长期平均成本曲线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577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firm’s long-run average total cost curve is the lower envelope of the short-run average total cost curves ...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长期平均总成本曲线是短期平均总成本曲线的包络线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6801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802" name="Rectangle 3"/>
          <p:cNvSpPr/>
          <p:nvPr/>
        </p:nvSpPr>
        <p:spPr>
          <a:xfrm>
            <a:off x="80756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03" name="Rectangle 4"/>
          <p:cNvSpPr/>
          <p:nvPr/>
        </p:nvSpPr>
        <p:spPr>
          <a:xfrm>
            <a:off x="122238" y="32385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04" name="Rectangle 5"/>
          <p:cNvSpPr/>
          <p:nvPr/>
        </p:nvSpPr>
        <p:spPr>
          <a:xfrm>
            <a:off x="2576513" y="1231900"/>
            <a:ext cx="22272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05" name="Rectangle 6"/>
          <p:cNvSpPr/>
          <p:nvPr/>
        </p:nvSpPr>
        <p:spPr>
          <a:xfrm>
            <a:off x="6915150" y="3660775"/>
            <a:ext cx="21256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06" name="Rectangle 7"/>
          <p:cNvSpPr/>
          <p:nvPr/>
        </p:nvSpPr>
        <p:spPr>
          <a:xfrm>
            <a:off x="6986588" y="2732088"/>
            <a:ext cx="20240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07" name="Rectangle 8"/>
          <p:cNvSpPr/>
          <p:nvPr/>
        </p:nvSpPr>
        <p:spPr>
          <a:xfrm>
            <a:off x="7319963" y="4613275"/>
            <a:ext cx="12684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AC(y)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08" name="Rectangle 9"/>
          <p:cNvSpPr/>
          <p:nvPr/>
        </p:nvSpPr>
        <p:spPr>
          <a:xfrm>
            <a:off x="1050925" y="4351338"/>
            <a:ext cx="7327900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long-run av. total cost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curve is the lower envelope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 the short-run av. total cost curves.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Marginal Cost Curves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782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Q: Is the long-run marginal cost curve the lower envelope of the firm’s short-run marginal cost curves</a:t>
            </a:r>
            <a:r>
              <a:rPr lang="zh-CN" altLang="en-US" dirty="0">
                <a:ea typeface="宋体" panose="02010600030101010101" pitchFamily="2" charset="-122"/>
              </a:rPr>
              <a:t>长期边际成本曲线是短期边际成本曲线的包络线吗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Marginal Cost Curves</a:t>
            </a:r>
            <a:r>
              <a:rPr lang="zh-CN" altLang="en-US" dirty="0">
                <a:ea typeface="宋体" panose="02010600030101010101" pitchFamily="2" charset="-122"/>
              </a:rPr>
              <a:t>短期和长期边际成本曲线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885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Q: Is the long-run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marginal cost curve</a:t>
            </a:r>
            <a:r>
              <a:rPr lang="en-US" altLang="zh-CN" dirty="0">
                <a:ea typeface="宋体" panose="02010600030101010101" pitchFamily="2" charset="-122"/>
              </a:rPr>
              <a:t> the lower envelope of the firm’s short-run marginal cost curves?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A: 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No.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Marginal Cost Curves</a:t>
            </a:r>
            <a:r>
              <a:rPr lang="zh-CN" altLang="en-US" dirty="0">
                <a:ea typeface="宋体" panose="02010600030101010101" pitchFamily="2" charset="-122"/>
              </a:rPr>
              <a:t>短期和长期边际成本曲线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987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firm’s three short-run average total cost curves are ...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0897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0898" name="Rectangle 3"/>
          <p:cNvSpPr/>
          <p:nvPr/>
        </p:nvSpPr>
        <p:spPr>
          <a:xfrm>
            <a:off x="80756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899" name="Rectangle 4"/>
          <p:cNvSpPr/>
          <p:nvPr/>
        </p:nvSpPr>
        <p:spPr>
          <a:xfrm>
            <a:off x="122238" y="32385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00" name="Rectangle 5"/>
          <p:cNvSpPr/>
          <p:nvPr/>
        </p:nvSpPr>
        <p:spPr>
          <a:xfrm>
            <a:off x="2362200" y="1041400"/>
            <a:ext cx="22272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01" name="Rectangle 6"/>
          <p:cNvSpPr/>
          <p:nvPr/>
        </p:nvSpPr>
        <p:spPr>
          <a:xfrm>
            <a:off x="7016750" y="3113088"/>
            <a:ext cx="21256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02" name="Rectangle 7"/>
          <p:cNvSpPr/>
          <p:nvPr/>
        </p:nvSpPr>
        <p:spPr>
          <a:xfrm>
            <a:off x="7116763" y="1803400"/>
            <a:ext cx="20240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21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22" name="Rectangle 3"/>
          <p:cNvSpPr/>
          <p:nvPr/>
        </p:nvSpPr>
        <p:spPr>
          <a:xfrm>
            <a:off x="80756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3" name="Rectangle 4"/>
          <p:cNvSpPr/>
          <p:nvPr/>
        </p:nvSpPr>
        <p:spPr>
          <a:xfrm>
            <a:off x="122238" y="32385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4" name="Rectangle 5"/>
          <p:cNvSpPr/>
          <p:nvPr/>
        </p:nvSpPr>
        <p:spPr>
          <a:xfrm>
            <a:off x="2362200" y="1041400"/>
            <a:ext cx="22272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5" name="Rectangle 6"/>
          <p:cNvSpPr/>
          <p:nvPr/>
        </p:nvSpPr>
        <p:spPr>
          <a:xfrm>
            <a:off x="7016750" y="2327275"/>
            <a:ext cx="21256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6" name="Rectangle 7"/>
          <p:cNvSpPr/>
          <p:nvPr/>
        </p:nvSpPr>
        <p:spPr>
          <a:xfrm>
            <a:off x="7116763" y="1803400"/>
            <a:ext cx="20240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7" name="Rectangle 8"/>
          <p:cNvSpPr/>
          <p:nvPr/>
        </p:nvSpPr>
        <p:spPr>
          <a:xfrm>
            <a:off x="4545013" y="374650"/>
            <a:ext cx="20685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8" name="Rectangle 9"/>
          <p:cNvSpPr/>
          <p:nvPr/>
        </p:nvSpPr>
        <p:spPr>
          <a:xfrm>
            <a:off x="6873875" y="374650"/>
            <a:ext cx="217011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9" name="Rectangle 10"/>
          <p:cNvSpPr/>
          <p:nvPr/>
        </p:nvSpPr>
        <p:spPr>
          <a:xfrm>
            <a:off x="5481638" y="4089400"/>
            <a:ext cx="22717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2945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6" name="Rectangle 3"/>
          <p:cNvSpPr/>
          <p:nvPr/>
        </p:nvSpPr>
        <p:spPr>
          <a:xfrm>
            <a:off x="80756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7" name="Rectangle 4"/>
          <p:cNvSpPr/>
          <p:nvPr/>
        </p:nvSpPr>
        <p:spPr>
          <a:xfrm>
            <a:off x="122238" y="32385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8" name="Rectangle 5"/>
          <p:cNvSpPr/>
          <p:nvPr/>
        </p:nvSpPr>
        <p:spPr>
          <a:xfrm>
            <a:off x="2362200" y="1041400"/>
            <a:ext cx="22272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9" name="Rectangle 6"/>
          <p:cNvSpPr/>
          <p:nvPr/>
        </p:nvSpPr>
        <p:spPr>
          <a:xfrm>
            <a:off x="7016750" y="2327275"/>
            <a:ext cx="21256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0" name="Rectangle 7"/>
          <p:cNvSpPr/>
          <p:nvPr/>
        </p:nvSpPr>
        <p:spPr>
          <a:xfrm>
            <a:off x="7116763" y="1803400"/>
            <a:ext cx="20240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1" name="Rectangle 8"/>
          <p:cNvSpPr/>
          <p:nvPr/>
        </p:nvSpPr>
        <p:spPr>
          <a:xfrm>
            <a:off x="4545013" y="374650"/>
            <a:ext cx="20685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2" name="Rectangle 9"/>
          <p:cNvSpPr/>
          <p:nvPr/>
        </p:nvSpPr>
        <p:spPr>
          <a:xfrm>
            <a:off x="6873875" y="374650"/>
            <a:ext cx="217011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3" name="Rectangle 10"/>
          <p:cNvSpPr/>
          <p:nvPr/>
        </p:nvSpPr>
        <p:spPr>
          <a:xfrm>
            <a:off x="5481638" y="4089400"/>
            <a:ext cx="22717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4" name="Rectangle 11"/>
          <p:cNvSpPr/>
          <p:nvPr/>
        </p:nvSpPr>
        <p:spPr>
          <a:xfrm>
            <a:off x="7791450" y="3732213"/>
            <a:ext cx="126841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AC(y)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3969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970" name="Rectangle 3"/>
          <p:cNvSpPr/>
          <p:nvPr/>
        </p:nvSpPr>
        <p:spPr>
          <a:xfrm>
            <a:off x="80756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71" name="Rectangle 4"/>
          <p:cNvSpPr/>
          <p:nvPr/>
        </p:nvSpPr>
        <p:spPr>
          <a:xfrm>
            <a:off x="122238" y="32385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72" name="Rectangle 5"/>
          <p:cNvSpPr/>
          <p:nvPr/>
        </p:nvSpPr>
        <p:spPr>
          <a:xfrm>
            <a:off x="2362200" y="1041400"/>
            <a:ext cx="22272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73" name="Rectangle 6"/>
          <p:cNvSpPr/>
          <p:nvPr/>
        </p:nvSpPr>
        <p:spPr>
          <a:xfrm>
            <a:off x="7016750" y="2327275"/>
            <a:ext cx="21256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74" name="Rectangle 7"/>
          <p:cNvSpPr/>
          <p:nvPr/>
        </p:nvSpPr>
        <p:spPr>
          <a:xfrm>
            <a:off x="7116763" y="1803400"/>
            <a:ext cx="20240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75" name="Rectangle 8"/>
          <p:cNvSpPr/>
          <p:nvPr/>
        </p:nvSpPr>
        <p:spPr>
          <a:xfrm>
            <a:off x="4545013" y="374650"/>
            <a:ext cx="20685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76" name="Rectangle 9"/>
          <p:cNvSpPr/>
          <p:nvPr/>
        </p:nvSpPr>
        <p:spPr>
          <a:xfrm>
            <a:off x="6873875" y="374650"/>
            <a:ext cx="217011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77" name="Rectangle 10"/>
          <p:cNvSpPr/>
          <p:nvPr/>
        </p:nvSpPr>
        <p:spPr>
          <a:xfrm>
            <a:off x="5481638" y="4089400"/>
            <a:ext cx="22717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78" name="Rectangle 11"/>
          <p:cNvSpPr/>
          <p:nvPr/>
        </p:nvSpPr>
        <p:spPr>
          <a:xfrm>
            <a:off x="7791450" y="3732213"/>
            <a:ext cx="126841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AC(y)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499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994" name="Rectangle 3"/>
          <p:cNvSpPr/>
          <p:nvPr/>
        </p:nvSpPr>
        <p:spPr>
          <a:xfrm>
            <a:off x="80756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995" name="Rectangle 4"/>
          <p:cNvSpPr/>
          <p:nvPr/>
        </p:nvSpPr>
        <p:spPr>
          <a:xfrm>
            <a:off x="122238" y="32385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996" name="Rectangle 5"/>
          <p:cNvSpPr/>
          <p:nvPr/>
        </p:nvSpPr>
        <p:spPr>
          <a:xfrm>
            <a:off x="2362200" y="1041400"/>
            <a:ext cx="22272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997" name="Rectangle 6"/>
          <p:cNvSpPr/>
          <p:nvPr/>
        </p:nvSpPr>
        <p:spPr>
          <a:xfrm>
            <a:off x="7016750" y="2327275"/>
            <a:ext cx="21256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998" name="Rectangle 7"/>
          <p:cNvSpPr/>
          <p:nvPr/>
        </p:nvSpPr>
        <p:spPr>
          <a:xfrm>
            <a:off x="7116763" y="1803400"/>
            <a:ext cx="20256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999" name="Rectangle 8"/>
          <p:cNvSpPr/>
          <p:nvPr/>
        </p:nvSpPr>
        <p:spPr>
          <a:xfrm>
            <a:off x="4545013" y="374650"/>
            <a:ext cx="20701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00" name="Rectangle 9"/>
          <p:cNvSpPr/>
          <p:nvPr/>
        </p:nvSpPr>
        <p:spPr>
          <a:xfrm>
            <a:off x="6873875" y="374650"/>
            <a:ext cx="217011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01" name="Rectangle 10"/>
          <p:cNvSpPr/>
          <p:nvPr/>
        </p:nvSpPr>
        <p:spPr>
          <a:xfrm>
            <a:off x="5481638" y="4089400"/>
            <a:ext cx="22717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02" name="Rectangle 11"/>
          <p:cNvSpPr/>
          <p:nvPr/>
        </p:nvSpPr>
        <p:spPr>
          <a:xfrm>
            <a:off x="3313113" y="4851400"/>
            <a:ext cx="57070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MC(y), the long-run marginal</a:t>
            </a:r>
            <a:b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cost curve.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03" name="Line 12"/>
          <p:cNvSpPr/>
          <p:nvPr/>
        </p:nvSpPr>
        <p:spPr>
          <a:xfrm flipH="1" flipV="1">
            <a:off x="2166938" y="4095750"/>
            <a:ext cx="1928812" cy="7858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5004" name="Line 13"/>
          <p:cNvSpPr/>
          <p:nvPr/>
        </p:nvSpPr>
        <p:spPr>
          <a:xfrm flipH="1" flipV="1">
            <a:off x="3714750" y="3952875"/>
            <a:ext cx="690563" cy="928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5005" name="Line 14"/>
          <p:cNvSpPr/>
          <p:nvPr/>
        </p:nvSpPr>
        <p:spPr>
          <a:xfrm flipV="1">
            <a:off x="4619625" y="4238625"/>
            <a:ext cx="690563" cy="6429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Marginal Cost Curves</a:t>
            </a:r>
            <a:r>
              <a:rPr lang="zh-CN" altLang="en-US" dirty="0">
                <a:ea typeface="宋体" panose="02010600030101010101" pitchFamily="2" charset="-122"/>
              </a:rPr>
              <a:t>短期和长期边际成本曲线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601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For any output level y &gt; 0, the long-run marginal cost of production is the marginal cost of production for the short-run chosen by the firm.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7041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042" name="Rectangle 3"/>
          <p:cNvSpPr/>
          <p:nvPr/>
        </p:nvSpPr>
        <p:spPr>
          <a:xfrm>
            <a:off x="80756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3" name="Rectangle 4"/>
          <p:cNvSpPr/>
          <p:nvPr/>
        </p:nvSpPr>
        <p:spPr>
          <a:xfrm>
            <a:off x="122238" y="323850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4" name="Rectangle 5"/>
          <p:cNvSpPr/>
          <p:nvPr/>
        </p:nvSpPr>
        <p:spPr>
          <a:xfrm>
            <a:off x="2362200" y="1041400"/>
            <a:ext cx="22272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5" name="Rectangle 6"/>
          <p:cNvSpPr/>
          <p:nvPr/>
        </p:nvSpPr>
        <p:spPr>
          <a:xfrm>
            <a:off x="7016750" y="2327275"/>
            <a:ext cx="21256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6" name="Rectangle 7"/>
          <p:cNvSpPr/>
          <p:nvPr/>
        </p:nvSpPr>
        <p:spPr>
          <a:xfrm>
            <a:off x="7116763" y="1803400"/>
            <a:ext cx="20256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7" name="Rectangle 8"/>
          <p:cNvSpPr/>
          <p:nvPr/>
        </p:nvSpPr>
        <p:spPr>
          <a:xfrm>
            <a:off x="4545013" y="374650"/>
            <a:ext cx="20701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4AFF0E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r>
              <a:rPr lang="en-US" altLang="zh-CN" dirty="0">
                <a:solidFill>
                  <a:srgbClr val="4AFF0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4AFF0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8" name="Rectangle 9"/>
          <p:cNvSpPr/>
          <p:nvPr/>
        </p:nvSpPr>
        <p:spPr>
          <a:xfrm>
            <a:off x="6873875" y="374650"/>
            <a:ext cx="217011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9" name="Rectangle 10"/>
          <p:cNvSpPr/>
          <p:nvPr/>
        </p:nvSpPr>
        <p:spPr>
          <a:xfrm>
            <a:off x="5481638" y="4089400"/>
            <a:ext cx="22717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(y;x</a:t>
            </a:r>
            <a:r>
              <a:rPr lang="en-US" altLang="zh-CN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¢¢¢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50" name="Rectangle 11"/>
          <p:cNvSpPr/>
          <p:nvPr/>
        </p:nvSpPr>
        <p:spPr>
          <a:xfrm>
            <a:off x="3313113" y="4851400"/>
            <a:ext cx="57150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MC(y), the long-run marginal</a:t>
            </a:r>
            <a:b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cost curve.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51" name="Line 12"/>
          <p:cNvSpPr/>
          <p:nvPr/>
        </p:nvSpPr>
        <p:spPr>
          <a:xfrm flipH="1" flipV="1">
            <a:off x="2166938" y="4095750"/>
            <a:ext cx="1928812" cy="7858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7052" name="Line 13"/>
          <p:cNvSpPr/>
          <p:nvPr/>
        </p:nvSpPr>
        <p:spPr>
          <a:xfrm flipH="1" flipV="1">
            <a:off x="3714750" y="3952875"/>
            <a:ext cx="690563" cy="928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7053" name="Line 14"/>
          <p:cNvSpPr/>
          <p:nvPr/>
        </p:nvSpPr>
        <p:spPr>
          <a:xfrm flipV="1">
            <a:off x="4619625" y="4238625"/>
            <a:ext cx="690563" cy="6429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Marginal Cost Curves</a:t>
            </a:r>
            <a:r>
              <a:rPr lang="zh-CN" altLang="en-US" dirty="0">
                <a:ea typeface="宋体" panose="02010600030101010101" pitchFamily="2" charset="-122"/>
              </a:rPr>
              <a:t>短期和长期边际成本曲线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806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For any output level y &gt; 0, the long-run marginal cost is the marginal cost for the short-run chosen by the firm.</a:t>
            </a:r>
            <a:r>
              <a:rPr lang="zh-CN" altLang="en-US" dirty="0">
                <a:ea typeface="宋体" panose="02010600030101010101" pitchFamily="2" charset="-122"/>
              </a:rPr>
              <a:t>长期边际成本曲线救市短期边际成本曲线的组合。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This is always true, no matter how many and which short-run circumstances exist for the firm.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Marginal Cost Curves</a:t>
            </a:r>
            <a:r>
              <a:rPr lang="zh-CN" altLang="en-US" dirty="0">
                <a:ea typeface="宋体" panose="02010600030101010101" pitchFamily="2" charset="-122"/>
              </a:rPr>
              <a:t>短期和长期边际成本曲线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909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For any output level y &gt; 0, the long-run marginal cost is the marginal cost for the short-run chosen by the firm.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So for the </a:t>
            </a:r>
            <a:r>
              <a:rPr lang="en-US" altLang="zh-CN" dirty="0">
                <a:solidFill>
                  <a:srgbClr val="FFFF00"/>
                </a:solidFill>
                <a:ea typeface="宋体" panose="02010600030101010101" pitchFamily="2" charset="-122"/>
              </a:rPr>
              <a:t>continuous case</a:t>
            </a:r>
            <a:r>
              <a:rPr lang="zh-CN" altLang="en-US" dirty="0">
                <a:solidFill>
                  <a:srgbClr val="FFFF00"/>
                </a:solidFill>
                <a:ea typeface="宋体" panose="02010600030101010101" pitchFamily="2" charset="-122"/>
              </a:rPr>
              <a:t>连续情形下</a:t>
            </a:r>
            <a:r>
              <a:rPr lang="en-US" altLang="zh-CN" dirty="0">
                <a:ea typeface="宋体" panose="02010600030101010101" pitchFamily="2" charset="-122"/>
              </a:rPr>
              <a:t>, where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can be fixed at any value of zero or more, the relationship between the long-run marginal cost and all of the short-run marginal costs is ...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Marginal Cost Curves</a:t>
            </a:r>
            <a:r>
              <a:rPr lang="zh-CN" altLang="en-US" dirty="0">
                <a:ea typeface="宋体" panose="02010600030101010101" pitchFamily="2" charset="-122"/>
              </a:rPr>
              <a:t>短期和长期边际成本曲线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0114" name="Line 3"/>
          <p:cNvSpPr/>
          <p:nvPr/>
        </p:nvSpPr>
        <p:spPr>
          <a:xfrm>
            <a:off x="1428750" y="1690688"/>
            <a:ext cx="0" cy="34528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90115" name="Line 4"/>
          <p:cNvSpPr/>
          <p:nvPr/>
        </p:nvSpPr>
        <p:spPr>
          <a:xfrm>
            <a:off x="1428750" y="5167313"/>
            <a:ext cx="4976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0116" name="Arc 5"/>
          <p:cNvSpPr/>
          <p:nvPr/>
        </p:nvSpPr>
        <p:spPr>
          <a:xfrm rot="-8580000">
            <a:off x="2030413" y="1525588"/>
            <a:ext cx="3690937" cy="316706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21600" h="21600" fill="none">
                <a:moveTo>
                  <a:pt x="0" y="21600"/>
                </a:moveTo>
                <a:cubicBezTo>
                  <a:pt x="0" y="9674"/>
                  <a:pt x="9665" y="4"/>
                  <a:pt x="21591" y="0"/>
                </a:cubicBezTo>
              </a:path>
              <a:path w="21600" h="21600" stroke="0">
                <a:moveTo>
                  <a:pt x="0" y="21600"/>
                </a:moveTo>
                <a:cubicBezTo>
                  <a:pt x="0" y="9674"/>
                  <a:pt x="9665" y="4"/>
                  <a:pt x="21591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FF4C1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0117" name="Arc 6"/>
          <p:cNvSpPr/>
          <p:nvPr/>
        </p:nvSpPr>
        <p:spPr>
          <a:xfrm>
            <a:off x="1835150" y="2471738"/>
            <a:ext cx="1576388" cy="13430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pathLst>
              <a:path w="42613" h="21600" fill="none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</a:path>
              <a:path w="42613" h="21600" stroke="0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  <a:lnTo>
                  <a:pt x="21394" y="0"/>
                </a:lnTo>
                <a:lnTo>
                  <a:pt x="42613" y="4039"/>
                </a:lnTo>
                <a:close/>
              </a:path>
            </a:pathLst>
          </a:custGeom>
          <a:noFill/>
          <a:ln w="25400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0118" name="Arc 7"/>
          <p:cNvSpPr/>
          <p:nvPr/>
        </p:nvSpPr>
        <p:spPr>
          <a:xfrm>
            <a:off x="3054350" y="2705100"/>
            <a:ext cx="1598613" cy="13700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7500011" y="0"/>
              </a:cxn>
              <a:cxn ang="0">
                <a:pos x="2147483646" y="2147483646"/>
              </a:cxn>
            </a:cxnLst>
            <a:pathLst>
              <a:path w="43200" h="22034" fill="none">
                <a:moveTo>
                  <a:pt x="43199" y="306"/>
                </a:moveTo>
                <a:cubicBezTo>
                  <a:pt x="43199" y="348"/>
                  <a:pt x="43200" y="391"/>
                  <a:pt x="43200" y="434"/>
                </a:cubicBezTo>
                <a:cubicBezTo>
                  <a:pt x="43200" y="12363"/>
                  <a:pt x="33529" y="22034"/>
                  <a:pt x="21600" y="22034"/>
                </a:cubicBezTo>
                <a:cubicBezTo>
                  <a:pt x="9670" y="22034"/>
                  <a:pt x="0" y="12363"/>
                  <a:pt x="0" y="434"/>
                </a:cubicBezTo>
                <a:cubicBezTo>
                  <a:pt x="-1" y="289"/>
                  <a:pt x="1" y="144"/>
                  <a:pt x="4" y="0"/>
                </a:cubicBezTo>
              </a:path>
              <a:path w="43200" h="22034" stroke="0">
                <a:moveTo>
                  <a:pt x="43199" y="306"/>
                </a:moveTo>
                <a:cubicBezTo>
                  <a:pt x="43199" y="348"/>
                  <a:pt x="43200" y="391"/>
                  <a:pt x="43200" y="434"/>
                </a:cubicBezTo>
                <a:cubicBezTo>
                  <a:pt x="43200" y="12363"/>
                  <a:pt x="33529" y="22034"/>
                  <a:pt x="21600" y="22034"/>
                </a:cubicBezTo>
                <a:cubicBezTo>
                  <a:pt x="9670" y="22034"/>
                  <a:pt x="0" y="12363"/>
                  <a:pt x="0" y="434"/>
                </a:cubicBezTo>
                <a:cubicBezTo>
                  <a:pt x="-1" y="289"/>
                  <a:pt x="1" y="144"/>
                  <a:pt x="4" y="0"/>
                </a:cubicBezTo>
                <a:lnTo>
                  <a:pt x="21600" y="434"/>
                </a:lnTo>
                <a:lnTo>
                  <a:pt x="43199" y="306"/>
                </a:lnTo>
                <a:close/>
              </a:path>
            </a:pathLst>
          </a:custGeom>
          <a:noFill/>
          <a:ln w="25400" cap="rnd" cmpd="sng">
            <a:solidFill>
              <a:srgbClr val="1997F4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0119" name="Arc 8"/>
          <p:cNvSpPr/>
          <p:nvPr/>
        </p:nvSpPr>
        <p:spPr>
          <a:xfrm>
            <a:off x="4519613" y="2311400"/>
            <a:ext cx="1576387" cy="13430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pathLst>
              <a:path w="42613" h="21600" fill="none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</a:path>
              <a:path w="42613" h="21600" stroke="0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  <a:lnTo>
                  <a:pt x="21394" y="0"/>
                </a:lnTo>
                <a:lnTo>
                  <a:pt x="42613" y="4039"/>
                </a:lnTo>
                <a:close/>
              </a:path>
            </a:pathLst>
          </a:custGeom>
          <a:noFill/>
          <a:ln w="25400" cap="rnd" cmpd="sng">
            <a:solidFill>
              <a:srgbClr val="4AFF0E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0120" name="Line 9"/>
          <p:cNvSpPr/>
          <p:nvPr/>
        </p:nvSpPr>
        <p:spPr>
          <a:xfrm>
            <a:off x="2436813" y="3784600"/>
            <a:ext cx="0" cy="138906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0121" name="Line 10"/>
          <p:cNvSpPr/>
          <p:nvPr/>
        </p:nvSpPr>
        <p:spPr>
          <a:xfrm>
            <a:off x="3865563" y="4089400"/>
            <a:ext cx="0" cy="10763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0122" name="Line 11"/>
          <p:cNvSpPr/>
          <p:nvPr/>
        </p:nvSpPr>
        <p:spPr>
          <a:xfrm>
            <a:off x="5640388" y="3524250"/>
            <a:ext cx="0" cy="16383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0123" name="Oval 12"/>
          <p:cNvSpPr/>
          <p:nvPr/>
        </p:nvSpPr>
        <p:spPr>
          <a:xfrm>
            <a:off x="2362200" y="36957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0124" name="Oval 13"/>
          <p:cNvSpPr/>
          <p:nvPr/>
        </p:nvSpPr>
        <p:spPr>
          <a:xfrm>
            <a:off x="3784600" y="3975100"/>
            <a:ext cx="165100" cy="165100"/>
          </a:xfrm>
          <a:prstGeom prst="ellipse">
            <a:avLst/>
          </a:prstGeom>
          <a:solidFill>
            <a:srgbClr val="1997F4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0125" name="Oval 14"/>
          <p:cNvSpPr/>
          <p:nvPr/>
        </p:nvSpPr>
        <p:spPr>
          <a:xfrm>
            <a:off x="5562600" y="3441700"/>
            <a:ext cx="165100" cy="165100"/>
          </a:xfrm>
          <a:prstGeom prst="ellipse">
            <a:avLst/>
          </a:prstGeom>
          <a:solidFill>
            <a:srgbClr val="4AFF0E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0126" name="Rectangle 15"/>
          <p:cNvSpPr/>
          <p:nvPr/>
        </p:nvSpPr>
        <p:spPr>
          <a:xfrm>
            <a:off x="6308725" y="2713038"/>
            <a:ext cx="126841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AC(y)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0127" name="Rectangle 16"/>
          <p:cNvSpPr/>
          <p:nvPr/>
        </p:nvSpPr>
        <p:spPr>
          <a:xfrm>
            <a:off x="250825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0128" name="Rectangle 17"/>
          <p:cNvSpPr/>
          <p:nvPr/>
        </p:nvSpPr>
        <p:spPr>
          <a:xfrm>
            <a:off x="6327775" y="5246688"/>
            <a:ext cx="4095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0129" name="Rectangle 18"/>
          <p:cNvSpPr/>
          <p:nvPr/>
        </p:nvSpPr>
        <p:spPr>
          <a:xfrm>
            <a:off x="2765425" y="1660525"/>
            <a:ext cx="15621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SRACs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0130" name="Line 19"/>
          <p:cNvSpPr/>
          <p:nvPr/>
        </p:nvSpPr>
        <p:spPr>
          <a:xfrm flipH="1">
            <a:off x="1928813" y="2238375"/>
            <a:ext cx="1000125" cy="833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0131" name="Line 20"/>
          <p:cNvSpPr/>
          <p:nvPr/>
        </p:nvSpPr>
        <p:spPr>
          <a:xfrm>
            <a:off x="3571875" y="2166938"/>
            <a:ext cx="833438" cy="13573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0132" name="Line 21"/>
          <p:cNvSpPr/>
          <p:nvPr/>
        </p:nvSpPr>
        <p:spPr>
          <a:xfrm>
            <a:off x="4238625" y="2071688"/>
            <a:ext cx="1785938" cy="762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Marginal Cost Curves</a:t>
            </a:r>
            <a:r>
              <a:rPr lang="zh-CN" altLang="en-US" dirty="0">
                <a:ea typeface="宋体" panose="02010600030101010101" pitchFamily="2" charset="-122"/>
              </a:rPr>
              <a:t>短期和长期边际成本曲线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1138" name="Line 3"/>
          <p:cNvSpPr/>
          <p:nvPr/>
        </p:nvSpPr>
        <p:spPr>
          <a:xfrm>
            <a:off x="1428750" y="1690688"/>
            <a:ext cx="0" cy="34528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91139" name="Line 4"/>
          <p:cNvSpPr/>
          <p:nvPr/>
        </p:nvSpPr>
        <p:spPr>
          <a:xfrm>
            <a:off x="1428750" y="5167313"/>
            <a:ext cx="4976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1140" name="Arc 5"/>
          <p:cNvSpPr/>
          <p:nvPr/>
        </p:nvSpPr>
        <p:spPr>
          <a:xfrm rot="-8580000">
            <a:off x="2030413" y="1525588"/>
            <a:ext cx="3690937" cy="316706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21600" h="21600" fill="none">
                <a:moveTo>
                  <a:pt x="0" y="21600"/>
                </a:moveTo>
                <a:cubicBezTo>
                  <a:pt x="0" y="9674"/>
                  <a:pt x="9665" y="4"/>
                  <a:pt x="21591" y="0"/>
                </a:cubicBezTo>
              </a:path>
              <a:path w="21600" h="21600" stroke="0">
                <a:moveTo>
                  <a:pt x="0" y="21600"/>
                </a:moveTo>
                <a:cubicBezTo>
                  <a:pt x="0" y="9674"/>
                  <a:pt x="9665" y="4"/>
                  <a:pt x="21591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FF4C1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1141" name="Arc 6"/>
          <p:cNvSpPr/>
          <p:nvPr/>
        </p:nvSpPr>
        <p:spPr>
          <a:xfrm>
            <a:off x="1835150" y="2471738"/>
            <a:ext cx="1576388" cy="13430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pathLst>
              <a:path w="42613" h="21600" fill="none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</a:path>
              <a:path w="42613" h="21600" stroke="0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  <a:lnTo>
                  <a:pt x="21394" y="0"/>
                </a:lnTo>
                <a:lnTo>
                  <a:pt x="42613" y="4039"/>
                </a:lnTo>
                <a:close/>
              </a:path>
            </a:pathLst>
          </a:custGeom>
          <a:noFill/>
          <a:ln w="25400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1142" name="Arc 7"/>
          <p:cNvSpPr/>
          <p:nvPr/>
        </p:nvSpPr>
        <p:spPr>
          <a:xfrm>
            <a:off x="3054350" y="2705100"/>
            <a:ext cx="1598613" cy="13700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7500011" y="0"/>
              </a:cxn>
              <a:cxn ang="0">
                <a:pos x="2147483646" y="2147483646"/>
              </a:cxn>
            </a:cxnLst>
            <a:pathLst>
              <a:path w="43200" h="22034" fill="none">
                <a:moveTo>
                  <a:pt x="43199" y="306"/>
                </a:moveTo>
                <a:cubicBezTo>
                  <a:pt x="43199" y="348"/>
                  <a:pt x="43200" y="391"/>
                  <a:pt x="43200" y="434"/>
                </a:cubicBezTo>
                <a:cubicBezTo>
                  <a:pt x="43200" y="12363"/>
                  <a:pt x="33529" y="22034"/>
                  <a:pt x="21600" y="22034"/>
                </a:cubicBezTo>
                <a:cubicBezTo>
                  <a:pt x="9670" y="22034"/>
                  <a:pt x="0" y="12363"/>
                  <a:pt x="0" y="434"/>
                </a:cubicBezTo>
                <a:cubicBezTo>
                  <a:pt x="-1" y="289"/>
                  <a:pt x="1" y="144"/>
                  <a:pt x="4" y="0"/>
                </a:cubicBezTo>
              </a:path>
              <a:path w="43200" h="22034" stroke="0">
                <a:moveTo>
                  <a:pt x="43199" y="306"/>
                </a:moveTo>
                <a:cubicBezTo>
                  <a:pt x="43199" y="348"/>
                  <a:pt x="43200" y="391"/>
                  <a:pt x="43200" y="434"/>
                </a:cubicBezTo>
                <a:cubicBezTo>
                  <a:pt x="43200" y="12363"/>
                  <a:pt x="33529" y="22034"/>
                  <a:pt x="21600" y="22034"/>
                </a:cubicBezTo>
                <a:cubicBezTo>
                  <a:pt x="9670" y="22034"/>
                  <a:pt x="0" y="12363"/>
                  <a:pt x="0" y="434"/>
                </a:cubicBezTo>
                <a:cubicBezTo>
                  <a:pt x="-1" y="289"/>
                  <a:pt x="1" y="144"/>
                  <a:pt x="4" y="0"/>
                </a:cubicBezTo>
                <a:lnTo>
                  <a:pt x="21600" y="434"/>
                </a:lnTo>
                <a:lnTo>
                  <a:pt x="43199" y="306"/>
                </a:lnTo>
                <a:close/>
              </a:path>
            </a:pathLst>
          </a:custGeom>
          <a:noFill/>
          <a:ln w="25400" cap="rnd" cmpd="sng">
            <a:solidFill>
              <a:srgbClr val="1997F4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1143" name="Arc 8"/>
          <p:cNvSpPr/>
          <p:nvPr/>
        </p:nvSpPr>
        <p:spPr>
          <a:xfrm>
            <a:off x="4519613" y="2311400"/>
            <a:ext cx="1576387" cy="13430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pathLst>
              <a:path w="42613" h="21600" fill="none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</a:path>
              <a:path w="42613" h="21600" stroke="0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  <a:lnTo>
                  <a:pt x="21394" y="0"/>
                </a:lnTo>
                <a:lnTo>
                  <a:pt x="42613" y="4039"/>
                </a:lnTo>
                <a:close/>
              </a:path>
            </a:pathLst>
          </a:custGeom>
          <a:noFill/>
          <a:ln w="25400" cap="rnd" cmpd="sng">
            <a:solidFill>
              <a:srgbClr val="4AFF0E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1144" name="Line 9"/>
          <p:cNvSpPr/>
          <p:nvPr/>
        </p:nvSpPr>
        <p:spPr>
          <a:xfrm>
            <a:off x="2436813" y="3784600"/>
            <a:ext cx="0" cy="138906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1145" name="Line 10"/>
          <p:cNvSpPr/>
          <p:nvPr/>
        </p:nvSpPr>
        <p:spPr>
          <a:xfrm>
            <a:off x="3865563" y="4089400"/>
            <a:ext cx="0" cy="10763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1146" name="Line 11"/>
          <p:cNvSpPr/>
          <p:nvPr/>
        </p:nvSpPr>
        <p:spPr>
          <a:xfrm>
            <a:off x="5640388" y="2806700"/>
            <a:ext cx="0" cy="23558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1147" name="Arc 12"/>
          <p:cNvSpPr/>
          <p:nvPr/>
        </p:nvSpPr>
        <p:spPr>
          <a:xfrm>
            <a:off x="1700213" y="3168650"/>
            <a:ext cx="995362" cy="1876425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1600" h="21600" fill="none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1148" name="Arc 13"/>
          <p:cNvSpPr/>
          <p:nvPr/>
        </p:nvSpPr>
        <p:spPr>
          <a:xfrm>
            <a:off x="2381250" y="2982913"/>
            <a:ext cx="1857375" cy="17414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1387" h="20224" fill="none">
                <a:moveTo>
                  <a:pt x="21387" y="3023"/>
                </a:moveTo>
                <a:cubicBezTo>
                  <a:pt x="20281" y="10850"/>
                  <a:pt x="14987" y="17447"/>
                  <a:pt x="7586" y="20224"/>
                </a:cubicBezTo>
              </a:path>
              <a:path w="21387" h="20224" stroke="0">
                <a:moveTo>
                  <a:pt x="21387" y="3023"/>
                </a:moveTo>
                <a:cubicBezTo>
                  <a:pt x="20281" y="10850"/>
                  <a:pt x="14987" y="17447"/>
                  <a:pt x="7586" y="20224"/>
                </a:cubicBezTo>
                <a:lnTo>
                  <a:pt x="0" y="0"/>
                </a:lnTo>
                <a:lnTo>
                  <a:pt x="21387" y="3023"/>
                </a:lnTo>
                <a:close/>
              </a:path>
            </a:pathLst>
          </a:custGeom>
          <a:noFill/>
          <a:ln w="25400" cap="rnd" cmpd="sng">
            <a:solidFill>
              <a:srgbClr val="1997F4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1149" name="Arc 14"/>
          <p:cNvSpPr/>
          <p:nvPr/>
        </p:nvSpPr>
        <p:spPr>
          <a:xfrm>
            <a:off x="4268788" y="1538288"/>
            <a:ext cx="1514475" cy="2849562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1600" h="20916" fill="none">
                <a:moveTo>
                  <a:pt x="21600" y="0"/>
                </a:moveTo>
                <a:cubicBezTo>
                  <a:pt x="21600" y="9852"/>
                  <a:pt x="14933" y="18456"/>
                  <a:pt x="5392" y="20915"/>
                </a:cubicBezTo>
              </a:path>
              <a:path w="21600" h="20916" stroke="0">
                <a:moveTo>
                  <a:pt x="21600" y="0"/>
                </a:moveTo>
                <a:cubicBezTo>
                  <a:pt x="21600" y="9852"/>
                  <a:pt x="14933" y="18456"/>
                  <a:pt x="5392" y="20915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rgbClr val="4AFF0E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1150" name="Oval 15"/>
          <p:cNvSpPr/>
          <p:nvPr/>
        </p:nvSpPr>
        <p:spPr>
          <a:xfrm>
            <a:off x="2362200" y="36957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1" name="Oval 16"/>
          <p:cNvSpPr/>
          <p:nvPr/>
        </p:nvSpPr>
        <p:spPr>
          <a:xfrm>
            <a:off x="2349500" y="43307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2" name="Oval 17"/>
          <p:cNvSpPr/>
          <p:nvPr/>
        </p:nvSpPr>
        <p:spPr>
          <a:xfrm>
            <a:off x="3784600" y="3975100"/>
            <a:ext cx="165100" cy="165100"/>
          </a:xfrm>
          <a:prstGeom prst="ellipse">
            <a:avLst/>
          </a:prstGeom>
          <a:solidFill>
            <a:srgbClr val="1997F4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3" name="Oval 18"/>
          <p:cNvSpPr/>
          <p:nvPr/>
        </p:nvSpPr>
        <p:spPr>
          <a:xfrm>
            <a:off x="5562600" y="3441700"/>
            <a:ext cx="165100" cy="165100"/>
          </a:xfrm>
          <a:prstGeom prst="ellipse">
            <a:avLst/>
          </a:prstGeom>
          <a:solidFill>
            <a:srgbClr val="4AFF0E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4" name="Oval 19"/>
          <p:cNvSpPr/>
          <p:nvPr/>
        </p:nvSpPr>
        <p:spPr>
          <a:xfrm>
            <a:off x="5562600" y="2692400"/>
            <a:ext cx="165100" cy="165100"/>
          </a:xfrm>
          <a:prstGeom prst="ellipse">
            <a:avLst/>
          </a:prstGeom>
          <a:solidFill>
            <a:srgbClr val="4AFF0E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5" name="Rectangle 20"/>
          <p:cNvSpPr/>
          <p:nvPr/>
        </p:nvSpPr>
        <p:spPr>
          <a:xfrm>
            <a:off x="6308725" y="2713038"/>
            <a:ext cx="126841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AC(y)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6" name="Rectangle 21"/>
          <p:cNvSpPr/>
          <p:nvPr/>
        </p:nvSpPr>
        <p:spPr>
          <a:xfrm>
            <a:off x="250825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7" name="Rectangle 22"/>
          <p:cNvSpPr/>
          <p:nvPr/>
        </p:nvSpPr>
        <p:spPr>
          <a:xfrm>
            <a:off x="6327775" y="5246688"/>
            <a:ext cx="4095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8" name="Rectangle 23"/>
          <p:cNvSpPr/>
          <p:nvPr/>
        </p:nvSpPr>
        <p:spPr>
          <a:xfrm>
            <a:off x="2765425" y="1660525"/>
            <a:ext cx="16065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SRMCs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9" name="Line 24"/>
          <p:cNvSpPr/>
          <p:nvPr/>
        </p:nvSpPr>
        <p:spPr>
          <a:xfrm flipH="1">
            <a:off x="2690813" y="2238375"/>
            <a:ext cx="238125" cy="833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1160" name="Line 25"/>
          <p:cNvSpPr/>
          <p:nvPr/>
        </p:nvSpPr>
        <p:spPr>
          <a:xfrm>
            <a:off x="3571875" y="2166938"/>
            <a:ext cx="595313" cy="12144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1161" name="Line 26"/>
          <p:cNvSpPr/>
          <p:nvPr/>
        </p:nvSpPr>
        <p:spPr>
          <a:xfrm>
            <a:off x="4238625" y="2071688"/>
            <a:ext cx="1476375" cy="3095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Marginal Cost Curve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162" name="Line 3"/>
          <p:cNvSpPr/>
          <p:nvPr/>
        </p:nvSpPr>
        <p:spPr>
          <a:xfrm>
            <a:off x="1428750" y="1690688"/>
            <a:ext cx="0" cy="34528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92163" name="Line 4"/>
          <p:cNvSpPr/>
          <p:nvPr/>
        </p:nvSpPr>
        <p:spPr>
          <a:xfrm>
            <a:off x="1428750" y="5167313"/>
            <a:ext cx="4976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2164" name="Arc 5"/>
          <p:cNvSpPr/>
          <p:nvPr/>
        </p:nvSpPr>
        <p:spPr>
          <a:xfrm rot="-8580000">
            <a:off x="2030413" y="1525588"/>
            <a:ext cx="3690937" cy="316706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21600" h="21600" fill="none">
                <a:moveTo>
                  <a:pt x="0" y="21600"/>
                </a:moveTo>
                <a:cubicBezTo>
                  <a:pt x="0" y="9674"/>
                  <a:pt x="9665" y="4"/>
                  <a:pt x="21591" y="0"/>
                </a:cubicBezTo>
              </a:path>
              <a:path w="21600" h="21600" stroke="0">
                <a:moveTo>
                  <a:pt x="0" y="21600"/>
                </a:moveTo>
                <a:cubicBezTo>
                  <a:pt x="0" y="9674"/>
                  <a:pt x="9665" y="4"/>
                  <a:pt x="21591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FF4C1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2165" name="Arc 6"/>
          <p:cNvSpPr/>
          <p:nvPr/>
        </p:nvSpPr>
        <p:spPr>
          <a:xfrm>
            <a:off x="1835150" y="2471738"/>
            <a:ext cx="1576388" cy="13430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pathLst>
              <a:path w="42613" h="21600" fill="none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</a:path>
              <a:path w="42613" h="21600" stroke="0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  <a:lnTo>
                  <a:pt x="21394" y="0"/>
                </a:lnTo>
                <a:lnTo>
                  <a:pt x="42613" y="4039"/>
                </a:lnTo>
                <a:close/>
              </a:path>
            </a:pathLst>
          </a:custGeom>
          <a:noFill/>
          <a:ln w="25400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2166" name="Arc 7"/>
          <p:cNvSpPr/>
          <p:nvPr/>
        </p:nvSpPr>
        <p:spPr>
          <a:xfrm>
            <a:off x="3054350" y="2705100"/>
            <a:ext cx="1598613" cy="13700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7500011" y="0"/>
              </a:cxn>
              <a:cxn ang="0">
                <a:pos x="2147483646" y="2147483646"/>
              </a:cxn>
            </a:cxnLst>
            <a:pathLst>
              <a:path w="43200" h="22034" fill="none">
                <a:moveTo>
                  <a:pt x="43199" y="306"/>
                </a:moveTo>
                <a:cubicBezTo>
                  <a:pt x="43199" y="348"/>
                  <a:pt x="43200" y="391"/>
                  <a:pt x="43200" y="434"/>
                </a:cubicBezTo>
                <a:cubicBezTo>
                  <a:pt x="43200" y="12363"/>
                  <a:pt x="33529" y="22034"/>
                  <a:pt x="21600" y="22034"/>
                </a:cubicBezTo>
                <a:cubicBezTo>
                  <a:pt x="9670" y="22034"/>
                  <a:pt x="0" y="12363"/>
                  <a:pt x="0" y="434"/>
                </a:cubicBezTo>
                <a:cubicBezTo>
                  <a:pt x="-1" y="289"/>
                  <a:pt x="1" y="144"/>
                  <a:pt x="4" y="0"/>
                </a:cubicBezTo>
              </a:path>
              <a:path w="43200" h="22034" stroke="0">
                <a:moveTo>
                  <a:pt x="43199" y="306"/>
                </a:moveTo>
                <a:cubicBezTo>
                  <a:pt x="43199" y="348"/>
                  <a:pt x="43200" y="391"/>
                  <a:pt x="43200" y="434"/>
                </a:cubicBezTo>
                <a:cubicBezTo>
                  <a:pt x="43200" y="12363"/>
                  <a:pt x="33529" y="22034"/>
                  <a:pt x="21600" y="22034"/>
                </a:cubicBezTo>
                <a:cubicBezTo>
                  <a:pt x="9670" y="22034"/>
                  <a:pt x="0" y="12363"/>
                  <a:pt x="0" y="434"/>
                </a:cubicBezTo>
                <a:cubicBezTo>
                  <a:pt x="-1" y="289"/>
                  <a:pt x="1" y="144"/>
                  <a:pt x="4" y="0"/>
                </a:cubicBezTo>
                <a:lnTo>
                  <a:pt x="21600" y="434"/>
                </a:lnTo>
                <a:lnTo>
                  <a:pt x="43199" y="306"/>
                </a:lnTo>
                <a:close/>
              </a:path>
            </a:pathLst>
          </a:custGeom>
          <a:noFill/>
          <a:ln w="25400" cap="rnd" cmpd="sng">
            <a:solidFill>
              <a:srgbClr val="1997F4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2167" name="Arc 8"/>
          <p:cNvSpPr/>
          <p:nvPr/>
        </p:nvSpPr>
        <p:spPr>
          <a:xfrm>
            <a:off x="4519613" y="2311400"/>
            <a:ext cx="1576387" cy="13430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pathLst>
              <a:path w="42613" h="21600" fill="none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</a:path>
              <a:path w="42613" h="21600" stroke="0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  <a:lnTo>
                  <a:pt x="21394" y="0"/>
                </a:lnTo>
                <a:lnTo>
                  <a:pt x="42613" y="4039"/>
                </a:lnTo>
                <a:close/>
              </a:path>
            </a:pathLst>
          </a:custGeom>
          <a:noFill/>
          <a:ln w="25400" cap="rnd" cmpd="sng">
            <a:solidFill>
              <a:srgbClr val="4AFF0E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2168" name="Arc 9"/>
          <p:cNvSpPr/>
          <p:nvPr/>
        </p:nvSpPr>
        <p:spPr>
          <a:xfrm>
            <a:off x="1801813" y="1223963"/>
            <a:ext cx="4337050" cy="3230562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1289" h="21600" fill="none">
                <a:moveTo>
                  <a:pt x="21288" y="3652"/>
                </a:moveTo>
                <a:cubicBezTo>
                  <a:pt x="19509" y="14021"/>
                  <a:pt x="10519" y="21599"/>
                  <a:pt x="0" y="21600"/>
                </a:cubicBezTo>
              </a:path>
              <a:path w="21289" h="21600" stroke="0">
                <a:moveTo>
                  <a:pt x="21288" y="3652"/>
                </a:moveTo>
                <a:cubicBezTo>
                  <a:pt x="19509" y="14021"/>
                  <a:pt x="10519" y="21599"/>
                  <a:pt x="0" y="21600"/>
                </a:cubicBezTo>
                <a:lnTo>
                  <a:pt x="0" y="0"/>
                </a:lnTo>
                <a:lnTo>
                  <a:pt x="21288" y="3652"/>
                </a:lnTo>
                <a:close/>
              </a:path>
            </a:pathLst>
          </a:custGeom>
          <a:noFill/>
          <a:ln w="25400" cap="rnd" cmpd="sng">
            <a:solidFill>
              <a:srgbClr val="FF4C1F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2169" name="Line 10"/>
          <p:cNvSpPr/>
          <p:nvPr/>
        </p:nvSpPr>
        <p:spPr>
          <a:xfrm>
            <a:off x="2436813" y="3784600"/>
            <a:ext cx="0" cy="138906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2170" name="Line 11"/>
          <p:cNvSpPr/>
          <p:nvPr/>
        </p:nvSpPr>
        <p:spPr>
          <a:xfrm>
            <a:off x="3865563" y="4089400"/>
            <a:ext cx="0" cy="10763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2171" name="Line 12"/>
          <p:cNvSpPr/>
          <p:nvPr/>
        </p:nvSpPr>
        <p:spPr>
          <a:xfrm>
            <a:off x="5640388" y="2806700"/>
            <a:ext cx="0" cy="23558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2172" name="Arc 13"/>
          <p:cNvSpPr/>
          <p:nvPr/>
        </p:nvSpPr>
        <p:spPr>
          <a:xfrm>
            <a:off x="1700213" y="3168650"/>
            <a:ext cx="995362" cy="1876425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1600" h="21600" fill="none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2173" name="Arc 14"/>
          <p:cNvSpPr/>
          <p:nvPr/>
        </p:nvSpPr>
        <p:spPr>
          <a:xfrm>
            <a:off x="2381250" y="2982913"/>
            <a:ext cx="1857375" cy="17414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1387" h="20224" fill="none">
                <a:moveTo>
                  <a:pt x="21387" y="3023"/>
                </a:moveTo>
                <a:cubicBezTo>
                  <a:pt x="20281" y="10850"/>
                  <a:pt x="14987" y="17447"/>
                  <a:pt x="7586" y="20224"/>
                </a:cubicBezTo>
              </a:path>
              <a:path w="21387" h="20224" stroke="0">
                <a:moveTo>
                  <a:pt x="21387" y="3023"/>
                </a:moveTo>
                <a:cubicBezTo>
                  <a:pt x="20281" y="10850"/>
                  <a:pt x="14987" y="17447"/>
                  <a:pt x="7586" y="20224"/>
                </a:cubicBezTo>
                <a:lnTo>
                  <a:pt x="0" y="0"/>
                </a:lnTo>
                <a:lnTo>
                  <a:pt x="21387" y="3023"/>
                </a:lnTo>
                <a:close/>
              </a:path>
            </a:pathLst>
          </a:custGeom>
          <a:noFill/>
          <a:ln w="25400" cap="rnd" cmpd="sng">
            <a:solidFill>
              <a:srgbClr val="1997F4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2174" name="Arc 15"/>
          <p:cNvSpPr/>
          <p:nvPr/>
        </p:nvSpPr>
        <p:spPr>
          <a:xfrm>
            <a:off x="4268788" y="1538288"/>
            <a:ext cx="1514475" cy="2849562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1600" h="20916" fill="none">
                <a:moveTo>
                  <a:pt x="21600" y="0"/>
                </a:moveTo>
                <a:cubicBezTo>
                  <a:pt x="21600" y="9852"/>
                  <a:pt x="14933" y="18456"/>
                  <a:pt x="5392" y="20915"/>
                </a:cubicBezTo>
              </a:path>
              <a:path w="21600" h="20916" stroke="0">
                <a:moveTo>
                  <a:pt x="21600" y="0"/>
                </a:moveTo>
                <a:cubicBezTo>
                  <a:pt x="21600" y="9852"/>
                  <a:pt x="14933" y="18456"/>
                  <a:pt x="5392" y="20915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rgbClr val="4AFF0E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2175" name="Oval 16"/>
          <p:cNvSpPr/>
          <p:nvPr/>
        </p:nvSpPr>
        <p:spPr>
          <a:xfrm>
            <a:off x="2362200" y="36957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6" name="Oval 17"/>
          <p:cNvSpPr/>
          <p:nvPr/>
        </p:nvSpPr>
        <p:spPr>
          <a:xfrm>
            <a:off x="2349500" y="43307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7" name="Oval 18"/>
          <p:cNvSpPr/>
          <p:nvPr/>
        </p:nvSpPr>
        <p:spPr>
          <a:xfrm>
            <a:off x="3784600" y="3975100"/>
            <a:ext cx="165100" cy="165100"/>
          </a:xfrm>
          <a:prstGeom prst="ellipse">
            <a:avLst/>
          </a:prstGeom>
          <a:solidFill>
            <a:srgbClr val="1997F4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8" name="Oval 19"/>
          <p:cNvSpPr/>
          <p:nvPr/>
        </p:nvSpPr>
        <p:spPr>
          <a:xfrm>
            <a:off x="5562600" y="3441700"/>
            <a:ext cx="165100" cy="165100"/>
          </a:xfrm>
          <a:prstGeom prst="ellipse">
            <a:avLst/>
          </a:prstGeom>
          <a:solidFill>
            <a:srgbClr val="4AFF0E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9" name="Oval 20"/>
          <p:cNvSpPr/>
          <p:nvPr/>
        </p:nvSpPr>
        <p:spPr>
          <a:xfrm>
            <a:off x="5562600" y="2692400"/>
            <a:ext cx="165100" cy="165100"/>
          </a:xfrm>
          <a:prstGeom prst="ellipse">
            <a:avLst/>
          </a:prstGeom>
          <a:solidFill>
            <a:srgbClr val="4AFF0E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0" name="Rectangle 21"/>
          <p:cNvSpPr/>
          <p:nvPr/>
        </p:nvSpPr>
        <p:spPr>
          <a:xfrm>
            <a:off x="6308725" y="2713038"/>
            <a:ext cx="126841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AC(y)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1" name="Rectangle 22"/>
          <p:cNvSpPr/>
          <p:nvPr/>
        </p:nvSpPr>
        <p:spPr>
          <a:xfrm>
            <a:off x="6156325" y="1474788"/>
            <a:ext cx="13128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2" name="Rectangle 23"/>
          <p:cNvSpPr/>
          <p:nvPr/>
        </p:nvSpPr>
        <p:spPr>
          <a:xfrm>
            <a:off x="250825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3" name="Rectangle 24"/>
          <p:cNvSpPr/>
          <p:nvPr/>
        </p:nvSpPr>
        <p:spPr>
          <a:xfrm>
            <a:off x="6327775" y="5246688"/>
            <a:ext cx="4095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4" name="Rectangle 25"/>
          <p:cNvSpPr/>
          <p:nvPr/>
        </p:nvSpPr>
        <p:spPr>
          <a:xfrm>
            <a:off x="2765425" y="1660525"/>
            <a:ext cx="16065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SRMCs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5" name="Line 26"/>
          <p:cNvSpPr/>
          <p:nvPr/>
        </p:nvSpPr>
        <p:spPr>
          <a:xfrm flipH="1">
            <a:off x="2690813" y="2238375"/>
            <a:ext cx="238125" cy="833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2186" name="Line 27"/>
          <p:cNvSpPr/>
          <p:nvPr/>
        </p:nvSpPr>
        <p:spPr>
          <a:xfrm>
            <a:off x="3571875" y="2166938"/>
            <a:ext cx="595313" cy="12144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2187" name="Line 28"/>
          <p:cNvSpPr/>
          <p:nvPr/>
        </p:nvSpPr>
        <p:spPr>
          <a:xfrm>
            <a:off x="4238625" y="2071688"/>
            <a:ext cx="1476375" cy="3095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2188" name="Rectangle 29"/>
          <p:cNvSpPr/>
          <p:nvPr/>
        </p:nvSpPr>
        <p:spPr>
          <a:xfrm>
            <a:off x="265113" y="5756275"/>
            <a:ext cx="860901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each y &gt; 0, the long-run MC equals the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MC for the short-run chosen by the firm.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Marginal Cost Curves</a:t>
            </a:r>
            <a:r>
              <a:rPr lang="zh-CN" altLang="en-US" dirty="0">
                <a:ea typeface="宋体" panose="02010600030101010101" pitchFamily="2" charset="-122"/>
              </a:rPr>
              <a:t>短期和长期边际成本曲线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3186" name="Line 3"/>
          <p:cNvSpPr/>
          <p:nvPr/>
        </p:nvSpPr>
        <p:spPr>
          <a:xfrm>
            <a:off x="1428750" y="1690688"/>
            <a:ext cx="0" cy="34528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93187" name="Line 4"/>
          <p:cNvSpPr/>
          <p:nvPr/>
        </p:nvSpPr>
        <p:spPr>
          <a:xfrm>
            <a:off x="1428750" y="5167313"/>
            <a:ext cx="4976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3188" name="Arc 5"/>
          <p:cNvSpPr/>
          <p:nvPr/>
        </p:nvSpPr>
        <p:spPr>
          <a:xfrm rot="-8580000">
            <a:off x="2030413" y="1525588"/>
            <a:ext cx="3690937" cy="316706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21600" h="21600" fill="none">
                <a:moveTo>
                  <a:pt x="0" y="21600"/>
                </a:moveTo>
                <a:cubicBezTo>
                  <a:pt x="0" y="9674"/>
                  <a:pt x="9665" y="4"/>
                  <a:pt x="21591" y="0"/>
                </a:cubicBezTo>
              </a:path>
              <a:path w="21600" h="21600" stroke="0">
                <a:moveTo>
                  <a:pt x="0" y="21600"/>
                </a:moveTo>
                <a:cubicBezTo>
                  <a:pt x="0" y="9674"/>
                  <a:pt x="9665" y="4"/>
                  <a:pt x="21591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76200" cap="rnd" cmpd="sng">
            <a:solidFill>
              <a:srgbClr val="FF4C1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3189" name="Arc 6"/>
          <p:cNvSpPr/>
          <p:nvPr/>
        </p:nvSpPr>
        <p:spPr>
          <a:xfrm>
            <a:off x="1835150" y="2471738"/>
            <a:ext cx="1576388" cy="13430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pathLst>
              <a:path w="42613" h="21600" fill="none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</a:path>
              <a:path w="42613" h="21600" stroke="0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  <a:lnTo>
                  <a:pt x="21394" y="0"/>
                </a:lnTo>
                <a:lnTo>
                  <a:pt x="42613" y="4039"/>
                </a:lnTo>
                <a:close/>
              </a:path>
            </a:pathLst>
          </a:custGeom>
          <a:noFill/>
          <a:ln w="25400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3190" name="Arc 7"/>
          <p:cNvSpPr/>
          <p:nvPr/>
        </p:nvSpPr>
        <p:spPr>
          <a:xfrm>
            <a:off x="3054350" y="2705100"/>
            <a:ext cx="1598613" cy="13700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7500011" y="0"/>
              </a:cxn>
              <a:cxn ang="0">
                <a:pos x="2147483646" y="2147483646"/>
              </a:cxn>
            </a:cxnLst>
            <a:pathLst>
              <a:path w="43200" h="22034" fill="none">
                <a:moveTo>
                  <a:pt x="43199" y="306"/>
                </a:moveTo>
                <a:cubicBezTo>
                  <a:pt x="43199" y="348"/>
                  <a:pt x="43200" y="391"/>
                  <a:pt x="43200" y="434"/>
                </a:cubicBezTo>
                <a:cubicBezTo>
                  <a:pt x="43200" y="12363"/>
                  <a:pt x="33529" y="22034"/>
                  <a:pt x="21600" y="22034"/>
                </a:cubicBezTo>
                <a:cubicBezTo>
                  <a:pt x="9670" y="22034"/>
                  <a:pt x="0" y="12363"/>
                  <a:pt x="0" y="434"/>
                </a:cubicBezTo>
                <a:cubicBezTo>
                  <a:pt x="-1" y="289"/>
                  <a:pt x="1" y="144"/>
                  <a:pt x="4" y="0"/>
                </a:cubicBezTo>
              </a:path>
              <a:path w="43200" h="22034" stroke="0">
                <a:moveTo>
                  <a:pt x="43199" y="306"/>
                </a:moveTo>
                <a:cubicBezTo>
                  <a:pt x="43199" y="348"/>
                  <a:pt x="43200" y="391"/>
                  <a:pt x="43200" y="434"/>
                </a:cubicBezTo>
                <a:cubicBezTo>
                  <a:pt x="43200" y="12363"/>
                  <a:pt x="33529" y="22034"/>
                  <a:pt x="21600" y="22034"/>
                </a:cubicBezTo>
                <a:cubicBezTo>
                  <a:pt x="9670" y="22034"/>
                  <a:pt x="0" y="12363"/>
                  <a:pt x="0" y="434"/>
                </a:cubicBezTo>
                <a:cubicBezTo>
                  <a:pt x="-1" y="289"/>
                  <a:pt x="1" y="144"/>
                  <a:pt x="4" y="0"/>
                </a:cubicBezTo>
                <a:lnTo>
                  <a:pt x="21600" y="434"/>
                </a:lnTo>
                <a:lnTo>
                  <a:pt x="43199" y="306"/>
                </a:lnTo>
                <a:close/>
              </a:path>
            </a:pathLst>
          </a:custGeom>
          <a:noFill/>
          <a:ln w="25400" cap="rnd" cmpd="sng">
            <a:solidFill>
              <a:srgbClr val="1997F4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3191" name="Arc 8"/>
          <p:cNvSpPr/>
          <p:nvPr/>
        </p:nvSpPr>
        <p:spPr>
          <a:xfrm>
            <a:off x="4519613" y="2311400"/>
            <a:ext cx="1576387" cy="13430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pathLst>
              <a:path w="42613" h="21600" fill="none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</a:path>
              <a:path w="42613" h="21600" stroke="0">
                <a:moveTo>
                  <a:pt x="42613" y="4039"/>
                </a:moveTo>
                <a:cubicBezTo>
                  <a:pt x="40673" y="14227"/>
                  <a:pt x="31765" y="21599"/>
                  <a:pt x="21394" y="21600"/>
                </a:cubicBezTo>
                <a:cubicBezTo>
                  <a:pt x="10615" y="21600"/>
                  <a:pt x="1486" y="13654"/>
                  <a:pt x="0" y="2978"/>
                </a:cubicBezTo>
                <a:lnTo>
                  <a:pt x="21394" y="0"/>
                </a:lnTo>
                <a:lnTo>
                  <a:pt x="42613" y="4039"/>
                </a:lnTo>
                <a:close/>
              </a:path>
            </a:pathLst>
          </a:custGeom>
          <a:noFill/>
          <a:ln w="25400" cap="rnd" cmpd="sng">
            <a:solidFill>
              <a:srgbClr val="4AFF0E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3192" name="Arc 9"/>
          <p:cNvSpPr/>
          <p:nvPr/>
        </p:nvSpPr>
        <p:spPr>
          <a:xfrm>
            <a:off x="1801813" y="1223963"/>
            <a:ext cx="4337050" cy="3230562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1289" h="21600" fill="none">
                <a:moveTo>
                  <a:pt x="21288" y="3652"/>
                </a:moveTo>
                <a:cubicBezTo>
                  <a:pt x="19509" y="14021"/>
                  <a:pt x="10519" y="21599"/>
                  <a:pt x="0" y="21600"/>
                </a:cubicBezTo>
              </a:path>
              <a:path w="21289" h="21600" stroke="0">
                <a:moveTo>
                  <a:pt x="21288" y="3652"/>
                </a:moveTo>
                <a:cubicBezTo>
                  <a:pt x="19509" y="14021"/>
                  <a:pt x="10519" y="21599"/>
                  <a:pt x="0" y="21600"/>
                </a:cubicBezTo>
                <a:lnTo>
                  <a:pt x="0" y="0"/>
                </a:lnTo>
                <a:lnTo>
                  <a:pt x="21288" y="3652"/>
                </a:lnTo>
                <a:close/>
              </a:path>
            </a:pathLst>
          </a:custGeom>
          <a:noFill/>
          <a:ln w="76200" cap="rnd" cmpd="sng">
            <a:solidFill>
              <a:srgbClr val="FF4C1F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3193" name="Line 10"/>
          <p:cNvSpPr/>
          <p:nvPr/>
        </p:nvSpPr>
        <p:spPr>
          <a:xfrm>
            <a:off x="2436813" y="3784600"/>
            <a:ext cx="0" cy="138906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3194" name="Line 11"/>
          <p:cNvSpPr/>
          <p:nvPr/>
        </p:nvSpPr>
        <p:spPr>
          <a:xfrm>
            <a:off x="3865563" y="4089400"/>
            <a:ext cx="0" cy="10763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3195" name="Line 12"/>
          <p:cNvSpPr/>
          <p:nvPr/>
        </p:nvSpPr>
        <p:spPr>
          <a:xfrm>
            <a:off x="5640388" y="2806700"/>
            <a:ext cx="0" cy="23558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93196" name="Arc 13"/>
          <p:cNvSpPr/>
          <p:nvPr/>
        </p:nvSpPr>
        <p:spPr>
          <a:xfrm>
            <a:off x="1700213" y="3168650"/>
            <a:ext cx="995362" cy="1876425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1600" h="21600" fill="none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3197" name="Arc 14"/>
          <p:cNvSpPr/>
          <p:nvPr/>
        </p:nvSpPr>
        <p:spPr>
          <a:xfrm>
            <a:off x="2381250" y="2982913"/>
            <a:ext cx="1857375" cy="17414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1387" h="20224" fill="none">
                <a:moveTo>
                  <a:pt x="21387" y="3023"/>
                </a:moveTo>
                <a:cubicBezTo>
                  <a:pt x="20281" y="10850"/>
                  <a:pt x="14987" y="17447"/>
                  <a:pt x="7586" y="20224"/>
                </a:cubicBezTo>
              </a:path>
              <a:path w="21387" h="20224" stroke="0">
                <a:moveTo>
                  <a:pt x="21387" y="3023"/>
                </a:moveTo>
                <a:cubicBezTo>
                  <a:pt x="20281" y="10850"/>
                  <a:pt x="14987" y="17447"/>
                  <a:pt x="7586" y="20224"/>
                </a:cubicBezTo>
                <a:lnTo>
                  <a:pt x="0" y="0"/>
                </a:lnTo>
                <a:lnTo>
                  <a:pt x="21387" y="3023"/>
                </a:lnTo>
                <a:close/>
              </a:path>
            </a:pathLst>
          </a:custGeom>
          <a:noFill/>
          <a:ln w="25400" cap="rnd" cmpd="sng">
            <a:solidFill>
              <a:srgbClr val="1997F4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3198" name="Arc 15"/>
          <p:cNvSpPr/>
          <p:nvPr/>
        </p:nvSpPr>
        <p:spPr>
          <a:xfrm>
            <a:off x="4268788" y="1538288"/>
            <a:ext cx="1514475" cy="2849562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1600" h="20916" fill="none">
                <a:moveTo>
                  <a:pt x="21600" y="0"/>
                </a:moveTo>
                <a:cubicBezTo>
                  <a:pt x="21600" y="9852"/>
                  <a:pt x="14933" y="18456"/>
                  <a:pt x="5392" y="20915"/>
                </a:cubicBezTo>
              </a:path>
              <a:path w="21600" h="20916" stroke="0">
                <a:moveTo>
                  <a:pt x="21600" y="0"/>
                </a:moveTo>
                <a:cubicBezTo>
                  <a:pt x="21600" y="9852"/>
                  <a:pt x="14933" y="18456"/>
                  <a:pt x="5392" y="20915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rgbClr val="4AFF0E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93199" name="Oval 16"/>
          <p:cNvSpPr/>
          <p:nvPr/>
        </p:nvSpPr>
        <p:spPr>
          <a:xfrm>
            <a:off x="2362200" y="36957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00" name="Oval 17"/>
          <p:cNvSpPr/>
          <p:nvPr/>
        </p:nvSpPr>
        <p:spPr>
          <a:xfrm>
            <a:off x="2349500" y="43307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01" name="Oval 18"/>
          <p:cNvSpPr/>
          <p:nvPr/>
        </p:nvSpPr>
        <p:spPr>
          <a:xfrm>
            <a:off x="3784600" y="3975100"/>
            <a:ext cx="165100" cy="165100"/>
          </a:xfrm>
          <a:prstGeom prst="ellipse">
            <a:avLst/>
          </a:prstGeom>
          <a:solidFill>
            <a:srgbClr val="1997F4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02" name="Oval 19"/>
          <p:cNvSpPr/>
          <p:nvPr/>
        </p:nvSpPr>
        <p:spPr>
          <a:xfrm>
            <a:off x="5562600" y="3441700"/>
            <a:ext cx="165100" cy="165100"/>
          </a:xfrm>
          <a:prstGeom prst="ellipse">
            <a:avLst/>
          </a:prstGeom>
          <a:solidFill>
            <a:srgbClr val="4AFF0E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03" name="Oval 20"/>
          <p:cNvSpPr/>
          <p:nvPr/>
        </p:nvSpPr>
        <p:spPr>
          <a:xfrm>
            <a:off x="5562600" y="2692400"/>
            <a:ext cx="165100" cy="165100"/>
          </a:xfrm>
          <a:prstGeom prst="ellipse">
            <a:avLst/>
          </a:prstGeom>
          <a:solidFill>
            <a:srgbClr val="4AFF0E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04" name="Rectangle 21"/>
          <p:cNvSpPr/>
          <p:nvPr/>
        </p:nvSpPr>
        <p:spPr>
          <a:xfrm>
            <a:off x="6308725" y="2713038"/>
            <a:ext cx="126841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AC(y)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05" name="Rectangle 22"/>
          <p:cNvSpPr/>
          <p:nvPr/>
        </p:nvSpPr>
        <p:spPr>
          <a:xfrm>
            <a:off x="6156325" y="1474788"/>
            <a:ext cx="13128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solidFill>
                  <a:srgbClr val="FF4C1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FF4C1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06" name="Rectangle 23"/>
          <p:cNvSpPr/>
          <p:nvPr/>
        </p:nvSpPr>
        <p:spPr>
          <a:xfrm>
            <a:off x="250825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07" name="Rectangle 24"/>
          <p:cNvSpPr/>
          <p:nvPr/>
        </p:nvSpPr>
        <p:spPr>
          <a:xfrm>
            <a:off x="6327775" y="5246688"/>
            <a:ext cx="4095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08" name="Rectangle 25"/>
          <p:cNvSpPr/>
          <p:nvPr/>
        </p:nvSpPr>
        <p:spPr>
          <a:xfrm>
            <a:off x="2765425" y="1660525"/>
            <a:ext cx="16065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SRMCs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09" name="Line 26"/>
          <p:cNvSpPr/>
          <p:nvPr/>
        </p:nvSpPr>
        <p:spPr>
          <a:xfrm flipH="1">
            <a:off x="2690813" y="2238375"/>
            <a:ext cx="238125" cy="833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3210" name="Line 27"/>
          <p:cNvSpPr/>
          <p:nvPr/>
        </p:nvSpPr>
        <p:spPr>
          <a:xfrm>
            <a:off x="3571875" y="2166938"/>
            <a:ext cx="595313" cy="12144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3211" name="Line 28"/>
          <p:cNvSpPr/>
          <p:nvPr/>
        </p:nvSpPr>
        <p:spPr>
          <a:xfrm>
            <a:off x="4238625" y="2071688"/>
            <a:ext cx="1476375" cy="3095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93212" name="Rectangle 29"/>
          <p:cNvSpPr/>
          <p:nvPr/>
        </p:nvSpPr>
        <p:spPr>
          <a:xfrm>
            <a:off x="265113" y="5756275"/>
            <a:ext cx="860901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each y &gt; 0, the long-run MC equals the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MC for the short-run chosen by the firm.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es On Blue">
  <a:themeElements>
    <a:clrScheme name="Lines On Blue 1">
      <a:dk1>
        <a:srgbClr val="000000"/>
      </a:dk1>
      <a:lt1>
        <a:srgbClr val="FFFFFF"/>
      </a:lt1>
      <a:dk2>
        <a:srgbClr val="000000"/>
      </a:dk2>
      <a:lt2>
        <a:srgbClr val="FFFF00"/>
      </a:lt2>
      <a:accent1>
        <a:srgbClr val="FF9933"/>
      </a:accent1>
      <a:accent2>
        <a:srgbClr val="0000FF"/>
      </a:accent2>
      <a:accent3>
        <a:srgbClr val="AAAAAA"/>
      </a:accent3>
      <a:accent4>
        <a:srgbClr val="DADADA"/>
      </a:accent4>
      <a:accent5>
        <a:srgbClr val="FFCAAD"/>
      </a:accent5>
      <a:accent6>
        <a:srgbClr val="0000E7"/>
      </a:accent6>
      <a:hlink>
        <a:srgbClr val="FF33CC"/>
      </a:hlink>
      <a:folHlink>
        <a:srgbClr val="000080"/>
      </a:folHlink>
    </a:clrScheme>
    <a:fontScheme name="Lines On Blu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ines On Blue 1">
        <a:dk1>
          <a:srgbClr val="000000"/>
        </a:dk1>
        <a:lt1>
          <a:srgbClr val="FFFFFF"/>
        </a:lt1>
        <a:dk2>
          <a:srgbClr val="000000"/>
        </a:dk2>
        <a:lt2>
          <a:srgbClr val="FFFF00"/>
        </a:lt2>
        <a:accent1>
          <a:srgbClr val="FF9933"/>
        </a:accent1>
        <a:accent2>
          <a:srgbClr val="0000FF"/>
        </a:accent2>
        <a:accent3>
          <a:srgbClr val="AAAAAA"/>
        </a:accent3>
        <a:accent4>
          <a:srgbClr val="DADADA"/>
        </a:accent4>
        <a:accent5>
          <a:srgbClr val="FFCAAD"/>
        </a:accent5>
        <a:accent6>
          <a:srgbClr val="0000E7"/>
        </a:accent6>
        <a:hlink>
          <a:srgbClr val="FF33CC"/>
        </a:hlink>
        <a:folHlink>
          <a:srgbClr val="000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2">
        <a:dk1>
          <a:srgbClr val="000000"/>
        </a:dk1>
        <a:lt1>
          <a:srgbClr val="CCCCFF"/>
        </a:lt1>
        <a:dk2>
          <a:srgbClr val="660066"/>
        </a:dk2>
        <a:lt2>
          <a:srgbClr val="99CCFF"/>
        </a:lt2>
        <a:accent1>
          <a:srgbClr val="33CCFF"/>
        </a:accent1>
        <a:accent2>
          <a:srgbClr val="6699FF"/>
        </a:accent2>
        <a:accent3>
          <a:srgbClr val="E2E2FF"/>
        </a:accent3>
        <a:accent4>
          <a:srgbClr val="000000"/>
        </a:accent4>
        <a:accent5>
          <a:srgbClr val="ADE2FF"/>
        </a:accent5>
        <a:accent6>
          <a:srgbClr val="5C8AE7"/>
        </a:accent6>
        <a:hlink>
          <a:srgbClr val="6666FF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4">
        <a:dk1>
          <a:srgbClr val="000066"/>
        </a:dk1>
        <a:lt1>
          <a:srgbClr val="EAEAEA"/>
        </a:lt1>
        <a:dk2>
          <a:srgbClr val="660066"/>
        </a:dk2>
        <a:lt2>
          <a:srgbClr val="CBCBCB"/>
        </a:lt2>
        <a:accent1>
          <a:srgbClr val="330099"/>
        </a:accent1>
        <a:accent2>
          <a:srgbClr val="FF7C80"/>
        </a:accent2>
        <a:accent3>
          <a:srgbClr val="B8AAB8"/>
        </a:accent3>
        <a:accent4>
          <a:srgbClr val="C8C8C8"/>
        </a:accent4>
        <a:accent5>
          <a:srgbClr val="ADAACA"/>
        </a:accent5>
        <a:accent6>
          <a:srgbClr val="E77073"/>
        </a:accent6>
        <a:hlink>
          <a:srgbClr val="6666FF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5">
        <a:dk1>
          <a:srgbClr val="000080"/>
        </a:dk1>
        <a:lt1>
          <a:srgbClr val="EAEAEA"/>
        </a:lt1>
        <a:dk2>
          <a:srgbClr val="9933FF"/>
        </a:dk2>
        <a:lt2>
          <a:srgbClr val="CBCBCB"/>
        </a:lt2>
        <a:accent1>
          <a:srgbClr val="00CC99"/>
        </a:accent1>
        <a:accent2>
          <a:srgbClr val="00CCFF"/>
        </a:accent2>
        <a:accent3>
          <a:srgbClr val="CAADFF"/>
        </a:accent3>
        <a:accent4>
          <a:srgbClr val="C8C8C8"/>
        </a:accent4>
        <a:accent5>
          <a:srgbClr val="AAE2CA"/>
        </a:accent5>
        <a:accent6>
          <a:srgbClr val="00B9E7"/>
        </a:accent6>
        <a:hlink>
          <a:srgbClr val="6666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6">
        <a:dk1>
          <a:srgbClr val="000000"/>
        </a:dk1>
        <a:lt1>
          <a:srgbClr val="FFFFCC"/>
        </a:lt1>
        <a:dk2>
          <a:srgbClr val="660066"/>
        </a:dk2>
        <a:lt2>
          <a:srgbClr val="FFFFFF"/>
        </a:lt2>
        <a:accent1>
          <a:srgbClr val="99CCFF"/>
        </a:accent1>
        <a:accent2>
          <a:srgbClr val="FFCC99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E7B98A"/>
        </a:accent6>
        <a:hlink>
          <a:srgbClr val="CCCCFF"/>
        </a:hlink>
        <a:folHlink>
          <a:srgbClr val="FF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ines On Blue 1">
    <a:dk1>
      <a:srgbClr val="000000"/>
    </a:dk1>
    <a:lt1>
      <a:srgbClr val="FFFFFF"/>
    </a:lt1>
    <a:dk2>
      <a:srgbClr val="000000"/>
    </a:dk2>
    <a:lt2>
      <a:srgbClr val="FFFF00"/>
    </a:lt2>
    <a:accent1>
      <a:srgbClr val="FF9933"/>
    </a:accent1>
    <a:accent2>
      <a:srgbClr val="0000FF"/>
    </a:accent2>
    <a:accent3>
      <a:srgbClr val="AAAAAA"/>
    </a:accent3>
    <a:accent4>
      <a:srgbClr val="DADADA"/>
    </a:accent4>
    <a:accent5>
      <a:srgbClr val="FFCAAD"/>
    </a:accent5>
    <a:accent6>
      <a:srgbClr val="0000E7"/>
    </a:accent6>
    <a:hlink>
      <a:srgbClr val="FF33CC"/>
    </a:hlink>
    <a:folHlink>
      <a:srgbClr val="0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Designs\Lines On Blue.pot</Template>
  <TotalTime>0</TotalTime>
  <Words>11467</Words>
  <Application>WPS 演示</Application>
  <PresentationFormat>全屏显示(4:3)</PresentationFormat>
  <Paragraphs>906</Paragraphs>
  <Slides>88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50</vt:i4>
      </vt:variant>
      <vt:variant>
        <vt:lpstr>幻灯片标题</vt:lpstr>
      </vt:variant>
      <vt:variant>
        <vt:i4>88</vt:i4>
      </vt:variant>
    </vt:vector>
  </HeadingPairs>
  <TitlesOfParts>
    <vt:vector size="148" baseType="lpstr">
      <vt:lpstr>Arial</vt:lpstr>
      <vt:lpstr>宋体</vt:lpstr>
      <vt:lpstr>Wingdings</vt:lpstr>
      <vt:lpstr>Times New Roman</vt:lpstr>
      <vt:lpstr>Monotype Sorts</vt:lpstr>
      <vt:lpstr>Wingdings</vt:lpstr>
      <vt:lpstr>Symbol</vt:lpstr>
      <vt:lpstr>Times New Roman</vt:lpstr>
      <vt:lpstr>Arial Unicode MS</vt:lpstr>
      <vt:lpstr>Lines On Blue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Equation.3</vt:lpstr>
      <vt:lpstr>Equation.3</vt:lpstr>
      <vt:lpstr>Equation.2</vt:lpstr>
      <vt:lpstr>Equation.3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Twenty</dc:title>
  <dc:creator>Gateway Authorized Customer</dc:creator>
  <cp:lastModifiedBy>蒋士成</cp:lastModifiedBy>
  <cp:revision>46</cp:revision>
  <dcterms:created xsi:type="dcterms:W3CDTF">1997-03-06T22:38:50Z</dcterms:created>
  <dcterms:modified xsi:type="dcterms:W3CDTF">2023-12-29T07:10:10Z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666DC4A46BB24302BC5B429FF6061D51_13</vt:lpwstr>
  </property>
</Properties>
</file>
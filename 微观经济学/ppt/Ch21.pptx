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5"/>
  </p:notesMasterIdLst>
  <p:sldIdLst>
    <p:sldId id="256" r:id="rId3"/>
    <p:sldId id="257" r:id="rId4"/>
    <p:sldId id="258" r:id="rId5"/>
    <p:sldId id="259" r:id="rId6"/>
    <p:sldId id="260" r:id="rId7"/>
    <p:sldId id="262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2" r:id="rId29"/>
    <p:sldId id="284" r:id="rId30"/>
    <p:sldId id="339" r:id="rId31"/>
    <p:sldId id="340" r:id="rId32"/>
    <p:sldId id="341" r:id="rId33"/>
    <p:sldId id="342" r:id="rId34"/>
    <p:sldId id="343" r:id="rId35"/>
    <p:sldId id="344" r:id="rId36"/>
    <p:sldId id="345" r:id="rId37"/>
    <p:sldId id="285" r:id="rId38"/>
    <p:sldId id="286" r:id="rId39"/>
    <p:sldId id="287" r:id="rId40"/>
    <p:sldId id="288" r:id="rId41"/>
    <p:sldId id="289" r:id="rId42"/>
    <p:sldId id="292" r:id="rId43"/>
    <p:sldId id="293" r:id="rId44"/>
    <p:sldId id="295" r:id="rId45"/>
    <p:sldId id="294" r:id="rId46"/>
    <p:sldId id="296" r:id="rId47"/>
    <p:sldId id="298" r:id="rId48"/>
    <p:sldId id="299" r:id="rId49"/>
    <p:sldId id="301" r:id="rId50"/>
    <p:sldId id="300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6" r:id="rId64"/>
    <p:sldId id="314" r:id="rId65"/>
    <p:sldId id="317" r:id="rId66"/>
    <p:sldId id="315" r:id="rId67"/>
    <p:sldId id="318" r:id="rId68"/>
    <p:sldId id="319" r:id="rId69"/>
    <p:sldId id="320" r:id="rId70"/>
    <p:sldId id="321" r:id="rId71"/>
    <p:sldId id="322" r:id="rId72"/>
    <p:sldId id="324" r:id="rId73"/>
    <p:sldId id="325" r:id="rId74"/>
    <p:sldId id="327" r:id="rId75"/>
    <p:sldId id="326" r:id="rId76"/>
    <p:sldId id="328" r:id="rId77"/>
    <p:sldId id="334" r:id="rId78"/>
    <p:sldId id="329" r:id="rId79"/>
    <p:sldId id="331" r:id="rId80"/>
    <p:sldId id="332" r:id="rId81"/>
    <p:sldId id="333" r:id="rId82"/>
    <p:sldId id="336" r:id="rId83"/>
    <p:sldId id="337" r:id="rId84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 userDrawn="1">
          <p15:clr>
            <a:srgbClr val="A4A3A4"/>
          </p15:clr>
        </p15:guide>
        <p15:guide id="2" pos="23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ED00"/>
    <a:srgbClr val="4CFF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500" y="56"/>
      </p:cViewPr>
      <p:guideLst>
        <p:guide orient="horz" pos="2280"/>
        <p:guide pos="234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520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8" Type="http://schemas.openxmlformats.org/officeDocument/2006/relationships/tableStyles" Target="tableStyles.xml"/><Relationship Id="rId87" Type="http://schemas.openxmlformats.org/officeDocument/2006/relationships/viewProps" Target="viewProps.xml"/><Relationship Id="rId86" Type="http://schemas.openxmlformats.org/officeDocument/2006/relationships/presProps" Target="presProps.xml"/><Relationship Id="rId85" Type="http://schemas.openxmlformats.org/officeDocument/2006/relationships/notesMaster" Target="notesMasters/notesMaster1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.emf"/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26.emf"/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4.vml.rels><?xml version="1.0" encoding="UTF-8" standalone="yes"?>
<Relationships xmlns="http://schemas.openxmlformats.org/package/2006/relationships"><Relationship Id="rId5" Type="http://schemas.openxmlformats.org/officeDocument/2006/relationships/image" Target="../media/image31.emf"/><Relationship Id="rId4" Type="http://schemas.openxmlformats.org/officeDocument/2006/relationships/image" Target="../media/image30.emf"/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17.vml.rels><?xml version="1.0" encoding="UTF-8" standalone="yes"?>
<Relationships xmlns="http://schemas.openxmlformats.org/package/2006/relationships"><Relationship Id="rId4" Type="http://schemas.openxmlformats.org/officeDocument/2006/relationships/image" Target="../media/image39.emf"/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image" Target="../media/image36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47.emf"/><Relationship Id="rId8" Type="http://schemas.openxmlformats.org/officeDocument/2006/relationships/image" Target="../media/image46.emf"/><Relationship Id="rId7" Type="http://schemas.openxmlformats.org/officeDocument/2006/relationships/image" Target="../media/image45.emf"/><Relationship Id="rId6" Type="http://schemas.openxmlformats.org/officeDocument/2006/relationships/image" Target="../media/image44.emf"/><Relationship Id="rId5" Type="http://schemas.openxmlformats.org/officeDocument/2006/relationships/image" Target="../media/image43.emf"/><Relationship Id="rId4" Type="http://schemas.openxmlformats.org/officeDocument/2006/relationships/image" Target="../media/image42.emf"/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4" Type="http://schemas.openxmlformats.org/officeDocument/2006/relationships/image" Target="../media/image52.emf"/><Relationship Id="rId13" Type="http://schemas.openxmlformats.org/officeDocument/2006/relationships/image" Target="../media/image51.emf"/><Relationship Id="rId12" Type="http://schemas.openxmlformats.org/officeDocument/2006/relationships/image" Target="../media/image50.emf"/><Relationship Id="rId11" Type="http://schemas.openxmlformats.org/officeDocument/2006/relationships/image" Target="../media/image49.emf"/><Relationship Id="rId10" Type="http://schemas.openxmlformats.org/officeDocument/2006/relationships/image" Target="../media/image48.emf"/><Relationship Id="rId1" Type="http://schemas.openxmlformats.org/officeDocument/2006/relationships/image" Target="../media/image36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60.emf"/><Relationship Id="rId8" Type="http://schemas.openxmlformats.org/officeDocument/2006/relationships/image" Target="../media/image59.emf"/><Relationship Id="rId7" Type="http://schemas.openxmlformats.org/officeDocument/2006/relationships/image" Target="../media/image58.emf"/><Relationship Id="rId6" Type="http://schemas.openxmlformats.org/officeDocument/2006/relationships/image" Target="../media/image57.emf"/><Relationship Id="rId5" Type="http://schemas.openxmlformats.org/officeDocument/2006/relationships/image" Target="../media/image56.emf"/><Relationship Id="rId4" Type="http://schemas.openxmlformats.org/officeDocument/2006/relationships/image" Target="../media/image55.emf"/><Relationship Id="rId3" Type="http://schemas.openxmlformats.org/officeDocument/2006/relationships/image" Target="../media/image54.emf"/><Relationship Id="rId20" Type="http://schemas.openxmlformats.org/officeDocument/2006/relationships/image" Target="../media/image71.emf"/><Relationship Id="rId2" Type="http://schemas.openxmlformats.org/officeDocument/2006/relationships/image" Target="../media/image53.emf"/><Relationship Id="rId19" Type="http://schemas.openxmlformats.org/officeDocument/2006/relationships/image" Target="../media/image70.emf"/><Relationship Id="rId18" Type="http://schemas.openxmlformats.org/officeDocument/2006/relationships/image" Target="../media/image69.emf"/><Relationship Id="rId17" Type="http://schemas.openxmlformats.org/officeDocument/2006/relationships/image" Target="../media/image68.emf"/><Relationship Id="rId16" Type="http://schemas.openxmlformats.org/officeDocument/2006/relationships/image" Target="../media/image67.emf"/><Relationship Id="rId15" Type="http://schemas.openxmlformats.org/officeDocument/2006/relationships/image" Target="../media/image66.emf"/><Relationship Id="rId14" Type="http://schemas.openxmlformats.org/officeDocument/2006/relationships/image" Target="../media/image65.emf"/><Relationship Id="rId13" Type="http://schemas.openxmlformats.org/officeDocument/2006/relationships/image" Target="../media/image64.emf"/><Relationship Id="rId12" Type="http://schemas.openxmlformats.org/officeDocument/2006/relationships/image" Target="../media/image63.emf"/><Relationship Id="rId11" Type="http://schemas.openxmlformats.org/officeDocument/2006/relationships/image" Target="../media/image62.emf"/><Relationship Id="rId10" Type="http://schemas.openxmlformats.org/officeDocument/2006/relationships/image" Target="../media/image61.emf"/><Relationship Id="rId1" Type="http://schemas.openxmlformats.org/officeDocument/2006/relationships/image" Target="../media/image36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79.emf"/><Relationship Id="rId8" Type="http://schemas.openxmlformats.org/officeDocument/2006/relationships/image" Target="../media/image78.emf"/><Relationship Id="rId7" Type="http://schemas.openxmlformats.org/officeDocument/2006/relationships/image" Target="../media/image77.emf"/><Relationship Id="rId6" Type="http://schemas.openxmlformats.org/officeDocument/2006/relationships/image" Target="../media/image76.emf"/><Relationship Id="rId5" Type="http://schemas.openxmlformats.org/officeDocument/2006/relationships/image" Target="../media/image75.emf"/><Relationship Id="rId4" Type="http://schemas.openxmlformats.org/officeDocument/2006/relationships/image" Target="../media/image74.emf"/><Relationship Id="rId3" Type="http://schemas.openxmlformats.org/officeDocument/2006/relationships/image" Target="../media/image73.emf"/><Relationship Id="rId26" Type="http://schemas.openxmlformats.org/officeDocument/2006/relationships/image" Target="../media/image96.emf"/><Relationship Id="rId25" Type="http://schemas.openxmlformats.org/officeDocument/2006/relationships/image" Target="../media/image95.emf"/><Relationship Id="rId24" Type="http://schemas.openxmlformats.org/officeDocument/2006/relationships/image" Target="../media/image94.emf"/><Relationship Id="rId23" Type="http://schemas.openxmlformats.org/officeDocument/2006/relationships/image" Target="../media/image93.emf"/><Relationship Id="rId22" Type="http://schemas.openxmlformats.org/officeDocument/2006/relationships/image" Target="../media/image92.emf"/><Relationship Id="rId21" Type="http://schemas.openxmlformats.org/officeDocument/2006/relationships/image" Target="../media/image91.emf"/><Relationship Id="rId20" Type="http://schemas.openxmlformats.org/officeDocument/2006/relationships/image" Target="../media/image90.emf"/><Relationship Id="rId2" Type="http://schemas.openxmlformats.org/officeDocument/2006/relationships/image" Target="../media/image72.emf"/><Relationship Id="rId19" Type="http://schemas.openxmlformats.org/officeDocument/2006/relationships/image" Target="../media/image89.emf"/><Relationship Id="rId18" Type="http://schemas.openxmlformats.org/officeDocument/2006/relationships/image" Target="../media/image88.emf"/><Relationship Id="rId17" Type="http://schemas.openxmlformats.org/officeDocument/2006/relationships/image" Target="../media/image87.emf"/><Relationship Id="rId16" Type="http://schemas.openxmlformats.org/officeDocument/2006/relationships/image" Target="../media/image86.emf"/><Relationship Id="rId15" Type="http://schemas.openxmlformats.org/officeDocument/2006/relationships/image" Target="../media/image85.emf"/><Relationship Id="rId14" Type="http://schemas.openxmlformats.org/officeDocument/2006/relationships/image" Target="../media/image84.emf"/><Relationship Id="rId13" Type="http://schemas.openxmlformats.org/officeDocument/2006/relationships/image" Target="../media/image83.emf"/><Relationship Id="rId12" Type="http://schemas.openxmlformats.org/officeDocument/2006/relationships/image" Target="../media/image82.emf"/><Relationship Id="rId11" Type="http://schemas.openxmlformats.org/officeDocument/2006/relationships/image" Target="../media/image81.emf"/><Relationship Id="rId10" Type="http://schemas.openxmlformats.org/officeDocument/2006/relationships/image" Target="../media/image80.emf"/><Relationship Id="rId1" Type="http://schemas.openxmlformats.org/officeDocument/2006/relationships/image" Target="../media/image36.wmf"/></Relationships>
</file>

<file path=ppt/drawings/_rels/vmlDrawing2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emf"/><Relationship Id="rId8" Type="http://schemas.openxmlformats.org/officeDocument/2006/relationships/image" Target="../media/image103.emf"/><Relationship Id="rId7" Type="http://schemas.openxmlformats.org/officeDocument/2006/relationships/image" Target="../media/image102.emf"/><Relationship Id="rId6" Type="http://schemas.openxmlformats.org/officeDocument/2006/relationships/image" Target="../media/image101.emf"/><Relationship Id="rId5" Type="http://schemas.openxmlformats.org/officeDocument/2006/relationships/image" Target="../media/image100.emf"/><Relationship Id="rId4" Type="http://schemas.openxmlformats.org/officeDocument/2006/relationships/image" Target="../media/image99.emf"/><Relationship Id="rId3" Type="http://schemas.openxmlformats.org/officeDocument/2006/relationships/image" Target="../media/image98.emf"/><Relationship Id="rId26" Type="http://schemas.openxmlformats.org/officeDocument/2006/relationships/image" Target="../media/image121.emf"/><Relationship Id="rId25" Type="http://schemas.openxmlformats.org/officeDocument/2006/relationships/image" Target="../media/image120.emf"/><Relationship Id="rId24" Type="http://schemas.openxmlformats.org/officeDocument/2006/relationships/image" Target="../media/image119.emf"/><Relationship Id="rId23" Type="http://schemas.openxmlformats.org/officeDocument/2006/relationships/image" Target="../media/image118.emf"/><Relationship Id="rId22" Type="http://schemas.openxmlformats.org/officeDocument/2006/relationships/image" Target="../media/image117.emf"/><Relationship Id="rId21" Type="http://schemas.openxmlformats.org/officeDocument/2006/relationships/image" Target="../media/image116.emf"/><Relationship Id="rId20" Type="http://schemas.openxmlformats.org/officeDocument/2006/relationships/image" Target="../media/image115.emf"/><Relationship Id="rId2" Type="http://schemas.openxmlformats.org/officeDocument/2006/relationships/image" Target="../media/image97.emf"/><Relationship Id="rId19" Type="http://schemas.openxmlformats.org/officeDocument/2006/relationships/image" Target="../media/image114.emf"/><Relationship Id="rId18" Type="http://schemas.openxmlformats.org/officeDocument/2006/relationships/image" Target="../media/image113.emf"/><Relationship Id="rId17" Type="http://schemas.openxmlformats.org/officeDocument/2006/relationships/image" Target="../media/image112.emf"/><Relationship Id="rId16" Type="http://schemas.openxmlformats.org/officeDocument/2006/relationships/image" Target="../media/image111.emf"/><Relationship Id="rId15" Type="http://schemas.openxmlformats.org/officeDocument/2006/relationships/image" Target="../media/image110.emf"/><Relationship Id="rId14" Type="http://schemas.openxmlformats.org/officeDocument/2006/relationships/image" Target="../media/image109.emf"/><Relationship Id="rId13" Type="http://schemas.openxmlformats.org/officeDocument/2006/relationships/image" Target="../media/image108.emf"/><Relationship Id="rId12" Type="http://schemas.openxmlformats.org/officeDocument/2006/relationships/image" Target="../media/image107.emf"/><Relationship Id="rId11" Type="http://schemas.openxmlformats.org/officeDocument/2006/relationships/image" Target="../media/image106.emf"/><Relationship Id="rId10" Type="http://schemas.openxmlformats.org/officeDocument/2006/relationships/image" Target="../media/image105.emf"/><Relationship Id="rId1" Type="http://schemas.openxmlformats.org/officeDocument/2006/relationships/image" Target="../media/image36.w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9.emf"/><Relationship Id="rId8" Type="http://schemas.openxmlformats.org/officeDocument/2006/relationships/image" Target="../media/image128.emf"/><Relationship Id="rId7" Type="http://schemas.openxmlformats.org/officeDocument/2006/relationships/image" Target="../media/image127.emf"/><Relationship Id="rId6" Type="http://schemas.openxmlformats.org/officeDocument/2006/relationships/image" Target="../media/image126.emf"/><Relationship Id="rId5" Type="http://schemas.openxmlformats.org/officeDocument/2006/relationships/image" Target="../media/image125.emf"/><Relationship Id="rId4" Type="http://schemas.openxmlformats.org/officeDocument/2006/relationships/image" Target="../media/image124.emf"/><Relationship Id="rId3" Type="http://schemas.openxmlformats.org/officeDocument/2006/relationships/image" Target="../media/image123.emf"/><Relationship Id="rId26" Type="http://schemas.openxmlformats.org/officeDocument/2006/relationships/image" Target="../media/image146.emf"/><Relationship Id="rId25" Type="http://schemas.openxmlformats.org/officeDocument/2006/relationships/image" Target="../media/image145.emf"/><Relationship Id="rId24" Type="http://schemas.openxmlformats.org/officeDocument/2006/relationships/image" Target="../media/image144.emf"/><Relationship Id="rId23" Type="http://schemas.openxmlformats.org/officeDocument/2006/relationships/image" Target="../media/image143.emf"/><Relationship Id="rId22" Type="http://schemas.openxmlformats.org/officeDocument/2006/relationships/image" Target="../media/image142.emf"/><Relationship Id="rId21" Type="http://schemas.openxmlformats.org/officeDocument/2006/relationships/image" Target="../media/image141.emf"/><Relationship Id="rId20" Type="http://schemas.openxmlformats.org/officeDocument/2006/relationships/image" Target="../media/image140.emf"/><Relationship Id="rId2" Type="http://schemas.openxmlformats.org/officeDocument/2006/relationships/image" Target="../media/image122.emf"/><Relationship Id="rId19" Type="http://schemas.openxmlformats.org/officeDocument/2006/relationships/image" Target="../media/image139.emf"/><Relationship Id="rId18" Type="http://schemas.openxmlformats.org/officeDocument/2006/relationships/image" Target="../media/image138.emf"/><Relationship Id="rId17" Type="http://schemas.openxmlformats.org/officeDocument/2006/relationships/image" Target="../media/image137.emf"/><Relationship Id="rId16" Type="http://schemas.openxmlformats.org/officeDocument/2006/relationships/image" Target="../media/image136.emf"/><Relationship Id="rId15" Type="http://schemas.openxmlformats.org/officeDocument/2006/relationships/image" Target="../media/image135.emf"/><Relationship Id="rId14" Type="http://schemas.openxmlformats.org/officeDocument/2006/relationships/image" Target="../media/image134.emf"/><Relationship Id="rId13" Type="http://schemas.openxmlformats.org/officeDocument/2006/relationships/image" Target="../media/image133.emf"/><Relationship Id="rId12" Type="http://schemas.openxmlformats.org/officeDocument/2006/relationships/image" Target="../media/image132.emf"/><Relationship Id="rId11" Type="http://schemas.openxmlformats.org/officeDocument/2006/relationships/image" Target="../media/image131.emf"/><Relationship Id="rId10" Type="http://schemas.openxmlformats.org/officeDocument/2006/relationships/image" Target="../media/image130.emf"/><Relationship Id="rId1" Type="http://schemas.openxmlformats.org/officeDocument/2006/relationships/image" Target="../media/image36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emf"/><Relationship Id="rId1" Type="http://schemas.openxmlformats.org/officeDocument/2006/relationships/image" Target="../media/image147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9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0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1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2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3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emf"/><Relationship Id="rId2" Type="http://schemas.openxmlformats.org/officeDocument/2006/relationships/image" Target="../media/image155.emf"/><Relationship Id="rId1" Type="http://schemas.openxmlformats.org/officeDocument/2006/relationships/image" Target="../media/image154.emf"/></Relationships>
</file>

<file path=ppt/drawings/_rels/vmlDrawing30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0.emf"/><Relationship Id="rId3" Type="http://schemas.openxmlformats.org/officeDocument/2006/relationships/image" Target="../media/image159.emf"/><Relationship Id="rId2" Type="http://schemas.openxmlformats.org/officeDocument/2006/relationships/image" Target="../media/image158.emf"/><Relationship Id="rId1" Type="http://schemas.openxmlformats.org/officeDocument/2006/relationships/image" Target="../media/image157.emf"/></Relationships>
</file>

<file path=ppt/drawings/_rels/vmlDrawing3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4.emf"/><Relationship Id="rId3" Type="http://schemas.openxmlformats.org/officeDocument/2006/relationships/image" Target="../media/image163.emf"/><Relationship Id="rId2" Type="http://schemas.openxmlformats.org/officeDocument/2006/relationships/image" Target="../media/image162.emf"/><Relationship Id="rId1" Type="http://schemas.openxmlformats.org/officeDocument/2006/relationships/image" Target="../media/image161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5.emf"/></Relationships>
</file>

<file path=ppt/drawings/_rels/vmlDrawing3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9.emf"/><Relationship Id="rId3" Type="http://schemas.openxmlformats.org/officeDocument/2006/relationships/image" Target="../media/image168.emf"/><Relationship Id="rId2" Type="http://schemas.openxmlformats.org/officeDocument/2006/relationships/image" Target="../media/image167.emf"/><Relationship Id="rId1" Type="http://schemas.openxmlformats.org/officeDocument/2006/relationships/image" Target="../media/image166.e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emf"/><Relationship Id="rId2" Type="http://schemas.openxmlformats.org/officeDocument/2006/relationships/image" Target="../media/image171.emf"/><Relationship Id="rId1" Type="http://schemas.openxmlformats.org/officeDocument/2006/relationships/image" Target="../media/image170.e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emf"/><Relationship Id="rId2" Type="http://schemas.openxmlformats.org/officeDocument/2006/relationships/image" Target="../media/image174.emf"/><Relationship Id="rId1" Type="http://schemas.openxmlformats.org/officeDocument/2006/relationships/image" Target="../media/image173.emf"/></Relationships>
</file>

<file path=ppt/drawings/_rels/vmlDrawing3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4.emf"/><Relationship Id="rId8" Type="http://schemas.openxmlformats.org/officeDocument/2006/relationships/image" Target="../media/image183.emf"/><Relationship Id="rId7" Type="http://schemas.openxmlformats.org/officeDocument/2006/relationships/image" Target="../media/image182.emf"/><Relationship Id="rId6" Type="http://schemas.openxmlformats.org/officeDocument/2006/relationships/image" Target="../media/image181.emf"/><Relationship Id="rId5" Type="http://schemas.openxmlformats.org/officeDocument/2006/relationships/image" Target="../media/image180.emf"/><Relationship Id="rId4" Type="http://schemas.openxmlformats.org/officeDocument/2006/relationships/image" Target="../media/image179.emf"/><Relationship Id="rId3" Type="http://schemas.openxmlformats.org/officeDocument/2006/relationships/image" Target="../media/image178.emf"/><Relationship Id="rId2" Type="http://schemas.openxmlformats.org/officeDocument/2006/relationships/image" Target="../media/image177.emf"/><Relationship Id="rId1" Type="http://schemas.openxmlformats.org/officeDocument/2006/relationships/image" Target="../media/image176.emf"/></Relationships>
</file>

<file path=ppt/drawings/_rels/vmlDrawing3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3.emf"/><Relationship Id="rId8" Type="http://schemas.openxmlformats.org/officeDocument/2006/relationships/image" Target="../media/image192.emf"/><Relationship Id="rId7" Type="http://schemas.openxmlformats.org/officeDocument/2006/relationships/image" Target="../media/image191.emf"/><Relationship Id="rId6" Type="http://schemas.openxmlformats.org/officeDocument/2006/relationships/image" Target="../media/image190.emf"/><Relationship Id="rId5" Type="http://schemas.openxmlformats.org/officeDocument/2006/relationships/image" Target="../media/image189.emf"/><Relationship Id="rId4" Type="http://schemas.openxmlformats.org/officeDocument/2006/relationships/image" Target="../media/image188.emf"/><Relationship Id="rId3" Type="http://schemas.openxmlformats.org/officeDocument/2006/relationships/image" Target="../media/image187.emf"/><Relationship Id="rId2" Type="http://schemas.openxmlformats.org/officeDocument/2006/relationships/image" Target="../media/image186.emf"/><Relationship Id="rId10" Type="http://schemas.openxmlformats.org/officeDocument/2006/relationships/image" Target="../media/image194.emf"/><Relationship Id="rId1" Type="http://schemas.openxmlformats.org/officeDocument/2006/relationships/image" Target="../media/image185.emf"/></Relationships>
</file>

<file path=ppt/drawings/_rels/vmlDrawing3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3.emf"/><Relationship Id="rId8" Type="http://schemas.openxmlformats.org/officeDocument/2006/relationships/image" Target="../media/image202.emf"/><Relationship Id="rId7" Type="http://schemas.openxmlformats.org/officeDocument/2006/relationships/image" Target="../media/image201.emf"/><Relationship Id="rId6" Type="http://schemas.openxmlformats.org/officeDocument/2006/relationships/image" Target="../media/image200.emf"/><Relationship Id="rId5" Type="http://schemas.openxmlformats.org/officeDocument/2006/relationships/image" Target="../media/image199.emf"/><Relationship Id="rId4" Type="http://schemas.openxmlformats.org/officeDocument/2006/relationships/image" Target="../media/image198.emf"/><Relationship Id="rId3" Type="http://schemas.openxmlformats.org/officeDocument/2006/relationships/image" Target="../media/image197.emf"/><Relationship Id="rId2" Type="http://schemas.openxmlformats.org/officeDocument/2006/relationships/image" Target="../media/image196.emf"/><Relationship Id="rId10" Type="http://schemas.openxmlformats.org/officeDocument/2006/relationships/image" Target="../media/image204.emf"/><Relationship Id="rId1" Type="http://schemas.openxmlformats.org/officeDocument/2006/relationships/image" Target="../media/image195.emf"/></Relationships>
</file>

<file path=ppt/drawings/_rels/vmlDrawing3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3.emf"/><Relationship Id="rId8" Type="http://schemas.openxmlformats.org/officeDocument/2006/relationships/image" Target="../media/image212.emf"/><Relationship Id="rId7" Type="http://schemas.openxmlformats.org/officeDocument/2006/relationships/image" Target="../media/image211.emf"/><Relationship Id="rId6" Type="http://schemas.openxmlformats.org/officeDocument/2006/relationships/image" Target="../media/image210.emf"/><Relationship Id="rId5" Type="http://schemas.openxmlformats.org/officeDocument/2006/relationships/image" Target="../media/image209.emf"/><Relationship Id="rId4" Type="http://schemas.openxmlformats.org/officeDocument/2006/relationships/image" Target="../media/image208.emf"/><Relationship Id="rId3" Type="http://schemas.openxmlformats.org/officeDocument/2006/relationships/image" Target="../media/image207.emf"/><Relationship Id="rId2" Type="http://schemas.openxmlformats.org/officeDocument/2006/relationships/image" Target="../media/image206.emf"/><Relationship Id="rId10" Type="http://schemas.openxmlformats.org/officeDocument/2006/relationships/image" Target="../media/image214.emf"/><Relationship Id="rId1" Type="http://schemas.openxmlformats.org/officeDocument/2006/relationships/image" Target="../media/image205.emf"/></Relationships>
</file>

<file path=ppt/drawings/_rels/vmlDrawing40.vml.rels><?xml version="1.0" encoding="UTF-8" standalone="yes"?>
<Relationships xmlns="http://schemas.openxmlformats.org/package/2006/relationships"><Relationship Id="rId9" Type="http://schemas.openxmlformats.org/officeDocument/2006/relationships/image" Target="../media/image223.emf"/><Relationship Id="rId8" Type="http://schemas.openxmlformats.org/officeDocument/2006/relationships/image" Target="../media/image222.emf"/><Relationship Id="rId7" Type="http://schemas.openxmlformats.org/officeDocument/2006/relationships/image" Target="../media/image221.emf"/><Relationship Id="rId6" Type="http://schemas.openxmlformats.org/officeDocument/2006/relationships/image" Target="../media/image220.emf"/><Relationship Id="rId5" Type="http://schemas.openxmlformats.org/officeDocument/2006/relationships/image" Target="../media/image219.emf"/><Relationship Id="rId4" Type="http://schemas.openxmlformats.org/officeDocument/2006/relationships/image" Target="../media/image218.emf"/><Relationship Id="rId3" Type="http://schemas.openxmlformats.org/officeDocument/2006/relationships/image" Target="../media/image217.emf"/><Relationship Id="rId2" Type="http://schemas.openxmlformats.org/officeDocument/2006/relationships/image" Target="../media/image216.emf"/><Relationship Id="rId11" Type="http://schemas.openxmlformats.org/officeDocument/2006/relationships/image" Target="../media/image225.emf"/><Relationship Id="rId10" Type="http://schemas.openxmlformats.org/officeDocument/2006/relationships/image" Target="../media/image224.emf"/><Relationship Id="rId1" Type="http://schemas.openxmlformats.org/officeDocument/2006/relationships/image" Target="../media/image215.emf"/></Relationships>
</file>

<file path=ppt/drawings/_rels/vmlDrawing41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4.emf"/><Relationship Id="rId8" Type="http://schemas.openxmlformats.org/officeDocument/2006/relationships/image" Target="../media/image233.emf"/><Relationship Id="rId7" Type="http://schemas.openxmlformats.org/officeDocument/2006/relationships/image" Target="../media/image232.emf"/><Relationship Id="rId6" Type="http://schemas.openxmlformats.org/officeDocument/2006/relationships/image" Target="../media/image231.emf"/><Relationship Id="rId5" Type="http://schemas.openxmlformats.org/officeDocument/2006/relationships/image" Target="../media/image230.emf"/><Relationship Id="rId4" Type="http://schemas.openxmlformats.org/officeDocument/2006/relationships/image" Target="../media/image229.emf"/><Relationship Id="rId3" Type="http://schemas.openxmlformats.org/officeDocument/2006/relationships/image" Target="../media/image228.emf"/><Relationship Id="rId2" Type="http://schemas.openxmlformats.org/officeDocument/2006/relationships/image" Target="../media/image227.emf"/><Relationship Id="rId11" Type="http://schemas.openxmlformats.org/officeDocument/2006/relationships/image" Target="../media/image236.emf"/><Relationship Id="rId10" Type="http://schemas.openxmlformats.org/officeDocument/2006/relationships/image" Target="../media/image235.emf"/><Relationship Id="rId1" Type="http://schemas.openxmlformats.org/officeDocument/2006/relationships/image" Target="../media/image226.emf"/></Relationships>
</file>

<file path=ppt/drawings/_rels/vmlDrawing4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5.emf"/><Relationship Id="rId8" Type="http://schemas.openxmlformats.org/officeDocument/2006/relationships/image" Target="../media/image244.emf"/><Relationship Id="rId7" Type="http://schemas.openxmlformats.org/officeDocument/2006/relationships/image" Target="../media/image243.emf"/><Relationship Id="rId6" Type="http://schemas.openxmlformats.org/officeDocument/2006/relationships/image" Target="../media/image242.emf"/><Relationship Id="rId5" Type="http://schemas.openxmlformats.org/officeDocument/2006/relationships/image" Target="../media/image241.emf"/><Relationship Id="rId4" Type="http://schemas.openxmlformats.org/officeDocument/2006/relationships/image" Target="../media/image240.emf"/><Relationship Id="rId3" Type="http://schemas.openxmlformats.org/officeDocument/2006/relationships/image" Target="../media/image239.emf"/><Relationship Id="rId2" Type="http://schemas.openxmlformats.org/officeDocument/2006/relationships/image" Target="../media/image238.emf"/><Relationship Id="rId11" Type="http://schemas.openxmlformats.org/officeDocument/2006/relationships/image" Target="../media/image247.emf"/><Relationship Id="rId10" Type="http://schemas.openxmlformats.org/officeDocument/2006/relationships/image" Target="../media/image246.emf"/><Relationship Id="rId1" Type="http://schemas.openxmlformats.org/officeDocument/2006/relationships/image" Target="../media/image237.emf"/></Relationships>
</file>

<file path=ppt/drawings/_rels/vmlDrawing4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6.emf"/><Relationship Id="rId8" Type="http://schemas.openxmlformats.org/officeDocument/2006/relationships/image" Target="../media/image255.emf"/><Relationship Id="rId7" Type="http://schemas.openxmlformats.org/officeDocument/2006/relationships/image" Target="../media/image254.emf"/><Relationship Id="rId6" Type="http://schemas.openxmlformats.org/officeDocument/2006/relationships/image" Target="../media/image253.emf"/><Relationship Id="rId5" Type="http://schemas.openxmlformats.org/officeDocument/2006/relationships/image" Target="../media/image252.emf"/><Relationship Id="rId4" Type="http://schemas.openxmlformats.org/officeDocument/2006/relationships/image" Target="../media/image251.emf"/><Relationship Id="rId3" Type="http://schemas.openxmlformats.org/officeDocument/2006/relationships/image" Target="../media/image250.emf"/><Relationship Id="rId2" Type="http://schemas.openxmlformats.org/officeDocument/2006/relationships/image" Target="../media/image249.emf"/><Relationship Id="rId11" Type="http://schemas.openxmlformats.org/officeDocument/2006/relationships/image" Target="../media/image258.emf"/><Relationship Id="rId10" Type="http://schemas.openxmlformats.org/officeDocument/2006/relationships/image" Target="../media/image257.emf"/><Relationship Id="rId1" Type="http://schemas.openxmlformats.org/officeDocument/2006/relationships/image" Target="../media/image248.emf"/></Relationships>
</file>

<file path=ppt/drawings/_rels/vmlDrawing44.vml.rels><?xml version="1.0" encoding="UTF-8" standalone="yes"?>
<Relationships xmlns="http://schemas.openxmlformats.org/package/2006/relationships"><Relationship Id="rId4" Type="http://schemas.openxmlformats.org/officeDocument/2006/relationships/image" Target="../media/image262.emf"/><Relationship Id="rId3" Type="http://schemas.openxmlformats.org/officeDocument/2006/relationships/image" Target="../media/image261.emf"/><Relationship Id="rId2" Type="http://schemas.openxmlformats.org/officeDocument/2006/relationships/image" Target="../media/image260.emf"/><Relationship Id="rId1" Type="http://schemas.openxmlformats.org/officeDocument/2006/relationships/image" Target="../media/image25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043"/>
          <p:cNvGrpSpPr/>
          <p:nvPr/>
        </p:nvGrpSpPr>
        <p:grpSpPr>
          <a:xfrm>
            <a:off x="0" y="2760663"/>
            <a:ext cx="9151938" cy="4113212"/>
            <a:chOff x="0" y="1739"/>
            <a:chExt cx="5765" cy="2591"/>
          </a:xfrm>
        </p:grpSpPr>
        <p:grpSp>
          <p:nvGrpSpPr>
            <p:cNvPr id="2051" name="Group 1041"/>
            <p:cNvGrpSpPr/>
            <p:nvPr/>
          </p:nvGrpSpPr>
          <p:grpSpPr>
            <a:xfrm>
              <a:off x="0" y="3652"/>
              <a:ext cx="5765" cy="678"/>
              <a:chOff x="0" y="3652"/>
              <a:chExt cx="5765" cy="678"/>
            </a:xfrm>
          </p:grpSpPr>
          <p:sp>
            <p:nvSpPr>
              <p:cNvPr id="26" name="Rectangle 1026"/>
              <p:cNvSpPr>
                <a:spLocks noChangeArrowheads="1"/>
              </p:cNvSpPr>
              <p:nvPr/>
            </p:nvSpPr>
            <p:spPr bwMode="ltGray">
              <a:xfrm>
                <a:off x="0" y="3676"/>
                <a:ext cx="5764" cy="643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2053" name="Group 1040"/>
              <p:cNvGrpSpPr/>
              <p:nvPr/>
            </p:nvGrpSpPr>
            <p:grpSpPr>
              <a:xfrm>
                <a:off x="0" y="3652"/>
                <a:ext cx="5765" cy="678"/>
                <a:chOff x="0" y="3652"/>
                <a:chExt cx="5765" cy="678"/>
              </a:xfrm>
            </p:grpSpPr>
            <p:sp useBgFill="1">
              <p:nvSpPr>
                <p:cNvPr id="28" name="Freeform 1027"/>
                <p:cNvSpPr/>
                <p:nvPr/>
              </p:nvSpPr>
              <p:spPr bwMode="white">
                <a:xfrm>
                  <a:off x="0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r" b="b"/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 cap="rnd">
                  <a:noFill/>
                  <a:round/>
                </a:ln>
                <a:effectLst/>
              </p:spPr>
              <p:txBody>
                <a:bodyPr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 useBgFill="1">
              <p:nvSpPr>
                <p:cNvPr id="29" name="Freeform 1028"/>
                <p:cNvSpPr/>
                <p:nvPr/>
              </p:nvSpPr>
              <p:spPr bwMode="white">
                <a:xfrm>
                  <a:off x="433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r" b="b"/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 cap="rnd">
                  <a:noFill/>
                  <a:round/>
                </a:ln>
                <a:effectLst/>
              </p:spPr>
              <p:txBody>
                <a:bodyPr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 useBgFill="1">
              <p:nvSpPr>
                <p:cNvPr id="30" name="Freeform 1029"/>
                <p:cNvSpPr/>
                <p:nvPr/>
              </p:nvSpPr>
              <p:spPr bwMode="white">
                <a:xfrm>
                  <a:off x="878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r" b="b"/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 cap="rnd">
                  <a:noFill/>
                  <a:round/>
                </a:ln>
                <a:effectLst/>
              </p:spPr>
              <p:txBody>
                <a:bodyPr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 useBgFill="1">
              <p:nvSpPr>
                <p:cNvPr id="31" name="Freeform 1030"/>
                <p:cNvSpPr/>
                <p:nvPr/>
              </p:nvSpPr>
              <p:spPr bwMode="white">
                <a:xfrm>
                  <a:off x="1323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r" b="b"/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 cap="rnd">
                  <a:noFill/>
                  <a:round/>
                </a:ln>
                <a:effectLst/>
              </p:spPr>
              <p:txBody>
                <a:bodyPr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 useBgFill="1">
              <p:nvSpPr>
                <p:cNvPr id="32" name="Freeform 1031"/>
                <p:cNvSpPr/>
                <p:nvPr/>
              </p:nvSpPr>
              <p:spPr bwMode="white">
                <a:xfrm>
                  <a:off x="1768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r" b="b"/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 cap="rnd">
                  <a:noFill/>
                  <a:round/>
                </a:ln>
                <a:effectLst/>
              </p:spPr>
              <p:txBody>
                <a:bodyPr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 useBgFill="1">
              <p:nvSpPr>
                <p:cNvPr id="33" name="Freeform 1032"/>
                <p:cNvSpPr/>
                <p:nvPr/>
              </p:nvSpPr>
              <p:spPr bwMode="white">
                <a:xfrm>
                  <a:off x="2213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r" b="b"/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 cap="rnd">
                  <a:noFill/>
                  <a:round/>
                </a:ln>
                <a:effectLst/>
              </p:spPr>
              <p:txBody>
                <a:bodyPr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 useBgFill="1">
              <p:nvSpPr>
                <p:cNvPr id="34" name="Freeform 1033"/>
                <p:cNvSpPr/>
                <p:nvPr/>
              </p:nvSpPr>
              <p:spPr bwMode="white">
                <a:xfrm>
                  <a:off x="2646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r" b="b"/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 cap="rnd">
                  <a:noFill/>
                  <a:round/>
                </a:ln>
                <a:effectLst/>
              </p:spPr>
              <p:txBody>
                <a:bodyPr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 useBgFill="1">
              <p:nvSpPr>
                <p:cNvPr id="35" name="Freeform 1034"/>
                <p:cNvSpPr/>
                <p:nvPr/>
              </p:nvSpPr>
              <p:spPr bwMode="white">
                <a:xfrm>
                  <a:off x="3090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r" b="b"/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 cap="rnd">
                  <a:noFill/>
                  <a:round/>
                </a:ln>
                <a:effectLst/>
              </p:spPr>
              <p:txBody>
                <a:bodyPr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 useBgFill="1">
              <p:nvSpPr>
                <p:cNvPr id="36" name="Freeform 1035"/>
                <p:cNvSpPr/>
                <p:nvPr/>
              </p:nvSpPr>
              <p:spPr bwMode="white">
                <a:xfrm>
                  <a:off x="3547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r" b="b"/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 cap="rnd">
                  <a:noFill/>
                  <a:round/>
                </a:ln>
                <a:effectLst/>
              </p:spPr>
              <p:txBody>
                <a:bodyPr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 useBgFill="1">
              <p:nvSpPr>
                <p:cNvPr id="37" name="Freeform 1036"/>
                <p:cNvSpPr/>
                <p:nvPr/>
              </p:nvSpPr>
              <p:spPr bwMode="white">
                <a:xfrm>
                  <a:off x="4004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r" b="b"/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 cap="rnd">
                  <a:noFill/>
                  <a:round/>
                </a:ln>
                <a:effectLst/>
              </p:spPr>
              <p:txBody>
                <a:bodyPr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 useBgFill="1">
              <p:nvSpPr>
                <p:cNvPr id="38" name="Freeform 1037"/>
                <p:cNvSpPr/>
                <p:nvPr/>
              </p:nvSpPr>
              <p:spPr bwMode="white">
                <a:xfrm>
                  <a:off x="4473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r" b="b"/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 cap="rnd">
                  <a:noFill/>
                  <a:round/>
                </a:ln>
                <a:effectLst/>
              </p:spPr>
              <p:txBody>
                <a:bodyPr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 useBgFill="1">
              <p:nvSpPr>
                <p:cNvPr id="39" name="Freeform 1038"/>
                <p:cNvSpPr/>
                <p:nvPr/>
              </p:nvSpPr>
              <p:spPr bwMode="white">
                <a:xfrm>
                  <a:off x="4930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r" b="b"/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 cap="rnd">
                  <a:noFill/>
                  <a:round/>
                </a:ln>
                <a:effectLst/>
              </p:spPr>
              <p:txBody>
                <a:bodyPr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 useBgFill="1">
              <p:nvSpPr>
                <p:cNvPr id="40" name="Freeform 1039"/>
                <p:cNvSpPr/>
                <p:nvPr/>
              </p:nvSpPr>
              <p:spPr bwMode="white">
                <a:xfrm>
                  <a:off x="5403" y="3825"/>
                  <a:ext cx="362" cy="505"/>
                </a:xfrm>
                <a:custGeom>
                  <a:avLst/>
                  <a:gdLst/>
                  <a:ahLst/>
                  <a:cxnLst>
                    <a:cxn ang="0">
                      <a:pos x="0" y="504"/>
                    </a:cxn>
                    <a:cxn ang="0">
                      <a:pos x="361" y="0"/>
                    </a:cxn>
                    <a:cxn ang="0">
                      <a:pos x="361" y="122"/>
                    </a:cxn>
                    <a:cxn ang="0">
                      <a:pos x="96" y="504"/>
                    </a:cxn>
                    <a:cxn ang="0">
                      <a:pos x="0" y="504"/>
                    </a:cxn>
                  </a:cxnLst>
                  <a:rect l="0" t="0" r="r" b="b"/>
                  <a:pathLst>
                    <a:path w="362" h="505">
                      <a:moveTo>
                        <a:pt x="0" y="504"/>
                      </a:moveTo>
                      <a:lnTo>
                        <a:pt x="361" y="0"/>
                      </a:lnTo>
                      <a:lnTo>
                        <a:pt x="361" y="122"/>
                      </a:lnTo>
                      <a:lnTo>
                        <a:pt x="96" y="504"/>
                      </a:lnTo>
                      <a:lnTo>
                        <a:pt x="0" y="504"/>
                      </a:lnTo>
                    </a:path>
                  </a:pathLst>
                </a:custGeom>
                <a:ln w="9525" cap="rnd">
                  <a:noFill/>
                  <a:round/>
                </a:ln>
                <a:effectLst/>
              </p:spPr>
              <p:txBody>
                <a:bodyPr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25" name="Freeform 1042"/>
            <p:cNvSpPr/>
            <p:nvPr/>
          </p:nvSpPr>
          <p:spPr bwMode="ltGray">
            <a:xfrm>
              <a:off x="0" y="1739"/>
              <a:ext cx="516" cy="9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15" y="0"/>
                </a:cxn>
                <a:cxn ang="0">
                  <a:pos x="0" y="912"/>
                </a:cxn>
                <a:cxn ang="0">
                  <a:pos x="0" y="0"/>
                </a:cxn>
              </a:cxnLst>
              <a:rect l="0" t="0" r="r" b="b"/>
              <a:pathLst>
                <a:path w="516" h="913">
                  <a:moveTo>
                    <a:pt x="0" y="0"/>
                  </a:moveTo>
                  <a:lnTo>
                    <a:pt x="515" y="0"/>
                  </a:lnTo>
                  <a:lnTo>
                    <a:pt x="0" y="912"/>
                  </a:lnTo>
                  <a:lnTo>
                    <a:pt x="0" y="0"/>
                  </a:lnTo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92" name="Rectangle 1044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en-US" altLang="zh-CN" strike="noStrike" noProof="1"/>
              <a:t>Click to edit Master title style</a:t>
            </a:r>
            <a:endParaRPr lang="en-US" altLang="zh-CN" strike="noStrike" noProof="1"/>
          </a:p>
        </p:txBody>
      </p:sp>
      <p:sp>
        <p:nvSpPr>
          <p:cNvPr id="3093" name="Rectangle 104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fontAlgn="base"/>
            <a:r>
              <a:rPr lang="en-US" altLang="zh-CN" strike="noStrike" noProof="1"/>
              <a:t>Click to edit Master subtitle style</a:t>
            </a:r>
            <a:endParaRPr lang="en-US" altLang="zh-CN" strike="noStrike" noProof="1"/>
          </a:p>
        </p:txBody>
      </p:sp>
      <p:sp>
        <p:nvSpPr>
          <p:cNvPr id="41" name="Rectangle 104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104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Rectangle 104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 smtClean="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8EBE35-0D9B-40FF-80E5-ED4478139D3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E113E4-EC27-41A1-AA76-7492B5A11B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E113E4-EC27-41A1-AA76-7492B5A11B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E113E4-EC27-41A1-AA76-7492B5A11B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E113E4-EC27-41A1-AA76-7492B5A11B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E113E4-EC27-41A1-AA76-7492B5A11B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E113E4-EC27-41A1-AA76-7492B5A11B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E113E4-EC27-41A1-AA76-7492B5A11B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E113E4-EC27-41A1-AA76-7492B5A11B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E113E4-EC27-41A1-AA76-7492B5A11B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4413" cy="60198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0198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E113E4-EC27-41A1-AA76-7492B5A11B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7"/>
          <p:cNvGrpSpPr/>
          <p:nvPr/>
        </p:nvGrpSpPr>
        <p:grpSpPr>
          <a:xfrm>
            <a:off x="0" y="5797550"/>
            <a:ext cx="9167813" cy="1076325"/>
            <a:chOff x="0" y="3652"/>
            <a:chExt cx="5775" cy="678"/>
          </a:xfrm>
        </p:grpSpPr>
        <p:sp>
          <p:nvSpPr>
            <p:cNvPr id="2" name="Rectangle 2"/>
            <p:cNvSpPr>
              <a:spLocks noChangeArrowheads="1"/>
            </p:cNvSpPr>
            <p:nvPr/>
          </p:nvSpPr>
          <p:spPr bwMode="ltGray">
            <a:xfrm>
              <a:off x="0" y="3676"/>
              <a:ext cx="5774" cy="643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28" name="Group 16"/>
            <p:cNvGrpSpPr/>
            <p:nvPr/>
          </p:nvGrpSpPr>
          <p:grpSpPr>
            <a:xfrm>
              <a:off x="0" y="3652"/>
              <a:ext cx="5775" cy="678"/>
              <a:chOff x="0" y="3652"/>
              <a:chExt cx="5775" cy="678"/>
            </a:xfrm>
          </p:grpSpPr>
          <p:sp useBgFill="1">
            <p:nvSpPr>
              <p:cNvPr id="3" name="Freeform 3"/>
              <p:cNvSpPr/>
              <p:nvPr/>
            </p:nvSpPr>
            <p:spPr bwMode="white">
              <a:xfrm>
                <a:off x="0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r" b="b"/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 cap="rnd">
                <a:noFill/>
                <a:round/>
              </a:ln>
              <a:effectLst/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 useBgFill="1">
            <p:nvSpPr>
              <p:cNvPr id="4" name="Freeform 4"/>
              <p:cNvSpPr/>
              <p:nvPr/>
            </p:nvSpPr>
            <p:spPr bwMode="white">
              <a:xfrm>
                <a:off x="434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r" b="b"/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 cap="rnd">
                <a:noFill/>
                <a:round/>
              </a:ln>
              <a:effectLst/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 useBgFill="1">
            <p:nvSpPr>
              <p:cNvPr id="1029" name="Freeform 5"/>
              <p:cNvSpPr/>
              <p:nvPr/>
            </p:nvSpPr>
            <p:spPr bwMode="white">
              <a:xfrm>
                <a:off x="879" y="3652"/>
                <a:ext cx="580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2" y="0"/>
                  </a:cxn>
                  <a:cxn ang="0">
                    <a:pos x="579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r" b="b"/>
                <a:pathLst>
                  <a:path w="580" h="678">
                    <a:moveTo>
                      <a:pt x="0" y="677"/>
                    </a:moveTo>
                    <a:lnTo>
                      <a:pt x="482" y="0"/>
                    </a:lnTo>
                    <a:lnTo>
                      <a:pt x="579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 cap="rnd">
                <a:noFill/>
                <a:round/>
              </a:ln>
              <a:effectLst/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 useBgFill="1">
            <p:nvSpPr>
              <p:cNvPr id="1030" name="Freeform 6"/>
              <p:cNvSpPr/>
              <p:nvPr/>
            </p:nvSpPr>
            <p:spPr bwMode="white">
              <a:xfrm>
                <a:off x="1325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r" b="b"/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 cap="rnd">
                <a:noFill/>
                <a:round/>
              </a:ln>
              <a:effectLst/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 useBgFill="1">
            <p:nvSpPr>
              <p:cNvPr id="1031" name="Freeform 7"/>
              <p:cNvSpPr/>
              <p:nvPr/>
            </p:nvSpPr>
            <p:spPr bwMode="white">
              <a:xfrm>
                <a:off x="1771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r" b="b"/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 cap="rnd">
                <a:noFill/>
                <a:round/>
              </a:ln>
              <a:effectLst/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 useBgFill="1">
            <p:nvSpPr>
              <p:cNvPr id="1032" name="Freeform 8"/>
              <p:cNvSpPr/>
              <p:nvPr/>
            </p:nvSpPr>
            <p:spPr bwMode="white">
              <a:xfrm>
                <a:off x="2216" y="3652"/>
                <a:ext cx="580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2" y="0"/>
                  </a:cxn>
                  <a:cxn ang="0">
                    <a:pos x="579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r" b="b"/>
                <a:pathLst>
                  <a:path w="580" h="678">
                    <a:moveTo>
                      <a:pt x="0" y="677"/>
                    </a:moveTo>
                    <a:lnTo>
                      <a:pt x="482" y="0"/>
                    </a:lnTo>
                    <a:lnTo>
                      <a:pt x="579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 cap="rnd">
                <a:noFill/>
                <a:round/>
              </a:ln>
              <a:effectLst/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 useBgFill="1">
            <p:nvSpPr>
              <p:cNvPr id="5" name="Freeform 9"/>
              <p:cNvSpPr/>
              <p:nvPr/>
            </p:nvSpPr>
            <p:spPr bwMode="white">
              <a:xfrm>
                <a:off x="2650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r" b="b"/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 cap="rnd">
                <a:noFill/>
                <a:round/>
              </a:ln>
              <a:effectLst/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 useBgFill="1">
            <p:nvSpPr>
              <p:cNvPr id="1034" name="Freeform 10"/>
              <p:cNvSpPr/>
              <p:nvPr/>
            </p:nvSpPr>
            <p:spPr bwMode="white">
              <a:xfrm>
                <a:off x="3096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r" b="b"/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 cap="rnd">
                <a:noFill/>
                <a:round/>
              </a:ln>
              <a:effectLst/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 useBgFill="1">
            <p:nvSpPr>
              <p:cNvPr id="1035" name="Freeform 11"/>
              <p:cNvSpPr/>
              <p:nvPr/>
            </p:nvSpPr>
            <p:spPr bwMode="white">
              <a:xfrm>
                <a:off x="3554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r" b="b"/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 cap="rnd">
                <a:noFill/>
                <a:round/>
              </a:ln>
              <a:effectLst/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 useBgFill="1">
            <p:nvSpPr>
              <p:cNvPr id="1036" name="Freeform 12"/>
              <p:cNvSpPr/>
              <p:nvPr/>
            </p:nvSpPr>
            <p:spPr bwMode="white">
              <a:xfrm>
                <a:off x="4011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r" b="b"/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 cap="rnd">
                <a:noFill/>
                <a:round/>
              </a:ln>
              <a:effectLst/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 useBgFill="1">
            <p:nvSpPr>
              <p:cNvPr id="1037" name="Freeform 13"/>
              <p:cNvSpPr/>
              <p:nvPr/>
            </p:nvSpPr>
            <p:spPr bwMode="white">
              <a:xfrm>
                <a:off x="4481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r" b="b"/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 cap="rnd">
                <a:noFill/>
                <a:round/>
              </a:ln>
              <a:effectLst/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 useBgFill="1">
            <p:nvSpPr>
              <p:cNvPr id="1038" name="Freeform 14"/>
              <p:cNvSpPr/>
              <p:nvPr/>
            </p:nvSpPr>
            <p:spPr bwMode="white">
              <a:xfrm>
                <a:off x="4939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r" b="b"/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 cap="rnd">
                <a:noFill/>
                <a:round/>
              </a:ln>
              <a:effectLst/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 useBgFill="1">
            <p:nvSpPr>
              <p:cNvPr id="1039" name="Freeform 15"/>
              <p:cNvSpPr/>
              <p:nvPr/>
            </p:nvSpPr>
            <p:spPr bwMode="white">
              <a:xfrm>
                <a:off x="5413" y="3825"/>
                <a:ext cx="362" cy="505"/>
              </a:xfrm>
              <a:custGeom>
                <a:avLst/>
                <a:gdLst/>
                <a:ahLst/>
                <a:cxnLst>
                  <a:cxn ang="0">
                    <a:pos x="0" y="504"/>
                  </a:cxn>
                  <a:cxn ang="0">
                    <a:pos x="361" y="0"/>
                  </a:cxn>
                  <a:cxn ang="0">
                    <a:pos x="361" y="122"/>
                  </a:cxn>
                  <a:cxn ang="0">
                    <a:pos x="96" y="504"/>
                  </a:cxn>
                  <a:cxn ang="0">
                    <a:pos x="0" y="504"/>
                  </a:cxn>
                </a:cxnLst>
                <a:rect l="0" t="0" r="r" b="b"/>
                <a:pathLst>
                  <a:path w="362" h="505">
                    <a:moveTo>
                      <a:pt x="0" y="504"/>
                    </a:moveTo>
                    <a:lnTo>
                      <a:pt x="361" y="0"/>
                    </a:lnTo>
                    <a:lnTo>
                      <a:pt x="361" y="122"/>
                    </a:lnTo>
                    <a:lnTo>
                      <a:pt x="96" y="504"/>
                    </a:lnTo>
                    <a:lnTo>
                      <a:pt x="0" y="504"/>
                    </a:lnTo>
                  </a:path>
                </a:pathLst>
              </a:custGeom>
              <a:ln w="9525" cap="rnd">
                <a:noFill/>
                <a:round/>
              </a:ln>
              <a:effectLst/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042" name="Rectangle 18"/>
          <p:cNvSpPr>
            <a:spLocks noGrp="1"/>
          </p:cNvSpPr>
          <p:nvPr>
            <p:ph type="title"/>
          </p:nvPr>
        </p:nvSpPr>
        <p:spPr>
          <a:xfrm>
            <a:off x="0" y="0"/>
            <a:ext cx="9142413" cy="1219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43" name="Rectangle 19"/>
          <p:cNvSpPr>
            <a:spLocks noGrp="1"/>
          </p:cNvSpPr>
          <p:nvPr>
            <p:ph type="body"/>
          </p:nvPr>
        </p:nvSpPr>
        <p:spPr>
          <a:xfrm>
            <a:off x="685800" y="1447800"/>
            <a:ext cx="7772400" cy="4572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 indent="-285750"/>
            <a:r>
              <a:rPr lang="en-US" altLang="zh-CN" dirty="0"/>
              <a:t>Second Level</a:t>
            </a:r>
            <a:endParaRPr lang="en-US" altLang="zh-CN" dirty="0"/>
          </a:p>
          <a:p>
            <a:pPr lvl="2" indent="-228600"/>
            <a:r>
              <a:rPr lang="en-US" altLang="zh-CN" dirty="0"/>
              <a:t>Third Level</a:t>
            </a:r>
            <a:endParaRPr lang="en-US" altLang="zh-CN" dirty="0"/>
          </a:p>
          <a:p>
            <a:pPr lvl="3" indent="-228600"/>
            <a:r>
              <a:rPr lang="en-US" altLang="zh-CN" dirty="0"/>
              <a:t>Fourth Level</a:t>
            </a:r>
            <a:endParaRPr lang="en-US" altLang="zh-CN" dirty="0"/>
          </a:p>
          <a:p>
            <a:pPr lvl="4" indent="-228600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44" name="Rectangle 2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 sz="14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5" name="Rectangle 2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>
              <a:defRPr sz="14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6" name="Rectangle 2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0" smtClean="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E113E4-EC27-41A1-AA76-7492B5A11B0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u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32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v"/>
        <a:defRPr sz="32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e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5.emf"/><Relationship Id="rId1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7.bin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8.bin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0.e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9.emf"/><Relationship Id="rId1" Type="http://schemas.openxmlformats.org/officeDocument/2006/relationships/oleObject" Target="../embeddings/oleObject9.bin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11.bin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3.e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2.emf"/><Relationship Id="rId1" Type="http://schemas.openxmlformats.org/officeDocument/2006/relationships/oleObject" Target="../embeddings/oleObject12.bin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5.e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4.emf"/><Relationship Id="rId1" Type="http://schemas.openxmlformats.org/officeDocument/2006/relationships/oleObject" Target="../embeddings/oleObject14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1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7.e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16.emf"/><Relationship Id="rId1" Type="http://schemas.openxmlformats.org/officeDocument/2006/relationships/oleObject" Target="../embeddings/oleObject16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22.e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21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0.e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19.emf"/><Relationship Id="rId10" Type="http://schemas.openxmlformats.org/officeDocument/2006/relationships/vmlDrawing" Target="../drawings/vmlDrawing12.vml"/><Relationship Id="rId1" Type="http://schemas.openxmlformats.org/officeDocument/2006/relationships/oleObject" Target="../embeddings/oleObject19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26.e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25.e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4.e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23.emf"/><Relationship Id="rId10" Type="http://schemas.openxmlformats.org/officeDocument/2006/relationships/vmlDrawing" Target="../drawings/vmlDrawing13.vml"/><Relationship Id="rId1" Type="http://schemas.openxmlformats.org/officeDocument/2006/relationships/oleObject" Target="../embeddings/oleObject23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.bin"/><Relationship Id="rId8" Type="http://schemas.openxmlformats.org/officeDocument/2006/relationships/image" Target="../media/image30.emf"/><Relationship Id="rId7" Type="http://schemas.openxmlformats.org/officeDocument/2006/relationships/oleObject" Target="../embeddings/oleObject30.bin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8.e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27.emf"/><Relationship Id="rId12" Type="http://schemas.openxmlformats.org/officeDocument/2006/relationships/vmlDrawing" Target="../drawings/vmlDrawing14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31.emf"/><Relationship Id="rId1" Type="http://schemas.openxmlformats.org/officeDocument/2006/relationships/oleObject" Target="../embeddings/oleObject27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3.e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32.emf"/><Relationship Id="rId1" Type="http://schemas.openxmlformats.org/officeDocument/2006/relationships/oleObject" Target="../embeddings/oleObject32.bin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5.emf"/><Relationship Id="rId1" Type="http://schemas.openxmlformats.org/officeDocument/2006/relationships/oleObject" Target="../embeddings/oleObject35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9.e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38.e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7.e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36.wmf"/><Relationship Id="rId10" Type="http://schemas.openxmlformats.org/officeDocument/2006/relationships/vmlDrawing" Target="../drawings/vmlDrawing17.vml"/><Relationship Id="rId1" Type="http://schemas.openxmlformats.org/officeDocument/2006/relationships/oleObject" Target="../embeddings/oleObject36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4.bin"/><Relationship Id="rId8" Type="http://schemas.openxmlformats.org/officeDocument/2006/relationships/image" Target="../media/image42.emf"/><Relationship Id="rId7" Type="http://schemas.openxmlformats.org/officeDocument/2006/relationships/oleObject" Target="../embeddings/oleObject43.bin"/><Relationship Id="rId6" Type="http://schemas.openxmlformats.org/officeDocument/2006/relationships/image" Target="../media/image41.e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40.emf"/><Relationship Id="rId30" Type="http://schemas.openxmlformats.org/officeDocument/2006/relationships/vmlDrawing" Target="../drawings/vmlDrawing18.vml"/><Relationship Id="rId3" Type="http://schemas.openxmlformats.org/officeDocument/2006/relationships/oleObject" Target="../embeddings/oleObject41.bin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52.emf"/><Relationship Id="rId27" Type="http://schemas.openxmlformats.org/officeDocument/2006/relationships/oleObject" Target="../embeddings/oleObject53.bin"/><Relationship Id="rId26" Type="http://schemas.openxmlformats.org/officeDocument/2006/relationships/image" Target="../media/image51.emf"/><Relationship Id="rId25" Type="http://schemas.openxmlformats.org/officeDocument/2006/relationships/oleObject" Target="../embeddings/oleObject52.bin"/><Relationship Id="rId24" Type="http://schemas.openxmlformats.org/officeDocument/2006/relationships/image" Target="../media/image50.emf"/><Relationship Id="rId23" Type="http://schemas.openxmlformats.org/officeDocument/2006/relationships/oleObject" Target="../embeddings/oleObject51.bin"/><Relationship Id="rId22" Type="http://schemas.openxmlformats.org/officeDocument/2006/relationships/image" Target="../media/image49.emf"/><Relationship Id="rId21" Type="http://schemas.openxmlformats.org/officeDocument/2006/relationships/oleObject" Target="../embeddings/oleObject50.bin"/><Relationship Id="rId20" Type="http://schemas.openxmlformats.org/officeDocument/2006/relationships/image" Target="../media/image48.emf"/><Relationship Id="rId2" Type="http://schemas.openxmlformats.org/officeDocument/2006/relationships/image" Target="../media/image36.wmf"/><Relationship Id="rId19" Type="http://schemas.openxmlformats.org/officeDocument/2006/relationships/oleObject" Target="../embeddings/oleObject49.bin"/><Relationship Id="rId18" Type="http://schemas.openxmlformats.org/officeDocument/2006/relationships/image" Target="../media/image47.emf"/><Relationship Id="rId17" Type="http://schemas.openxmlformats.org/officeDocument/2006/relationships/oleObject" Target="../embeddings/oleObject48.bin"/><Relationship Id="rId16" Type="http://schemas.openxmlformats.org/officeDocument/2006/relationships/image" Target="../media/image46.emf"/><Relationship Id="rId15" Type="http://schemas.openxmlformats.org/officeDocument/2006/relationships/oleObject" Target="../embeddings/oleObject47.bin"/><Relationship Id="rId14" Type="http://schemas.openxmlformats.org/officeDocument/2006/relationships/image" Target="../media/image45.emf"/><Relationship Id="rId13" Type="http://schemas.openxmlformats.org/officeDocument/2006/relationships/oleObject" Target="../embeddings/oleObject46.bin"/><Relationship Id="rId12" Type="http://schemas.openxmlformats.org/officeDocument/2006/relationships/image" Target="../media/image44.emf"/><Relationship Id="rId11" Type="http://schemas.openxmlformats.org/officeDocument/2006/relationships/oleObject" Target="../embeddings/oleObject45.bin"/><Relationship Id="rId10" Type="http://schemas.openxmlformats.org/officeDocument/2006/relationships/image" Target="../media/image43.emf"/><Relationship Id="rId1" Type="http://schemas.openxmlformats.org/officeDocument/2006/relationships/oleObject" Target="../embeddings/oleObject40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8.bin"/><Relationship Id="rId8" Type="http://schemas.openxmlformats.org/officeDocument/2006/relationships/image" Target="../media/image55.emf"/><Relationship Id="rId7" Type="http://schemas.openxmlformats.org/officeDocument/2006/relationships/oleObject" Target="../embeddings/oleObject57.bin"/><Relationship Id="rId6" Type="http://schemas.openxmlformats.org/officeDocument/2006/relationships/image" Target="../media/image54.emf"/><Relationship Id="rId5" Type="http://schemas.openxmlformats.org/officeDocument/2006/relationships/oleObject" Target="../embeddings/oleObject56.bin"/><Relationship Id="rId42" Type="http://schemas.openxmlformats.org/officeDocument/2006/relationships/vmlDrawing" Target="../drawings/vmlDrawing19.vml"/><Relationship Id="rId41" Type="http://schemas.openxmlformats.org/officeDocument/2006/relationships/slideLayout" Target="../slideLayouts/slideLayout7.xml"/><Relationship Id="rId40" Type="http://schemas.openxmlformats.org/officeDocument/2006/relationships/image" Target="../media/image71.emf"/><Relationship Id="rId4" Type="http://schemas.openxmlformats.org/officeDocument/2006/relationships/image" Target="../media/image53.emf"/><Relationship Id="rId39" Type="http://schemas.openxmlformats.org/officeDocument/2006/relationships/oleObject" Target="../embeddings/oleObject73.bin"/><Relationship Id="rId38" Type="http://schemas.openxmlformats.org/officeDocument/2006/relationships/image" Target="../media/image70.emf"/><Relationship Id="rId37" Type="http://schemas.openxmlformats.org/officeDocument/2006/relationships/oleObject" Target="../embeddings/oleObject72.bin"/><Relationship Id="rId36" Type="http://schemas.openxmlformats.org/officeDocument/2006/relationships/image" Target="../media/image69.emf"/><Relationship Id="rId35" Type="http://schemas.openxmlformats.org/officeDocument/2006/relationships/oleObject" Target="../embeddings/oleObject71.bin"/><Relationship Id="rId34" Type="http://schemas.openxmlformats.org/officeDocument/2006/relationships/image" Target="../media/image68.emf"/><Relationship Id="rId33" Type="http://schemas.openxmlformats.org/officeDocument/2006/relationships/oleObject" Target="../embeddings/oleObject70.bin"/><Relationship Id="rId32" Type="http://schemas.openxmlformats.org/officeDocument/2006/relationships/image" Target="../media/image67.emf"/><Relationship Id="rId31" Type="http://schemas.openxmlformats.org/officeDocument/2006/relationships/oleObject" Target="../embeddings/oleObject69.bin"/><Relationship Id="rId30" Type="http://schemas.openxmlformats.org/officeDocument/2006/relationships/image" Target="../media/image66.emf"/><Relationship Id="rId3" Type="http://schemas.openxmlformats.org/officeDocument/2006/relationships/oleObject" Target="../embeddings/oleObject55.bin"/><Relationship Id="rId29" Type="http://schemas.openxmlformats.org/officeDocument/2006/relationships/oleObject" Target="../embeddings/oleObject68.bin"/><Relationship Id="rId28" Type="http://schemas.openxmlformats.org/officeDocument/2006/relationships/image" Target="../media/image65.emf"/><Relationship Id="rId27" Type="http://schemas.openxmlformats.org/officeDocument/2006/relationships/oleObject" Target="../embeddings/oleObject67.bin"/><Relationship Id="rId26" Type="http://schemas.openxmlformats.org/officeDocument/2006/relationships/image" Target="../media/image64.emf"/><Relationship Id="rId25" Type="http://schemas.openxmlformats.org/officeDocument/2006/relationships/oleObject" Target="../embeddings/oleObject66.bin"/><Relationship Id="rId24" Type="http://schemas.openxmlformats.org/officeDocument/2006/relationships/image" Target="../media/image63.emf"/><Relationship Id="rId23" Type="http://schemas.openxmlformats.org/officeDocument/2006/relationships/oleObject" Target="../embeddings/oleObject65.bin"/><Relationship Id="rId22" Type="http://schemas.openxmlformats.org/officeDocument/2006/relationships/image" Target="../media/image62.emf"/><Relationship Id="rId21" Type="http://schemas.openxmlformats.org/officeDocument/2006/relationships/oleObject" Target="../embeddings/oleObject64.bin"/><Relationship Id="rId20" Type="http://schemas.openxmlformats.org/officeDocument/2006/relationships/image" Target="../media/image61.emf"/><Relationship Id="rId2" Type="http://schemas.openxmlformats.org/officeDocument/2006/relationships/image" Target="../media/image36.wmf"/><Relationship Id="rId19" Type="http://schemas.openxmlformats.org/officeDocument/2006/relationships/oleObject" Target="../embeddings/oleObject63.bin"/><Relationship Id="rId18" Type="http://schemas.openxmlformats.org/officeDocument/2006/relationships/image" Target="../media/image60.emf"/><Relationship Id="rId17" Type="http://schemas.openxmlformats.org/officeDocument/2006/relationships/oleObject" Target="../embeddings/oleObject62.bin"/><Relationship Id="rId16" Type="http://schemas.openxmlformats.org/officeDocument/2006/relationships/image" Target="../media/image59.emf"/><Relationship Id="rId15" Type="http://schemas.openxmlformats.org/officeDocument/2006/relationships/oleObject" Target="../embeddings/oleObject61.bin"/><Relationship Id="rId14" Type="http://schemas.openxmlformats.org/officeDocument/2006/relationships/image" Target="../media/image58.emf"/><Relationship Id="rId13" Type="http://schemas.openxmlformats.org/officeDocument/2006/relationships/oleObject" Target="../embeddings/oleObject60.bin"/><Relationship Id="rId12" Type="http://schemas.openxmlformats.org/officeDocument/2006/relationships/image" Target="../media/image57.emf"/><Relationship Id="rId11" Type="http://schemas.openxmlformats.org/officeDocument/2006/relationships/oleObject" Target="../embeddings/oleObject59.bin"/><Relationship Id="rId10" Type="http://schemas.openxmlformats.org/officeDocument/2006/relationships/image" Target="../media/image56.emf"/><Relationship Id="rId1" Type="http://schemas.openxmlformats.org/officeDocument/2006/relationships/oleObject" Target="../embeddings/oleObject54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8.bin"/><Relationship Id="rId8" Type="http://schemas.openxmlformats.org/officeDocument/2006/relationships/image" Target="../media/image74.emf"/><Relationship Id="rId7" Type="http://schemas.openxmlformats.org/officeDocument/2006/relationships/oleObject" Target="../embeddings/oleObject77.bin"/><Relationship Id="rId6" Type="http://schemas.openxmlformats.org/officeDocument/2006/relationships/image" Target="../media/image73.emf"/><Relationship Id="rId54" Type="http://schemas.openxmlformats.org/officeDocument/2006/relationships/vmlDrawing" Target="../drawings/vmlDrawing20.vml"/><Relationship Id="rId53" Type="http://schemas.openxmlformats.org/officeDocument/2006/relationships/slideLayout" Target="../slideLayouts/slideLayout7.xml"/><Relationship Id="rId52" Type="http://schemas.openxmlformats.org/officeDocument/2006/relationships/image" Target="../media/image96.emf"/><Relationship Id="rId51" Type="http://schemas.openxmlformats.org/officeDocument/2006/relationships/oleObject" Target="../embeddings/oleObject99.bin"/><Relationship Id="rId50" Type="http://schemas.openxmlformats.org/officeDocument/2006/relationships/image" Target="../media/image95.emf"/><Relationship Id="rId5" Type="http://schemas.openxmlformats.org/officeDocument/2006/relationships/oleObject" Target="../embeddings/oleObject76.bin"/><Relationship Id="rId49" Type="http://schemas.openxmlformats.org/officeDocument/2006/relationships/oleObject" Target="../embeddings/oleObject98.bin"/><Relationship Id="rId48" Type="http://schemas.openxmlformats.org/officeDocument/2006/relationships/image" Target="../media/image94.emf"/><Relationship Id="rId47" Type="http://schemas.openxmlformats.org/officeDocument/2006/relationships/oleObject" Target="../embeddings/oleObject97.bin"/><Relationship Id="rId46" Type="http://schemas.openxmlformats.org/officeDocument/2006/relationships/image" Target="../media/image93.emf"/><Relationship Id="rId45" Type="http://schemas.openxmlformats.org/officeDocument/2006/relationships/oleObject" Target="../embeddings/oleObject96.bin"/><Relationship Id="rId44" Type="http://schemas.openxmlformats.org/officeDocument/2006/relationships/image" Target="../media/image92.emf"/><Relationship Id="rId43" Type="http://schemas.openxmlformats.org/officeDocument/2006/relationships/oleObject" Target="../embeddings/oleObject95.bin"/><Relationship Id="rId42" Type="http://schemas.openxmlformats.org/officeDocument/2006/relationships/image" Target="../media/image91.emf"/><Relationship Id="rId41" Type="http://schemas.openxmlformats.org/officeDocument/2006/relationships/oleObject" Target="../embeddings/oleObject94.bin"/><Relationship Id="rId40" Type="http://schemas.openxmlformats.org/officeDocument/2006/relationships/image" Target="../media/image90.emf"/><Relationship Id="rId4" Type="http://schemas.openxmlformats.org/officeDocument/2006/relationships/image" Target="../media/image72.emf"/><Relationship Id="rId39" Type="http://schemas.openxmlformats.org/officeDocument/2006/relationships/oleObject" Target="../embeddings/oleObject93.bin"/><Relationship Id="rId38" Type="http://schemas.openxmlformats.org/officeDocument/2006/relationships/image" Target="../media/image89.emf"/><Relationship Id="rId37" Type="http://schemas.openxmlformats.org/officeDocument/2006/relationships/oleObject" Target="../embeddings/oleObject92.bin"/><Relationship Id="rId36" Type="http://schemas.openxmlformats.org/officeDocument/2006/relationships/image" Target="../media/image88.emf"/><Relationship Id="rId35" Type="http://schemas.openxmlformats.org/officeDocument/2006/relationships/oleObject" Target="../embeddings/oleObject91.bin"/><Relationship Id="rId34" Type="http://schemas.openxmlformats.org/officeDocument/2006/relationships/image" Target="../media/image87.emf"/><Relationship Id="rId33" Type="http://schemas.openxmlformats.org/officeDocument/2006/relationships/oleObject" Target="../embeddings/oleObject90.bin"/><Relationship Id="rId32" Type="http://schemas.openxmlformats.org/officeDocument/2006/relationships/image" Target="../media/image86.emf"/><Relationship Id="rId31" Type="http://schemas.openxmlformats.org/officeDocument/2006/relationships/oleObject" Target="../embeddings/oleObject89.bin"/><Relationship Id="rId30" Type="http://schemas.openxmlformats.org/officeDocument/2006/relationships/image" Target="../media/image85.emf"/><Relationship Id="rId3" Type="http://schemas.openxmlformats.org/officeDocument/2006/relationships/oleObject" Target="../embeddings/oleObject75.bin"/><Relationship Id="rId29" Type="http://schemas.openxmlformats.org/officeDocument/2006/relationships/oleObject" Target="../embeddings/oleObject88.bin"/><Relationship Id="rId28" Type="http://schemas.openxmlformats.org/officeDocument/2006/relationships/image" Target="../media/image84.emf"/><Relationship Id="rId27" Type="http://schemas.openxmlformats.org/officeDocument/2006/relationships/oleObject" Target="../embeddings/oleObject87.bin"/><Relationship Id="rId26" Type="http://schemas.openxmlformats.org/officeDocument/2006/relationships/image" Target="../media/image83.emf"/><Relationship Id="rId25" Type="http://schemas.openxmlformats.org/officeDocument/2006/relationships/oleObject" Target="../embeddings/oleObject86.bin"/><Relationship Id="rId24" Type="http://schemas.openxmlformats.org/officeDocument/2006/relationships/image" Target="../media/image82.emf"/><Relationship Id="rId23" Type="http://schemas.openxmlformats.org/officeDocument/2006/relationships/oleObject" Target="../embeddings/oleObject85.bin"/><Relationship Id="rId22" Type="http://schemas.openxmlformats.org/officeDocument/2006/relationships/image" Target="../media/image81.emf"/><Relationship Id="rId21" Type="http://schemas.openxmlformats.org/officeDocument/2006/relationships/oleObject" Target="../embeddings/oleObject84.bin"/><Relationship Id="rId20" Type="http://schemas.openxmlformats.org/officeDocument/2006/relationships/image" Target="../media/image80.emf"/><Relationship Id="rId2" Type="http://schemas.openxmlformats.org/officeDocument/2006/relationships/image" Target="../media/image36.wmf"/><Relationship Id="rId19" Type="http://schemas.openxmlformats.org/officeDocument/2006/relationships/oleObject" Target="../embeddings/oleObject83.bin"/><Relationship Id="rId18" Type="http://schemas.openxmlformats.org/officeDocument/2006/relationships/image" Target="../media/image79.emf"/><Relationship Id="rId17" Type="http://schemas.openxmlformats.org/officeDocument/2006/relationships/oleObject" Target="../embeddings/oleObject82.bin"/><Relationship Id="rId16" Type="http://schemas.openxmlformats.org/officeDocument/2006/relationships/image" Target="../media/image78.emf"/><Relationship Id="rId15" Type="http://schemas.openxmlformats.org/officeDocument/2006/relationships/oleObject" Target="../embeddings/oleObject81.bin"/><Relationship Id="rId14" Type="http://schemas.openxmlformats.org/officeDocument/2006/relationships/image" Target="../media/image77.emf"/><Relationship Id="rId13" Type="http://schemas.openxmlformats.org/officeDocument/2006/relationships/oleObject" Target="../embeddings/oleObject80.bin"/><Relationship Id="rId12" Type="http://schemas.openxmlformats.org/officeDocument/2006/relationships/image" Target="../media/image76.emf"/><Relationship Id="rId11" Type="http://schemas.openxmlformats.org/officeDocument/2006/relationships/oleObject" Target="../embeddings/oleObject79.bin"/><Relationship Id="rId10" Type="http://schemas.openxmlformats.org/officeDocument/2006/relationships/image" Target="../media/image75.emf"/><Relationship Id="rId1" Type="http://schemas.openxmlformats.org/officeDocument/2006/relationships/oleObject" Target="../embeddings/oleObject74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4.bin"/><Relationship Id="rId8" Type="http://schemas.openxmlformats.org/officeDocument/2006/relationships/image" Target="../media/image99.emf"/><Relationship Id="rId7" Type="http://schemas.openxmlformats.org/officeDocument/2006/relationships/oleObject" Target="../embeddings/oleObject103.bin"/><Relationship Id="rId6" Type="http://schemas.openxmlformats.org/officeDocument/2006/relationships/image" Target="../media/image98.emf"/><Relationship Id="rId54" Type="http://schemas.openxmlformats.org/officeDocument/2006/relationships/vmlDrawing" Target="../drawings/vmlDrawing21.vml"/><Relationship Id="rId53" Type="http://schemas.openxmlformats.org/officeDocument/2006/relationships/slideLayout" Target="../slideLayouts/slideLayout7.xml"/><Relationship Id="rId52" Type="http://schemas.openxmlformats.org/officeDocument/2006/relationships/image" Target="../media/image121.emf"/><Relationship Id="rId51" Type="http://schemas.openxmlformats.org/officeDocument/2006/relationships/oleObject" Target="../embeddings/oleObject125.bin"/><Relationship Id="rId50" Type="http://schemas.openxmlformats.org/officeDocument/2006/relationships/image" Target="../media/image120.emf"/><Relationship Id="rId5" Type="http://schemas.openxmlformats.org/officeDocument/2006/relationships/oleObject" Target="../embeddings/oleObject102.bin"/><Relationship Id="rId49" Type="http://schemas.openxmlformats.org/officeDocument/2006/relationships/oleObject" Target="../embeddings/oleObject124.bin"/><Relationship Id="rId48" Type="http://schemas.openxmlformats.org/officeDocument/2006/relationships/image" Target="../media/image119.emf"/><Relationship Id="rId47" Type="http://schemas.openxmlformats.org/officeDocument/2006/relationships/oleObject" Target="../embeddings/oleObject123.bin"/><Relationship Id="rId46" Type="http://schemas.openxmlformats.org/officeDocument/2006/relationships/image" Target="../media/image118.emf"/><Relationship Id="rId45" Type="http://schemas.openxmlformats.org/officeDocument/2006/relationships/oleObject" Target="../embeddings/oleObject122.bin"/><Relationship Id="rId44" Type="http://schemas.openxmlformats.org/officeDocument/2006/relationships/image" Target="../media/image117.emf"/><Relationship Id="rId43" Type="http://schemas.openxmlformats.org/officeDocument/2006/relationships/oleObject" Target="../embeddings/oleObject121.bin"/><Relationship Id="rId42" Type="http://schemas.openxmlformats.org/officeDocument/2006/relationships/image" Target="../media/image116.emf"/><Relationship Id="rId41" Type="http://schemas.openxmlformats.org/officeDocument/2006/relationships/oleObject" Target="../embeddings/oleObject120.bin"/><Relationship Id="rId40" Type="http://schemas.openxmlformats.org/officeDocument/2006/relationships/image" Target="../media/image115.emf"/><Relationship Id="rId4" Type="http://schemas.openxmlformats.org/officeDocument/2006/relationships/image" Target="../media/image97.emf"/><Relationship Id="rId39" Type="http://schemas.openxmlformats.org/officeDocument/2006/relationships/oleObject" Target="../embeddings/oleObject119.bin"/><Relationship Id="rId38" Type="http://schemas.openxmlformats.org/officeDocument/2006/relationships/image" Target="../media/image114.emf"/><Relationship Id="rId37" Type="http://schemas.openxmlformats.org/officeDocument/2006/relationships/oleObject" Target="../embeddings/oleObject118.bin"/><Relationship Id="rId36" Type="http://schemas.openxmlformats.org/officeDocument/2006/relationships/image" Target="../media/image113.emf"/><Relationship Id="rId35" Type="http://schemas.openxmlformats.org/officeDocument/2006/relationships/oleObject" Target="../embeddings/oleObject117.bin"/><Relationship Id="rId34" Type="http://schemas.openxmlformats.org/officeDocument/2006/relationships/image" Target="../media/image112.emf"/><Relationship Id="rId33" Type="http://schemas.openxmlformats.org/officeDocument/2006/relationships/oleObject" Target="../embeddings/oleObject116.bin"/><Relationship Id="rId32" Type="http://schemas.openxmlformats.org/officeDocument/2006/relationships/image" Target="../media/image111.emf"/><Relationship Id="rId31" Type="http://schemas.openxmlformats.org/officeDocument/2006/relationships/oleObject" Target="../embeddings/oleObject115.bin"/><Relationship Id="rId30" Type="http://schemas.openxmlformats.org/officeDocument/2006/relationships/image" Target="../media/image110.emf"/><Relationship Id="rId3" Type="http://schemas.openxmlformats.org/officeDocument/2006/relationships/oleObject" Target="../embeddings/oleObject101.bin"/><Relationship Id="rId29" Type="http://schemas.openxmlformats.org/officeDocument/2006/relationships/oleObject" Target="../embeddings/oleObject114.bin"/><Relationship Id="rId28" Type="http://schemas.openxmlformats.org/officeDocument/2006/relationships/image" Target="../media/image109.emf"/><Relationship Id="rId27" Type="http://schemas.openxmlformats.org/officeDocument/2006/relationships/oleObject" Target="../embeddings/oleObject113.bin"/><Relationship Id="rId26" Type="http://schemas.openxmlformats.org/officeDocument/2006/relationships/image" Target="../media/image108.emf"/><Relationship Id="rId25" Type="http://schemas.openxmlformats.org/officeDocument/2006/relationships/oleObject" Target="../embeddings/oleObject112.bin"/><Relationship Id="rId24" Type="http://schemas.openxmlformats.org/officeDocument/2006/relationships/image" Target="../media/image107.emf"/><Relationship Id="rId23" Type="http://schemas.openxmlformats.org/officeDocument/2006/relationships/oleObject" Target="../embeddings/oleObject111.bin"/><Relationship Id="rId22" Type="http://schemas.openxmlformats.org/officeDocument/2006/relationships/image" Target="../media/image106.emf"/><Relationship Id="rId21" Type="http://schemas.openxmlformats.org/officeDocument/2006/relationships/oleObject" Target="../embeddings/oleObject110.bin"/><Relationship Id="rId20" Type="http://schemas.openxmlformats.org/officeDocument/2006/relationships/image" Target="../media/image105.emf"/><Relationship Id="rId2" Type="http://schemas.openxmlformats.org/officeDocument/2006/relationships/image" Target="../media/image36.wmf"/><Relationship Id="rId19" Type="http://schemas.openxmlformats.org/officeDocument/2006/relationships/oleObject" Target="../embeddings/oleObject109.bin"/><Relationship Id="rId18" Type="http://schemas.openxmlformats.org/officeDocument/2006/relationships/image" Target="../media/image104.emf"/><Relationship Id="rId17" Type="http://schemas.openxmlformats.org/officeDocument/2006/relationships/oleObject" Target="../embeddings/oleObject108.bin"/><Relationship Id="rId16" Type="http://schemas.openxmlformats.org/officeDocument/2006/relationships/image" Target="../media/image103.emf"/><Relationship Id="rId15" Type="http://schemas.openxmlformats.org/officeDocument/2006/relationships/oleObject" Target="../embeddings/oleObject107.bin"/><Relationship Id="rId14" Type="http://schemas.openxmlformats.org/officeDocument/2006/relationships/image" Target="../media/image102.emf"/><Relationship Id="rId13" Type="http://schemas.openxmlformats.org/officeDocument/2006/relationships/oleObject" Target="../embeddings/oleObject106.bin"/><Relationship Id="rId12" Type="http://schemas.openxmlformats.org/officeDocument/2006/relationships/image" Target="../media/image101.emf"/><Relationship Id="rId11" Type="http://schemas.openxmlformats.org/officeDocument/2006/relationships/oleObject" Target="../embeddings/oleObject105.bin"/><Relationship Id="rId10" Type="http://schemas.openxmlformats.org/officeDocument/2006/relationships/image" Target="../media/image100.emf"/><Relationship Id="rId1" Type="http://schemas.openxmlformats.org/officeDocument/2006/relationships/oleObject" Target="../embeddings/oleObject100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0.bin"/><Relationship Id="rId8" Type="http://schemas.openxmlformats.org/officeDocument/2006/relationships/image" Target="../media/image124.emf"/><Relationship Id="rId7" Type="http://schemas.openxmlformats.org/officeDocument/2006/relationships/oleObject" Target="../embeddings/oleObject129.bin"/><Relationship Id="rId6" Type="http://schemas.openxmlformats.org/officeDocument/2006/relationships/image" Target="../media/image123.emf"/><Relationship Id="rId54" Type="http://schemas.openxmlformats.org/officeDocument/2006/relationships/vmlDrawing" Target="../drawings/vmlDrawing22.vml"/><Relationship Id="rId53" Type="http://schemas.openxmlformats.org/officeDocument/2006/relationships/slideLayout" Target="../slideLayouts/slideLayout7.xml"/><Relationship Id="rId52" Type="http://schemas.openxmlformats.org/officeDocument/2006/relationships/image" Target="../media/image146.emf"/><Relationship Id="rId51" Type="http://schemas.openxmlformats.org/officeDocument/2006/relationships/oleObject" Target="../embeddings/oleObject151.bin"/><Relationship Id="rId50" Type="http://schemas.openxmlformats.org/officeDocument/2006/relationships/image" Target="../media/image145.emf"/><Relationship Id="rId5" Type="http://schemas.openxmlformats.org/officeDocument/2006/relationships/oleObject" Target="../embeddings/oleObject128.bin"/><Relationship Id="rId49" Type="http://schemas.openxmlformats.org/officeDocument/2006/relationships/oleObject" Target="../embeddings/oleObject150.bin"/><Relationship Id="rId48" Type="http://schemas.openxmlformats.org/officeDocument/2006/relationships/image" Target="../media/image144.emf"/><Relationship Id="rId47" Type="http://schemas.openxmlformats.org/officeDocument/2006/relationships/oleObject" Target="../embeddings/oleObject149.bin"/><Relationship Id="rId46" Type="http://schemas.openxmlformats.org/officeDocument/2006/relationships/image" Target="../media/image143.emf"/><Relationship Id="rId45" Type="http://schemas.openxmlformats.org/officeDocument/2006/relationships/oleObject" Target="../embeddings/oleObject148.bin"/><Relationship Id="rId44" Type="http://schemas.openxmlformats.org/officeDocument/2006/relationships/image" Target="../media/image142.emf"/><Relationship Id="rId43" Type="http://schemas.openxmlformats.org/officeDocument/2006/relationships/oleObject" Target="../embeddings/oleObject147.bin"/><Relationship Id="rId42" Type="http://schemas.openxmlformats.org/officeDocument/2006/relationships/image" Target="../media/image141.emf"/><Relationship Id="rId41" Type="http://schemas.openxmlformats.org/officeDocument/2006/relationships/oleObject" Target="../embeddings/oleObject146.bin"/><Relationship Id="rId40" Type="http://schemas.openxmlformats.org/officeDocument/2006/relationships/image" Target="../media/image140.emf"/><Relationship Id="rId4" Type="http://schemas.openxmlformats.org/officeDocument/2006/relationships/image" Target="../media/image122.emf"/><Relationship Id="rId39" Type="http://schemas.openxmlformats.org/officeDocument/2006/relationships/oleObject" Target="../embeddings/oleObject145.bin"/><Relationship Id="rId38" Type="http://schemas.openxmlformats.org/officeDocument/2006/relationships/image" Target="../media/image139.emf"/><Relationship Id="rId37" Type="http://schemas.openxmlformats.org/officeDocument/2006/relationships/oleObject" Target="../embeddings/oleObject144.bin"/><Relationship Id="rId36" Type="http://schemas.openxmlformats.org/officeDocument/2006/relationships/image" Target="../media/image138.emf"/><Relationship Id="rId35" Type="http://schemas.openxmlformats.org/officeDocument/2006/relationships/oleObject" Target="../embeddings/oleObject143.bin"/><Relationship Id="rId34" Type="http://schemas.openxmlformats.org/officeDocument/2006/relationships/image" Target="../media/image137.emf"/><Relationship Id="rId33" Type="http://schemas.openxmlformats.org/officeDocument/2006/relationships/oleObject" Target="../embeddings/oleObject142.bin"/><Relationship Id="rId32" Type="http://schemas.openxmlformats.org/officeDocument/2006/relationships/image" Target="../media/image136.emf"/><Relationship Id="rId31" Type="http://schemas.openxmlformats.org/officeDocument/2006/relationships/oleObject" Target="../embeddings/oleObject141.bin"/><Relationship Id="rId30" Type="http://schemas.openxmlformats.org/officeDocument/2006/relationships/image" Target="../media/image135.emf"/><Relationship Id="rId3" Type="http://schemas.openxmlformats.org/officeDocument/2006/relationships/oleObject" Target="../embeddings/oleObject127.bin"/><Relationship Id="rId29" Type="http://schemas.openxmlformats.org/officeDocument/2006/relationships/oleObject" Target="../embeddings/oleObject140.bin"/><Relationship Id="rId28" Type="http://schemas.openxmlformats.org/officeDocument/2006/relationships/image" Target="../media/image134.emf"/><Relationship Id="rId27" Type="http://schemas.openxmlformats.org/officeDocument/2006/relationships/oleObject" Target="../embeddings/oleObject139.bin"/><Relationship Id="rId26" Type="http://schemas.openxmlformats.org/officeDocument/2006/relationships/image" Target="../media/image133.emf"/><Relationship Id="rId25" Type="http://schemas.openxmlformats.org/officeDocument/2006/relationships/oleObject" Target="../embeddings/oleObject138.bin"/><Relationship Id="rId24" Type="http://schemas.openxmlformats.org/officeDocument/2006/relationships/image" Target="../media/image132.emf"/><Relationship Id="rId23" Type="http://schemas.openxmlformats.org/officeDocument/2006/relationships/oleObject" Target="../embeddings/oleObject137.bin"/><Relationship Id="rId22" Type="http://schemas.openxmlformats.org/officeDocument/2006/relationships/image" Target="../media/image131.emf"/><Relationship Id="rId21" Type="http://schemas.openxmlformats.org/officeDocument/2006/relationships/oleObject" Target="../embeddings/oleObject136.bin"/><Relationship Id="rId20" Type="http://schemas.openxmlformats.org/officeDocument/2006/relationships/image" Target="../media/image130.emf"/><Relationship Id="rId2" Type="http://schemas.openxmlformats.org/officeDocument/2006/relationships/image" Target="../media/image36.wmf"/><Relationship Id="rId19" Type="http://schemas.openxmlformats.org/officeDocument/2006/relationships/oleObject" Target="../embeddings/oleObject135.bin"/><Relationship Id="rId18" Type="http://schemas.openxmlformats.org/officeDocument/2006/relationships/image" Target="../media/image129.emf"/><Relationship Id="rId17" Type="http://schemas.openxmlformats.org/officeDocument/2006/relationships/oleObject" Target="../embeddings/oleObject134.bin"/><Relationship Id="rId16" Type="http://schemas.openxmlformats.org/officeDocument/2006/relationships/image" Target="../media/image128.emf"/><Relationship Id="rId15" Type="http://schemas.openxmlformats.org/officeDocument/2006/relationships/oleObject" Target="../embeddings/oleObject133.bin"/><Relationship Id="rId14" Type="http://schemas.openxmlformats.org/officeDocument/2006/relationships/image" Target="../media/image127.emf"/><Relationship Id="rId13" Type="http://schemas.openxmlformats.org/officeDocument/2006/relationships/oleObject" Target="../embeddings/oleObject132.bin"/><Relationship Id="rId12" Type="http://schemas.openxmlformats.org/officeDocument/2006/relationships/image" Target="../media/image126.emf"/><Relationship Id="rId11" Type="http://schemas.openxmlformats.org/officeDocument/2006/relationships/oleObject" Target="../embeddings/oleObject131.bin"/><Relationship Id="rId10" Type="http://schemas.openxmlformats.org/officeDocument/2006/relationships/image" Target="../media/image125.emf"/><Relationship Id="rId1" Type="http://schemas.openxmlformats.org/officeDocument/2006/relationships/oleObject" Target="../embeddings/oleObject126.bin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48.emf"/><Relationship Id="rId3" Type="http://schemas.openxmlformats.org/officeDocument/2006/relationships/oleObject" Target="../embeddings/oleObject153.bin"/><Relationship Id="rId2" Type="http://schemas.openxmlformats.org/officeDocument/2006/relationships/image" Target="../media/image147.emf"/><Relationship Id="rId1" Type="http://schemas.openxmlformats.org/officeDocument/2006/relationships/oleObject" Target="../embeddings/oleObject152.bin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4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49.emf"/><Relationship Id="rId1" Type="http://schemas.openxmlformats.org/officeDocument/2006/relationships/oleObject" Target="../embeddings/oleObject154.bin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5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50.emf"/><Relationship Id="rId1" Type="http://schemas.openxmlformats.org/officeDocument/2006/relationships/oleObject" Target="../embeddings/oleObject155.bin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6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51.emf"/><Relationship Id="rId1" Type="http://schemas.openxmlformats.org/officeDocument/2006/relationships/oleObject" Target="../embeddings/oleObject156.bin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7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52.emf"/><Relationship Id="rId1" Type="http://schemas.openxmlformats.org/officeDocument/2006/relationships/oleObject" Target="../embeddings/oleObject157.bin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3.emf"/><Relationship Id="rId1" Type="http://schemas.openxmlformats.org/officeDocument/2006/relationships/oleObject" Target="../embeddings/oleObject158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9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56.emf"/><Relationship Id="rId5" Type="http://schemas.openxmlformats.org/officeDocument/2006/relationships/oleObject" Target="../embeddings/oleObject161.bin"/><Relationship Id="rId4" Type="http://schemas.openxmlformats.org/officeDocument/2006/relationships/image" Target="../media/image155.emf"/><Relationship Id="rId3" Type="http://schemas.openxmlformats.org/officeDocument/2006/relationships/oleObject" Target="../embeddings/oleObject160.bin"/><Relationship Id="rId2" Type="http://schemas.openxmlformats.org/officeDocument/2006/relationships/image" Target="../media/image154.emf"/><Relationship Id="rId1" Type="http://schemas.openxmlformats.org/officeDocument/2006/relationships/oleObject" Target="../embeddings/oleObject159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160.emf"/><Relationship Id="rId7" Type="http://schemas.openxmlformats.org/officeDocument/2006/relationships/oleObject" Target="../embeddings/oleObject165.bin"/><Relationship Id="rId6" Type="http://schemas.openxmlformats.org/officeDocument/2006/relationships/image" Target="../media/image159.emf"/><Relationship Id="rId5" Type="http://schemas.openxmlformats.org/officeDocument/2006/relationships/oleObject" Target="../embeddings/oleObject164.bin"/><Relationship Id="rId4" Type="http://schemas.openxmlformats.org/officeDocument/2006/relationships/image" Target="../media/image158.emf"/><Relationship Id="rId3" Type="http://schemas.openxmlformats.org/officeDocument/2006/relationships/oleObject" Target="../embeddings/oleObject163.bin"/><Relationship Id="rId2" Type="http://schemas.openxmlformats.org/officeDocument/2006/relationships/image" Target="../media/image157.emf"/><Relationship Id="rId10" Type="http://schemas.openxmlformats.org/officeDocument/2006/relationships/vmlDrawing" Target="../drawings/vmlDrawing30.vml"/><Relationship Id="rId1" Type="http://schemas.openxmlformats.org/officeDocument/2006/relationships/oleObject" Target="../embeddings/oleObject162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164.emf"/><Relationship Id="rId7" Type="http://schemas.openxmlformats.org/officeDocument/2006/relationships/oleObject" Target="../embeddings/oleObject169.bin"/><Relationship Id="rId6" Type="http://schemas.openxmlformats.org/officeDocument/2006/relationships/image" Target="../media/image163.emf"/><Relationship Id="rId5" Type="http://schemas.openxmlformats.org/officeDocument/2006/relationships/oleObject" Target="../embeddings/oleObject168.bin"/><Relationship Id="rId4" Type="http://schemas.openxmlformats.org/officeDocument/2006/relationships/image" Target="../media/image162.emf"/><Relationship Id="rId3" Type="http://schemas.openxmlformats.org/officeDocument/2006/relationships/oleObject" Target="../embeddings/oleObject167.bin"/><Relationship Id="rId2" Type="http://schemas.openxmlformats.org/officeDocument/2006/relationships/image" Target="../media/image161.emf"/><Relationship Id="rId10" Type="http://schemas.openxmlformats.org/officeDocument/2006/relationships/vmlDrawing" Target="../drawings/vmlDrawing31.vml"/><Relationship Id="rId1" Type="http://schemas.openxmlformats.org/officeDocument/2006/relationships/oleObject" Target="../embeddings/oleObject166.bin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5.emf"/><Relationship Id="rId1" Type="http://schemas.openxmlformats.org/officeDocument/2006/relationships/oleObject" Target="../embeddings/oleObject170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69.emf"/><Relationship Id="rId7" Type="http://schemas.openxmlformats.org/officeDocument/2006/relationships/oleObject" Target="../embeddings/oleObject174.bin"/><Relationship Id="rId6" Type="http://schemas.openxmlformats.org/officeDocument/2006/relationships/image" Target="../media/image168.emf"/><Relationship Id="rId5" Type="http://schemas.openxmlformats.org/officeDocument/2006/relationships/oleObject" Target="../embeddings/oleObject173.bin"/><Relationship Id="rId4" Type="http://schemas.openxmlformats.org/officeDocument/2006/relationships/image" Target="../media/image167.emf"/><Relationship Id="rId3" Type="http://schemas.openxmlformats.org/officeDocument/2006/relationships/oleObject" Target="../embeddings/oleObject172.bin"/><Relationship Id="rId2" Type="http://schemas.openxmlformats.org/officeDocument/2006/relationships/image" Target="../media/image166.emf"/><Relationship Id="rId10" Type="http://schemas.openxmlformats.org/officeDocument/2006/relationships/vmlDrawing" Target="../drawings/vmlDrawing33.vml"/><Relationship Id="rId1" Type="http://schemas.openxmlformats.org/officeDocument/2006/relationships/oleObject" Target="../embeddings/oleObject171.bin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4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72.emf"/><Relationship Id="rId5" Type="http://schemas.openxmlformats.org/officeDocument/2006/relationships/oleObject" Target="../embeddings/oleObject177.bin"/><Relationship Id="rId4" Type="http://schemas.openxmlformats.org/officeDocument/2006/relationships/image" Target="../media/image171.emf"/><Relationship Id="rId3" Type="http://schemas.openxmlformats.org/officeDocument/2006/relationships/oleObject" Target="../embeddings/oleObject176.bin"/><Relationship Id="rId2" Type="http://schemas.openxmlformats.org/officeDocument/2006/relationships/image" Target="../media/image170.emf"/><Relationship Id="rId1" Type="http://schemas.openxmlformats.org/officeDocument/2006/relationships/oleObject" Target="../embeddings/oleObject175.bin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5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75.emf"/><Relationship Id="rId5" Type="http://schemas.openxmlformats.org/officeDocument/2006/relationships/oleObject" Target="../embeddings/oleObject180.bin"/><Relationship Id="rId4" Type="http://schemas.openxmlformats.org/officeDocument/2006/relationships/image" Target="../media/image174.emf"/><Relationship Id="rId3" Type="http://schemas.openxmlformats.org/officeDocument/2006/relationships/oleObject" Target="../embeddings/oleObject179.bin"/><Relationship Id="rId2" Type="http://schemas.openxmlformats.org/officeDocument/2006/relationships/image" Target="../media/image173.emf"/><Relationship Id="rId1" Type="http://schemas.openxmlformats.org/officeDocument/2006/relationships/oleObject" Target="../embeddings/oleObject178.bin"/></Relationships>
</file>

<file path=ppt/slides/_rels/slide7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5.bin"/><Relationship Id="rId8" Type="http://schemas.openxmlformats.org/officeDocument/2006/relationships/image" Target="../media/image179.emf"/><Relationship Id="rId7" Type="http://schemas.openxmlformats.org/officeDocument/2006/relationships/oleObject" Target="../embeddings/oleObject184.bin"/><Relationship Id="rId6" Type="http://schemas.openxmlformats.org/officeDocument/2006/relationships/image" Target="../media/image178.emf"/><Relationship Id="rId5" Type="http://schemas.openxmlformats.org/officeDocument/2006/relationships/oleObject" Target="../embeddings/oleObject183.bin"/><Relationship Id="rId4" Type="http://schemas.openxmlformats.org/officeDocument/2006/relationships/image" Target="../media/image177.emf"/><Relationship Id="rId3" Type="http://schemas.openxmlformats.org/officeDocument/2006/relationships/oleObject" Target="../embeddings/oleObject182.bin"/><Relationship Id="rId20" Type="http://schemas.openxmlformats.org/officeDocument/2006/relationships/vmlDrawing" Target="../drawings/vmlDrawing36.vml"/><Relationship Id="rId2" Type="http://schemas.openxmlformats.org/officeDocument/2006/relationships/image" Target="../media/image176.emf"/><Relationship Id="rId19" Type="http://schemas.openxmlformats.org/officeDocument/2006/relationships/slideLayout" Target="../slideLayouts/slideLayout6.xml"/><Relationship Id="rId18" Type="http://schemas.openxmlformats.org/officeDocument/2006/relationships/image" Target="../media/image184.emf"/><Relationship Id="rId17" Type="http://schemas.openxmlformats.org/officeDocument/2006/relationships/oleObject" Target="../embeddings/oleObject189.bin"/><Relationship Id="rId16" Type="http://schemas.openxmlformats.org/officeDocument/2006/relationships/image" Target="../media/image183.emf"/><Relationship Id="rId15" Type="http://schemas.openxmlformats.org/officeDocument/2006/relationships/oleObject" Target="../embeddings/oleObject188.bin"/><Relationship Id="rId14" Type="http://schemas.openxmlformats.org/officeDocument/2006/relationships/image" Target="../media/image182.emf"/><Relationship Id="rId13" Type="http://schemas.openxmlformats.org/officeDocument/2006/relationships/oleObject" Target="../embeddings/oleObject187.bin"/><Relationship Id="rId12" Type="http://schemas.openxmlformats.org/officeDocument/2006/relationships/image" Target="../media/image181.emf"/><Relationship Id="rId11" Type="http://schemas.openxmlformats.org/officeDocument/2006/relationships/oleObject" Target="../embeddings/oleObject186.bin"/><Relationship Id="rId10" Type="http://schemas.openxmlformats.org/officeDocument/2006/relationships/image" Target="../media/image180.emf"/><Relationship Id="rId1" Type="http://schemas.openxmlformats.org/officeDocument/2006/relationships/oleObject" Target="../embeddings/oleObject181.bin"/></Relationships>
</file>

<file path=ppt/slides/_rels/slide7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4.bin"/><Relationship Id="rId8" Type="http://schemas.openxmlformats.org/officeDocument/2006/relationships/image" Target="../media/image188.emf"/><Relationship Id="rId7" Type="http://schemas.openxmlformats.org/officeDocument/2006/relationships/oleObject" Target="../embeddings/oleObject193.bin"/><Relationship Id="rId6" Type="http://schemas.openxmlformats.org/officeDocument/2006/relationships/image" Target="../media/image187.emf"/><Relationship Id="rId5" Type="http://schemas.openxmlformats.org/officeDocument/2006/relationships/oleObject" Target="../embeddings/oleObject192.bin"/><Relationship Id="rId4" Type="http://schemas.openxmlformats.org/officeDocument/2006/relationships/image" Target="../media/image186.emf"/><Relationship Id="rId3" Type="http://schemas.openxmlformats.org/officeDocument/2006/relationships/oleObject" Target="../embeddings/oleObject191.bin"/><Relationship Id="rId22" Type="http://schemas.openxmlformats.org/officeDocument/2006/relationships/vmlDrawing" Target="../drawings/vmlDrawing37.vml"/><Relationship Id="rId21" Type="http://schemas.openxmlformats.org/officeDocument/2006/relationships/slideLayout" Target="../slideLayouts/slideLayout6.xml"/><Relationship Id="rId20" Type="http://schemas.openxmlformats.org/officeDocument/2006/relationships/image" Target="../media/image194.emf"/><Relationship Id="rId2" Type="http://schemas.openxmlformats.org/officeDocument/2006/relationships/image" Target="../media/image185.emf"/><Relationship Id="rId19" Type="http://schemas.openxmlformats.org/officeDocument/2006/relationships/oleObject" Target="../embeddings/oleObject199.bin"/><Relationship Id="rId18" Type="http://schemas.openxmlformats.org/officeDocument/2006/relationships/image" Target="../media/image193.emf"/><Relationship Id="rId17" Type="http://schemas.openxmlformats.org/officeDocument/2006/relationships/oleObject" Target="../embeddings/oleObject198.bin"/><Relationship Id="rId16" Type="http://schemas.openxmlformats.org/officeDocument/2006/relationships/image" Target="../media/image192.emf"/><Relationship Id="rId15" Type="http://schemas.openxmlformats.org/officeDocument/2006/relationships/oleObject" Target="../embeddings/oleObject197.bin"/><Relationship Id="rId14" Type="http://schemas.openxmlformats.org/officeDocument/2006/relationships/image" Target="../media/image191.emf"/><Relationship Id="rId13" Type="http://schemas.openxmlformats.org/officeDocument/2006/relationships/oleObject" Target="../embeddings/oleObject196.bin"/><Relationship Id="rId12" Type="http://schemas.openxmlformats.org/officeDocument/2006/relationships/image" Target="../media/image190.emf"/><Relationship Id="rId11" Type="http://schemas.openxmlformats.org/officeDocument/2006/relationships/oleObject" Target="../embeddings/oleObject195.bin"/><Relationship Id="rId10" Type="http://schemas.openxmlformats.org/officeDocument/2006/relationships/image" Target="../media/image189.emf"/><Relationship Id="rId1" Type="http://schemas.openxmlformats.org/officeDocument/2006/relationships/oleObject" Target="../embeddings/oleObject190.bin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4.bin"/><Relationship Id="rId8" Type="http://schemas.openxmlformats.org/officeDocument/2006/relationships/image" Target="../media/image198.emf"/><Relationship Id="rId7" Type="http://schemas.openxmlformats.org/officeDocument/2006/relationships/oleObject" Target="../embeddings/oleObject203.bin"/><Relationship Id="rId6" Type="http://schemas.openxmlformats.org/officeDocument/2006/relationships/image" Target="../media/image197.emf"/><Relationship Id="rId5" Type="http://schemas.openxmlformats.org/officeDocument/2006/relationships/oleObject" Target="../embeddings/oleObject202.bin"/><Relationship Id="rId4" Type="http://schemas.openxmlformats.org/officeDocument/2006/relationships/image" Target="../media/image196.emf"/><Relationship Id="rId3" Type="http://schemas.openxmlformats.org/officeDocument/2006/relationships/oleObject" Target="../embeddings/oleObject201.bin"/><Relationship Id="rId22" Type="http://schemas.openxmlformats.org/officeDocument/2006/relationships/vmlDrawing" Target="../drawings/vmlDrawing38.vml"/><Relationship Id="rId21" Type="http://schemas.openxmlformats.org/officeDocument/2006/relationships/slideLayout" Target="../slideLayouts/slideLayout6.xml"/><Relationship Id="rId20" Type="http://schemas.openxmlformats.org/officeDocument/2006/relationships/image" Target="../media/image204.emf"/><Relationship Id="rId2" Type="http://schemas.openxmlformats.org/officeDocument/2006/relationships/image" Target="../media/image195.emf"/><Relationship Id="rId19" Type="http://schemas.openxmlformats.org/officeDocument/2006/relationships/oleObject" Target="../embeddings/oleObject209.bin"/><Relationship Id="rId18" Type="http://schemas.openxmlformats.org/officeDocument/2006/relationships/image" Target="../media/image203.emf"/><Relationship Id="rId17" Type="http://schemas.openxmlformats.org/officeDocument/2006/relationships/oleObject" Target="../embeddings/oleObject208.bin"/><Relationship Id="rId16" Type="http://schemas.openxmlformats.org/officeDocument/2006/relationships/image" Target="../media/image202.emf"/><Relationship Id="rId15" Type="http://schemas.openxmlformats.org/officeDocument/2006/relationships/oleObject" Target="../embeddings/oleObject207.bin"/><Relationship Id="rId14" Type="http://schemas.openxmlformats.org/officeDocument/2006/relationships/image" Target="../media/image201.emf"/><Relationship Id="rId13" Type="http://schemas.openxmlformats.org/officeDocument/2006/relationships/oleObject" Target="../embeddings/oleObject206.bin"/><Relationship Id="rId12" Type="http://schemas.openxmlformats.org/officeDocument/2006/relationships/image" Target="../media/image200.emf"/><Relationship Id="rId11" Type="http://schemas.openxmlformats.org/officeDocument/2006/relationships/oleObject" Target="../embeddings/oleObject205.bin"/><Relationship Id="rId10" Type="http://schemas.openxmlformats.org/officeDocument/2006/relationships/image" Target="../media/image199.emf"/><Relationship Id="rId1" Type="http://schemas.openxmlformats.org/officeDocument/2006/relationships/oleObject" Target="../embeddings/oleObject200.bin"/></Relationships>
</file>

<file path=ppt/slides/_rels/slide7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4.bin"/><Relationship Id="rId8" Type="http://schemas.openxmlformats.org/officeDocument/2006/relationships/image" Target="../media/image208.emf"/><Relationship Id="rId7" Type="http://schemas.openxmlformats.org/officeDocument/2006/relationships/oleObject" Target="../embeddings/oleObject213.bin"/><Relationship Id="rId6" Type="http://schemas.openxmlformats.org/officeDocument/2006/relationships/image" Target="../media/image207.emf"/><Relationship Id="rId5" Type="http://schemas.openxmlformats.org/officeDocument/2006/relationships/oleObject" Target="../embeddings/oleObject212.bin"/><Relationship Id="rId4" Type="http://schemas.openxmlformats.org/officeDocument/2006/relationships/image" Target="../media/image206.emf"/><Relationship Id="rId3" Type="http://schemas.openxmlformats.org/officeDocument/2006/relationships/oleObject" Target="../embeddings/oleObject211.bin"/><Relationship Id="rId22" Type="http://schemas.openxmlformats.org/officeDocument/2006/relationships/vmlDrawing" Target="../drawings/vmlDrawing39.vml"/><Relationship Id="rId21" Type="http://schemas.openxmlformats.org/officeDocument/2006/relationships/slideLayout" Target="../slideLayouts/slideLayout6.xml"/><Relationship Id="rId20" Type="http://schemas.openxmlformats.org/officeDocument/2006/relationships/image" Target="../media/image214.emf"/><Relationship Id="rId2" Type="http://schemas.openxmlformats.org/officeDocument/2006/relationships/image" Target="../media/image205.emf"/><Relationship Id="rId19" Type="http://schemas.openxmlformats.org/officeDocument/2006/relationships/oleObject" Target="../embeddings/oleObject219.bin"/><Relationship Id="rId18" Type="http://schemas.openxmlformats.org/officeDocument/2006/relationships/image" Target="../media/image213.emf"/><Relationship Id="rId17" Type="http://schemas.openxmlformats.org/officeDocument/2006/relationships/oleObject" Target="../embeddings/oleObject218.bin"/><Relationship Id="rId16" Type="http://schemas.openxmlformats.org/officeDocument/2006/relationships/image" Target="../media/image212.emf"/><Relationship Id="rId15" Type="http://schemas.openxmlformats.org/officeDocument/2006/relationships/oleObject" Target="../embeddings/oleObject217.bin"/><Relationship Id="rId14" Type="http://schemas.openxmlformats.org/officeDocument/2006/relationships/image" Target="../media/image211.emf"/><Relationship Id="rId13" Type="http://schemas.openxmlformats.org/officeDocument/2006/relationships/oleObject" Target="../embeddings/oleObject216.bin"/><Relationship Id="rId12" Type="http://schemas.openxmlformats.org/officeDocument/2006/relationships/image" Target="../media/image210.emf"/><Relationship Id="rId11" Type="http://schemas.openxmlformats.org/officeDocument/2006/relationships/oleObject" Target="../embeddings/oleObject215.bin"/><Relationship Id="rId10" Type="http://schemas.openxmlformats.org/officeDocument/2006/relationships/image" Target="../media/image209.emf"/><Relationship Id="rId1" Type="http://schemas.openxmlformats.org/officeDocument/2006/relationships/oleObject" Target="../embeddings/oleObject210.bin"/></Relationships>
</file>

<file path=ppt/slides/_rels/slide7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4.bin"/><Relationship Id="rId8" Type="http://schemas.openxmlformats.org/officeDocument/2006/relationships/image" Target="../media/image218.emf"/><Relationship Id="rId7" Type="http://schemas.openxmlformats.org/officeDocument/2006/relationships/oleObject" Target="../embeddings/oleObject223.bin"/><Relationship Id="rId6" Type="http://schemas.openxmlformats.org/officeDocument/2006/relationships/image" Target="../media/image217.emf"/><Relationship Id="rId5" Type="http://schemas.openxmlformats.org/officeDocument/2006/relationships/oleObject" Target="../embeddings/oleObject222.bin"/><Relationship Id="rId4" Type="http://schemas.openxmlformats.org/officeDocument/2006/relationships/image" Target="../media/image216.emf"/><Relationship Id="rId3" Type="http://schemas.openxmlformats.org/officeDocument/2006/relationships/oleObject" Target="../embeddings/oleObject221.bin"/><Relationship Id="rId24" Type="http://schemas.openxmlformats.org/officeDocument/2006/relationships/vmlDrawing" Target="../drawings/vmlDrawing40.vml"/><Relationship Id="rId23" Type="http://schemas.openxmlformats.org/officeDocument/2006/relationships/slideLayout" Target="../slideLayouts/slideLayout6.xml"/><Relationship Id="rId22" Type="http://schemas.openxmlformats.org/officeDocument/2006/relationships/image" Target="../media/image225.emf"/><Relationship Id="rId21" Type="http://schemas.openxmlformats.org/officeDocument/2006/relationships/oleObject" Target="../embeddings/oleObject230.bin"/><Relationship Id="rId20" Type="http://schemas.openxmlformats.org/officeDocument/2006/relationships/image" Target="../media/image224.emf"/><Relationship Id="rId2" Type="http://schemas.openxmlformats.org/officeDocument/2006/relationships/image" Target="../media/image215.emf"/><Relationship Id="rId19" Type="http://schemas.openxmlformats.org/officeDocument/2006/relationships/oleObject" Target="../embeddings/oleObject229.bin"/><Relationship Id="rId18" Type="http://schemas.openxmlformats.org/officeDocument/2006/relationships/image" Target="../media/image223.emf"/><Relationship Id="rId17" Type="http://schemas.openxmlformats.org/officeDocument/2006/relationships/oleObject" Target="../embeddings/oleObject228.bin"/><Relationship Id="rId16" Type="http://schemas.openxmlformats.org/officeDocument/2006/relationships/image" Target="../media/image222.emf"/><Relationship Id="rId15" Type="http://schemas.openxmlformats.org/officeDocument/2006/relationships/oleObject" Target="../embeddings/oleObject227.bin"/><Relationship Id="rId14" Type="http://schemas.openxmlformats.org/officeDocument/2006/relationships/image" Target="../media/image221.emf"/><Relationship Id="rId13" Type="http://schemas.openxmlformats.org/officeDocument/2006/relationships/oleObject" Target="../embeddings/oleObject226.bin"/><Relationship Id="rId12" Type="http://schemas.openxmlformats.org/officeDocument/2006/relationships/image" Target="../media/image220.emf"/><Relationship Id="rId11" Type="http://schemas.openxmlformats.org/officeDocument/2006/relationships/oleObject" Target="../embeddings/oleObject225.bin"/><Relationship Id="rId10" Type="http://schemas.openxmlformats.org/officeDocument/2006/relationships/image" Target="../media/image219.emf"/><Relationship Id="rId1" Type="http://schemas.openxmlformats.org/officeDocument/2006/relationships/oleObject" Target="../embeddings/oleObject220.bin"/></Relationships>
</file>

<file path=ppt/slides/_rels/slide7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5.bin"/><Relationship Id="rId8" Type="http://schemas.openxmlformats.org/officeDocument/2006/relationships/image" Target="../media/image229.emf"/><Relationship Id="rId7" Type="http://schemas.openxmlformats.org/officeDocument/2006/relationships/oleObject" Target="../embeddings/oleObject234.bin"/><Relationship Id="rId6" Type="http://schemas.openxmlformats.org/officeDocument/2006/relationships/image" Target="../media/image228.emf"/><Relationship Id="rId5" Type="http://schemas.openxmlformats.org/officeDocument/2006/relationships/oleObject" Target="../embeddings/oleObject233.bin"/><Relationship Id="rId4" Type="http://schemas.openxmlformats.org/officeDocument/2006/relationships/image" Target="../media/image227.emf"/><Relationship Id="rId3" Type="http://schemas.openxmlformats.org/officeDocument/2006/relationships/oleObject" Target="../embeddings/oleObject232.bin"/><Relationship Id="rId24" Type="http://schemas.openxmlformats.org/officeDocument/2006/relationships/vmlDrawing" Target="../drawings/vmlDrawing41.vml"/><Relationship Id="rId23" Type="http://schemas.openxmlformats.org/officeDocument/2006/relationships/slideLayout" Target="../slideLayouts/slideLayout6.xml"/><Relationship Id="rId22" Type="http://schemas.openxmlformats.org/officeDocument/2006/relationships/image" Target="../media/image236.emf"/><Relationship Id="rId21" Type="http://schemas.openxmlformats.org/officeDocument/2006/relationships/oleObject" Target="../embeddings/oleObject241.bin"/><Relationship Id="rId20" Type="http://schemas.openxmlformats.org/officeDocument/2006/relationships/image" Target="../media/image235.emf"/><Relationship Id="rId2" Type="http://schemas.openxmlformats.org/officeDocument/2006/relationships/image" Target="../media/image226.emf"/><Relationship Id="rId19" Type="http://schemas.openxmlformats.org/officeDocument/2006/relationships/oleObject" Target="../embeddings/oleObject240.bin"/><Relationship Id="rId18" Type="http://schemas.openxmlformats.org/officeDocument/2006/relationships/image" Target="../media/image234.emf"/><Relationship Id="rId17" Type="http://schemas.openxmlformats.org/officeDocument/2006/relationships/oleObject" Target="../embeddings/oleObject239.bin"/><Relationship Id="rId16" Type="http://schemas.openxmlformats.org/officeDocument/2006/relationships/image" Target="../media/image233.emf"/><Relationship Id="rId15" Type="http://schemas.openxmlformats.org/officeDocument/2006/relationships/oleObject" Target="../embeddings/oleObject238.bin"/><Relationship Id="rId14" Type="http://schemas.openxmlformats.org/officeDocument/2006/relationships/image" Target="../media/image232.emf"/><Relationship Id="rId13" Type="http://schemas.openxmlformats.org/officeDocument/2006/relationships/oleObject" Target="../embeddings/oleObject237.bin"/><Relationship Id="rId12" Type="http://schemas.openxmlformats.org/officeDocument/2006/relationships/image" Target="../media/image231.emf"/><Relationship Id="rId11" Type="http://schemas.openxmlformats.org/officeDocument/2006/relationships/oleObject" Target="../embeddings/oleObject236.bin"/><Relationship Id="rId10" Type="http://schemas.openxmlformats.org/officeDocument/2006/relationships/image" Target="../media/image230.emf"/><Relationship Id="rId1" Type="http://schemas.openxmlformats.org/officeDocument/2006/relationships/oleObject" Target="../embeddings/oleObject231.bin"/></Relationships>
</file>

<file path=ppt/slides/_rels/slide7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6.bin"/><Relationship Id="rId8" Type="http://schemas.openxmlformats.org/officeDocument/2006/relationships/image" Target="../media/image240.emf"/><Relationship Id="rId7" Type="http://schemas.openxmlformats.org/officeDocument/2006/relationships/oleObject" Target="../embeddings/oleObject245.bin"/><Relationship Id="rId6" Type="http://schemas.openxmlformats.org/officeDocument/2006/relationships/image" Target="../media/image239.emf"/><Relationship Id="rId5" Type="http://schemas.openxmlformats.org/officeDocument/2006/relationships/oleObject" Target="../embeddings/oleObject244.bin"/><Relationship Id="rId4" Type="http://schemas.openxmlformats.org/officeDocument/2006/relationships/image" Target="../media/image238.emf"/><Relationship Id="rId3" Type="http://schemas.openxmlformats.org/officeDocument/2006/relationships/oleObject" Target="../embeddings/oleObject243.bin"/><Relationship Id="rId24" Type="http://schemas.openxmlformats.org/officeDocument/2006/relationships/vmlDrawing" Target="../drawings/vmlDrawing42.vml"/><Relationship Id="rId23" Type="http://schemas.openxmlformats.org/officeDocument/2006/relationships/slideLayout" Target="../slideLayouts/slideLayout6.xml"/><Relationship Id="rId22" Type="http://schemas.openxmlformats.org/officeDocument/2006/relationships/image" Target="../media/image247.emf"/><Relationship Id="rId21" Type="http://schemas.openxmlformats.org/officeDocument/2006/relationships/oleObject" Target="../embeddings/oleObject252.bin"/><Relationship Id="rId20" Type="http://schemas.openxmlformats.org/officeDocument/2006/relationships/image" Target="../media/image246.emf"/><Relationship Id="rId2" Type="http://schemas.openxmlformats.org/officeDocument/2006/relationships/image" Target="../media/image237.emf"/><Relationship Id="rId19" Type="http://schemas.openxmlformats.org/officeDocument/2006/relationships/oleObject" Target="../embeddings/oleObject251.bin"/><Relationship Id="rId18" Type="http://schemas.openxmlformats.org/officeDocument/2006/relationships/image" Target="../media/image245.emf"/><Relationship Id="rId17" Type="http://schemas.openxmlformats.org/officeDocument/2006/relationships/oleObject" Target="../embeddings/oleObject250.bin"/><Relationship Id="rId16" Type="http://schemas.openxmlformats.org/officeDocument/2006/relationships/image" Target="../media/image244.emf"/><Relationship Id="rId15" Type="http://schemas.openxmlformats.org/officeDocument/2006/relationships/oleObject" Target="../embeddings/oleObject249.bin"/><Relationship Id="rId14" Type="http://schemas.openxmlformats.org/officeDocument/2006/relationships/image" Target="../media/image243.emf"/><Relationship Id="rId13" Type="http://schemas.openxmlformats.org/officeDocument/2006/relationships/oleObject" Target="../embeddings/oleObject248.bin"/><Relationship Id="rId12" Type="http://schemas.openxmlformats.org/officeDocument/2006/relationships/image" Target="../media/image242.emf"/><Relationship Id="rId11" Type="http://schemas.openxmlformats.org/officeDocument/2006/relationships/oleObject" Target="../embeddings/oleObject247.bin"/><Relationship Id="rId10" Type="http://schemas.openxmlformats.org/officeDocument/2006/relationships/image" Target="../media/image241.emf"/><Relationship Id="rId1" Type="http://schemas.openxmlformats.org/officeDocument/2006/relationships/oleObject" Target="../embeddings/oleObject242.bin"/></Relationships>
</file>

<file path=ppt/slides/_rels/slide8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7.bin"/><Relationship Id="rId8" Type="http://schemas.openxmlformats.org/officeDocument/2006/relationships/image" Target="../media/image251.emf"/><Relationship Id="rId7" Type="http://schemas.openxmlformats.org/officeDocument/2006/relationships/oleObject" Target="../embeddings/oleObject256.bin"/><Relationship Id="rId6" Type="http://schemas.openxmlformats.org/officeDocument/2006/relationships/image" Target="../media/image250.emf"/><Relationship Id="rId5" Type="http://schemas.openxmlformats.org/officeDocument/2006/relationships/oleObject" Target="../embeddings/oleObject255.bin"/><Relationship Id="rId4" Type="http://schemas.openxmlformats.org/officeDocument/2006/relationships/image" Target="../media/image249.emf"/><Relationship Id="rId3" Type="http://schemas.openxmlformats.org/officeDocument/2006/relationships/oleObject" Target="../embeddings/oleObject254.bin"/><Relationship Id="rId24" Type="http://schemas.openxmlformats.org/officeDocument/2006/relationships/vmlDrawing" Target="../drawings/vmlDrawing43.vml"/><Relationship Id="rId23" Type="http://schemas.openxmlformats.org/officeDocument/2006/relationships/slideLayout" Target="../slideLayouts/slideLayout6.xml"/><Relationship Id="rId22" Type="http://schemas.openxmlformats.org/officeDocument/2006/relationships/image" Target="../media/image258.emf"/><Relationship Id="rId21" Type="http://schemas.openxmlformats.org/officeDocument/2006/relationships/oleObject" Target="../embeddings/oleObject263.bin"/><Relationship Id="rId20" Type="http://schemas.openxmlformats.org/officeDocument/2006/relationships/image" Target="../media/image257.emf"/><Relationship Id="rId2" Type="http://schemas.openxmlformats.org/officeDocument/2006/relationships/image" Target="../media/image248.emf"/><Relationship Id="rId19" Type="http://schemas.openxmlformats.org/officeDocument/2006/relationships/oleObject" Target="../embeddings/oleObject262.bin"/><Relationship Id="rId18" Type="http://schemas.openxmlformats.org/officeDocument/2006/relationships/image" Target="../media/image256.emf"/><Relationship Id="rId17" Type="http://schemas.openxmlformats.org/officeDocument/2006/relationships/oleObject" Target="../embeddings/oleObject261.bin"/><Relationship Id="rId16" Type="http://schemas.openxmlformats.org/officeDocument/2006/relationships/image" Target="../media/image255.emf"/><Relationship Id="rId15" Type="http://schemas.openxmlformats.org/officeDocument/2006/relationships/oleObject" Target="../embeddings/oleObject260.bin"/><Relationship Id="rId14" Type="http://schemas.openxmlformats.org/officeDocument/2006/relationships/image" Target="../media/image254.emf"/><Relationship Id="rId13" Type="http://schemas.openxmlformats.org/officeDocument/2006/relationships/oleObject" Target="../embeddings/oleObject259.bin"/><Relationship Id="rId12" Type="http://schemas.openxmlformats.org/officeDocument/2006/relationships/image" Target="../media/image253.emf"/><Relationship Id="rId11" Type="http://schemas.openxmlformats.org/officeDocument/2006/relationships/oleObject" Target="../embeddings/oleObject258.bin"/><Relationship Id="rId10" Type="http://schemas.openxmlformats.org/officeDocument/2006/relationships/image" Target="../media/image252.emf"/><Relationship Id="rId1" Type="http://schemas.openxmlformats.org/officeDocument/2006/relationships/oleObject" Target="../embeddings/oleObject253.bin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262.emf"/><Relationship Id="rId7" Type="http://schemas.openxmlformats.org/officeDocument/2006/relationships/oleObject" Target="../embeddings/oleObject267.bin"/><Relationship Id="rId6" Type="http://schemas.openxmlformats.org/officeDocument/2006/relationships/image" Target="../media/image261.emf"/><Relationship Id="rId5" Type="http://schemas.openxmlformats.org/officeDocument/2006/relationships/oleObject" Target="../embeddings/oleObject266.bin"/><Relationship Id="rId4" Type="http://schemas.openxmlformats.org/officeDocument/2006/relationships/image" Target="../media/image260.emf"/><Relationship Id="rId3" Type="http://schemas.openxmlformats.org/officeDocument/2006/relationships/oleObject" Target="../embeddings/oleObject265.bin"/><Relationship Id="rId2" Type="http://schemas.openxmlformats.org/officeDocument/2006/relationships/image" Target="../media/image259.emf"/><Relationship Id="rId10" Type="http://schemas.openxmlformats.org/officeDocument/2006/relationships/vmlDrawing" Target="../drawings/vmlDrawing44.vml"/><Relationship Id="rId1" Type="http://schemas.openxmlformats.org/officeDocument/2006/relationships/oleObject" Target="../embeddings/oleObject26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Rectangle 2"/>
          <p:cNvSpPr>
            <a:spLocks noGrp="1"/>
          </p:cNvSpPr>
          <p:nvPr>
            <p:ph type="ctrTitle" sz="quarter"/>
          </p:nvPr>
        </p:nvSpPr>
        <p:spPr>
          <a:ln/>
        </p:spPr>
        <p:txBody>
          <a:bodyPr vert="horz" wrap="square" lIns="92075" tIns="46038" rIns="92075" bIns="46038" anchor="ctr" anchorCtr="0"/>
          <a:p>
            <a:pPr>
              <a:buClrTx/>
              <a:buSzTx/>
              <a:buFontTx/>
            </a:pP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Chapter Twenty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098" name="Rectangle 3"/>
          <p:cNvSpPr>
            <a:spLocks noGrp="1"/>
          </p:cNvSpPr>
          <p:nvPr>
            <p:ph type="subTitle" sz="quarter" idx="1"/>
          </p:nvPr>
        </p:nvSpPr>
        <p:spPr>
          <a:ln/>
        </p:spPr>
        <p:txBody>
          <a:bodyPr vert="horz" wrap="square" lIns="92075" tIns="46038" rIns="92075" bIns="46038" anchor="t" anchorCtr="0"/>
          <a:p>
            <a:pPr>
              <a:buSzPct val="75000"/>
            </a:pPr>
            <a:r>
              <a:rPr lang="en-US" altLang="zh-CN" sz="4000" dirty="0">
                <a:latin typeface="+mn-lt"/>
                <a:ea typeface="宋体" panose="02010600030101010101" pitchFamily="2" charset="-122"/>
                <a:cs typeface="+mn-cs"/>
              </a:rPr>
              <a:t>Cost Minimization</a:t>
            </a:r>
            <a:endParaRPr lang="en-US" altLang="zh-CN" sz="4000" dirty="0">
              <a:latin typeface="+mn-lt"/>
              <a:ea typeface="宋体" panose="02010600030101010101" pitchFamily="2" charset="-122"/>
              <a:cs typeface="+mn-cs"/>
            </a:endParaRPr>
          </a:p>
          <a:p>
            <a:pPr>
              <a:buSzPct val="75000"/>
            </a:pPr>
            <a:r>
              <a:rPr lang="zh-CN" altLang="en-US" sz="4000" dirty="0">
                <a:latin typeface="+mn-lt"/>
                <a:ea typeface="黑体" panose="02010609060101010101" pitchFamily="2" charset="-122"/>
                <a:cs typeface="+mn-cs"/>
              </a:rPr>
              <a:t>成本最小化</a:t>
            </a:r>
            <a:endParaRPr lang="zh-CN" altLang="en-US" sz="4000" dirty="0">
              <a:latin typeface="+mn-lt"/>
              <a:ea typeface="黑体" panose="02010609060101010101" pitchFamily="2" charset="-122"/>
              <a:cs typeface="+mn-cs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2" name="Rectangle 3"/>
          <p:cNvSpPr>
            <a:spLocks noGrp="1"/>
          </p:cNvSpPr>
          <p:nvPr>
            <p:ph idx="1"/>
          </p:nvPr>
        </p:nvSpPr>
        <p:spPr>
          <a:xfrm>
            <a:off x="581025" y="1447800"/>
            <a:ext cx="8058150" cy="45720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 firm is a cost-minimizer if it produces any given output level y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³</a:t>
            </a:r>
            <a:r>
              <a:rPr lang="en-US" altLang="zh-CN" dirty="0">
                <a:ea typeface="宋体" panose="02010600030101010101" pitchFamily="2" charset="-122"/>
              </a:rPr>
              <a:t> 0 at smallest possible total cost.</a:t>
            </a:r>
            <a:r>
              <a:rPr lang="zh-CN" altLang="en-US" dirty="0">
                <a:ea typeface="宋体" panose="02010600030101010101" pitchFamily="2" charset="-122"/>
              </a:rPr>
              <a:t>给定产量的条件下，利润最大化点要求成本最小。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c(y) denotes the firm’s smallest possible total cost for producing y units of output.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c(y) is the firm’s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total cost function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总成本函数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14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When the firm faces given input prices w = (w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,w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,…,w</a:t>
            </a:r>
            <a:r>
              <a:rPr lang="en-US" altLang="zh-CN" baseline="-25000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) the total cost function will be written as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		c(w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,…,w</a:t>
            </a:r>
            <a:r>
              <a:rPr lang="en-US" altLang="zh-CN" baseline="-25000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,y).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Cost-Minimization Problem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17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Consider a firm using two inputs to make one output.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 production function is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		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y = f(x</a:t>
            </a:r>
            <a:r>
              <a:rPr lang="en-US" altLang="zh-CN" baseline="-250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,x</a:t>
            </a:r>
            <a:r>
              <a:rPr lang="en-US" altLang="zh-CN" baseline="-25000" dirty="0">
                <a:solidFill>
                  <a:schemeClr val="tx2"/>
                </a:solidFill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)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Take the output level y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³</a:t>
            </a:r>
            <a:r>
              <a:rPr lang="en-US" altLang="zh-CN" dirty="0">
                <a:ea typeface="宋体" panose="02010600030101010101" pitchFamily="2" charset="-122"/>
              </a:rPr>
              <a:t> 0 as given.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Given the input prices w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and w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, the cost of an input bundle (x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) is      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w</a:t>
            </a:r>
            <a:r>
              <a:rPr lang="en-US" altLang="zh-CN" baseline="-250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 + w</a:t>
            </a:r>
            <a:r>
              <a:rPr lang="en-US" altLang="zh-CN" baseline="-25000" dirty="0">
                <a:solidFill>
                  <a:schemeClr val="tx2"/>
                </a:solidFill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solidFill>
                  <a:schemeClr val="tx2"/>
                </a:solidFill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Cost-Minimization Problem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19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For given w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 w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and y, the firm’s cost-minimization problem is to solve</a:t>
            </a:r>
            <a:br>
              <a:rPr lang="en-US" altLang="zh-CN" dirty="0">
                <a:ea typeface="宋体" panose="02010600030101010101" pitchFamily="2" charset="-122"/>
              </a:rPr>
            </a:br>
            <a:br>
              <a:rPr lang="en-US" altLang="zh-CN" dirty="0">
                <a:ea typeface="宋体" panose="02010600030101010101" pitchFamily="2" charset="-122"/>
              </a:rPr>
            </a:b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195" name="Object 4"/>
          <p:cNvGraphicFramePr/>
          <p:nvPr/>
        </p:nvGraphicFramePr>
        <p:xfrm>
          <a:off x="2519363" y="2486025"/>
          <a:ext cx="4033837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2390775" imgH="553085" progId="Equation.2">
                  <p:embed/>
                </p:oleObj>
              </mc:Choice>
              <mc:Fallback>
                <p:oleObj name="" r:id="rId1" imgW="2390775" imgH="553085" progId="Equation.2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19363" y="2486025"/>
                        <a:ext cx="4033837" cy="922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Rectangle 5"/>
          <p:cNvSpPr/>
          <p:nvPr/>
        </p:nvSpPr>
        <p:spPr>
          <a:xfrm>
            <a:off x="1050925" y="3708400"/>
            <a:ext cx="2103438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subject to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197" name="Object 6"/>
          <p:cNvGraphicFramePr/>
          <p:nvPr/>
        </p:nvGraphicFramePr>
        <p:xfrm>
          <a:off x="3343275" y="3740150"/>
          <a:ext cx="262255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1554480" imgH="318135" progId="Equation.2">
                  <p:embed/>
                </p:oleObj>
              </mc:Choice>
              <mc:Fallback>
                <p:oleObj name="" r:id="rId3" imgW="1554480" imgH="318135" progId="Equation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43275" y="3740150"/>
                        <a:ext cx="2622550" cy="528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Cost-Minimization Problem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218" name="Rectangle 3"/>
          <p:cNvSpPr>
            <a:spLocks noGrp="1"/>
          </p:cNvSpPr>
          <p:nvPr>
            <p:ph idx="1"/>
          </p:nvPr>
        </p:nvSpPr>
        <p:spPr>
          <a:xfrm>
            <a:off x="685800" y="1447800"/>
            <a:ext cx="8101013" cy="45720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The levels x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*(w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,w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,y) and x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*(w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,w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,y) in the least-costly input bundle are the firm’s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conditional demands for inputs 1 and 2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条件要素需求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 (smallest possible) total cost for producing y output units is therefore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9219" name="Object 4"/>
          <p:cNvGraphicFramePr/>
          <p:nvPr/>
        </p:nvGraphicFramePr>
        <p:xfrm>
          <a:off x="1617663" y="4470400"/>
          <a:ext cx="6710362" cy="151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4001770" imgH="944880" progId="Equation.2">
                  <p:embed/>
                </p:oleObj>
              </mc:Choice>
              <mc:Fallback>
                <p:oleObj name="" r:id="rId1" imgW="4001770" imgH="944880" progId="Equation.2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17663" y="4470400"/>
                        <a:ext cx="6710362" cy="1517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Conditional Input Demands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24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Given w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 w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and y, how is the least costly input bundle located?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And how is the total cost function computed?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Iso-cost Lines</a:t>
            </a:r>
            <a:r>
              <a:rPr lang="zh-CN" altLang="en-US" dirty="0">
                <a:ea typeface="宋体" panose="02010600030101010101" pitchFamily="2" charset="-122"/>
              </a:rPr>
              <a:t>等成本线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126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 curve that contains all of the input bundles that cost the same amount is an iso-cost curve.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E.g., given w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and w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, the $100 iso-cost line has the equation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1267" name="Object 4"/>
          <p:cNvGraphicFramePr/>
          <p:nvPr/>
        </p:nvGraphicFramePr>
        <p:xfrm>
          <a:off x="2698750" y="4219575"/>
          <a:ext cx="40132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329815" imgH="318135" progId="Equation.2">
                  <p:embed/>
                </p:oleObj>
              </mc:Choice>
              <mc:Fallback>
                <p:oleObj name="" r:id="rId1" imgW="2329815" imgH="318135" progId="Equation.2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98750" y="4219575"/>
                        <a:ext cx="4013200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Iso-cost Lines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229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Generally, given w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and w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, the equation of the $c iso-cost line is</a:t>
            </a:r>
            <a:br>
              <a:rPr lang="en-US" altLang="zh-CN" dirty="0">
                <a:ea typeface="宋体" panose="02010600030101010101" pitchFamily="2" charset="-122"/>
              </a:rPr>
            </a:b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i.e.</a:t>
            </a:r>
            <a:br>
              <a:rPr lang="en-US" altLang="zh-CN" dirty="0">
                <a:ea typeface="宋体" panose="02010600030101010101" pitchFamily="2" charset="-122"/>
              </a:rPr>
            </a:br>
            <a:br>
              <a:rPr lang="en-US" altLang="zh-CN" dirty="0">
                <a:ea typeface="宋体" panose="02010600030101010101" pitchFamily="2" charset="-122"/>
              </a:rPr>
            </a:b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Slope is - w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/w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2291" name="Object 0"/>
          <p:cNvGraphicFramePr/>
          <p:nvPr/>
        </p:nvGraphicFramePr>
        <p:xfrm>
          <a:off x="2616200" y="3319463"/>
          <a:ext cx="3873500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2259965" imgH="709930" progId="Equation.2">
                  <p:embed/>
                </p:oleObj>
              </mc:Choice>
              <mc:Fallback>
                <p:oleObj name="" r:id="rId1" imgW="2259965" imgH="709930" progId="Equation.2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16200" y="3319463"/>
                        <a:ext cx="3873500" cy="1171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1"/>
          <p:cNvGraphicFramePr/>
          <p:nvPr/>
        </p:nvGraphicFramePr>
        <p:xfrm>
          <a:off x="2719388" y="2524125"/>
          <a:ext cx="338931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1972310" imgH="318135" progId="Equation.2">
                  <p:embed/>
                </p:oleObj>
              </mc:Choice>
              <mc:Fallback>
                <p:oleObj name="" r:id="rId3" imgW="1972310" imgH="318135" progId="Equation.2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19388" y="2524125"/>
                        <a:ext cx="3389312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Iso-cost Lines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3314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13315" name="Line 4"/>
          <p:cNvSpPr/>
          <p:nvPr/>
        </p:nvSpPr>
        <p:spPr>
          <a:xfrm>
            <a:off x="1619250" y="5095875"/>
            <a:ext cx="3929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13316" name="Line 5"/>
          <p:cNvSpPr/>
          <p:nvPr/>
        </p:nvSpPr>
        <p:spPr>
          <a:xfrm flipH="1" flipV="1">
            <a:off x="1614488" y="2808288"/>
            <a:ext cx="3390900" cy="229393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17" name="Line 6"/>
          <p:cNvSpPr/>
          <p:nvPr/>
        </p:nvSpPr>
        <p:spPr>
          <a:xfrm flipH="1" flipV="1">
            <a:off x="1614488" y="3467100"/>
            <a:ext cx="2409825" cy="1630363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18" name="Rectangle 7"/>
          <p:cNvSpPr/>
          <p:nvPr/>
        </p:nvSpPr>
        <p:spPr>
          <a:xfrm>
            <a:off x="3556000" y="3205163"/>
            <a:ext cx="2884488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c’ </a:t>
            </a:r>
            <a:r>
              <a:rPr lang="en-US" altLang="zh-CN" sz="3200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º</a:t>
            </a: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w</a:t>
            </a:r>
            <a:r>
              <a:rPr lang="en-US" altLang="zh-CN" sz="3200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3200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+w</a:t>
            </a:r>
            <a:r>
              <a:rPr lang="en-US" altLang="zh-CN" sz="3200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3200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3200" baseline="-25000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9" name="Rectangle 8"/>
          <p:cNvSpPr/>
          <p:nvPr/>
        </p:nvSpPr>
        <p:spPr>
          <a:xfrm>
            <a:off x="2762250" y="2209800"/>
            <a:ext cx="29749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c” </a:t>
            </a:r>
            <a:r>
              <a:rPr lang="en-US" altLang="zh-CN" sz="3200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º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w</a:t>
            </a:r>
            <a:r>
              <a:rPr lang="en-US" altLang="zh-CN" sz="3200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3200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+w</a:t>
            </a:r>
            <a:r>
              <a:rPr lang="en-US" altLang="zh-CN" sz="3200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3200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3200" baseline="-250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20" name="Line 9"/>
          <p:cNvSpPr/>
          <p:nvPr/>
        </p:nvSpPr>
        <p:spPr>
          <a:xfrm flipH="1">
            <a:off x="2436813" y="2678113"/>
            <a:ext cx="749300" cy="6492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13321" name="Line 10"/>
          <p:cNvSpPr/>
          <p:nvPr/>
        </p:nvSpPr>
        <p:spPr>
          <a:xfrm flipH="1">
            <a:off x="3186113" y="3659188"/>
            <a:ext cx="909637" cy="838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13322" name="Rectangle 11"/>
          <p:cNvSpPr/>
          <p:nvPr/>
        </p:nvSpPr>
        <p:spPr>
          <a:xfrm>
            <a:off x="5172075" y="4144963"/>
            <a:ext cx="12620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c’ &lt; c”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23" name="Rectangle 12"/>
          <p:cNvSpPr/>
          <p:nvPr/>
        </p:nvSpPr>
        <p:spPr>
          <a:xfrm>
            <a:off x="5389563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24" name="Rectangle 13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Iso-cost Lines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4338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14339" name="Line 4"/>
          <p:cNvSpPr/>
          <p:nvPr/>
        </p:nvSpPr>
        <p:spPr>
          <a:xfrm>
            <a:off x="1619250" y="5095875"/>
            <a:ext cx="3929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14340" name="Line 5"/>
          <p:cNvSpPr/>
          <p:nvPr/>
        </p:nvSpPr>
        <p:spPr>
          <a:xfrm flipH="1" flipV="1">
            <a:off x="1614488" y="2808288"/>
            <a:ext cx="3390900" cy="229393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41" name="Line 6"/>
          <p:cNvSpPr/>
          <p:nvPr/>
        </p:nvSpPr>
        <p:spPr>
          <a:xfrm flipH="1" flipV="1">
            <a:off x="1614488" y="3467100"/>
            <a:ext cx="2409825" cy="1630363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42" name="Rectangle 7"/>
          <p:cNvSpPr/>
          <p:nvPr/>
        </p:nvSpPr>
        <p:spPr>
          <a:xfrm>
            <a:off x="3556000" y="3205163"/>
            <a:ext cx="2884488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c’ </a:t>
            </a:r>
            <a:r>
              <a:rPr lang="en-US" altLang="zh-CN" sz="3200" dirty="0">
                <a:solidFill>
                  <a:schemeClr val="hlink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º</a:t>
            </a: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w</a:t>
            </a:r>
            <a:r>
              <a:rPr lang="en-US" altLang="zh-CN" sz="3200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3200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+w</a:t>
            </a:r>
            <a:r>
              <a:rPr lang="en-US" altLang="zh-CN" sz="3200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3200" baseline="-250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3200" baseline="-25000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3" name="Rectangle 8"/>
          <p:cNvSpPr/>
          <p:nvPr/>
        </p:nvSpPr>
        <p:spPr>
          <a:xfrm>
            <a:off x="2762250" y="2209800"/>
            <a:ext cx="29749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c” </a:t>
            </a:r>
            <a:r>
              <a:rPr lang="en-US" altLang="zh-CN" sz="3200" dirty="0">
                <a:solidFill>
                  <a:schemeClr val="tx2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º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w</a:t>
            </a:r>
            <a:r>
              <a:rPr lang="en-US" altLang="zh-CN" sz="3200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3200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+w</a:t>
            </a:r>
            <a:r>
              <a:rPr lang="en-US" altLang="zh-CN" sz="3200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3200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3200" baseline="-250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4" name="Line 9"/>
          <p:cNvSpPr/>
          <p:nvPr/>
        </p:nvSpPr>
        <p:spPr>
          <a:xfrm flipH="1">
            <a:off x="2436813" y="2678113"/>
            <a:ext cx="749300" cy="6492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14345" name="Line 10"/>
          <p:cNvSpPr/>
          <p:nvPr/>
        </p:nvSpPr>
        <p:spPr>
          <a:xfrm flipH="1">
            <a:off x="3186113" y="3659188"/>
            <a:ext cx="909637" cy="838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14346" name="Rectangle 11"/>
          <p:cNvSpPr/>
          <p:nvPr/>
        </p:nvSpPr>
        <p:spPr>
          <a:xfrm>
            <a:off x="5172075" y="4144963"/>
            <a:ext cx="12620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c’ &lt; c”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7" name="Rectangle 12"/>
          <p:cNvSpPr/>
          <p:nvPr/>
        </p:nvSpPr>
        <p:spPr>
          <a:xfrm>
            <a:off x="5389563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8" name="Rectangle 13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9" name="Rectangle 14"/>
          <p:cNvSpPr/>
          <p:nvPr/>
        </p:nvSpPr>
        <p:spPr>
          <a:xfrm>
            <a:off x="2432050" y="1490663"/>
            <a:ext cx="289401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Slopes = -w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/w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y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’</a:t>
            </a:r>
            <a:r>
              <a:rPr lang="en-US" altLang="zh-CN" dirty="0">
                <a:ea typeface="宋体" panose="02010600030101010101" pitchFamily="2" charset="-122"/>
              </a:rPr>
              <a:t>-Output Unit Isoquant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5362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15363" name="Line 4"/>
          <p:cNvSpPr/>
          <p:nvPr/>
        </p:nvSpPr>
        <p:spPr>
          <a:xfrm>
            <a:off x="1619250" y="5095875"/>
            <a:ext cx="3929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15364" name="Rectangle 5"/>
          <p:cNvSpPr/>
          <p:nvPr/>
        </p:nvSpPr>
        <p:spPr>
          <a:xfrm>
            <a:off x="5389563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5" name="Rectangle 6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6" name="Arc 7"/>
          <p:cNvSpPr/>
          <p:nvPr/>
        </p:nvSpPr>
        <p:spPr>
          <a:xfrm rot="10800000">
            <a:off x="1811338" y="2503488"/>
            <a:ext cx="3214687" cy="24495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5367" name="Rectangle 8"/>
          <p:cNvSpPr/>
          <p:nvPr/>
        </p:nvSpPr>
        <p:spPr>
          <a:xfrm>
            <a:off x="2170113" y="1589088"/>
            <a:ext cx="6799262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All input bundles yielding y’ units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of output.  Which is the cheapest?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8" name="Rectangle 9"/>
          <p:cNvSpPr/>
          <p:nvPr/>
        </p:nvSpPr>
        <p:spPr>
          <a:xfrm>
            <a:off x="5003800" y="4562475"/>
            <a:ext cx="19939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f(x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Cost-Minimization Problem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6386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16387" name="Line 4"/>
          <p:cNvSpPr/>
          <p:nvPr/>
        </p:nvSpPr>
        <p:spPr>
          <a:xfrm>
            <a:off x="1619250" y="5095875"/>
            <a:ext cx="3929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16388" name="Rectangle 5"/>
          <p:cNvSpPr/>
          <p:nvPr/>
        </p:nvSpPr>
        <p:spPr>
          <a:xfrm>
            <a:off x="5389563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9" name="Rectangle 6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90" name="Arc 7"/>
          <p:cNvSpPr/>
          <p:nvPr/>
        </p:nvSpPr>
        <p:spPr>
          <a:xfrm rot="10800000">
            <a:off x="1811338" y="2503488"/>
            <a:ext cx="3214687" cy="24495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6391" name="Line 8"/>
          <p:cNvSpPr/>
          <p:nvPr/>
        </p:nvSpPr>
        <p:spPr>
          <a:xfrm flipH="1" flipV="1">
            <a:off x="1614488" y="2808288"/>
            <a:ext cx="3390900" cy="229393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92" name="Line 9"/>
          <p:cNvSpPr/>
          <p:nvPr/>
        </p:nvSpPr>
        <p:spPr>
          <a:xfrm flipH="1" flipV="1">
            <a:off x="1614488" y="3467100"/>
            <a:ext cx="2409825" cy="1630363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93" name="Rectangle 10"/>
          <p:cNvSpPr/>
          <p:nvPr/>
        </p:nvSpPr>
        <p:spPr>
          <a:xfrm>
            <a:off x="2170113" y="1589088"/>
            <a:ext cx="6799262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All input bundles yielding y’ units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of output.  Which is the cheapest?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94" name="Rectangle 11"/>
          <p:cNvSpPr/>
          <p:nvPr/>
        </p:nvSpPr>
        <p:spPr>
          <a:xfrm>
            <a:off x="5003800" y="4562475"/>
            <a:ext cx="19939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f(x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Cost-Minimization Problem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7410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17411" name="Line 4"/>
          <p:cNvSpPr/>
          <p:nvPr/>
        </p:nvSpPr>
        <p:spPr>
          <a:xfrm>
            <a:off x="1619250" y="5095875"/>
            <a:ext cx="3929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17412" name="Rectangle 5"/>
          <p:cNvSpPr/>
          <p:nvPr/>
        </p:nvSpPr>
        <p:spPr>
          <a:xfrm>
            <a:off x="5389563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3" name="Rectangle 6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4" name="Arc 7"/>
          <p:cNvSpPr/>
          <p:nvPr/>
        </p:nvSpPr>
        <p:spPr>
          <a:xfrm rot="10800000">
            <a:off x="1811338" y="2503488"/>
            <a:ext cx="3214687" cy="24495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7415" name="Line 8"/>
          <p:cNvSpPr/>
          <p:nvPr/>
        </p:nvSpPr>
        <p:spPr>
          <a:xfrm flipH="1" flipV="1">
            <a:off x="1614488" y="2808288"/>
            <a:ext cx="3390900" cy="229393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16" name="Line 9"/>
          <p:cNvSpPr/>
          <p:nvPr/>
        </p:nvSpPr>
        <p:spPr>
          <a:xfrm flipH="1" flipV="1">
            <a:off x="1614488" y="3467100"/>
            <a:ext cx="2409825" cy="1630363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17" name="Rectangle 10"/>
          <p:cNvSpPr/>
          <p:nvPr/>
        </p:nvSpPr>
        <p:spPr>
          <a:xfrm>
            <a:off x="2170113" y="1589088"/>
            <a:ext cx="6799262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All input bundles yielding y’ units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of output.  Which is the cheapest?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8" name="Oval 11"/>
          <p:cNvSpPr/>
          <p:nvPr/>
        </p:nvSpPr>
        <p:spPr>
          <a:xfrm>
            <a:off x="2735263" y="4192588"/>
            <a:ext cx="187325" cy="187325"/>
          </a:xfrm>
          <a:prstGeom prst="ellipse">
            <a:avLst/>
          </a:prstGeom>
          <a:noFill/>
          <a:ln w="50800" cap="flat" cmpd="sng">
            <a:solidFill>
              <a:srgbClr val="4CFF1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9" name="Oval 12"/>
          <p:cNvSpPr/>
          <p:nvPr/>
        </p:nvSpPr>
        <p:spPr>
          <a:xfrm>
            <a:off x="1784350" y="2894013"/>
            <a:ext cx="187325" cy="187325"/>
          </a:xfrm>
          <a:prstGeom prst="ellipse">
            <a:avLst/>
          </a:prstGeom>
          <a:noFill/>
          <a:ln w="50800" cap="flat" cmpd="sng">
            <a:solidFill>
              <a:srgbClr val="4CFF1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20" name="Oval 13"/>
          <p:cNvSpPr/>
          <p:nvPr/>
        </p:nvSpPr>
        <p:spPr>
          <a:xfrm>
            <a:off x="4640263" y="4813300"/>
            <a:ext cx="187325" cy="187325"/>
          </a:xfrm>
          <a:prstGeom prst="ellipse">
            <a:avLst/>
          </a:prstGeom>
          <a:noFill/>
          <a:ln w="50800" cap="flat" cmpd="sng">
            <a:solidFill>
              <a:srgbClr val="4CFF1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21" name="Rectangle 14"/>
          <p:cNvSpPr/>
          <p:nvPr/>
        </p:nvSpPr>
        <p:spPr>
          <a:xfrm>
            <a:off x="5003800" y="4562475"/>
            <a:ext cx="19939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f(x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Cost-Minimization Problem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8434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18435" name="Line 4"/>
          <p:cNvSpPr/>
          <p:nvPr/>
        </p:nvSpPr>
        <p:spPr>
          <a:xfrm>
            <a:off x="1619250" y="5095875"/>
            <a:ext cx="3929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18436" name="Rectangle 5"/>
          <p:cNvSpPr/>
          <p:nvPr/>
        </p:nvSpPr>
        <p:spPr>
          <a:xfrm>
            <a:off x="5389563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7" name="Rectangle 6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8" name="Arc 7"/>
          <p:cNvSpPr/>
          <p:nvPr/>
        </p:nvSpPr>
        <p:spPr>
          <a:xfrm rot="10800000">
            <a:off x="1811338" y="2503488"/>
            <a:ext cx="3214687" cy="24495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8439" name="Line 8"/>
          <p:cNvSpPr/>
          <p:nvPr/>
        </p:nvSpPr>
        <p:spPr>
          <a:xfrm flipH="1" flipV="1">
            <a:off x="1614488" y="2808288"/>
            <a:ext cx="3390900" cy="229393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40" name="Line 9"/>
          <p:cNvSpPr/>
          <p:nvPr/>
        </p:nvSpPr>
        <p:spPr>
          <a:xfrm flipH="1" flipV="1">
            <a:off x="1614488" y="3467100"/>
            <a:ext cx="2409825" cy="1630363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41" name="Rectangle 10"/>
          <p:cNvSpPr/>
          <p:nvPr/>
        </p:nvSpPr>
        <p:spPr>
          <a:xfrm>
            <a:off x="2170113" y="1589088"/>
            <a:ext cx="6799262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All input bundles yielding y’ units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of output.  Which is the cheapest?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42" name="Rectangle 11"/>
          <p:cNvSpPr/>
          <p:nvPr/>
        </p:nvSpPr>
        <p:spPr>
          <a:xfrm>
            <a:off x="5003800" y="4562475"/>
            <a:ext cx="19939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f(x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43" name="Oval 12"/>
          <p:cNvSpPr/>
          <p:nvPr/>
        </p:nvSpPr>
        <p:spPr>
          <a:xfrm>
            <a:off x="2709863" y="4167188"/>
            <a:ext cx="238125" cy="238125"/>
          </a:xfrm>
          <a:prstGeom prst="ellipse">
            <a:avLst/>
          </a:prstGeom>
          <a:solidFill>
            <a:srgbClr val="4CFF1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Cost-Minimization Problem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9458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19459" name="Line 4"/>
          <p:cNvSpPr/>
          <p:nvPr/>
        </p:nvSpPr>
        <p:spPr>
          <a:xfrm>
            <a:off x="1619250" y="5095875"/>
            <a:ext cx="3929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19460" name="Rectangle 5"/>
          <p:cNvSpPr/>
          <p:nvPr/>
        </p:nvSpPr>
        <p:spPr>
          <a:xfrm>
            <a:off x="5389563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1" name="Rectangle 6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2" name="Arc 7"/>
          <p:cNvSpPr/>
          <p:nvPr/>
        </p:nvSpPr>
        <p:spPr>
          <a:xfrm rot="10800000">
            <a:off x="1811338" y="2503488"/>
            <a:ext cx="3214687" cy="24495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9463" name="Line 8"/>
          <p:cNvSpPr/>
          <p:nvPr/>
        </p:nvSpPr>
        <p:spPr>
          <a:xfrm flipH="1" flipV="1">
            <a:off x="1614488" y="2808288"/>
            <a:ext cx="3390900" cy="229393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64" name="Line 9"/>
          <p:cNvSpPr/>
          <p:nvPr/>
        </p:nvSpPr>
        <p:spPr>
          <a:xfrm flipH="1" flipV="1">
            <a:off x="1614488" y="3467100"/>
            <a:ext cx="2409825" cy="1630363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65" name="Rectangle 10"/>
          <p:cNvSpPr/>
          <p:nvPr/>
        </p:nvSpPr>
        <p:spPr>
          <a:xfrm>
            <a:off x="2170113" y="1589088"/>
            <a:ext cx="6799262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All input bundles yielding y’ units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of output.  Which is the cheapest?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6" name="Rectangle 11"/>
          <p:cNvSpPr/>
          <p:nvPr/>
        </p:nvSpPr>
        <p:spPr>
          <a:xfrm>
            <a:off x="5003800" y="4562475"/>
            <a:ext cx="19939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f(x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7" name="Line 12"/>
          <p:cNvSpPr/>
          <p:nvPr/>
        </p:nvSpPr>
        <p:spPr>
          <a:xfrm>
            <a:off x="2825750" y="4294188"/>
            <a:ext cx="0" cy="7937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19468" name="Line 13"/>
          <p:cNvSpPr/>
          <p:nvPr/>
        </p:nvSpPr>
        <p:spPr>
          <a:xfrm flipH="1">
            <a:off x="1614488" y="4294188"/>
            <a:ext cx="121126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19469" name="Oval 14"/>
          <p:cNvSpPr/>
          <p:nvPr/>
        </p:nvSpPr>
        <p:spPr>
          <a:xfrm>
            <a:off x="2709863" y="4167188"/>
            <a:ext cx="238125" cy="238125"/>
          </a:xfrm>
          <a:prstGeom prst="ellipse">
            <a:avLst/>
          </a:prstGeom>
          <a:solidFill>
            <a:srgbClr val="4CFF1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70" name="Rectangle 15"/>
          <p:cNvSpPr/>
          <p:nvPr/>
        </p:nvSpPr>
        <p:spPr>
          <a:xfrm>
            <a:off x="2527300" y="5068888"/>
            <a:ext cx="6556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71" name="Rectangle 16"/>
          <p:cNvSpPr/>
          <p:nvPr/>
        </p:nvSpPr>
        <p:spPr>
          <a:xfrm>
            <a:off x="1000125" y="4013200"/>
            <a:ext cx="655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Cost-Minimization Problem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0482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20483" name="Line 4"/>
          <p:cNvSpPr/>
          <p:nvPr/>
        </p:nvSpPr>
        <p:spPr>
          <a:xfrm>
            <a:off x="1619250" y="5095875"/>
            <a:ext cx="3929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20484" name="Rectangle 5"/>
          <p:cNvSpPr/>
          <p:nvPr/>
        </p:nvSpPr>
        <p:spPr>
          <a:xfrm>
            <a:off x="5389563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5" name="Rectangle 6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6" name="Arc 7"/>
          <p:cNvSpPr/>
          <p:nvPr/>
        </p:nvSpPr>
        <p:spPr>
          <a:xfrm rot="10800000">
            <a:off x="1811338" y="2503488"/>
            <a:ext cx="3214687" cy="24495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0487" name="Line 8"/>
          <p:cNvSpPr/>
          <p:nvPr/>
        </p:nvSpPr>
        <p:spPr>
          <a:xfrm flipH="1" flipV="1">
            <a:off x="1614488" y="2808288"/>
            <a:ext cx="3390900" cy="229393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88" name="Line 9"/>
          <p:cNvSpPr/>
          <p:nvPr/>
        </p:nvSpPr>
        <p:spPr>
          <a:xfrm flipH="1" flipV="1">
            <a:off x="1614488" y="3467100"/>
            <a:ext cx="2409825" cy="1630363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89" name="Rectangle 10"/>
          <p:cNvSpPr/>
          <p:nvPr/>
        </p:nvSpPr>
        <p:spPr>
          <a:xfrm>
            <a:off x="5003800" y="4562475"/>
            <a:ext cx="19939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f(x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90" name="Line 11"/>
          <p:cNvSpPr/>
          <p:nvPr/>
        </p:nvSpPr>
        <p:spPr>
          <a:xfrm>
            <a:off x="2825750" y="4294188"/>
            <a:ext cx="0" cy="7937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20491" name="Line 12"/>
          <p:cNvSpPr/>
          <p:nvPr/>
        </p:nvSpPr>
        <p:spPr>
          <a:xfrm flipH="1">
            <a:off x="1614488" y="4294188"/>
            <a:ext cx="121126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20492" name="Oval 13"/>
          <p:cNvSpPr/>
          <p:nvPr/>
        </p:nvSpPr>
        <p:spPr>
          <a:xfrm>
            <a:off x="2709863" y="4167188"/>
            <a:ext cx="238125" cy="238125"/>
          </a:xfrm>
          <a:prstGeom prst="ellipse">
            <a:avLst/>
          </a:prstGeom>
          <a:solidFill>
            <a:srgbClr val="4CFF1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93" name="Rectangle 14"/>
          <p:cNvSpPr/>
          <p:nvPr/>
        </p:nvSpPr>
        <p:spPr>
          <a:xfrm>
            <a:off x="2527300" y="5068888"/>
            <a:ext cx="6556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94" name="Rectangle 15"/>
          <p:cNvSpPr/>
          <p:nvPr/>
        </p:nvSpPr>
        <p:spPr>
          <a:xfrm>
            <a:off x="1000125" y="4013200"/>
            <a:ext cx="655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95" name="Rectangle 16"/>
          <p:cNvSpPr/>
          <p:nvPr/>
        </p:nvSpPr>
        <p:spPr>
          <a:xfrm>
            <a:off x="1736725" y="1246188"/>
            <a:ext cx="7116763" cy="9540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At an interior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内点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cost-min input bundle: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(a)                       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0496" name="Object 17"/>
          <p:cNvGraphicFramePr/>
          <p:nvPr/>
        </p:nvGraphicFramePr>
        <p:xfrm>
          <a:off x="2508250" y="1682750"/>
          <a:ext cx="2297113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580515" imgH="422275" progId="Equation.DSMT4">
                  <p:embed/>
                </p:oleObj>
              </mc:Choice>
              <mc:Fallback>
                <p:oleObj name="" r:id="rId1" imgW="1580515" imgH="422275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08250" y="1682750"/>
                        <a:ext cx="2297113" cy="606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Cost-Minimization Problem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1506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21507" name="Line 4"/>
          <p:cNvSpPr/>
          <p:nvPr/>
        </p:nvSpPr>
        <p:spPr>
          <a:xfrm>
            <a:off x="1619250" y="5095875"/>
            <a:ext cx="3929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21508" name="Rectangle 5"/>
          <p:cNvSpPr/>
          <p:nvPr/>
        </p:nvSpPr>
        <p:spPr>
          <a:xfrm>
            <a:off x="5389563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09" name="Rectangle 6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10" name="Arc 7"/>
          <p:cNvSpPr/>
          <p:nvPr/>
        </p:nvSpPr>
        <p:spPr>
          <a:xfrm rot="10800000">
            <a:off x="1811338" y="2503488"/>
            <a:ext cx="3214687" cy="24495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1511" name="Line 8"/>
          <p:cNvSpPr/>
          <p:nvPr/>
        </p:nvSpPr>
        <p:spPr>
          <a:xfrm flipH="1" flipV="1">
            <a:off x="1614488" y="2808288"/>
            <a:ext cx="3390900" cy="229393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12" name="Line 9"/>
          <p:cNvSpPr/>
          <p:nvPr/>
        </p:nvSpPr>
        <p:spPr>
          <a:xfrm flipH="1" flipV="1">
            <a:off x="1614488" y="3467100"/>
            <a:ext cx="2409825" cy="1630363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13" name="Rectangle 10"/>
          <p:cNvSpPr/>
          <p:nvPr/>
        </p:nvSpPr>
        <p:spPr>
          <a:xfrm>
            <a:off x="5003800" y="4562475"/>
            <a:ext cx="19939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f(x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14" name="Line 11"/>
          <p:cNvSpPr/>
          <p:nvPr/>
        </p:nvSpPr>
        <p:spPr>
          <a:xfrm>
            <a:off x="2825750" y="4294188"/>
            <a:ext cx="0" cy="7937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21515" name="Line 12"/>
          <p:cNvSpPr/>
          <p:nvPr/>
        </p:nvSpPr>
        <p:spPr>
          <a:xfrm flipH="1">
            <a:off x="1614488" y="4294188"/>
            <a:ext cx="121126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21516" name="Oval 13"/>
          <p:cNvSpPr/>
          <p:nvPr/>
        </p:nvSpPr>
        <p:spPr>
          <a:xfrm>
            <a:off x="2709863" y="4167188"/>
            <a:ext cx="238125" cy="238125"/>
          </a:xfrm>
          <a:prstGeom prst="ellipse">
            <a:avLst/>
          </a:prstGeom>
          <a:solidFill>
            <a:srgbClr val="4CFF1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17" name="Rectangle 14"/>
          <p:cNvSpPr/>
          <p:nvPr/>
        </p:nvSpPr>
        <p:spPr>
          <a:xfrm>
            <a:off x="2527300" y="5068888"/>
            <a:ext cx="6556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18" name="Rectangle 15"/>
          <p:cNvSpPr/>
          <p:nvPr/>
        </p:nvSpPr>
        <p:spPr>
          <a:xfrm>
            <a:off x="1000125" y="4013200"/>
            <a:ext cx="655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19" name="Rectangle 16"/>
          <p:cNvSpPr/>
          <p:nvPr/>
        </p:nvSpPr>
        <p:spPr>
          <a:xfrm>
            <a:off x="1765300" y="1017588"/>
            <a:ext cx="7192963" cy="20415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At an interior cost-min input bundle: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(a)                       and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(b) slope of isocost = slope of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isoquant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1520" name="Object 17"/>
          <p:cNvGraphicFramePr/>
          <p:nvPr/>
        </p:nvGraphicFramePr>
        <p:xfrm>
          <a:off x="2479675" y="1397000"/>
          <a:ext cx="2297113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580515" imgH="422275" progId="Equation.2">
                  <p:embed/>
                </p:oleObj>
              </mc:Choice>
              <mc:Fallback>
                <p:oleObj name="" r:id="rId1" imgW="1580515" imgH="422275" progId="Equation.2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79675" y="1397000"/>
                        <a:ext cx="2297113" cy="606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Cost-Minimization Problem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2530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22531" name="Line 4"/>
          <p:cNvSpPr/>
          <p:nvPr/>
        </p:nvSpPr>
        <p:spPr>
          <a:xfrm>
            <a:off x="1619250" y="5095875"/>
            <a:ext cx="3929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22532" name="Rectangle 5"/>
          <p:cNvSpPr/>
          <p:nvPr/>
        </p:nvSpPr>
        <p:spPr>
          <a:xfrm>
            <a:off x="5389563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3" name="Rectangle 6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4" name="Arc 7"/>
          <p:cNvSpPr/>
          <p:nvPr/>
        </p:nvSpPr>
        <p:spPr>
          <a:xfrm rot="10800000">
            <a:off x="1811338" y="2503488"/>
            <a:ext cx="3214687" cy="24495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2535" name="Line 8"/>
          <p:cNvSpPr/>
          <p:nvPr/>
        </p:nvSpPr>
        <p:spPr>
          <a:xfrm flipH="1" flipV="1">
            <a:off x="1614488" y="2808288"/>
            <a:ext cx="3390900" cy="229393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36" name="Line 9"/>
          <p:cNvSpPr/>
          <p:nvPr/>
        </p:nvSpPr>
        <p:spPr>
          <a:xfrm flipH="1" flipV="1">
            <a:off x="1614488" y="3467100"/>
            <a:ext cx="2409825" cy="1630363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37" name="Rectangle 10"/>
          <p:cNvSpPr/>
          <p:nvPr/>
        </p:nvSpPr>
        <p:spPr>
          <a:xfrm>
            <a:off x="5003800" y="4562475"/>
            <a:ext cx="19939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f(x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8" name="Line 11"/>
          <p:cNvSpPr/>
          <p:nvPr/>
        </p:nvSpPr>
        <p:spPr>
          <a:xfrm>
            <a:off x="2825750" y="4294188"/>
            <a:ext cx="0" cy="7937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22539" name="Line 12"/>
          <p:cNvSpPr/>
          <p:nvPr/>
        </p:nvSpPr>
        <p:spPr>
          <a:xfrm flipH="1">
            <a:off x="1614488" y="4294188"/>
            <a:ext cx="121126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22540" name="Oval 13"/>
          <p:cNvSpPr/>
          <p:nvPr/>
        </p:nvSpPr>
        <p:spPr>
          <a:xfrm>
            <a:off x="2709863" y="4167188"/>
            <a:ext cx="238125" cy="238125"/>
          </a:xfrm>
          <a:prstGeom prst="ellipse">
            <a:avLst/>
          </a:prstGeom>
          <a:solidFill>
            <a:srgbClr val="4CFF1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41" name="Rectangle 14"/>
          <p:cNvSpPr/>
          <p:nvPr/>
        </p:nvSpPr>
        <p:spPr>
          <a:xfrm>
            <a:off x="2527300" y="5068888"/>
            <a:ext cx="6556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42" name="Rectangle 15"/>
          <p:cNvSpPr/>
          <p:nvPr/>
        </p:nvSpPr>
        <p:spPr>
          <a:xfrm>
            <a:off x="1000125" y="4013200"/>
            <a:ext cx="655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43" name="Rectangle 16"/>
          <p:cNvSpPr/>
          <p:nvPr/>
        </p:nvSpPr>
        <p:spPr>
          <a:xfrm>
            <a:off x="1765300" y="1017588"/>
            <a:ext cx="7192963" cy="20415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At an interior cost-min input bundle: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(a)                       and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(b) slope of isocost = slope of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isoquant; i.e.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2544" name="Object 17"/>
          <p:cNvGraphicFramePr/>
          <p:nvPr/>
        </p:nvGraphicFramePr>
        <p:xfrm>
          <a:off x="2479675" y="1397000"/>
          <a:ext cx="2297113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580515" imgH="422275" progId="Equation.2">
                  <p:embed/>
                </p:oleObj>
              </mc:Choice>
              <mc:Fallback>
                <p:oleObj name="" r:id="rId1" imgW="1580515" imgH="422275" progId="Equation.2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79675" y="1397000"/>
                        <a:ext cx="2297113" cy="606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5" name="Object 18"/>
          <p:cNvGraphicFramePr/>
          <p:nvPr/>
        </p:nvGraphicFramePr>
        <p:xfrm>
          <a:off x="3140075" y="2955925"/>
          <a:ext cx="5768975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3992880" imgH="709930" progId="Equation.2">
                  <p:embed/>
                </p:oleObj>
              </mc:Choice>
              <mc:Fallback>
                <p:oleObj name="" r:id="rId3" imgW="3992880" imgH="709930" progId="Equation.2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40075" y="2955925"/>
                        <a:ext cx="5768975" cy="995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Cobb-Douglas Example of Cost Minimization</a:t>
            </a:r>
            <a:r>
              <a:rPr lang="zh-CN" altLang="en-US" dirty="0">
                <a:ea typeface="宋体" panose="02010600030101010101" pitchFamily="2" charset="-122"/>
              </a:rPr>
              <a:t>柯布道格拉斯技术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355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 firm’s Cobb-Douglas production function is</a:t>
            </a: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Input prices are w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and w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What are the firm’s conditional input demand functions?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3555" name="Object 4"/>
          <p:cNvGraphicFramePr/>
          <p:nvPr/>
        </p:nvGraphicFramePr>
        <p:xfrm>
          <a:off x="2601913" y="2366963"/>
          <a:ext cx="430212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1" imgW="2834640" imgH="422275" progId="Equation.2">
                  <p:embed/>
                </p:oleObj>
              </mc:Choice>
              <mc:Fallback>
                <p:oleObj name="" r:id="rId1" imgW="2834640" imgH="422275" progId="Equation.2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01913" y="2366963"/>
                        <a:ext cx="4302125" cy="638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Cobb-Douglas Example of 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4578" name="Rectangle 3"/>
          <p:cNvSpPr/>
          <p:nvPr/>
        </p:nvSpPr>
        <p:spPr>
          <a:xfrm>
            <a:off x="288925" y="1612900"/>
            <a:ext cx="8788400" cy="252888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At the input bundle (x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*,x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*) which minimizes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the cost of producing y output units: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(a)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(b) 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4579" name="Object 4"/>
          <p:cNvGraphicFramePr/>
          <p:nvPr/>
        </p:nvGraphicFramePr>
        <p:xfrm>
          <a:off x="2363788" y="2695575"/>
          <a:ext cx="328136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1" imgW="2172970" imgH="422275" progId="Equation.2">
                  <p:embed/>
                </p:oleObj>
              </mc:Choice>
              <mc:Fallback>
                <p:oleObj name="" r:id="rId1" imgW="2172970" imgH="422275" progId="Equation.2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63788" y="2695575"/>
                        <a:ext cx="3281362" cy="61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Rectangle 5"/>
          <p:cNvSpPr/>
          <p:nvPr/>
        </p:nvSpPr>
        <p:spPr>
          <a:xfrm>
            <a:off x="6551613" y="2779713"/>
            <a:ext cx="9064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and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4581" name="Object 6"/>
          <p:cNvGraphicFramePr/>
          <p:nvPr/>
        </p:nvGraphicFramePr>
        <p:xfrm>
          <a:off x="809625" y="3886200"/>
          <a:ext cx="7894638" cy="264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3" imgW="5247005" imgH="1842135" progId="Equation.2">
                  <p:embed/>
                </p:oleObj>
              </mc:Choice>
              <mc:Fallback>
                <p:oleObj name="" r:id="rId3" imgW="5247005" imgH="1842135" progId="Equation.2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09625" y="3886200"/>
                        <a:ext cx="7894638" cy="2649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Cobb-Douglas Example of 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5602" name="Object 3"/>
          <p:cNvGraphicFramePr/>
          <p:nvPr/>
        </p:nvGraphicFramePr>
        <p:xfrm>
          <a:off x="1316038" y="1457325"/>
          <a:ext cx="328136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1" imgW="2172970" imgH="422275" progId="Equation.2">
                  <p:embed/>
                </p:oleObj>
              </mc:Choice>
              <mc:Fallback>
                <p:oleObj name="" r:id="rId1" imgW="2172970" imgH="422275" progId="Equation.2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16038" y="1457325"/>
                        <a:ext cx="3281362" cy="61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4"/>
          <p:cNvGraphicFramePr/>
          <p:nvPr/>
        </p:nvGraphicFramePr>
        <p:xfrm>
          <a:off x="6088063" y="1173163"/>
          <a:ext cx="1851025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3" imgW="1232535" imgH="875030" progId="Equation.2">
                  <p:embed/>
                </p:oleObj>
              </mc:Choice>
              <mc:Fallback>
                <p:oleObj name="" r:id="rId3" imgW="1232535" imgH="875030" progId="Equation.2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88063" y="1173163"/>
                        <a:ext cx="1851025" cy="1254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Rectangle 5"/>
          <p:cNvSpPr/>
          <p:nvPr/>
        </p:nvSpPr>
        <p:spPr>
          <a:xfrm>
            <a:off x="598488" y="1541463"/>
            <a:ext cx="68103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(a)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05" name="Rectangle 6"/>
          <p:cNvSpPr/>
          <p:nvPr/>
        </p:nvSpPr>
        <p:spPr>
          <a:xfrm>
            <a:off x="5218113" y="1541463"/>
            <a:ext cx="7032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(b)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Cobb-Douglas Example of 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6626" name="Object 3"/>
          <p:cNvGraphicFramePr/>
          <p:nvPr/>
        </p:nvGraphicFramePr>
        <p:xfrm>
          <a:off x="1316038" y="1457325"/>
          <a:ext cx="328136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1" imgW="2172970" imgH="422275" progId="Equation.2">
                  <p:embed/>
                </p:oleObj>
              </mc:Choice>
              <mc:Fallback>
                <p:oleObj name="" r:id="rId1" imgW="2172970" imgH="422275" progId="Equation.2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16038" y="1457325"/>
                        <a:ext cx="3281362" cy="61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Object 4"/>
          <p:cNvGraphicFramePr/>
          <p:nvPr/>
        </p:nvGraphicFramePr>
        <p:xfrm>
          <a:off x="6088063" y="1173163"/>
          <a:ext cx="1851025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3" imgW="1232535" imgH="875030" progId="Equation.2">
                  <p:embed/>
                </p:oleObj>
              </mc:Choice>
              <mc:Fallback>
                <p:oleObj name="" r:id="rId3" imgW="1232535" imgH="875030" progId="Equation.2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88063" y="1173163"/>
                        <a:ext cx="1851025" cy="1254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Rectangle 5"/>
          <p:cNvSpPr/>
          <p:nvPr/>
        </p:nvSpPr>
        <p:spPr>
          <a:xfrm>
            <a:off x="598488" y="1541463"/>
            <a:ext cx="68103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(a)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9" name="Rectangle 6"/>
          <p:cNvSpPr/>
          <p:nvPr/>
        </p:nvSpPr>
        <p:spPr>
          <a:xfrm>
            <a:off x="5218113" y="1541463"/>
            <a:ext cx="7032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(b)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30" name="Rectangle 7"/>
          <p:cNvSpPr/>
          <p:nvPr/>
        </p:nvSpPr>
        <p:spPr>
          <a:xfrm>
            <a:off x="646113" y="2422525"/>
            <a:ext cx="1944687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From (b),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6631" name="Object 8"/>
          <p:cNvGraphicFramePr/>
          <p:nvPr/>
        </p:nvGraphicFramePr>
        <p:xfrm>
          <a:off x="2773363" y="2219325"/>
          <a:ext cx="223202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5" imgW="1493520" imgH="709930" progId="Equation.2">
                  <p:embed/>
                </p:oleObj>
              </mc:Choice>
              <mc:Fallback>
                <p:oleObj name="" r:id="rId5" imgW="1493520" imgH="709930" progId="Equation.2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73363" y="2219325"/>
                        <a:ext cx="2232025" cy="1008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Cobb-Douglas Example of 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7650" name="Object 3"/>
          <p:cNvGraphicFramePr/>
          <p:nvPr/>
        </p:nvGraphicFramePr>
        <p:xfrm>
          <a:off x="1316038" y="1457325"/>
          <a:ext cx="328136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1" imgW="2172970" imgH="422275" progId="Equation.2">
                  <p:embed/>
                </p:oleObj>
              </mc:Choice>
              <mc:Fallback>
                <p:oleObj name="" r:id="rId1" imgW="2172970" imgH="422275" progId="Equation.2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16038" y="1457325"/>
                        <a:ext cx="3281362" cy="61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4"/>
          <p:cNvGraphicFramePr/>
          <p:nvPr/>
        </p:nvGraphicFramePr>
        <p:xfrm>
          <a:off x="6088063" y="1173163"/>
          <a:ext cx="1851025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3" imgW="1232535" imgH="875030" progId="Equation.2">
                  <p:embed/>
                </p:oleObj>
              </mc:Choice>
              <mc:Fallback>
                <p:oleObj name="" r:id="rId3" imgW="1232535" imgH="875030" progId="Equation.2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88063" y="1173163"/>
                        <a:ext cx="1851025" cy="1254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" name="Rectangle 5"/>
          <p:cNvSpPr/>
          <p:nvPr/>
        </p:nvSpPr>
        <p:spPr>
          <a:xfrm>
            <a:off x="598488" y="1541463"/>
            <a:ext cx="68103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(a)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53" name="Rectangle 6"/>
          <p:cNvSpPr/>
          <p:nvPr/>
        </p:nvSpPr>
        <p:spPr>
          <a:xfrm>
            <a:off x="5218113" y="1541463"/>
            <a:ext cx="7032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(b)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54" name="Rectangle 7"/>
          <p:cNvSpPr/>
          <p:nvPr/>
        </p:nvSpPr>
        <p:spPr>
          <a:xfrm>
            <a:off x="646113" y="2422525"/>
            <a:ext cx="1944687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From (b),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7655" name="Object 8"/>
          <p:cNvGraphicFramePr/>
          <p:nvPr/>
        </p:nvGraphicFramePr>
        <p:xfrm>
          <a:off x="2773363" y="2219325"/>
          <a:ext cx="223202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5" imgW="1493520" imgH="709930" progId="Equation.2">
                  <p:embed/>
                </p:oleObj>
              </mc:Choice>
              <mc:Fallback>
                <p:oleObj name="" r:id="rId5" imgW="1493520" imgH="709930" progId="Equation.2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73363" y="2219325"/>
                        <a:ext cx="2232025" cy="1008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Rectangle 9"/>
          <p:cNvSpPr/>
          <p:nvPr/>
        </p:nvSpPr>
        <p:spPr>
          <a:xfrm>
            <a:off x="646113" y="3208338"/>
            <a:ext cx="57832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Now substitute into (a) to get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57" name="Oval 10"/>
          <p:cNvSpPr/>
          <p:nvPr/>
        </p:nvSpPr>
        <p:spPr>
          <a:xfrm>
            <a:off x="2679700" y="2322513"/>
            <a:ext cx="665163" cy="665162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58" name="Line 11"/>
          <p:cNvSpPr/>
          <p:nvPr/>
        </p:nvSpPr>
        <p:spPr>
          <a:xfrm flipV="1">
            <a:off x="3143250" y="1952625"/>
            <a:ext cx="309563" cy="404813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graphicFrame>
        <p:nvGraphicFramePr>
          <p:cNvPr id="27659" name="Object 12"/>
          <p:cNvGraphicFramePr/>
          <p:nvPr/>
        </p:nvGraphicFramePr>
        <p:xfrm>
          <a:off x="1470025" y="3635375"/>
          <a:ext cx="4137025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7" imgW="2756535" imgH="866775" progId="Equation.2">
                  <p:embed/>
                </p:oleObj>
              </mc:Choice>
              <mc:Fallback>
                <p:oleObj name="" r:id="rId7" imgW="2756535" imgH="866775" progId="Equation.2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70025" y="3635375"/>
                        <a:ext cx="4137025" cy="1235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Cobb-Douglas Example of 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8674" name="Object 1024"/>
          <p:cNvGraphicFramePr/>
          <p:nvPr/>
        </p:nvGraphicFramePr>
        <p:xfrm>
          <a:off x="1316038" y="1457325"/>
          <a:ext cx="328136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1" imgW="2172970" imgH="422275" progId="Equation.2">
                  <p:embed/>
                </p:oleObj>
              </mc:Choice>
              <mc:Fallback>
                <p:oleObj name="" r:id="rId1" imgW="2172970" imgH="422275" progId="Equation.2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16038" y="1457325"/>
                        <a:ext cx="3281362" cy="61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5" name="Object 1025"/>
          <p:cNvGraphicFramePr/>
          <p:nvPr/>
        </p:nvGraphicFramePr>
        <p:xfrm>
          <a:off x="6088063" y="1173163"/>
          <a:ext cx="1851025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3" imgW="1232535" imgH="875030" progId="Equation.2">
                  <p:embed/>
                </p:oleObj>
              </mc:Choice>
              <mc:Fallback>
                <p:oleObj name="" r:id="rId3" imgW="1232535" imgH="875030" progId="Equation.2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88063" y="1173163"/>
                        <a:ext cx="1851025" cy="1254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6" name="Rectangle 5"/>
          <p:cNvSpPr/>
          <p:nvPr/>
        </p:nvSpPr>
        <p:spPr>
          <a:xfrm>
            <a:off x="598488" y="1541463"/>
            <a:ext cx="68103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(a)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7" name="Rectangle 6"/>
          <p:cNvSpPr/>
          <p:nvPr/>
        </p:nvSpPr>
        <p:spPr>
          <a:xfrm>
            <a:off x="5218113" y="1541463"/>
            <a:ext cx="7032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(b)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8" name="Rectangle 7"/>
          <p:cNvSpPr/>
          <p:nvPr/>
        </p:nvSpPr>
        <p:spPr>
          <a:xfrm>
            <a:off x="646113" y="2422525"/>
            <a:ext cx="1944687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From (b),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8679" name="Object 1026"/>
          <p:cNvGraphicFramePr/>
          <p:nvPr/>
        </p:nvGraphicFramePr>
        <p:xfrm>
          <a:off x="2773363" y="2219325"/>
          <a:ext cx="223202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5" imgW="1493520" imgH="709930" progId="Equation.2">
                  <p:embed/>
                </p:oleObj>
              </mc:Choice>
              <mc:Fallback>
                <p:oleObj name="" r:id="rId5" imgW="1493520" imgH="709930" progId="Equation.2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73363" y="2219325"/>
                        <a:ext cx="2232025" cy="1008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0" name="Rectangle 9"/>
          <p:cNvSpPr/>
          <p:nvPr/>
        </p:nvSpPr>
        <p:spPr>
          <a:xfrm>
            <a:off x="646113" y="3208338"/>
            <a:ext cx="57832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Now substitute into (a) to get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8681" name="Object 1027"/>
          <p:cNvGraphicFramePr/>
          <p:nvPr/>
        </p:nvGraphicFramePr>
        <p:xfrm>
          <a:off x="1471613" y="3635375"/>
          <a:ext cx="6905625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7" imgW="4593590" imgH="866775" progId="Equation.2">
                  <p:embed/>
                </p:oleObj>
              </mc:Choice>
              <mc:Fallback>
                <p:oleObj name="" r:id="rId7" imgW="4593590" imgH="866775" progId="Equation.2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71613" y="3635375"/>
                        <a:ext cx="6905625" cy="1244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2" name="Oval 11"/>
          <p:cNvSpPr/>
          <p:nvPr/>
        </p:nvSpPr>
        <p:spPr>
          <a:xfrm>
            <a:off x="2679700" y="2322513"/>
            <a:ext cx="665163" cy="665162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83" name="Line 12"/>
          <p:cNvSpPr/>
          <p:nvPr/>
        </p:nvSpPr>
        <p:spPr>
          <a:xfrm flipV="1">
            <a:off x="3143250" y="1952625"/>
            <a:ext cx="309563" cy="404813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Cobb-Douglas Example of 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9698" name="Object 1024"/>
          <p:cNvGraphicFramePr/>
          <p:nvPr/>
        </p:nvGraphicFramePr>
        <p:xfrm>
          <a:off x="1316038" y="1457325"/>
          <a:ext cx="328136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1" imgW="2172970" imgH="422275" progId="Equation.2">
                  <p:embed/>
                </p:oleObj>
              </mc:Choice>
              <mc:Fallback>
                <p:oleObj name="" r:id="rId1" imgW="2172970" imgH="422275" progId="Equation.2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16038" y="1457325"/>
                        <a:ext cx="3281362" cy="61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9" name="Object 1025"/>
          <p:cNvGraphicFramePr/>
          <p:nvPr/>
        </p:nvGraphicFramePr>
        <p:xfrm>
          <a:off x="6088063" y="1173163"/>
          <a:ext cx="1851025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3" imgW="1232535" imgH="875030" progId="Equation.2">
                  <p:embed/>
                </p:oleObj>
              </mc:Choice>
              <mc:Fallback>
                <p:oleObj name="" r:id="rId3" imgW="1232535" imgH="875030" progId="Equation.2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88063" y="1173163"/>
                        <a:ext cx="1851025" cy="1254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0" name="Rectangle 5"/>
          <p:cNvSpPr/>
          <p:nvPr/>
        </p:nvSpPr>
        <p:spPr>
          <a:xfrm>
            <a:off x="598488" y="1541463"/>
            <a:ext cx="68103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(a)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1" name="Rectangle 6"/>
          <p:cNvSpPr/>
          <p:nvPr/>
        </p:nvSpPr>
        <p:spPr>
          <a:xfrm>
            <a:off x="5218113" y="1541463"/>
            <a:ext cx="7032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(b)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2" name="Rectangle 7"/>
          <p:cNvSpPr/>
          <p:nvPr/>
        </p:nvSpPr>
        <p:spPr>
          <a:xfrm>
            <a:off x="646113" y="2422525"/>
            <a:ext cx="1944687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From (b),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9703" name="Object 1026"/>
          <p:cNvGraphicFramePr/>
          <p:nvPr/>
        </p:nvGraphicFramePr>
        <p:xfrm>
          <a:off x="2773363" y="2219325"/>
          <a:ext cx="223202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" r:id="rId5" imgW="1493520" imgH="709930" progId="Equation.2">
                  <p:embed/>
                </p:oleObj>
              </mc:Choice>
              <mc:Fallback>
                <p:oleObj name="" r:id="rId5" imgW="1493520" imgH="709930" progId="Equation.2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73363" y="2219325"/>
                        <a:ext cx="2232025" cy="1008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Rectangle 9"/>
          <p:cNvSpPr/>
          <p:nvPr/>
        </p:nvSpPr>
        <p:spPr>
          <a:xfrm>
            <a:off x="646113" y="3208338"/>
            <a:ext cx="57832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Now substitute into (a) to get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9705" name="Object 1027"/>
          <p:cNvGraphicFramePr/>
          <p:nvPr/>
        </p:nvGraphicFramePr>
        <p:xfrm>
          <a:off x="1471613" y="3635375"/>
          <a:ext cx="6905625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7" imgW="4593590" imgH="866775" progId="Equation.2">
                  <p:embed/>
                </p:oleObj>
              </mc:Choice>
              <mc:Fallback>
                <p:oleObj name="" r:id="rId7" imgW="4593590" imgH="866775" progId="Equation.2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71613" y="3635375"/>
                        <a:ext cx="6905625" cy="1244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6" name="Oval 11"/>
          <p:cNvSpPr/>
          <p:nvPr/>
        </p:nvSpPr>
        <p:spPr>
          <a:xfrm>
            <a:off x="2679700" y="2322513"/>
            <a:ext cx="665163" cy="665162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7" name="Line 12"/>
          <p:cNvSpPr/>
          <p:nvPr/>
        </p:nvSpPr>
        <p:spPr>
          <a:xfrm flipV="1">
            <a:off x="3143250" y="1952625"/>
            <a:ext cx="309563" cy="404813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graphicFrame>
        <p:nvGraphicFramePr>
          <p:cNvPr id="29708" name="Object 1028"/>
          <p:cNvGraphicFramePr/>
          <p:nvPr/>
        </p:nvGraphicFramePr>
        <p:xfrm>
          <a:off x="1449388" y="4983163"/>
          <a:ext cx="2824162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9" imgW="1894205" imgH="866775" progId="Equation.2">
                  <p:embed/>
                </p:oleObj>
              </mc:Choice>
              <mc:Fallback>
                <p:oleObj name="" r:id="rId9" imgW="1894205" imgH="866775" progId="Equation.2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49388" y="4983163"/>
                        <a:ext cx="2824162" cy="1216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9" name="Rectangle 14"/>
          <p:cNvSpPr/>
          <p:nvPr/>
        </p:nvSpPr>
        <p:spPr>
          <a:xfrm>
            <a:off x="669925" y="5351463"/>
            <a:ext cx="70326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So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10" name="Rectangle 15"/>
          <p:cNvSpPr/>
          <p:nvPr/>
        </p:nvSpPr>
        <p:spPr>
          <a:xfrm>
            <a:off x="4360863" y="5351463"/>
            <a:ext cx="4745037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is the firm’s conditional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demand for input 1.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Cobb-Douglas Example of 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0722" name="Object 1024"/>
          <p:cNvGraphicFramePr/>
          <p:nvPr/>
        </p:nvGraphicFramePr>
        <p:xfrm>
          <a:off x="1885950" y="1543050"/>
          <a:ext cx="2092325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1" imgW="1406525" imgH="709930" progId="Equation.2">
                  <p:embed/>
                </p:oleObj>
              </mc:Choice>
              <mc:Fallback>
                <p:oleObj name="" r:id="rId1" imgW="1406525" imgH="709930" progId="Equation.2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85950" y="1543050"/>
                        <a:ext cx="2092325" cy="998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1025"/>
          <p:cNvGraphicFramePr/>
          <p:nvPr/>
        </p:nvGraphicFramePr>
        <p:xfrm>
          <a:off x="5568950" y="1316038"/>
          <a:ext cx="2824163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3" imgW="1894205" imgH="866775" progId="Equation.2">
                  <p:embed/>
                </p:oleObj>
              </mc:Choice>
              <mc:Fallback>
                <p:oleObj name="" r:id="rId3" imgW="1894205" imgH="866775" progId="Equation.2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68950" y="1316038"/>
                        <a:ext cx="2824163" cy="1216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Rectangle 5"/>
          <p:cNvSpPr/>
          <p:nvPr/>
        </p:nvSpPr>
        <p:spPr>
          <a:xfrm>
            <a:off x="407988" y="3827463"/>
            <a:ext cx="862965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is the firm’s conditional demand for input 2.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5" name="Rectangle 6"/>
          <p:cNvSpPr/>
          <p:nvPr/>
        </p:nvSpPr>
        <p:spPr>
          <a:xfrm>
            <a:off x="407988" y="1684338"/>
            <a:ext cx="126841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Since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6" name="Rectangle 7"/>
          <p:cNvSpPr/>
          <p:nvPr/>
        </p:nvSpPr>
        <p:spPr>
          <a:xfrm>
            <a:off x="4384675" y="1684338"/>
            <a:ext cx="90646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and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0727" name="Object 1026"/>
          <p:cNvGraphicFramePr/>
          <p:nvPr/>
        </p:nvGraphicFramePr>
        <p:xfrm>
          <a:off x="1030288" y="2601913"/>
          <a:ext cx="598805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5" imgW="4027805" imgH="866775" progId="Equation.2">
                  <p:embed/>
                </p:oleObj>
              </mc:Choice>
              <mc:Fallback>
                <p:oleObj name="" r:id="rId5" imgW="4027805" imgH="866775" progId="Equation.2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30288" y="2601913"/>
                        <a:ext cx="5988050" cy="1206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Cobb-Douglas Example of 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1746" name="Rectangle 3"/>
          <p:cNvSpPr/>
          <p:nvPr/>
        </p:nvSpPr>
        <p:spPr>
          <a:xfrm>
            <a:off x="312738" y="1660525"/>
            <a:ext cx="793432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So the cheapest input bundle yielding y 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output units is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1747" name="Object 2048"/>
          <p:cNvGraphicFramePr/>
          <p:nvPr/>
        </p:nvGraphicFramePr>
        <p:xfrm>
          <a:off x="1779588" y="2984500"/>
          <a:ext cx="5176837" cy="221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1" imgW="3496310" imgH="1624330" progId="Equation.2">
                  <p:embed/>
                </p:oleObj>
              </mc:Choice>
              <mc:Fallback>
                <p:oleObj name="" r:id="rId1" imgW="3496310" imgH="1624330" progId="Equation.2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79588" y="2984500"/>
                        <a:ext cx="5176837" cy="2214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2769" name="Object 0"/>
          <p:cNvGraphicFramePr/>
          <p:nvPr/>
        </p:nvGraphicFramePr>
        <p:xfrm>
          <a:off x="23813" y="882650"/>
          <a:ext cx="7600950" cy="569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1" imgW="5476875" imgH="4105275" progId="PowerPoint.Slide.8">
                  <p:embed/>
                </p:oleObj>
              </mc:Choice>
              <mc:Fallback>
                <p:oleObj name="" r:id="rId1" imgW="5476875" imgH="4105275" progId="PowerPoint.Slide.8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813" y="882650"/>
                        <a:ext cx="7600950" cy="569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0" name="Line 3"/>
          <p:cNvSpPr/>
          <p:nvPr/>
        </p:nvSpPr>
        <p:spPr>
          <a:xfrm>
            <a:off x="1571625" y="2700338"/>
            <a:ext cx="3462338" cy="28067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71" name="Rectangle 4"/>
          <p:cNvSpPr/>
          <p:nvPr/>
        </p:nvSpPr>
        <p:spPr>
          <a:xfrm>
            <a:off x="1431925" y="1181100"/>
            <a:ext cx="29638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Fixed w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and w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2" name="Line 5"/>
          <p:cNvSpPr/>
          <p:nvPr/>
        </p:nvSpPr>
        <p:spPr>
          <a:xfrm>
            <a:off x="1557338" y="3524250"/>
            <a:ext cx="2481262" cy="201136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73" name="Line 6"/>
          <p:cNvSpPr/>
          <p:nvPr/>
        </p:nvSpPr>
        <p:spPr>
          <a:xfrm>
            <a:off x="1573213" y="4130675"/>
            <a:ext cx="1743075" cy="1412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74" name="Rectangle 7"/>
          <p:cNvSpPr/>
          <p:nvPr/>
        </p:nvSpPr>
        <p:spPr>
          <a:xfrm>
            <a:off x="0" y="0"/>
            <a:ext cx="9142413" cy="1219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p>
            <a:pPr algn="ctr" eaLnBrk="0" hangingPunct="0">
              <a:buSzTx/>
            </a:pPr>
            <a:r>
              <a:rPr lang="en-US" altLang="zh-CN" sz="44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Conditional Input Demand Curves</a:t>
            </a:r>
            <a:endParaRPr lang="en-US" altLang="zh-CN" sz="44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2775" name="Object 1"/>
          <p:cNvGraphicFramePr/>
          <p:nvPr/>
        </p:nvGraphicFramePr>
        <p:xfrm>
          <a:off x="4994275" y="5108575"/>
          <a:ext cx="3175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3" imgW="222250" imgH="265430" progId="Equation.2">
                  <p:embed/>
                </p:oleObj>
              </mc:Choice>
              <mc:Fallback>
                <p:oleObj name="" r:id="rId3" imgW="222250" imgH="265430" progId="Equation.2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94275" y="5108575"/>
                        <a:ext cx="3175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6" name="Object 2"/>
          <p:cNvGraphicFramePr/>
          <p:nvPr/>
        </p:nvGraphicFramePr>
        <p:xfrm>
          <a:off x="4756150" y="4870450"/>
          <a:ext cx="40163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5" imgW="283210" imgH="265430" progId="Equation.2">
                  <p:embed/>
                </p:oleObj>
              </mc:Choice>
              <mc:Fallback>
                <p:oleObj name="" r:id="rId5" imgW="283210" imgH="265430" progId="Equation.2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56150" y="4870450"/>
                        <a:ext cx="401638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7" name="Object 3"/>
          <p:cNvGraphicFramePr/>
          <p:nvPr/>
        </p:nvGraphicFramePr>
        <p:xfrm>
          <a:off x="4764088" y="4537075"/>
          <a:ext cx="4730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7" imgW="335280" imgH="265430" progId="Equation.2">
                  <p:embed/>
                </p:oleObj>
              </mc:Choice>
              <mc:Fallback>
                <p:oleObj name="" r:id="rId7" imgW="335280" imgH="265430" progId="Equation.2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64088" y="4537075"/>
                        <a:ext cx="473075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3793" name="Object 2"/>
          <p:cNvGraphicFramePr/>
          <p:nvPr/>
        </p:nvGraphicFramePr>
        <p:xfrm>
          <a:off x="23813" y="882650"/>
          <a:ext cx="7600950" cy="569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1" imgW="5476875" imgH="4105275" progId="PowerPoint.Slide.8">
                  <p:embed/>
                </p:oleObj>
              </mc:Choice>
              <mc:Fallback>
                <p:oleObj name="" r:id="rId1" imgW="5476875" imgH="4105275" progId="PowerPoint.Slide.8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813" y="882650"/>
                        <a:ext cx="7600950" cy="569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4" name="Line 3"/>
          <p:cNvSpPr/>
          <p:nvPr/>
        </p:nvSpPr>
        <p:spPr>
          <a:xfrm>
            <a:off x="1571625" y="2700338"/>
            <a:ext cx="3462338" cy="28067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95" name="Rectangle 4"/>
          <p:cNvSpPr/>
          <p:nvPr/>
        </p:nvSpPr>
        <p:spPr>
          <a:xfrm>
            <a:off x="1431925" y="1181100"/>
            <a:ext cx="29638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Fixed w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and w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796" name="Line 5"/>
          <p:cNvSpPr/>
          <p:nvPr/>
        </p:nvSpPr>
        <p:spPr>
          <a:xfrm>
            <a:off x="1557338" y="3524250"/>
            <a:ext cx="2481262" cy="201136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97" name="Line 6"/>
          <p:cNvSpPr/>
          <p:nvPr/>
        </p:nvSpPr>
        <p:spPr>
          <a:xfrm>
            <a:off x="1573213" y="4130675"/>
            <a:ext cx="1743075" cy="1412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98" name="Rectangle 7"/>
          <p:cNvSpPr/>
          <p:nvPr/>
        </p:nvSpPr>
        <p:spPr>
          <a:xfrm>
            <a:off x="0" y="0"/>
            <a:ext cx="9142413" cy="1219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p>
            <a:pPr algn="ctr" eaLnBrk="0" hangingPunct="0">
              <a:buSzTx/>
            </a:pPr>
            <a:r>
              <a:rPr lang="en-US" altLang="zh-CN" sz="40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Conditional Input Demand Curves</a:t>
            </a:r>
            <a:endParaRPr lang="en-US" altLang="zh-CN" sz="44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99" name="Line 8"/>
          <p:cNvSpPr/>
          <p:nvPr/>
        </p:nvSpPr>
        <p:spPr>
          <a:xfrm>
            <a:off x="2422525" y="4813300"/>
            <a:ext cx="0" cy="7080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3800" name="Line 9"/>
          <p:cNvSpPr/>
          <p:nvPr/>
        </p:nvSpPr>
        <p:spPr>
          <a:xfrm flipH="1">
            <a:off x="1570038" y="4813300"/>
            <a:ext cx="8382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3801" name="Oval 10"/>
          <p:cNvSpPr/>
          <p:nvPr/>
        </p:nvSpPr>
        <p:spPr>
          <a:xfrm>
            <a:off x="2293938" y="4683125"/>
            <a:ext cx="246062" cy="246063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3802" name="Object 11"/>
          <p:cNvGraphicFramePr/>
          <p:nvPr/>
        </p:nvGraphicFramePr>
        <p:xfrm>
          <a:off x="1709738" y="5516563"/>
          <a:ext cx="96043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3" imgW="666115" imgH="370205" progId="Equation.2">
                  <p:embed/>
                </p:oleObj>
              </mc:Choice>
              <mc:Fallback>
                <p:oleObj name="" r:id="rId3" imgW="666115" imgH="370205" progId="Equation.2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09738" y="5516563"/>
                        <a:ext cx="960437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3" name="Object 12"/>
          <p:cNvGraphicFramePr/>
          <p:nvPr/>
        </p:nvGraphicFramePr>
        <p:xfrm>
          <a:off x="520700" y="4586288"/>
          <a:ext cx="98901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5" imgW="692150" imgH="370205" progId="Equation.2">
                  <p:embed/>
                </p:oleObj>
              </mc:Choice>
              <mc:Fallback>
                <p:oleObj name="" r:id="rId5" imgW="692150" imgH="370205" progId="Equation.2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0700" y="4586288"/>
                        <a:ext cx="989013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4" name="Line 13"/>
          <p:cNvSpPr/>
          <p:nvPr/>
        </p:nvSpPr>
        <p:spPr>
          <a:xfrm>
            <a:off x="6267450" y="3214688"/>
            <a:ext cx="22812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33805" name="Line 14"/>
          <p:cNvSpPr/>
          <p:nvPr/>
        </p:nvSpPr>
        <p:spPr>
          <a:xfrm flipV="1">
            <a:off x="6265863" y="1133475"/>
            <a:ext cx="0" cy="20637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33806" name="Line 15"/>
          <p:cNvSpPr/>
          <p:nvPr/>
        </p:nvSpPr>
        <p:spPr>
          <a:xfrm>
            <a:off x="6267450" y="5548313"/>
            <a:ext cx="22812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33807" name="Line 16"/>
          <p:cNvSpPr/>
          <p:nvPr/>
        </p:nvSpPr>
        <p:spPr>
          <a:xfrm flipV="1">
            <a:off x="6265863" y="3467100"/>
            <a:ext cx="0" cy="20637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graphicFrame>
        <p:nvGraphicFramePr>
          <p:cNvPr id="33808" name="Object 17"/>
          <p:cNvGraphicFramePr/>
          <p:nvPr/>
        </p:nvGraphicFramePr>
        <p:xfrm>
          <a:off x="4994275" y="5108575"/>
          <a:ext cx="3175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7" imgW="222250" imgH="265430" progId="Equation.2">
                  <p:embed/>
                </p:oleObj>
              </mc:Choice>
              <mc:Fallback>
                <p:oleObj name="" r:id="rId7" imgW="222250" imgH="265430" progId="Equation.2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94275" y="5108575"/>
                        <a:ext cx="3175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9" name="Object 18"/>
          <p:cNvGraphicFramePr/>
          <p:nvPr/>
        </p:nvGraphicFramePr>
        <p:xfrm>
          <a:off x="4756150" y="4870450"/>
          <a:ext cx="40163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9" imgW="283210" imgH="265430" progId="Equation.2">
                  <p:embed/>
                </p:oleObj>
              </mc:Choice>
              <mc:Fallback>
                <p:oleObj name="" r:id="rId9" imgW="283210" imgH="265430" progId="Equation.2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56150" y="4870450"/>
                        <a:ext cx="401638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0" name="Object 19"/>
          <p:cNvGraphicFramePr/>
          <p:nvPr/>
        </p:nvGraphicFramePr>
        <p:xfrm>
          <a:off x="4764088" y="4537075"/>
          <a:ext cx="4730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11" imgW="335280" imgH="265430" progId="Equation.2">
                  <p:embed/>
                </p:oleObj>
              </mc:Choice>
              <mc:Fallback>
                <p:oleObj name="" r:id="rId11" imgW="335280" imgH="265430" progId="Equation.2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64088" y="4537075"/>
                        <a:ext cx="473075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1" name="Object 20"/>
          <p:cNvGraphicFramePr/>
          <p:nvPr/>
        </p:nvGraphicFramePr>
        <p:xfrm>
          <a:off x="5899150" y="2584450"/>
          <a:ext cx="3175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" r:id="rId13" imgW="222250" imgH="265430" progId="Equation.2">
                  <p:embed/>
                </p:oleObj>
              </mc:Choice>
              <mc:Fallback>
                <p:oleObj name="" r:id="rId13" imgW="222250" imgH="265430" progId="Equation.2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99150" y="2584450"/>
                        <a:ext cx="3175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2" name="Object 21"/>
          <p:cNvGraphicFramePr/>
          <p:nvPr/>
        </p:nvGraphicFramePr>
        <p:xfrm>
          <a:off x="5899150" y="4894263"/>
          <a:ext cx="3175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15" imgW="222250" imgH="265430" progId="Equation.2">
                  <p:embed/>
                </p:oleObj>
              </mc:Choice>
              <mc:Fallback>
                <p:oleObj name="" r:id="rId15" imgW="222250" imgH="265430" progId="Equation.2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99150" y="4894263"/>
                        <a:ext cx="3175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3" name="Object 22"/>
          <p:cNvGraphicFramePr/>
          <p:nvPr/>
        </p:nvGraphicFramePr>
        <p:xfrm>
          <a:off x="6392863" y="3211513"/>
          <a:ext cx="8445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17" imgW="692150" imgH="370205" progId="Equation.2">
                  <p:embed/>
                </p:oleObj>
              </mc:Choice>
              <mc:Fallback>
                <p:oleObj name="" r:id="rId17" imgW="692150" imgH="370205" progId="Equation.2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392863" y="3211513"/>
                        <a:ext cx="844550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4" name="Object 23"/>
          <p:cNvGraphicFramePr/>
          <p:nvPr/>
        </p:nvGraphicFramePr>
        <p:xfrm>
          <a:off x="6423025" y="5554663"/>
          <a:ext cx="8032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19" imgW="666115" imgH="370205" progId="Equation.2">
                  <p:embed/>
                </p:oleObj>
              </mc:Choice>
              <mc:Fallback>
                <p:oleObj name="" r:id="rId19" imgW="666115" imgH="370205" progId="Equation.2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23025" y="5554663"/>
                        <a:ext cx="80327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5" name="Line 24"/>
          <p:cNvSpPr/>
          <p:nvPr/>
        </p:nvSpPr>
        <p:spPr>
          <a:xfrm>
            <a:off x="6265863" y="2719388"/>
            <a:ext cx="6937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3816" name="Line 25"/>
          <p:cNvSpPr/>
          <p:nvPr/>
        </p:nvSpPr>
        <p:spPr>
          <a:xfrm flipV="1">
            <a:off x="6959600" y="2719388"/>
            <a:ext cx="0" cy="4905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3817" name="Line 26"/>
          <p:cNvSpPr/>
          <p:nvPr/>
        </p:nvSpPr>
        <p:spPr>
          <a:xfrm>
            <a:off x="6265863" y="5053013"/>
            <a:ext cx="6937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3818" name="Line 27"/>
          <p:cNvSpPr/>
          <p:nvPr/>
        </p:nvSpPr>
        <p:spPr>
          <a:xfrm flipV="1">
            <a:off x="6888163" y="5053013"/>
            <a:ext cx="0" cy="4905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3819" name="Oval 28"/>
          <p:cNvSpPr/>
          <p:nvPr/>
        </p:nvSpPr>
        <p:spPr>
          <a:xfrm>
            <a:off x="6824663" y="2590800"/>
            <a:ext cx="246062" cy="246063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20" name="Oval 29"/>
          <p:cNvSpPr/>
          <p:nvPr/>
        </p:nvSpPr>
        <p:spPr>
          <a:xfrm>
            <a:off x="6767513" y="4927600"/>
            <a:ext cx="246062" cy="246063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3821" name="Object 30"/>
          <p:cNvGraphicFramePr/>
          <p:nvPr/>
        </p:nvGraphicFramePr>
        <p:xfrm>
          <a:off x="8586788" y="3167063"/>
          <a:ext cx="38576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21" imgW="265430" imgH="370205" progId="Equation.2">
                  <p:embed/>
                </p:oleObj>
              </mc:Choice>
              <mc:Fallback>
                <p:oleObj name="" r:id="rId21" imgW="265430" imgH="370205" progId="Equation.2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586788" y="3167063"/>
                        <a:ext cx="385762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2" name="Object 31"/>
          <p:cNvGraphicFramePr/>
          <p:nvPr/>
        </p:nvGraphicFramePr>
        <p:xfrm>
          <a:off x="8599488" y="5510213"/>
          <a:ext cx="3508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23" imgW="248285" imgH="370205" progId="Equation.2">
                  <p:embed/>
                </p:oleObj>
              </mc:Choice>
              <mc:Fallback>
                <p:oleObj name="" r:id="rId23" imgW="248285" imgH="370205" progId="Equation.2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599488" y="5510213"/>
                        <a:ext cx="350837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3" name="Object 32"/>
          <p:cNvGraphicFramePr/>
          <p:nvPr/>
        </p:nvGraphicFramePr>
        <p:xfrm>
          <a:off x="5905500" y="1066800"/>
          <a:ext cx="214313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" r:id="rId25" imgW="152400" imgH="213360" progId="Equation.2">
                  <p:embed/>
                </p:oleObj>
              </mc:Choice>
              <mc:Fallback>
                <p:oleObj name="" r:id="rId25" imgW="152400" imgH="213360" progId="Equation.2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05500" y="1066800"/>
                        <a:ext cx="214313" cy="296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4" name="Object 33"/>
          <p:cNvGraphicFramePr/>
          <p:nvPr/>
        </p:nvGraphicFramePr>
        <p:xfrm>
          <a:off x="5905500" y="3390900"/>
          <a:ext cx="214313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" r:id="rId27" imgW="152400" imgH="213360" progId="Equation.2">
                  <p:embed/>
                </p:oleObj>
              </mc:Choice>
              <mc:Fallback>
                <p:oleObj name="" r:id="rId27" imgW="152400" imgH="213360" progId="Equation.2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05500" y="3390900"/>
                        <a:ext cx="214313" cy="296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4817" name="Object 2"/>
          <p:cNvGraphicFramePr/>
          <p:nvPr/>
        </p:nvGraphicFramePr>
        <p:xfrm>
          <a:off x="23813" y="882650"/>
          <a:ext cx="7600950" cy="569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1" imgW="5476875" imgH="4105275" progId="PowerPoint.Slide.8">
                  <p:embed/>
                </p:oleObj>
              </mc:Choice>
              <mc:Fallback>
                <p:oleObj name="" r:id="rId1" imgW="5476875" imgH="4105275" progId="PowerPoint.Slide.8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813" y="882650"/>
                        <a:ext cx="7600950" cy="569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8" name="Line 3"/>
          <p:cNvSpPr/>
          <p:nvPr/>
        </p:nvSpPr>
        <p:spPr>
          <a:xfrm>
            <a:off x="1571625" y="2700338"/>
            <a:ext cx="3462338" cy="28067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19" name="Rectangle 4"/>
          <p:cNvSpPr/>
          <p:nvPr/>
        </p:nvSpPr>
        <p:spPr>
          <a:xfrm>
            <a:off x="1431925" y="1181100"/>
            <a:ext cx="29638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Fixed w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and w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20" name="Line 5"/>
          <p:cNvSpPr/>
          <p:nvPr/>
        </p:nvSpPr>
        <p:spPr>
          <a:xfrm>
            <a:off x="1557338" y="3524250"/>
            <a:ext cx="2481262" cy="201136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21" name="Line 6"/>
          <p:cNvSpPr/>
          <p:nvPr/>
        </p:nvSpPr>
        <p:spPr>
          <a:xfrm>
            <a:off x="1573213" y="4130675"/>
            <a:ext cx="1743075" cy="1412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22" name="Rectangle 7"/>
          <p:cNvSpPr/>
          <p:nvPr/>
        </p:nvSpPr>
        <p:spPr>
          <a:xfrm>
            <a:off x="0" y="0"/>
            <a:ext cx="9142413" cy="1219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p>
            <a:pPr algn="ctr" eaLnBrk="0" hangingPunct="0">
              <a:buSzTx/>
            </a:pPr>
            <a:r>
              <a:rPr lang="en-US" altLang="zh-CN" sz="44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Conditional Input Demand Curves</a:t>
            </a:r>
            <a:endParaRPr lang="en-US" altLang="zh-CN" sz="44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3" name="Line 8"/>
          <p:cNvSpPr/>
          <p:nvPr/>
        </p:nvSpPr>
        <p:spPr>
          <a:xfrm>
            <a:off x="2754313" y="4511675"/>
            <a:ext cx="0" cy="158591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4824" name="Line 9"/>
          <p:cNvSpPr/>
          <p:nvPr/>
        </p:nvSpPr>
        <p:spPr>
          <a:xfrm flipH="1">
            <a:off x="1555750" y="4511675"/>
            <a:ext cx="11985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4825" name="Line 10"/>
          <p:cNvSpPr/>
          <p:nvPr/>
        </p:nvSpPr>
        <p:spPr>
          <a:xfrm>
            <a:off x="2422525" y="4813300"/>
            <a:ext cx="0" cy="7080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4826" name="Line 11"/>
          <p:cNvSpPr/>
          <p:nvPr/>
        </p:nvSpPr>
        <p:spPr>
          <a:xfrm flipH="1">
            <a:off x="1570038" y="4813300"/>
            <a:ext cx="8382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4827" name="Oval 12"/>
          <p:cNvSpPr/>
          <p:nvPr/>
        </p:nvSpPr>
        <p:spPr>
          <a:xfrm>
            <a:off x="2293938" y="4683125"/>
            <a:ext cx="246062" cy="246063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28" name="Oval 13"/>
          <p:cNvSpPr/>
          <p:nvPr/>
        </p:nvSpPr>
        <p:spPr>
          <a:xfrm>
            <a:off x="2638425" y="4379913"/>
            <a:ext cx="246063" cy="246062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4829" name="Object 14"/>
          <p:cNvGraphicFramePr/>
          <p:nvPr/>
        </p:nvGraphicFramePr>
        <p:xfrm>
          <a:off x="1709738" y="5516563"/>
          <a:ext cx="96043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3" imgW="666115" imgH="370205" progId="Equation.2">
                  <p:embed/>
                </p:oleObj>
              </mc:Choice>
              <mc:Fallback>
                <p:oleObj name="" r:id="rId3" imgW="666115" imgH="370205" progId="Equation.2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09738" y="5516563"/>
                        <a:ext cx="960437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0" name="Object 15"/>
          <p:cNvGraphicFramePr/>
          <p:nvPr/>
        </p:nvGraphicFramePr>
        <p:xfrm>
          <a:off x="2270125" y="5995988"/>
          <a:ext cx="104933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" r:id="rId5" imgW="727075" imgH="370205" progId="Equation.2">
                  <p:embed/>
                </p:oleObj>
              </mc:Choice>
              <mc:Fallback>
                <p:oleObj name="" r:id="rId5" imgW="727075" imgH="370205" progId="Equation.2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70125" y="5995988"/>
                        <a:ext cx="1049338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1" name="Object 16"/>
          <p:cNvGraphicFramePr/>
          <p:nvPr/>
        </p:nvGraphicFramePr>
        <p:xfrm>
          <a:off x="439738" y="4127500"/>
          <a:ext cx="106521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7" imgW="744855" imgH="370205" progId="Equation.2">
                  <p:embed/>
                </p:oleObj>
              </mc:Choice>
              <mc:Fallback>
                <p:oleObj name="" r:id="rId7" imgW="744855" imgH="370205" progId="Equation.2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9738" y="4127500"/>
                        <a:ext cx="1065212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2" name="Object 17"/>
          <p:cNvGraphicFramePr/>
          <p:nvPr/>
        </p:nvGraphicFramePr>
        <p:xfrm>
          <a:off x="520700" y="4586288"/>
          <a:ext cx="98901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" r:id="rId9" imgW="692150" imgH="370205" progId="Equation.2">
                  <p:embed/>
                </p:oleObj>
              </mc:Choice>
              <mc:Fallback>
                <p:oleObj name="" r:id="rId9" imgW="692150" imgH="370205" progId="Equation.2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0700" y="4586288"/>
                        <a:ext cx="989013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3" name="Line 18"/>
          <p:cNvSpPr/>
          <p:nvPr/>
        </p:nvSpPr>
        <p:spPr>
          <a:xfrm>
            <a:off x="6267450" y="3214688"/>
            <a:ext cx="22812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34834" name="Line 19"/>
          <p:cNvSpPr/>
          <p:nvPr/>
        </p:nvSpPr>
        <p:spPr>
          <a:xfrm flipV="1">
            <a:off x="6265863" y="1133475"/>
            <a:ext cx="0" cy="20637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34835" name="Line 20"/>
          <p:cNvSpPr/>
          <p:nvPr/>
        </p:nvSpPr>
        <p:spPr>
          <a:xfrm>
            <a:off x="6267450" y="5548313"/>
            <a:ext cx="22812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34836" name="Line 21"/>
          <p:cNvSpPr/>
          <p:nvPr/>
        </p:nvSpPr>
        <p:spPr>
          <a:xfrm flipV="1">
            <a:off x="6265863" y="3467100"/>
            <a:ext cx="0" cy="20637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graphicFrame>
        <p:nvGraphicFramePr>
          <p:cNvPr id="34837" name="Object 22"/>
          <p:cNvGraphicFramePr/>
          <p:nvPr/>
        </p:nvGraphicFramePr>
        <p:xfrm>
          <a:off x="4994275" y="5108575"/>
          <a:ext cx="3175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11" imgW="222250" imgH="265430" progId="Equation.2">
                  <p:embed/>
                </p:oleObj>
              </mc:Choice>
              <mc:Fallback>
                <p:oleObj name="" r:id="rId11" imgW="222250" imgH="265430" progId="Equation.2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94275" y="5108575"/>
                        <a:ext cx="3175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8" name="Object 23"/>
          <p:cNvGraphicFramePr/>
          <p:nvPr/>
        </p:nvGraphicFramePr>
        <p:xfrm>
          <a:off x="4756150" y="4870450"/>
          <a:ext cx="40163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" r:id="rId13" imgW="283210" imgH="265430" progId="Equation.2">
                  <p:embed/>
                </p:oleObj>
              </mc:Choice>
              <mc:Fallback>
                <p:oleObj name="" r:id="rId13" imgW="283210" imgH="265430" progId="Equation.2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56150" y="4870450"/>
                        <a:ext cx="401638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9" name="Object 24"/>
          <p:cNvGraphicFramePr/>
          <p:nvPr/>
        </p:nvGraphicFramePr>
        <p:xfrm>
          <a:off x="4764088" y="4537075"/>
          <a:ext cx="4730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" r:id="rId15" imgW="335280" imgH="265430" progId="Equation.2">
                  <p:embed/>
                </p:oleObj>
              </mc:Choice>
              <mc:Fallback>
                <p:oleObj name="" r:id="rId15" imgW="335280" imgH="265430" progId="Equation.2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64088" y="4537075"/>
                        <a:ext cx="473075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0" name="Object 25"/>
          <p:cNvGraphicFramePr/>
          <p:nvPr/>
        </p:nvGraphicFramePr>
        <p:xfrm>
          <a:off x="5803900" y="2155825"/>
          <a:ext cx="40163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17" imgW="283210" imgH="265430" progId="Equation.2">
                  <p:embed/>
                </p:oleObj>
              </mc:Choice>
              <mc:Fallback>
                <p:oleObj name="" r:id="rId17" imgW="283210" imgH="265430" progId="Equation.2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03900" y="2155825"/>
                        <a:ext cx="401638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1" name="Object 26"/>
          <p:cNvGraphicFramePr/>
          <p:nvPr/>
        </p:nvGraphicFramePr>
        <p:xfrm>
          <a:off x="5827713" y="4489450"/>
          <a:ext cx="40163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19" imgW="283210" imgH="265430" progId="Equation.2">
                  <p:embed/>
                </p:oleObj>
              </mc:Choice>
              <mc:Fallback>
                <p:oleObj name="" r:id="rId19" imgW="283210" imgH="265430" progId="Equation.2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27713" y="4489450"/>
                        <a:ext cx="401637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2" name="Object 27"/>
          <p:cNvGraphicFramePr/>
          <p:nvPr/>
        </p:nvGraphicFramePr>
        <p:xfrm>
          <a:off x="5899150" y="2584450"/>
          <a:ext cx="3175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" r:id="rId21" imgW="222250" imgH="265430" progId="Equation.2">
                  <p:embed/>
                </p:oleObj>
              </mc:Choice>
              <mc:Fallback>
                <p:oleObj name="" r:id="rId21" imgW="222250" imgH="265430" progId="Equation.2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99150" y="2584450"/>
                        <a:ext cx="3175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3" name="Object 28"/>
          <p:cNvGraphicFramePr/>
          <p:nvPr/>
        </p:nvGraphicFramePr>
        <p:xfrm>
          <a:off x="5899150" y="4894263"/>
          <a:ext cx="3175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" r:id="rId23" imgW="222250" imgH="265430" progId="Equation.2">
                  <p:embed/>
                </p:oleObj>
              </mc:Choice>
              <mc:Fallback>
                <p:oleObj name="" r:id="rId23" imgW="222250" imgH="265430" progId="Equation.2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99150" y="4894263"/>
                        <a:ext cx="3175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4" name="Object 29"/>
          <p:cNvGraphicFramePr/>
          <p:nvPr/>
        </p:nvGraphicFramePr>
        <p:xfrm>
          <a:off x="6864350" y="3602038"/>
          <a:ext cx="90963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" r:id="rId25" imgW="744855" imgH="370205" progId="Equation.2">
                  <p:embed/>
                </p:oleObj>
              </mc:Choice>
              <mc:Fallback>
                <p:oleObj name="" r:id="rId25" imgW="744855" imgH="370205" progId="Equation.2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64350" y="3602038"/>
                        <a:ext cx="909638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5" name="Object 30"/>
          <p:cNvGraphicFramePr/>
          <p:nvPr/>
        </p:nvGraphicFramePr>
        <p:xfrm>
          <a:off x="6392863" y="3211513"/>
          <a:ext cx="8445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" r:id="rId27" imgW="692150" imgH="370205" progId="Equation.2">
                  <p:embed/>
                </p:oleObj>
              </mc:Choice>
              <mc:Fallback>
                <p:oleObj name="" r:id="rId27" imgW="692150" imgH="370205" progId="Equation.2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392863" y="3211513"/>
                        <a:ext cx="844550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6" name="Object 31"/>
          <p:cNvGraphicFramePr/>
          <p:nvPr/>
        </p:nvGraphicFramePr>
        <p:xfrm>
          <a:off x="6888163" y="5945188"/>
          <a:ext cx="8794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" r:id="rId29" imgW="727075" imgH="370205" progId="Equation.2">
                  <p:embed/>
                </p:oleObj>
              </mc:Choice>
              <mc:Fallback>
                <p:oleObj name="" r:id="rId29" imgW="727075" imgH="370205" progId="Equation.2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30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88163" y="5945188"/>
                        <a:ext cx="87947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7" name="Object 32"/>
          <p:cNvGraphicFramePr/>
          <p:nvPr/>
        </p:nvGraphicFramePr>
        <p:xfrm>
          <a:off x="6423025" y="5554663"/>
          <a:ext cx="8032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" r:id="rId31" imgW="666115" imgH="370205" progId="Equation.2">
                  <p:embed/>
                </p:oleObj>
              </mc:Choice>
              <mc:Fallback>
                <p:oleObj name="" r:id="rId31" imgW="666115" imgH="370205" progId="Equation.2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3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23025" y="5554663"/>
                        <a:ext cx="80327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8" name="Line 33"/>
          <p:cNvSpPr/>
          <p:nvPr/>
        </p:nvSpPr>
        <p:spPr>
          <a:xfrm>
            <a:off x="6265863" y="2719388"/>
            <a:ext cx="6937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4849" name="Line 34"/>
          <p:cNvSpPr/>
          <p:nvPr/>
        </p:nvSpPr>
        <p:spPr>
          <a:xfrm>
            <a:off x="6265863" y="2343150"/>
            <a:ext cx="10398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4850" name="Line 35"/>
          <p:cNvSpPr/>
          <p:nvPr/>
        </p:nvSpPr>
        <p:spPr>
          <a:xfrm flipV="1">
            <a:off x="6959600" y="2719388"/>
            <a:ext cx="0" cy="4905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4851" name="Line 36"/>
          <p:cNvSpPr/>
          <p:nvPr/>
        </p:nvSpPr>
        <p:spPr>
          <a:xfrm flipV="1">
            <a:off x="7305675" y="2301875"/>
            <a:ext cx="0" cy="14160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4852" name="Line 37"/>
          <p:cNvSpPr/>
          <p:nvPr/>
        </p:nvSpPr>
        <p:spPr>
          <a:xfrm>
            <a:off x="6265863" y="5053013"/>
            <a:ext cx="6937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4853" name="Line 38"/>
          <p:cNvSpPr/>
          <p:nvPr/>
        </p:nvSpPr>
        <p:spPr>
          <a:xfrm>
            <a:off x="6265863" y="4676775"/>
            <a:ext cx="10398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4854" name="Line 39"/>
          <p:cNvSpPr/>
          <p:nvPr/>
        </p:nvSpPr>
        <p:spPr>
          <a:xfrm flipV="1">
            <a:off x="6888163" y="5053013"/>
            <a:ext cx="0" cy="4905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4855" name="Line 40"/>
          <p:cNvSpPr/>
          <p:nvPr/>
        </p:nvSpPr>
        <p:spPr>
          <a:xfrm flipV="1">
            <a:off x="7319963" y="4635500"/>
            <a:ext cx="0" cy="143351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4856" name="Oval 41"/>
          <p:cNvSpPr/>
          <p:nvPr/>
        </p:nvSpPr>
        <p:spPr>
          <a:xfrm>
            <a:off x="7183438" y="2216150"/>
            <a:ext cx="246062" cy="246063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57" name="Oval 42"/>
          <p:cNvSpPr/>
          <p:nvPr/>
        </p:nvSpPr>
        <p:spPr>
          <a:xfrm>
            <a:off x="7197725" y="4540250"/>
            <a:ext cx="246063" cy="246063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58" name="Oval 43"/>
          <p:cNvSpPr/>
          <p:nvPr/>
        </p:nvSpPr>
        <p:spPr>
          <a:xfrm>
            <a:off x="6824663" y="2590800"/>
            <a:ext cx="246062" cy="246063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59" name="Oval 44"/>
          <p:cNvSpPr/>
          <p:nvPr/>
        </p:nvSpPr>
        <p:spPr>
          <a:xfrm>
            <a:off x="6767513" y="4927600"/>
            <a:ext cx="246062" cy="246063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4860" name="Object 45"/>
          <p:cNvGraphicFramePr/>
          <p:nvPr/>
        </p:nvGraphicFramePr>
        <p:xfrm>
          <a:off x="8586788" y="3167063"/>
          <a:ext cx="38576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" r:id="rId33" imgW="265430" imgH="370205" progId="Equation.2">
                  <p:embed/>
                </p:oleObj>
              </mc:Choice>
              <mc:Fallback>
                <p:oleObj name="" r:id="rId33" imgW="265430" imgH="370205" progId="Equation.2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3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586788" y="3167063"/>
                        <a:ext cx="385762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61" name="Object 46"/>
          <p:cNvGraphicFramePr/>
          <p:nvPr/>
        </p:nvGraphicFramePr>
        <p:xfrm>
          <a:off x="8599488" y="5510213"/>
          <a:ext cx="3508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" r:id="rId35" imgW="248285" imgH="370205" progId="Equation.2">
                  <p:embed/>
                </p:oleObj>
              </mc:Choice>
              <mc:Fallback>
                <p:oleObj name="" r:id="rId35" imgW="248285" imgH="370205" progId="Equation.2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3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599488" y="5510213"/>
                        <a:ext cx="350837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62" name="Object 47"/>
          <p:cNvGraphicFramePr/>
          <p:nvPr/>
        </p:nvGraphicFramePr>
        <p:xfrm>
          <a:off x="5905500" y="1066800"/>
          <a:ext cx="214313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" r:id="rId37" imgW="152400" imgH="213360" progId="Equation.2">
                  <p:embed/>
                </p:oleObj>
              </mc:Choice>
              <mc:Fallback>
                <p:oleObj name="" r:id="rId37" imgW="152400" imgH="213360" progId="Equation.2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3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05500" y="1066800"/>
                        <a:ext cx="214313" cy="296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63" name="Object 48"/>
          <p:cNvGraphicFramePr/>
          <p:nvPr/>
        </p:nvGraphicFramePr>
        <p:xfrm>
          <a:off x="5905500" y="3390900"/>
          <a:ext cx="214313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39" imgW="152400" imgH="213360" progId="Equation.2">
                  <p:embed/>
                </p:oleObj>
              </mc:Choice>
              <mc:Fallback>
                <p:oleObj name="" r:id="rId39" imgW="152400" imgH="213360" progId="Equation.2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4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05500" y="3390900"/>
                        <a:ext cx="214313" cy="296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5841" name="Object 2"/>
          <p:cNvGraphicFramePr/>
          <p:nvPr/>
        </p:nvGraphicFramePr>
        <p:xfrm>
          <a:off x="23813" y="882650"/>
          <a:ext cx="7600950" cy="569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" r:id="rId1" imgW="5476875" imgH="4105275" progId="PowerPoint.Slide.8">
                  <p:embed/>
                </p:oleObj>
              </mc:Choice>
              <mc:Fallback>
                <p:oleObj name="" r:id="rId1" imgW="5476875" imgH="4105275" progId="PowerPoint.Slide.8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813" y="882650"/>
                        <a:ext cx="7600950" cy="569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2" name="Line 3"/>
          <p:cNvSpPr/>
          <p:nvPr/>
        </p:nvSpPr>
        <p:spPr>
          <a:xfrm>
            <a:off x="1571625" y="2700338"/>
            <a:ext cx="3462338" cy="28067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43" name="Rectangle 4"/>
          <p:cNvSpPr/>
          <p:nvPr/>
        </p:nvSpPr>
        <p:spPr>
          <a:xfrm>
            <a:off x="1431925" y="1181100"/>
            <a:ext cx="29638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Fixed w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and w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4" name="Line 5"/>
          <p:cNvSpPr/>
          <p:nvPr/>
        </p:nvSpPr>
        <p:spPr>
          <a:xfrm>
            <a:off x="1557338" y="3524250"/>
            <a:ext cx="2481262" cy="201136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45" name="Line 6"/>
          <p:cNvSpPr/>
          <p:nvPr/>
        </p:nvSpPr>
        <p:spPr>
          <a:xfrm>
            <a:off x="1573213" y="4130675"/>
            <a:ext cx="1743075" cy="1412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46" name="Rectangle 7"/>
          <p:cNvSpPr/>
          <p:nvPr/>
        </p:nvSpPr>
        <p:spPr>
          <a:xfrm>
            <a:off x="0" y="0"/>
            <a:ext cx="9142413" cy="1219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p>
            <a:pPr algn="ctr" eaLnBrk="0" hangingPunct="0">
              <a:buSzTx/>
            </a:pPr>
            <a:r>
              <a:rPr lang="en-US" altLang="zh-CN" sz="44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Conditional Input Demand Curves</a:t>
            </a:r>
            <a:endParaRPr lang="en-US" altLang="zh-CN" sz="44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7" name="Line 8"/>
          <p:cNvSpPr/>
          <p:nvPr/>
        </p:nvSpPr>
        <p:spPr>
          <a:xfrm>
            <a:off x="3287713" y="4078288"/>
            <a:ext cx="0" cy="14430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5848" name="Line 9"/>
          <p:cNvSpPr/>
          <p:nvPr/>
        </p:nvSpPr>
        <p:spPr>
          <a:xfrm flipH="1">
            <a:off x="1570038" y="4078288"/>
            <a:ext cx="17176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5849" name="Line 10"/>
          <p:cNvSpPr/>
          <p:nvPr/>
        </p:nvSpPr>
        <p:spPr>
          <a:xfrm>
            <a:off x="2754313" y="4511675"/>
            <a:ext cx="0" cy="158591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5850" name="Line 11"/>
          <p:cNvSpPr/>
          <p:nvPr/>
        </p:nvSpPr>
        <p:spPr>
          <a:xfrm flipH="1">
            <a:off x="1555750" y="4511675"/>
            <a:ext cx="11985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5851" name="Line 12"/>
          <p:cNvSpPr/>
          <p:nvPr/>
        </p:nvSpPr>
        <p:spPr>
          <a:xfrm>
            <a:off x="2422525" y="4813300"/>
            <a:ext cx="0" cy="7080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5852" name="Line 13"/>
          <p:cNvSpPr/>
          <p:nvPr/>
        </p:nvSpPr>
        <p:spPr>
          <a:xfrm flipH="1">
            <a:off x="1570038" y="4813300"/>
            <a:ext cx="8382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5853" name="Oval 14"/>
          <p:cNvSpPr/>
          <p:nvPr/>
        </p:nvSpPr>
        <p:spPr>
          <a:xfrm>
            <a:off x="2293938" y="4683125"/>
            <a:ext cx="246062" cy="246063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54" name="Oval 15"/>
          <p:cNvSpPr/>
          <p:nvPr/>
        </p:nvSpPr>
        <p:spPr>
          <a:xfrm>
            <a:off x="2638425" y="4379913"/>
            <a:ext cx="246063" cy="246062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55" name="Oval 16"/>
          <p:cNvSpPr/>
          <p:nvPr/>
        </p:nvSpPr>
        <p:spPr>
          <a:xfrm>
            <a:off x="3157538" y="3962400"/>
            <a:ext cx="246062" cy="246063"/>
          </a:xfrm>
          <a:prstGeom prst="ellipse">
            <a:avLst/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5856" name="Object 17"/>
          <p:cNvGraphicFramePr/>
          <p:nvPr/>
        </p:nvGraphicFramePr>
        <p:xfrm>
          <a:off x="2941638" y="5518150"/>
          <a:ext cx="11334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3" imgW="779145" imgH="370205" progId="Equation.2">
                  <p:embed/>
                </p:oleObj>
              </mc:Choice>
              <mc:Fallback>
                <p:oleObj name="" r:id="rId3" imgW="779145" imgH="370205" progId="Equation.2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41638" y="5518150"/>
                        <a:ext cx="1133475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7" name="Object 18"/>
          <p:cNvGraphicFramePr/>
          <p:nvPr/>
        </p:nvGraphicFramePr>
        <p:xfrm>
          <a:off x="354013" y="3646488"/>
          <a:ext cx="11620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5" imgW="805815" imgH="370205" progId="Equation.2">
                  <p:embed/>
                </p:oleObj>
              </mc:Choice>
              <mc:Fallback>
                <p:oleObj name="" r:id="rId5" imgW="805815" imgH="370205" progId="Equation.2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4013" y="3646488"/>
                        <a:ext cx="1162050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8" name="Object 19"/>
          <p:cNvGraphicFramePr/>
          <p:nvPr/>
        </p:nvGraphicFramePr>
        <p:xfrm>
          <a:off x="1709738" y="5516563"/>
          <a:ext cx="96043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" r:id="rId7" imgW="666115" imgH="370205" progId="Equation.2">
                  <p:embed/>
                </p:oleObj>
              </mc:Choice>
              <mc:Fallback>
                <p:oleObj name="" r:id="rId7" imgW="666115" imgH="370205" progId="Equation.2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09738" y="5516563"/>
                        <a:ext cx="960437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9" name="Object 20"/>
          <p:cNvGraphicFramePr/>
          <p:nvPr/>
        </p:nvGraphicFramePr>
        <p:xfrm>
          <a:off x="2270125" y="5995988"/>
          <a:ext cx="104933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" r:id="rId9" imgW="727075" imgH="370205" progId="Equation.2">
                  <p:embed/>
                </p:oleObj>
              </mc:Choice>
              <mc:Fallback>
                <p:oleObj name="" r:id="rId9" imgW="727075" imgH="370205" progId="Equation.2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70125" y="5995988"/>
                        <a:ext cx="1049338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0" name="Object 21"/>
          <p:cNvGraphicFramePr/>
          <p:nvPr/>
        </p:nvGraphicFramePr>
        <p:xfrm>
          <a:off x="439738" y="4127500"/>
          <a:ext cx="106521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" r:id="rId11" imgW="744855" imgH="370205" progId="Equation.2">
                  <p:embed/>
                </p:oleObj>
              </mc:Choice>
              <mc:Fallback>
                <p:oleObj name="" r:id="rId11" imgW="744855" imgH="370205" progId="Equation.2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9738" y="4127500"/>
                        <a:ext cx="1065212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1" name="Object 22"/>
          <p:cNvGraphicFramePr/>
          <p:nvPr/>
        </p:nvGraphicFramePr>
        <p:xfrm>
          <a:off x="520700" y="4586288"/>
          <a:ext cx="98901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" name="" r:id="rId13" imgW="692150" imgH="370205" progId="Equation.2">
                  <p:embed/>
                </p:oleObj>
              </mc:Choice>
              <mc:Fallback>
                <p:oleObj name="" r:id="rId13" imgW="692150" imgH="370205" progId="Equation.2">
                  <p:embed/>
                  <p:pic>
                    <p:nvPicPr>
                      <p:cNvPr id="0" name="图片 3221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0700" y="4586288"/>
                        <a:ext cx="989013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62" name="Line 23"/>
          <p:cNvSpPr/>
          <p:nvPr/>
        </p:nvSpPr>
        <p:spPr>
          <a:xfrm>
            <a:off x="6267450" y="3214688"/>
            <a:ext cx="22812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35863" name="Line 24"/>
          <p:cNvSpPr/>
          <p:nvPr/>
        </p:nvSpPr>
        <p:spPr>
          <a:xfrm flipV="1">
            <a:off x="6265863" y="1133475"/>
            <a:ext cx="0" cy="20637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35864" name="Line 25"/>
          <p:cNvSpPr/>
          <p:nvPr/>
        </p:nvSpPr>
        <p:spPr>
          <a:xfrm>
            <a:off x="6267450" y="5548313"/>
            <a:ext cx="22812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35865" name="Line 26"/>
          <p:cNvSpPr/>
          <p:nvPr/>
        </p:nvSpPr>
        <p:spPr>
          <a:xfrm flipV="1">
            <a:off x="6265863" y="3467100"/>
            <a:ext cx="0" cy="20637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graphicFrame>
        <p:nvGraphicFramePr>
          <p:cNvPr id="35866" name="Object 27"/>
          <p:cNvGraphicFramePr/>
          <p:nvPr/>
        </p:nvGraphicFramePr>
        <p:xfrm>
          <a:off x="4994275" y="5108575"/>
          <a:ext cx="3175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" name="" r:id="rId15" imgW="222250" imgH="265430" progId="Equation.2">
                  <p:embed/>
                </p:oleObj>
              </mc:Choice>
              <mc:Fallback>
                <p:oleObj name="" r:id="rId15" imgW="222250" imgH="265430" progId="Equation.2">
                  <p:embed/>
                  <p:pic>
                    <p:nvPicPr>
                      <p:cNvPr id="0" name="图片 3223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94275" y="5108575"/>
                        <a:ext cx="3175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7" name="Object 28"/>
          <p:cNvGraphicFramePr/>
          <p:nvPr/>
        </p:nvGraphicFramePr>
        <p:xfrm>
          <a:off x="4756150" y="4870450"/>
          <a:ext cx="40163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" name="" r:id="rId17" imgW="283210" imgH="265430" progId="Equation.2">
                  <p:embed/>
                </p:oleObj>
              </mc:Choice>
              <mc:Fallback>
                <p:oleObj name="" r:id="rId17" imgW="283210" imgH="265430" progId="Equation.2">
                  <p:embed/>
                  <p:pic>
                    <p:nvPicPr>
                      <p:cNvPr id="0" name="图片 3215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56150" y="4870450"/>
                        <a:ext cx="401638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8" name="Object 29"/>
          <p:cNvGraphicFramePr/>
          <p:nvPr/>
        </p:nvGraphicFramePr>
        <p:xfrm>
          <a:off x="4764088" y="4537075"/>
          <a:ext cx="4730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" name="" r:id="rId19" imgW="335280" imgH="265430" progId="Equation.2">
                  <p:embed/>
                </p:oleObj>
              </mc:Choice>
              <mc:Fallback>
                <p:oleObj name="" r:id="rId19" imgW="335280" imgH="265430" progId="Equation.2">
                  <p:embed/>
                  <p:pic>
                    <p:nvPicPr>
                      <p:cNvPr id="0" name="图片 3222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64088" y="4537075"/>
                        <a:ext cx="473075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9" name="Object 30"/>
          <p:cNvGraphicFramePr/>
          <p:nvPr/>
        </p:nvGraphicFramePr>
        <p:xfrm>
          <a:off x="5716588" y="1655763"/>
          <a:ext cx="4730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" name="" r:id="rId21" imgW="335280" imgH="265430" progId="Equation.2">
                  <p:embed/>
                </p:oleObj>
              </mc:Choice>
              <mc:Fallback>
                <p:oleObj name="" r:id="rId21" imgW="335280" imgH="265430" progId="Equation.2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16588" y="1655763"/>
                        <a:ext cx="473075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0" name="Object 31"/>
          <p:cNvGraphicFramePr/>
          <p:nvPr/>
        </p:nvGraphicFramePr>
        <p:xfrm>
          <a:off x="5740400" y="3989388"/>
          <a:ext cx="4730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23" imgW="335280" imgH="265430" progId="Equation.2">
                  <p:embed/>
                </p:oleObj>
              </mc:Choice>
              <mc:Fallback>
                <p:oleObj name="" r:id="rId23" imgW="335280" imgH="265430" progId="Equation.2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40400" y="3989388"/>
                        <a:ext cx="473075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1" name="Object 32"/>
          <p:cNvGraphicFramePr/>
          <p:nvPr/>
        </p:nvGraphicFramePr>
        <p:xfrm>
          <a:off x="5803900" y="2155825"/>
          <a:ext cx="40163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" name="" r:id="rId25" imgW="283210" imgH="265430" progId="Equation.2">
                  <p:embed/>
                </p:oleObj>
              </mc:Choice>
              <mc:Fallback>
                <p:oleObj name="" r:id="rId25" imgW="283210" imgH="265430" progId="Equation.2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03900" y="2155825"/>
                        <a:ext cx="401638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2" name="Object 33"/>
          <p:cNvGraphicFramePr/>
          <p:nvPr/>
        </p:nvGraphicFramePr>
        <p:xfrm>
          <a:off x="5827713" y="4489450"/>
          <a:ext cx="40163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" name="" r:id="rId27" imgW="283210" imgH="265430" progId="Equation.2">
                  <p:embed/>
                </p:oleObj>
              </mc:Choice>
              <mc:Fallback>
                <p:oleObj name="" r:id="rId27" imgW="283210" imgH="265430" progId="Equation.2">
                  <p:embed/>
                  <p:pic>
                    <p:nvPicPr>
                      <p:cNvPr id="0" name="图片 3224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27713" y="4489450"/>
                        <a:ext cx="401637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3" name="Object 34"/>
          <p:cNvGraphicFramePr/>
          <p:nvPr/>
        </p:nvGraphicFramePr>
        <p:xfrm>
          <a:off x="5899150" y="2584450"/>
          <a:ext cx="3175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" r:id="rId29" imgW="222250" imgH="265430" progId="Equation.2">
                  <p:embed/>
                </p:oleObj>
              </mc:Choice>
              <mc:Fallback>
                <p:oleObj name="" r:id="rId29" imgW="222250" imgH="265430" progId="Equation.2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3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99150" y="2584450"/>
                        <a:ext cx="3175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4" name="Object 35"/>
          <p:cNvGraphicFramePr/>
          <p:nvPr/>
        </p:nvGraphicFramePr>
        <p:xfrm>
          <a:off x="5899150" y="4894263"/>
          <a:ext cx="3175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" name="" r:id="rId31" imgW="222250" imgH="265430" progId="Equation.2">
                  <p:embed/>
                </p:oleObj>
              </mc:Choice>
              <mc:Fallback>
                <p:oleObj name="" r:id="rId31" imgW="222250" imgH="265430" progId="Equation.2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3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99150" y="4894263"/>
                        <a:ext cx="3175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5" name="Object 36"/>
          <p:cNvGraphicFramePr/>
          <p:nvPr/>
        </p:nvGraphicFramePr>
        <p:xfrm>
          <a:off x="7392988" y="3209925"/>
          <a:ext cx="9937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" r:id="rId33" imgW="805815" imgH="370205" progId="Equation.2">
                  <p:embed/>
                </p:oleObj>
              </mc:Choice>
              <mc:Fallback>
                <p:oleObj name="" r:id="rId33" imgW="805815" imgH="370205" progId="Equation.2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34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392988" y="3209925"/>
                        <a:ext cx="993775" cy="450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6" name="Object 37"/>
          <p:cNvGraphicFramePr/>
          <p:nvPr/>
        </p:nvGraphicFramePr>
        <p:xfrm>
          <a:off x="6864350" y="3602038"/>
          <a:ext cx="90963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" r:id="rId35" imgW="744855" imgH="370205" progId="Equation.2">
                  <p:embed/>
                </p:oleObj>
              </mc:Choice>
              <mc:Fallback>
                <p:oleObj name="" r:id="rId35" imgW="744855" imgH="370205" progId="Equation.2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36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64350" y="3602038"/>
                        <a:ext cx="909638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7" name="Object 38"/>
          <p:cNvGraphicFramePr/>
          <p:nvPr/>
        </p:nvGraphicFramePr>
        <p:xfrm>
          <a:off x="6392863" y="3211513"/>
          <a:ext cx="8445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" r:id="rId37" imgW="692150" imgH="370205" progId="Equation.2">
                  <p:embed/>
                </p:oleObj>
              </mc:Choice>
              <mc:Fallback>
                <p:oleObj name="" r:id="rId37" imgW="692150" imgH="370205" progId="Equation.2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3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392863" y="3211513"/>
                        <a:ext cx="844550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8" name="Object 39"/>
          <p:cNvGraphicFramePr/>
          <p:nvPr/>
        </p:nvGraphicFramePr>
        <p:xfrm>
          <a:off x="7423150" y="5553075"/>
          <a:ext cx="95091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" name="" r:id="rId39" imgW="779145" imgH="370205" progId="Equation.2">
                  <p:embed/>
                </p:oleObj>
              </mc:Choice>
              <mc:Fallback>
                <p:oleObj name="" r:id="rId39" imgW="779145" imgH="370205" progId="Equation.2">
                  <p:embed/>
                  <p:pic>
                    <p:nvPicPr>
                      <p:cNvPr id="0" name="图片 3225"/>
                      <p:cNvPicPr/>
                      <p:nvPr/>
                    </p:nvPicPr>
                    <p:blipFill>
                      <a:blip r:embed="rId40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423150" y="5553075"/>
                        <a:ext cx="950913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9" name="Object 40"/>
          <p:cNvGraphicFramePr/>
          <p:nvPr/>
        </p:nvGraphicFramePr>
        <p:xfrm>
          <a:off x="6888163" y="5945188"/>
          <a:ext cx="8794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" name="" r:id="rId41" imgW="727075" imgH="370205" progId="Equation.2">
                  <p:embed/>
                </p:oleObj>
              </mc:Choice>
              <mc:Fallback>
                <p:oleObj name="" r:id="rId41" imgW="727075" imgH="370205" progId="Equation.2">
                  <p:embed/>
                  <p:pic>
                    <p:nvPicPr>
                      <p:cNvPr id="0" name="图片 3220"/>
                      <p:cNvPicPr/>
                      <p:nvPr/>
                    </p:nvPicPr>
                    <p:blipFill>
                      <a:blip r:embed="rId42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88163" y="5945188"/>
                        <a:ext cx="87947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80" name="Object 41"/>
          <p:cNvGraphicFramePr/>
          <p:nvPr/>
        </p:nvGraphicFramePr>
        <p:xfrm>
          <a:off x="6423025" y="5554663"/>
          <a:ext cx="8032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" name="" r:id="rId43" imgW="666115" imgH="370205" progId="Equation.2">
                  <p:embed/>
                </p:oleObj>
              </mc:Choice>
              <mc:Fallback>
                <p:oleObj name="" r:id="rId43" imgW="666115" imgH="370205" progId="Equation.2">
                  <p:embed/>
                  <p:pic>
                    <p:nvPicPr>
                      <p:cNvPr id="0" name="图片 3226"/>
                      <p:cNvPicPr/>
                      <p:nvPr/>
                    </p:nvPicPr>
                    <p:blipFill>
                      <a:blip r:embed="rId4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23025" y="5554663"/>
                        <a:ext cx="80327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81" name="Line 42"/>
          <p:cNvSpPr/>
          <p:nvPr/>
        </p:nvSpPr>
        <p:spPr>
          <a:xfrm>
            <a:off x="6265863" y="2719388"/>
            <a:ext cx="6937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5882" name="Line 43"/>
          <p:cNvSpPr/>
          <p:nvPr/>
        </p:nvSpPr>
        <p:spPr>
          <a:xfrm>
            <a:off x="6265863" y="2343150"/>
            <a:ext cx="10398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5883" name="Line 44"/>
          <p:cNvSpPr/>
          <p:nvPr/>
        </p:nvSpPr>
        <p:spPr>
          <a:xfrm>
            <a:off x="6265863" y="1839913"/>
            <a:ext cx="14859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5884" name="Line 45"/>
          <p:cNvSpPr/>
          <p:nvPr/>
        </p:nvSpPr>
        <p:spPr>
          <a:xfrm flipV="1">
            <a:off x="6959600" y="2719388"/>
            <a:ext cx="0" cy="4905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5885" name="Line 46"/>
          <p:cNvSpPr/>
          <p:nvPr/>
        </p:nvSpPr>
        <p:spPr>
          <a:xfrm flipV="1">
            <a:off x="7305675" y="2301875"/>
            <a:ext cx="0" cy="14160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5886" name="Line 47"/>
          <p:cNvSpPr/>
          <p:nvPr/>
        </p:nvSpPr>
        <p:spPr>
          <a:xfrm flipV="1">
            <a:off x="7666038" y="1839913"/>
            <a:ext cx="0" cy="13700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5887" name="Line 48"/>
          <p:cNvSpPr/>
          <p:nvPr/>
        </p:nvSpPr>
        <p:spPr>
          <a:xfrm>
            <a:off x="6265863" y="5053013"/>
            <a:ext cx="6937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5888" name="Line 49"/>
          <p:cNvSpPr/>
          <p:nvPr/>
        </p:nvSpPr>
        <p:spPr>
          <a:xfrm>
            <a:off x="6265863" y="4676775"/>
            <a:ext cx="10398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5889" name="Line 50"/>
          <p:cNvSpPr/>
          <p:nvPr/>
        </p:nvSpPr>
        <p:spPr>
          <a:xfrm>
            <a:off x="6265863" y="4173538"/>
            <a:ext cx="14859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5890" name="Line 51"/>
          <p:cNvSpPr/>
          <p:nvPr/>
        </p:nvSpPr>
        <p:spPr>
          <a:xfrm flipV="1">
            <a:off x="6888163" y="5053013"/>
            <a:ext cx="0" cy="4905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5891" name="Line 52"/>
          <p:cNvSpPr/>
          <p:nvPr/>
        </p:nvSpPr>
        <p:spPr>
          <a:xfrm flipV="1">
            <a:off x="7319963" y="4635500"/>
            <a:ext cx="0" cy="143351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5892" name="Line 53"/>
          <p:cNvSpPr/>
          <p:nvPr/>
        </p:nvSpPr>
        <p:spPr>
          <a:xfrm flipV="1">
            <a:off x="7808913" y="4173538"/>
            <a:ext cx="0" cy="13700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5893" name="Oval 54"/>
          <p:cNvSpPr/>
          <p:nvPr/>
        </p:nvSpPr>
        <p:spPr>
          <a:xfrm>
            <a:off x="7545388" y="1711325"/>
            <a:ext cx="246062" cy="246063"/>
          </a:xfrm>
          <a:prstGeom prst="ellipse">
            <a:avLst/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94" name="Oval 55"/>
          <p:cNvSpPr/>
          <p:nvPr/>
        </p:nvSpPr>
        <p:spPr>
          <a:xfrm>
            <a:off x="7688263" y="4049713"/>
            <a:ext cx="246062" cy="246062"/>
          </a:xfrm>
          <a:prstGeom prst="ellipse">
            <a:avLst/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95" name="Oval 56"/>
          <p:cNvSpPr/>
          <p:nvPr/>
        </p:nvSpPr>
        <p:spPr>
          <a:xfrm>
            <a:off x="7183438" y="2216150"/>
            <a:ext cx="246062" cy="246063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96" name="Oval 57"/>
          <p:cNvSpPr/>
          <p:nvPr/>
        </p:nvSpPr>
        <p:spPr>
          <a:xfrm>
            <a:off x="7197725" y="4540250"/>
            <a:ext cx="246063" cy="246063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97" name="Oval 58"/>
          <p:cNvSpPr/>
          <p:nvPr/>
        </p:nvSpPr>
        <p:spPr>
          <a:xfrm>
            <a:off x="6824663" y="2590800"/>
            <a:ext cx="246062" cy="246063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98" name="Oval 59"/>
          <p:cNvSpPr/>
          <p:nvPr/>
        </p:nvSpPr>
        <p:spPr>
          <a:xfrm>
            <a:off x="6767513" y="4927600"/>
            <a:ext cx="246062" cy="246063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5899" name="Object 60"/>
          <p:cNvGraphicFramePr/>
          <p:nvPr/>
        </p:nvGraphicFramePr>
        <p:xfrm>
          <a:off x="8586788" y="3167063"/>
          <a:ext cx="38576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45" imgW="265430" imgH="370205" progId="Equation.2">
                  <p:embed/>
                </p:oleObj>
              </mc:Choice>
              <mc:Fallback>
                <p:oleObj name="" r:id="rId45" imgW="265430" imgH="370205" progId="Equation.2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586788" y="3167063"/>
                        <a:ext cx="385762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00" name="Object 61"/>
          <p:cNvGraphicFramePr/>
          <p:nvPr/>
        </p:nvGraphicFramePr>
        <p:xfrm>
          <a:off x="8599488" y="5510213"/>
          <a:ext cx="3508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47" imgW="248285" imgH="370205" progId="Equation.2">
                  <p:embed/>
                </p:oleObj>
              </mc:Choice>
              <mc:Fallback>
                <p:oleObj name="" r:id="rId47" imgW="248285" imgH="370205" progId="Equation.2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599488" y="5510213"/>
                        <a:ext cx="350837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01" name="Object 62"/>
          <p:cNvGraphicFramePr/>
          <p:nvPr/>
        </p:nvGraphicFramePr>
        <p:xfrm>
          <a:off x="5905500" y="1066800"/>
          <a:ext cx="214313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49" imgW="152400" imgH="213360" progId="Equation.2">
                  <p:embed/>
                </p:oleObj>
              </mc:Choice>
              <mc:Fallback>
                <p:oleObj name="" r:id="rId49" imgW="152400" imgH="213360" progId="Equation.2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5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05500" y="1066800"/>
                        <a:ext cx="214313" cy="296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02" name="Object 63"/>
          <p:cNvGraphicFramePr/>
          <p:nvPr/>
        </p:nvGraphicFramePr>
        <p:xfrm>
          <a:off x="5905500" y="3390900"/>
          <a:ext cx="214313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51" imgW="152400" imgH="213360" progId="Equation.2">
                  <p:embed/>
                </p:oleObj>
              </mc:Choice>
              <mc:Fallback>
                <p:oleObj name="" r:id="rId51" imgW="152400" imgH="213360" progId="Equation.2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5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05500" y="3390900"/>
                        <a:ext cx="214313" cy="296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6865" name="Object 2"/>
          <p:cNvGraphicFramePr/>
          <p:nvPr/>
        </p:nvGraphicFramePr>
        <p:xfrm>
          <a:off x="23813" y="882650"/>
          <a:ext cx="7600950" cy="569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5476875" imgH="4105275" progId="PowerPoint.Slide.8">
                  <p:embed/>
                </p:oleObj>
              </mc:Choice>
              <mc:Fallback>
                <p:oleObj name="" r:id="rId1" imgW="5476875" imgH="4105275" progId="PowerPoint.Slide.8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813" y="882650"/>
                        <a:ext cx="7600950" cy="569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6" name="Line 3"/>
          <p:cNvSpPr/>
          <p:nvPr/>
        </p:nvSpPr>
        <p:spPr>
          <a:xfrm>
            <a:off x="1571625" y="2700338"/>
            <a:ext cx="3462338" cy="28067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67" name="Rectangle 4"/>
          <p:cNvSpPr/>
          <p:nvPr/>
        </p:nvSpPr>
        <p:spPr>
          <a:xfrm>
            <a:off x="1431925" y="1181100"/>
            <a:ext cx="29638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Fixed w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and w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68" name="Line 5"/>
          <p:cNvSpPr/>
          <p:nvPr/>
        </p:nvSpPr>
        <p:spPr>
          <a:xfrm>
            <a:off x="1557338" y="3524250"/>
            <a:ext cx="2481262" cy="201136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69" name="Line 6"/>
          <p:cNvSpPr/>
          <p:nvPr/>
        </p:nvSpPr>
        <p:spPr>
          <a:xfrm>
            <a:off x="1573213" y="4130675"/>
            <a:ext cx="1743075" cy="1412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70" name="Rectangle 7"/>
          <p:cNvSpPr/>
          <p:nvPr/>
        </p:nvSpPr>
        <p:spPr>
          <a:xfrm>
            <a:off x="0" y="0"/>
            <a:ext cx="9142413" cy="1219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p>
            <a:pPr algn="ctr" eaLnBrk="0" hangingPunct="0">
              <a:buSzTx/>
            </a:pPr>
            <a:r>
              <a:rPr lang="en-US" altLang="zh-CN" sz="44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Conditional Input Demand Curves</a:t>
            </a:r>
            <a:endParaRPr lang="en-US" altLang="zh-CN" sz="44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71" name="Line 8"/>
          <p:cNvSpPr/>
          <p:nvPr/>
        </p:nvSpPr>
        <p:spPr>
          <a:xfrm>
            <a:off x="3287713" y="4078288"/>
            <a:ext cx="0" cy="14430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6872" name="Line 9"/>
          <p:cNvSpPr/>
          <p:nvPr/>
        </p:nvSpPr>
        <p:spPr>
          <a:xfrm flipH="1">
            <a:off x="1570038" y="4078288"/>
            <a:ext cx="17176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6873" name="Line 10"/>
          <p:cNvSpPr/>
          <p:nvPr/>
        </p:nvSpPr>
        <p:spPr>
          <a:xfrm>
            <a:off x="2754313" y="4511675"/>
            <a:ext cx="0" cy="158591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6874" name="Line 11"/>
          <p:cNvSpPr/>
          <p:nvPr/>
        </p:nvSpPr>
        <p:spPr>
          <a:xfrm flipH="1">
            <a:off x="1555750" y="4511675"/>
            <a:ext cx="11985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6875" name="Line 12"/>
          <p:cNvSpPr/>
          <p:nvPr/>
        </p:nvSpPr>
        <p:spPr>
          <a:xfrm>
            <a:off x="2422525" y="4813300"/>
            <a:ext cx="0" cy="7080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6876" name="Line 13"/>
          <p:cNvSpPr/>
          <p:nvPr/>
        </p:nvSpPr>
        <p:spPr>
          <a:xfrm flipH="1">
            <a:off x="1570038" y="4813300"/>
            <a:ext cx="8382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6877" name="Oval 14"/>
          <p:cNvSpPr/>
          <p:nvPr/>
        </p:nvSpPr>
        <p:spPr>
          <a:xfrm>
            <a:off x="2293938" y="4683125"/>
            <a:ext cx="246062" cy="246063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78" name="Oval 15"/>
          <p:cNvSpPr/>
          <p:nvPr/>
        </p:nvSpPr>
        <p:spPr>
          <a:xfrm>
            <a:off x="2638425" y="4379913"/>
            <a:ext cx="246063" cy="246062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79" name="Oval 16"/>
          <p:cNvSpPr/>
          <p:nvPr/>
        </p:nvSpPr>
        <p:spPr>
          <a:xfrm>
            <a:off x="3157538" y="3962400"/>
            <a:ext cx="246062" cy="246063"/>
          </a:xfrm>
          <a:prstGeom prst="ellipse">
            <a:avLst/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6880" name="Object 17"/>
          <p:cNvGraphicFramePr/>
          <p:nvPr/>
        </p:nvGraphicFramePr>
        <p:xfrm>
          <a:off x="2941638" y="5518150"/>
          <a:ext cx="11334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3" imgW="779145" imgH="370205" progId="Equation.2">
                  <p:embed/>
                </p:oleObj>
              </mc:Choice>
              <mc:Fallback>
                <p:oleObj name="" r:id="rId3" imgW="779145" imgH="370205" progId="Equation.2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41638" y="5518150"/>
                        <a:ext cx="1133475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1" name="Object 18"/>
          <p:cNvGraphicFramePr/>
          <p:nvPr/>
        </p:nvGraphicFramePr>
        <p:xfrm>
          <a:off x="354013" y="3646488"/>
          <a:ext cx="11620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5" imgW="805815" imgH="370205" progId="Equation.2">
                  <p:embed/>
                </p:oleObj>
              </mc:Choice>
              <mc:Fallback>
                <p:oleObj name="" r:id="rId5" imgW="805815" imgH="370205" progId="Equation.2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4013" y="3646488"/>
                        <a:ext cx="1162050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2" name="Object 19"/>
          <p:cNvGraphicFramePr/>
          <p:nvPr/>
        </p:nvGraphicFramePr>
        <p:xfrm>
          <a:off x="1709738" y="5516563"/>
          <a:ext cx="96043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7" imgW="666115" imgH="370205" progId="Equation.2">
                  <p:embed/>
                </p:oleObj>
              </mc:Choice>
              <mc:Fallback>
                <p:oleObj name="" r:id="rId7" imgW="666115" imgH="370205" progId="Equation.2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09738" y="5516563"/>
                        <a:ext cx="960437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3" name="Object 20"/>
          <p:cNvGraphicFramePr/>
          <p:nvPr/>
        </p:nvGraphicFramePr>
        <p:xfrm>
          <a:off x="2270125" y="5995988"/>
          <a:ext cx="104933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9" imgW="727075" imgH="370205" progId="Equation.2">
                  <p:embed/>
                </p:oleObj>
              </mc:Choice>
              <mc:Fallback>
                <p:oleObj name="" r:id="rId9" imgW="727075" imgH="370205" progId="Equation.2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70125" y="5995988"/>
                        <a:ext cx="1049338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4" name="Object 21"/>
          <p:cNvGraphicFramePr/>
          <p:nvPr/>
        </p:nvGraphicFramePr>
        <p:xfrm>
          <a:off x="439738" y="4127500"/>
          <a:ext cx="106521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1" imgW="744855" imgH="370205" progId="Equation.2">
                  <p:embed/>
                </p:oleObj>
              </mc:Choice>
              <mc:Fallback>
                <p:oleObj name="" r:id="rId11" imgW="744855" imgH="370205" progId="Equation.2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9738" y="4127500"/>
                        <a:ext cx="1065212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5" name="Object 22"/>
          <p:cNvGraphicFramePr/>
          <p:nvPr/>
        </p:nvGraphicFramePr>
        <p:xfrm>
          <a:off x="520700" y="4586288"/>
          <a:ext cx="98901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3" imgW="692150" imgH="370205" progId="Equation.2">
                  <p:embed/>
                </p:oleObj>
              </mc:Choice>
              <mc:Fallback>
                <p:oleObj name="" r:id="rId13" imgW="692150" imgH="370205" progId="Equation.2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0700" y="4586288"/>
                        <a:ext cx="989013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6" name="Line 23"/>
          <p:cNvSpPr/>
          <p:nvPr/>
        </p:nvSpPr>
        <p:spPr>
          <a:xfrm flipV="1">
            <a:off x="1570038" y="3616325"/>
            <a:ext cx="2295525" cy="1905000"/>
          </a:xfrm>
          <a:prstGeom prst="line">
            <a:avLst/>
          </a:prstGeom>
          <a:ln w="50800" cap="flat" cmpd="sng">
            <a:solidFill>
              <a:srgbClr val="01FF0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87" name="Rectangle 24"/>
          <p:cNvSpPr/>
          <p:nvPr/>
        </p:nvSpPr>
        <p:spPr>
          <a:xfrm>
            <a:off x="3138488" y="2260600"/>
            <a:ext cx="2749550" cy="138588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output</a:t>
            </a:r>
            <a:br>
              <a:rPr lang="en-US" altLang="zh-CN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expansion</a:t>
            </a:r>
            <a:br>
              <a:rPr lang="en-US" altLang="zh-CN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path</a:t>
            </a:r>
            <a:r>
              <a:rPr lang="zh-CN" altLang="en-US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产量扩张线</a:t>
            </a:r>
            <a:endParaRPr lang="en-US" altLang="zh-CN" dirty="0">
              <a:solidFill>
                <a:srgbClr val="01FF0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88" name="Line 25"/>
          <p:cNvSpPr/>
          <p:nvPr/>
        </p:nvSpPr>
        <p:spPr>
          <a:xfrm>
            <a:off x="6267450" y="3214688"/>
            <a:ext cx="22812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36889" name="Line 26"/>
          <p:cNvSpPr/>
          <p:nvPr/>
        </p:nvSpPr>
        <p:spPr>
          <a:xfrm flipV="1">
            <a:off x="6265863" y="1133475"/>
            <a:ext cx="0" cy="20637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36890" name="Line 27"/>
          <p:cNvSpPr/>
          <p:nvPr/>
        </p:nvSpPr>
        <p:spPr>
          <a:xfrm>
            <a:off x="6267450" y="5548313"/>
            <a:ext cx="22812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36891" name="Line 28"/>
          <p:cNvSpPr/>
          <p:nvPr/>
        </p:nvSpPr>
        <p:spPr>
          <a:xfrm flipV="1">
            <a:off x="6265863" y="3467100"/>
            <a:ext cx="0" cy="20637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graphicFrame>
        <p:nvGraphicFramePr>
          <p:cNvPr id="36892" name="Object 29"/>
          <p:cNvGraphicFramePr/>
          <p:nvPr/>
        </p:nvGraphicFramePr>
        <p:xfrm>
          <a:off x="4994275" y="5108575"/>
          <a:ext cx="3175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5" imgW="222250" imgH="265430" progId="Equation.2">
                  <p:embed/>
                </p:oleObj>
              </mc:Choice>
              <mc:Fallback>
                <p:oleObj name="" r:id="rId15" imgW="222250" imgH="265430" progId="Equation.2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94275" y="5108575"/>
                        <a:ext cx="3175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93" name="Object 30"/>
          <p:cNvGraphicFramePr/>
          <p:nvPr/>
        </p:nvGraphicFramePr>
        <p:xfrm>
          <a:off x="4756150" y="4870450"/>
          <a:ext cx="40163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7" imgW="283210" imgH="265430" progId="Equation.2">
                  <p:embed/>
                </p:oleObj>
              </mc:Choice>
              <mc:Fallback>
                <p:oleObj name="" r:id="rId17" imgW="283210" imgH="265430" progId="Equation.2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56150" y="4870450"/>
                        <a:ext cx="401638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94" name="Object 31"/>
          <p:cNvGraphicFramePr/>
          <p:nvPr/>
        </p:nvGraphicFramePr>
        <p:xfrm>
          <a:off x="4764088" y="4537075"/>
          <a:ext cx="4730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9" imgW="335280" imgH="265430" progId="Equation.2">
                  <p:embed/>
                </p:oleObj>
              </mc:Choice>
              <mc:Fallback>
                <p:oleObj name="" r:id="rId19" imgW="335280" imgH="265430" progId="Equation.2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64088" y="4537075"/>
                        <a:ext cx="473075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95" name="Object 32"/>
          <p:cNvGraphicFramePr/>
          <p:nvPr/>
        </p:nvGraphicFramePr>
        <p:xfrm>
          <a:off x="7392988" y="3209925"/>
          <a:ext cx="9937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21" imgW="805815" imgH="370205" progId="Equation.2">
                  <p:embed/>
                </p:oleObj>
              </mc:Choice>
              <mc:Fallback>
                <p:oleObj name="" r:id="rId21" imgW="805815" imgH="370205" progId="Equation.2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392988" y="3209925"/>
                        <a:ext cx="993775" cy="450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96" name="Object 33"/>
          <p:cNvGraphicFramePr/>
          <p:nvPr/>
        </p:nvGraphicFramePr>
        <p:xfrm>
          <a:off x="6864350" y="3602038"/>
          <a:ext cx="90963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23" imgW="744855" imgH="370205" progId="Equation.2">
                  <p:embed/>
                </p:oleObj>
              </mc:Choice>
              <mc:Fallback>
                <p:oleObj name="" r:id="rId23" imgW="744855" imgH="370205" progId="Equation.2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64350" y="3602038"/>
                        <a:ext cx="909638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97" name="Object 34"/>
          <p:cNvGraphicFramePr/>
          <p:nvPr/>
        </p:nvGraphicFramePr>
        <p:xfrm>
          <a:off x="6392863" y="3211513"/>
          <a:ext cx="8445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25" imgW="692150" imgH="370205" progId="Equation.2">
                  <p:embed/>
                </p:oleObj>
              </mc:Choice>
              <mc:Fallback>
                <p:oleObj name="" r:id="rId25" imgW="692150" imgH="370205" progId="Equation.2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392863" y="3211513"/>
                        <a:ext cx="844550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98" name="Object 35"/>
          <p:cNvGraphicFramePr/>
          <p:nvPr/>
        </p:nvGraphicFramePr>
        <p:xfrm>
          <a:off x="7423150" y="5553075"/>
          <a:ext cx="95091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27" imgW="779145" imgH="370205" progId="Equation.2">
                  <p:embed/>
                </p:oleObj>
              </mc:Choice>
              <mc:Fallback>
                <p:oleObj name="" r:id="rId27" imgW="779145" imgH="370205" progId="Equation.2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423150" y="5553075"/>
                        <a:ext cx="950913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99" name="Object 36"/>
          <p:cNvGraphicFramePr/>
          <p:nvPr/>
        </p:nvGraphicFramePr>
        <p:xfrm>
          <a:off x="6888163" y="5945188"/>
          <a:ext cx="8794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29" imgW="727075" imgH="370205" progId="Equation.2">
                  <p:embed/>
                </p:oleObj>
              </mc:Choice>
              <mc:Fallback>
                <p:oleObj name="" r:id="rId29" imgW="727075" imgH="370205" progId="Equation.2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30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88163" y="5945188"/>
                        <a:ext cx="87947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00" name="Object 37"/>
          <p:cNvGraphicFramePr/>
          <p:nvPr/>
        </p:nvGraphicFramePr>
        <p:xfrm>
          <a:off x="6423025" y="5554663"/>
          <a:ext cx="8032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31" imgW="666115" imgH="370205" progId="Equation.2">
                  <p:embed/>
                </p:oleObj>
              </mc:Choice>
              <mc:Fallback>
                <p:oleObj name="" r:id="rId31" imgW="666115" imgH="370205" progId="Equation.2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3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23025" y="5554663"/>
                        <a:ext cx="80327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01" name="Object 38"/>
          <p:cNvGraphicFramePr/>
          <p:nvPr/>
        </p:nvGraphicFramePr>
        <p:xfrm>
          <a:off x="5716588" y="1655763"/>
          <a:ext cx="4730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3" imgW="335280" imgH="265430" progId="Equation.2">
                  <p:embed/>
                </p:oleObj>
              </mc:Choice>
              <mc:Fallback>
                <p:oleObj name="" r:id="rId33" imgW="335280" imgH="265430" progId="Equation.2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34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16588" y="1655763"/>
                        <a:ext cx="473075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02" name="Object 39"/>
          <p:cNvGraphicFramePr/>
          <p:nvPr/>
        </p:nvGraphicFramePr>
        <p:xfrm>
          <a:off x="5740400" y="3989388"/>
          <a:ext cx="4730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5" imgW="335280" imgH="265430" progId="Equation.2">
                  <p:embed/>
                </p:oleObj>
              </mc:Choice>
              <mc:Fallback>
                <p:oleObj name="" r:id="rId35" imgW="335280" imgH="265430" progId="Equation.2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36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40400" y="3989388"/>
                        <a:ext cx="473075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03" name="Object 40"/>
          <p:cNvGraphicFramePr/>
          <p:nvPr/>
        </p:nvGraphicFramePr>
        <p:xfrm>
          <a:off x="5803900" y="2155825"/>
          <a:ext cx="40163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37" imgW="283210" imgH="265430" progId="Equation.2">
                  <p:embed/>
                </p:oleObj>
              </mc:Choice>
              <mc:Fallback>
                <p:oleObj name="" r:id="rId37" imgW="283210" imgH="265430" progId="Equation.2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38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03900" y="2155825"/>
                        <a:ext cx="401638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04" name="Object 41"/>
          <p:cNvGraphicFramePr/>
          <p:nvPr/>
        </p:nvGraphicFramePr>
        <p:xfrm>
          <a:off x="5827713" y="4489450"/>
          <a:ext cx="40163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39" imgW="283210" imgH="265430" progId="Equation.2">
                  <p:embed/>
                </p:oleObj>
              </mc:Choice>
              <mc:Fallback>
                <p:oleObj name="" r:id="rId39" imgW="283210" imgH="265430" progId="Equation.2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40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27713" y="4489450"/>
                        <a:ext cx="401637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05" name="Object 42"/>
          <p:cNvGraphicFramePr/>
          <p:nvPr/>
        </p:nvGraphicFramePr>
        <p:xfrm>
          <a:off x="5899150" y="2584450"/>
          <a:ext cx="3175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41" imgW="222250" imgH="265430" progId="Equation.2">
                  <p:embed/>
                </p:oleObj>
              </mc:Choice>
              <mc:Fallback>
                <p:oleObj name="" r:id="rId41" imgW="222250" imgH="265430" progId="Equation.2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99150" y="2584450"/>
                        <a:ext cx="3175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06" name="Object 43"/>
          <p:cNvGraphicFramePr/>
          <p:nvPr/>
        </p:nvGraphicFramePr>
        <p:xfrm>
          <a:off x="5899150" y="4894263"/>
          <a:ext cx="3175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43" imgW="222250" imgH="265430" progId="Equation.2">
                  <p:embed/>
                </p:oleObj>
              </mc:Choice>
              <mc:Fallback>
                <p:oleObj name="" r:id="rId43" imgW="222250" imgH="265430" progId="Equation.2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99150" y="4894263"/>
                        <a:ext cx="3175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07" name="Line 44"/>
          <p:cNvSpPr/>
          <p:nvPr/>
        </p:nvSpPr>
        <p:spPr>
          <a:xfrm>
            <a:off x="6265863" y="2719388"/>
            <a:ext cx="6937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6908" name="Line 45"/>
          <p:cNvSpPr/>
          <p:nvPr/>
        </p:nvSpPr>
        <p:spPr>
          <a:xfrm>
            <a:off x="6265863" y="2343150"/>
            <a:ext cx="10398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6909" name="Line 46"/>
          <p:cNvSpPr/>
          <p:nvPr/>
        </p:nvSpPr>
        <p:spPr>
          <a:xfrm>
            <a:off x="6265863" y="1839913"/>
            <a:ext cx="14859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6910" name="Line 47"/>
          <p:cNvSpPr/>
          <p:nvPr/>
        </p:nvSpPr>
        <p:spPr>
          <a:xfrm flipV="1">
            <a:off x="6959600" y="2719388"/>
            <a:ext cx="0" cy="4905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6911" name="Line 48"/>
          <p:cNvSpPr/>
          <p:nvPr/>
        </p:nvSpPr>
        <p:spPr>
          <a:xfrm flipV="1">
            <a:off x="7305675" y="2301875"/>
            <a:ext cx="0" cy="14160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6912" name="Line 49"/>
          <p:cNvSpPr/>
          <p:nvPr/>
        </p:nvSpPr>
        <p:spPr>
          <a:xfrm flipV="1">
            <a:off x="7666038" y="1839913"/>
            <a:ext cx="0" cy="13700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6913" name="Line 50"/>
          <p:cNvSpPr/>
          <p:nvPr/>
        </p:nvSpPr>
        <p:spPr>
          <a:xfrm>
            <a:off x="6265863" y="5053013"/>
            <a:ext cx="6937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6914" name="Line 51"/>
          <p:cNvSpPr/>
          <p:nvPr/>
        </p:nvSpPr>
        <p:spPr>
          <a:xfrm>
            <a:off x="6265863" y="4676775"/>
            <a:ext cx="10398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6915" name="Line 52"/>
          <p:cNvSpPr/>
          <p:nvPr/>
        </p:nvSpPr>
        <p:spPr>
          <a:xfrm>
            <a:off x="6265863" y="4173538"/>
            <a:ext cx="14859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6916" name="Line 53"/>
          <p:cNvSpPr/>
          <p:nvPr/>
        </p:nvSpPr>
        <p:spPr>
          <a:xfrm flipV="1">
            <a:off x="6888163" y="5053013"/>
            <a:ext cx="0" cy="4905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6917" name="Line 54"/>
          <p:cNvSpPr/>
          <p:nvPr/>
        </p:nvSpPr>
        <p:spPr>
          <a:xfrm flipV="1">
            <a:off x="7319963" y="4635500"/>
            <a:ext cx="0" cy="143351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6918" name="Line 55"/>
          <p:cNvSpPr/>
          <p:nvPr/>
        </p:nvSpPr>
        <p:spPr>
          <a:xfrm flipV="1">
            <a:off x="7808913" y="4173538"/>
            <a:ext cx="0" cy="13700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6919" name="Oval 56"/>
          <p:cNvSpPr/>
          <p:nvPr/>
        </p:nvSpPr>
        <p:spPr>
          <a:xfrm>
            <a:off x="7545388" y="1711325"/>
            <a:ext cx="246062" cy="246063"/>
          </a:xfrm>
          <a:prstGeom prst="ellipse">
            <a:avLst/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920" name="Oval 57"/>
          <p:cNvSpPr/>
          <p:nvPr/>
        </p:nvSpPr>
        <p:spPr>
          <a:xfrm>
            <a:off x="7688263" y="4049713"/>
            <a:ext cx="246062" cy="246062"/>
          </a:xfrm>
          <a:prstGeom prst="ellipse">
            <a:avLst/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921" name="Oval 58"/>
          <p:cNvSpPr/>
          <p:nvPr/>
        </p:nvSpPr>
        <p:spPr>
          <a:xfrm>
            <a:off x="7183438" y="2216150"/>
            <a:ext cx="246062" cy="246063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922" name="Oval 59"/>
          <p:cNvSpPr/>
          <p:nvPr/>
        </p:nvSpPr>
        <p:spPr>
          <a:xfrm>
            <a:off x="7197725" y="4540250"/>
            <a:ext cx="246063" cy="246063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923" name="Oval 60"/>
          <p:cNvSpPr/>
          <p:nvPr/>
        </p:nvSpPr>
        <p:spPr>
          <a:xfrm>
            <a:off x="6824663" y="2590800"/>
            <a:ext cx="246062" cy="246063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924" name="Oval 61"/>
          <p:cNvSpPr/>
          <p:nvPr/>
        </p:nvSpPr>
        <p:spPr>
          <a:xfrm>
            <a:off x="6767513" y="4927600"/>
            <a:ext cx="246062" cy="246063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6925" name="Object 62"/>
          <p:cNvGraphicFramePr/>
          <p:nvPr/>
        </p:nvGraphicFramePr>
        <p:xfrm>
          <a:off x="8586788" y="3167063"/>
          <a:ext cx="38576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45" imgW="265430" imgH="370205" progId="Equation.2">
                  <p:embed/>
                </p:oleObj>
              </mc:Choice>
              <mc:Fallback>
                <p:oleObj name="" r:id="rId45" imgW="265430" imgH="370205" progId="Equation.2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4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586788" y="3167063"/>
                        <a:ext cx="385762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26" name="Object 63"/>
          <p:cNvGraphicFramePr/>
          <p:nvPr/>
        </p:nvGraphicFramePr>
        <p:xfrm>
          <a:off x="8599488" y="5510213"/>
          <a:ext cx="3508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47" imgW="248285" imgH="370205" progId="Equation.2">
                  <p:embed/>
                </p:oleObj>
              </mc:Choice>
              <mc:Fallback>
                <p:oleObj name="" r:id="rId47" imgW="248285" imgH="370205" progId="Equation.2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4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599488" y="5510213"/>
                        <a:ext cx="350837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27" name="Object 64"/>
          <p:cNvGraphicFramePr/>
          <p:nvPr/>
        </p:nvGraphicFramePr>
        <p:xfrm>
          <a:off x="5905500" y="1066800"/>
          <a:ext cx="214313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49" imgW="152400" imgH="213360" progId="Equation.2">
                  <p:embed/>
                </p:oleObj>
              </mc:Choice>
              <mc:Fallback>
                <p:oleObj name="" r:id="rId49" imgW="152400" imgH="213360" progId="Equation.2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5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05500" y="1066800"/>
                        <a:ext cx="214313" cy="296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28" name="Object 65"/>
          <p:cNvGraphicFramePr/>
          <p:nvPr/>
        </p:nvGraphicFramePr>
        <p:xfrm>
          <a:off x="5905500" y="3390900"/>
          <a:ext cx="214313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51" imgW="152400" imgH="213360" progId="Equation.2">
                  <p:embed/>
                </p:oleObj>
              </mc:Choice>
              <mc:Fallback>
                <p:oleObj name="" r:id="rId51" imgW="152400" imgH="213360" progId="Equation.2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5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05500" y="3390900"/>
                        <a:ext cx="214313" cy="296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7889" name="Object 2"/>
          <p:cNvGraphicFramePr/>
          <p:nvPr/>
        </p:nvGraphicFramePr>
        <p:xfrm>
          <a:off x="23813" y="882650"/>
          <a:ext cx="7600950" cy="569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" imgW="5476875" imgH="4105275" progId="PowerPoint.Slide.8">
                  <p:embed/>
                </p:oleObj>
              </mc:Choice>
              <mc:Fallback>
                <p:oleObj name="" r:id="rId1" imgW="5476875" imgH="4105275" progId="PowerPoint.Slide.8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813" y="882650"/>
                        <a:ext cx="7600950" cy="569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0" name="Line 3"/>
          <p:cNvSpPr/>
          <p:nvPr/>
        </p:nvSpPr>
        <p:spPr>
          <a:xfrm>
            <a:off x="1571625" y="2700338"/>
            <a:ext cx="3462338" cy="28067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91" name="Rectangle 4"/>
          <p:cNvSpPr/>
          <p:nvPr/>
        </p:nvSpPr>
        <p:spPr>
          <a:xfrm>
            <a:off x="1431925" y="1181100"/>
            <a:ext cx="29638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Fixed w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and w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2" name="Line 5"/>
          <p:cNvSpPr/>
          <p:nvPr/>
        </p:nvSpPr>
        <p:spPr>
          <a:xfrm>
            <a:off x="1557338" y="3524250"/>
            <a:ext cx="2481262" cy="201136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93" name="Line 6"/>
          <p:cNvSpPr/>
          <p:nvPr/>
        </p:nvSpPr>
        <p:spPr>
          <a:xfrm>
            <a:off x="1573213" y="4130675"/>
            <a:ext cx="1743075" cy="1412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94" name="Rectangle 7"/>
          <p:cNvSpPr/>
          <p:nvPr/>
        </p:nvSpPr>
        <p:spPr>
          <a:xfrm>
            <a:off x="0" y="0"/>
            <a:ext cx="9142413" cy="1219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p>
            <a:pPr algn="ctr" eaLnBrk="0" hangingPunct="0">
              <a:buSzTx/>
            </a:pPr>
            <a:r>
              <a:rPr lang="en-US" altLang="zh-CN" sz="4400" b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Conditional Input Demand Curves</a:t>
            </a:r>
            <a:endParaRPr lang="en-US" altLang="zh-CN" sz="44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5" name="Line 8"/>
          <p:cNvSpPr/>
          <p:nvPr/>
        </p:nvSpPr>
        <p:spPr>
          <a:xfrm>
            <a:off x="3287713" y="4078288"/>
            <a:ext cx="0" cy="14430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7896" name="Line 9"/>
          <p:cNvSpPr/>
          <p:nvPr/>
        </p:nvSpPr>
        <p:spPr>
          <a:xfrm flipH="1">
            <a:off x="1570038" y="4078288"/>
            <a:ext cx="17176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7897" name="Line 10"/>
          <p:cNvSpPr/>
          <p:nvPr/>
        </p:nvSpPr>
        <p:spPr>
          <a:xfrm>
            <a:off x="2754313" y="4511675"/>
            <a:ext cx="0" cy="158591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7898" name="Line 11"/>
          <p:cNvSpPr/>
          <p:nvPr/>
        </p:nvSpPr>
        <p:spPr>
          <a:xfrm flipH="1">
            <a:off x="1555750" y="4511675"/>
            <a:ext cx="11985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7899" name="Line 12"/>
          <p:cNvSpPr/>
          <p:nvPr/>
        </p:nvSpPr>
        <p:spPr>
          <a:xfrm>
            <a:off x="2422525" y="4813300"/>
            <a:ext cx="0" cy="7080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7900" name="Line 13"/>
          <p:cNvSpPr/>
          <p:nvPr/>
        </p:nvSpPr>
        <p:spPr>
          <a:xfrm flipH="1">
            <a:off x="1570038" y="4813300"/>
            <a:ext cx="8382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7901" name="Oval 14"/>
          <p:cNvSpPr/>
          <p:nvPr/>
        </p:nvSpPr>
        <p:spPr>
          <a:xfrm>
            <a:off x="2293938" y="4683125"/>
            <a:ext cx="246062" cy="246063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02" name="Oval 15"/>
          <p:cNvSpPr/>
          <p:nvPr/>
        </p:nvSpPr>
        <p:spPr>
          <a:xfrm>
            <a:off x="2638425" y="4379913"/>
            <a:ext cx="246063" cy="246062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03" name="Oval 16"/>
          <p:cNvSpPr/>
          <p:nvPr/>
        </p:nvSpPr>
        <p:spPr>
          <a:xfrm>
            <a:off x="3157538" y="3962400"/>
            <a:ext cx="246062" cy="246063"/>
          </a:xfrm>
          <a:prstGeom prst="ellipse">
            <a:avLst/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7904" name="Object 17"/>
          <p:cNvGraphicFramePr/>
          <p:nvPr/>
        </p:nvGraphicFramePr>
        <p:xfrm>
          <a:off x="2941638" y="5518150"/>
          <a:ext cx="11334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3" imgW="779145" imgH="370205" progId="Equation.2">
                  <p:embed/>
                </p:oleObj>
              </mc:Choice>
              <mc:Fallback>
                <p:oleObj name="" r:id="rId3" imgW="779145" imgH="370205" progId="Equation.2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41638" y="5518150"/>
                        <a:ext cx="1133475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5" name="Object 18"/>
          <p:cNvGraphicFramePr/>
          <p:nvPr/>
        </p:nvGraphicFramePr>
        <p:xfrm>
          <a:off x="354013" y="3646488"/>
          <a:ext cx="11620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5" imgW="805815" imgH="370205" progId="Equation.2">
                  <p:embed/>
                </p:oleObj>
              </mc:Choice>
              <mc:Fallback>
                <p:oleObj name="" r:id="rId5" imgW="805815" imgH="370205" progId="Equation.2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4013" y="3646488"/>
                        <a:ext cx="1162050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6" name="Object 19"/>
          <p:cNvGraphicFramePr/>
          <p:nvPr/>
        </p:nvGraphicFramePr>
        <p:xfrm>
          <a:off x="1709738" y="5516563"/>
          <a:ext cx="96043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7" imgW="666115" imgH="370205" progId="Equation.2">
                  <p:embed/>
                </p:oleObj>
              </mc:Choice>
              <mc:Fallback>
                <p:oleObj name="" r:id="rId7" imgW="666115" imgH="370205" progId="Equation.2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09738" y="5516563"/>
                        <a:ext cx="960437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7" name="Object 20"/>
          <p:cNvGraphicFramePr/>
          <p:nvPr/>
        </p:nvGraphicFramePr>
        <p:xfrm>
          <a:off x="2270125" y="5995988"/>
          <a:ext cx="104933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9" imgW="727075" imgH="370205" progId="Equation.2">
                  <p:embed/>
                </p:oleObj>
              </mc:Choice>
              <mc:Fallback>
                <p:oleObj name="" r:id="rId9" imgW="727075" imgH="370205" progId="Equation.2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70125" y="5995988"/>
                        <a:ext cx="1049338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8" name="Object 21"/>
          <p:cNvGraphicFramePr/>
          <p:nvPr/>
        </p:nvGraphicFramePr>
        <p:xfrm>
          <a:off x="439738" y="4127500"/>
          <a:ext cx="106521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1" imgW="744855" imgH="370205" progId="Equation.2">
                  <p:embed/>
                </p:oleObj>
              </mc:Choice>
              <mc:Fallback>
                <p:oleObj name="" r:id="rId11" imgW="744855" imgH="370205" progId="Equation.2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9738" y="4127500"/>
                        <a:ext cx="1065212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9" name="Object 22"/>
          <p:cNvGraphicFramePr/>
          <p:nvPr/>
        </p:nvGraphicFramePr>
        <p:xfrm>
          <a:off x="520700" y="4586288"/>
          <a:ext cx="98901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3" imgW="692150" imgH="370205" progId="Equation.2">
                  <p:embed/>
                </p:oleObj>
              </mc:Choice>
              <mc:Fallback>
                <p:oleObj name="" r:id="rId13" imgW="692150" imgH="370205" progId="Equation.2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0700" y="4586288"/>
                        <a:ext cx="989013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0" name="Line 23"/>
          <p:cNvSpPr/>
          <p:nvPr/>
        </p:nvSpPr>
        <p:spPr>
          <a:xfrm flipV="1">
            <a:off x="1570038" y="3616325"/>
            <a:ext cx="2295525" cy="1905000"/>
          </a:xfrm>
          <a:prstGeom prst="line">
            <a:avLst/>
          </a:prstGeom>
          <a:ln w="50800" cap="flat" cmpd="sng">
            <a:solidFill>
              <a:srgbClr val="01FF0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11" name="Rectangle 24"/>
          <p:cNvSpPr/>
          <p:nvPr/>
        </p:nvSpPr>
        <p:spPr>
          <a:xfrm>
            <a:off x="3138488" y="2260600"/>
            <a:ext cx="1943100" cy="137318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output</a:t>
            </a:r>
            <a:br>
              <a:rPr lang="en-US" altLang="zh-CN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expansion</a:t>
            </a:r>
            <a:br>
              <a:rPr lang="en-US" altLang="zh-CN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path</a:t>
            </a:r>
            <a:endParaRPr lang="en-US" altLang="zh-CN" dirty="0">
              <a:solidFill>
                <a:srgbClr val="01FF0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12" name="Line 25"/>
          <p:cNvSpPr/>
          <p:nvPr/>
        </p:nvSpPr>
        <p:spPr>
          <a:xfrm>
            <a:off x="6267450" y="3214688"/>
            <a:ext cx="22812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37913" name="Line 26"/>
          <p:cNvSpPr/>
          <p:nvPr/>
        </p:nvSpPr>
        <p:spPr>
          <a:xfrm flipV="1">
            <a:off x="6265863" y="1133475"/>
            <a:ext cx="0" cy="20637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37914" name="Line 27"/>
          <p:cNvSpPr/>
          <p:nvPr/>
        </p:nvSpPr>
        <p:spPr>
          <a:xfrm>
            <a:off x="6265863" y="2719388"/>
            <a:ext cx="6937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7915" name="Line 28"/>
          <p:cNvSpPr/>
          <p:nvPr/>
        </p:nvSpPr>
        <p:spPr>
          <a:xfrm>
            <a:off x="6265863" y="2343150"/>
            <a:ext cx="10398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7916" name="Line 29"/>
          <p:cNvSpPr/>
          <p:nvPr/>
        </p:nvSpPr>
        <p:spPr>
          <a:xfrm>
            <a:off x="6265863" y="1839913"/>
            <a:ext cx="14859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7917" name="Line 30"/>
          <p:cNvSpPr/>
          <p:nvPr/>
        </p:nvSpPr>
        <p:spPr>
          <a:xfrm flipV="1">
            <a:off x="6959600" y="2719388"/>
            <a:ext cx="0" cy="4905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7918" name="Line 31"/>
          <p:cNvSpPr/>
          <p:nvPr/>
        </p:nvSpPr>
        <p:spPr>
          <a:xfrm flipV="1">
            <a:off x="7305675" y="2301875"/>
            <a:ext cx="0" cy="14160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7919" name="Line 32"/>
          <p:cNvSpPr/>
          <p:nvPr/>
        </p:nvSpPr>
        <p:spPr>
          <a:xfrm flipV="1">
            <a:off x="7666038" y="1839913"/>
            <a:ext cx="0" cy="13700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7920" name="Line 33"/>
          <p:cNvSpPr/>
          <p:nvPr/>
        </p:nvSpPr>
        <p:spPr>
          <a:xfrm>
            <a:off x="6267450" y="5548313"/>
            <a:ext cx="22812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37921" name="Line 34"/>
          <p:cNvSpPr/>
          <p:nvPr/>
        </p:nvSpPr>
        <p:spPr>
          <a:xfrm flipV="1">
            <a:off x="6265863" y="3467100"/>
            <a:ext cx="0" cy="20637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37922" name="Line 35"/>
          <p:cNvSpPr/>
          <p:nvPr/>
        </p:nvSpPr>
        <p:spPr>
          <a:xfrm>
            <a:off x="6265863" y="5053013"/>
            <a:ext cx="6937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7923" name="Line 36"/>
          <p:cNvSpPr/>
          <p:nvPr/>
        </p:nvSpPr>
        <p:spPr>
          <a:xfrm>
            <a:off x="6265863" y="4676775"/>
            <a:ext cx="10398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7924" name="Line 37"/>
          <p:cNvSpPr/>
          <p:nvPr/>
        </p:nvSpPr>
        <p:spPr>
          <a:xfrm>
            <a:off x="6265863" y="4173538"/>
            <a:ext cx="14859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7925" name="Line 38"/>
          <p:cNvSpPr/>
          <p:nvPr/>
        </p:nvSpPr>
        <p:spPr>
          <a:xfrm flipV="1">
            <a:off x="6888163" y="5053013"/>
            <a:ext cx="0" cy="4905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7926" name="Line 39"/>
          <p:cNvSpPr/>
          <p:nvPr/>
        </p:nvSpPr>
        <p:spPr>
          <a:xfrm flipV="1">
            <a:off x="7319963" y="4635500"/>
            <a:ext cx="0" cy="143351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7927" name="Line 40"/>
          <p:cNvSpPr/>
          <p:nvPr/>
        </p:nvSpPr>
        <p:spPr>
          <a:xfrm flipV="1">
            <a:off x="7808913" y="4173538"/>
            <a:ext cx="0" cy="13700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graphicFrame>
        <p:nvGraphicFramePr>
          <p:cNvPr id="37928" name="Object 41"/>
          <p:cNvGraphicFramePr/>
          <p:nvPr/>
        </p:nvGraphicFramePr>
        <p:xfrm>
          <a:off x="4994275" y="5108575"/>
          <a:ext cx="3175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5" imgW="222250" imgH="265430" progId="Equation.2">
                  <p:embed/>
                </p:oleObj>
              </mc:Choice>
              <mc:Fallback>
                <p:oleObj name="" r:id="rId15" imgW="222250" imgH="265430" progId="Equation.2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94275" y="5108575"/>
                        <a:ext cx="3175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29" name="Object 42"/>
          <p:cNvGraphicFramePr/>
          <p:nvPr/>
        </p:nvGraphicFramePr>
        <p:xfrm>
          <a:off x="4756150" y="4870450"/>
          <a:ext cx="40163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17" imgW="283210" imgH="265430" progId="Equation.2">
                  <p:embed/>
                </p:oleObj>
              </mc:Choice>
              <mc:Fallback>
                <p:oleObj name="" r:id="rId17" imgW="283210" imgH="265430" progId="Equation.2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56150" y="4870450"/>
                        <a:ext cx="401638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0" name="Object 43"/>
          <p:cNvGraphicFramePr/>
          <p:nvPr/>
        </p:nvGraphicFramePr>
        <p:xfrm>
          <a:off x="4764088" y="4537075"/>
          <a:ext cx="4730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9" imgW="335280" imgH="265430" progId="Equation.2">
                  <p:embed/>
                </p:oleObj>
              </mc:Choice>
              <mc:Fallback>
                <p:oleObj name="" r:id="rId19" imgW="335280" imgH="265430" progId="Equation.2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64088" y="4537075"/>
                        <a:ext cx="473075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1" name="Object 44"/>
          <p:cNvGraphicFramePr/>
          <p:nvPr/>
        </p:nvGraphicFramePr>
        <p:xfrm>
          <a:off x="5716588" y="1655763"/>
          <a:ext cx="4730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21" imgW="335280" imgH="265430" progId="Equation.2">
                  <p:embed/>
                </p:oleObj>
              </mc:Choice>
              <mc:Fallback>
                <p:oleObj name="" r:id="rId21" imgW="335280" imgH="265430" progId="Equation.2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16588" y="1655763"/>
                        <a:ext cx="473075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2" name="Object 45"/>
          <p:cNvGraphicFramePr/>
          <p:nvPr/>
        </p:nvGraphicFramePr>
        <p:xfrm>
          <a:off x="5740400" y="3989388"/>
          <a:ext cx="4730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23" imgW="335280" imgH="265430" progId="Equation.2">
                  <p:embed/>
                </p:oleObj>
              </mc:Choice>
              <mc:Fallback>
                <p:oleObj name="" r:id="rId23" imgW="335280" imgH="265430" progId="Equation.2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40400" y="3989388"/>
                        <a:ext cx="473075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3" name="Object 46"/>
          <p:cNvGraphicFramePr/>
          <p:nvPr/>
        </p:nvGraphicFramePr>
        <p:xfrm>
          <a:off x="5803900" y="2155825"/>
          <a:ext cx="40163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25" imgW="283210" imgH="265430" progId="Equation.2">
                  <p:embed/>
                </p:oleObj>
              </mc:Choice>
              <mc:Fallback>
                <p:oleObj name="" r:id="rId25" imgW="283210" imgH="265430" progId="Equation.2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03900" y="2155825"/>
                        <a:ext cx="401638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4" name="Object 47"/>
          <p:cNvGraphicFramePr/>
          <p:nvPr/>
        </p:nvGraphicFramePr>
        <p:xfrm>
          <a:off x="5827713" y="4489450"/>
          <a:ext cx="40163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27" imgW="283210" imgH="265430" progId="Equation.2">
                  <p:embed/>
                </p:oleObj>
              </mc:Choice>
              <mc:Fallback>
                <p:oleObj name="" r:id="rId27" imgW="283210" imgH="265430" progId="Equation.2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27713" y="4489450"/>
                        <a:ext cx="401637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5" name="Object 48"/>
          <p:cNvGraphicFramePr/>
          <p:nvPr/>
        </p:nvGraphicFramePr>
        <p:xfrm>
          <a:off x="5899150" y="2584450"/>
          <a:ext cx="3175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29" imgW="222250" imgH="265430" progId="Equation.2">
                  <p:embed/>
                </p:oleObj>
              </mc:Choice>
              <mc:Fallback>
                <p:oleObj name="" r:id="rId29" imgW="222250" imgH="265430" progId="Equation.2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3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99150" y="2584450"/>
                        <a:ext cx="3175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6" name="Object 49"/>
          <p:cNvGraphicFramePr/>
          <p:nvPr/>
        </p:nvGraphicFramePr>
        <p:xfrm>
          <a:off x="5899150" y="4894263"/>
          <a:ext cx="3175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31" imgW="222250" imgH="265430" progId="Equation.2">
                  <p:embed/>
                </p:oleObj>
              </mc:Choice>
              <mc:Fallback>
                <p:oleObj name="" r:id="rId31" imgW="222250" imgH="265430" progId="Equation.2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3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99150" y="4894263"/>
                        <a:ext cx="3175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7" name="Object 50"/>
          <p:cNvGraphicFramePr/>
          <p:nvPr/>
        </p:nvGraphicFramePr>
        <p:xfrm>
          <a:off x="7392988" y="3209925"/>
          <a:ext cx="9937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33" imgW="805815" imgH="370205" progId="Equation.2">
                  <p:embed/>
                </p:oleObj>
              </mc:Choice>
              <mc:Fallback>
                <p:oleObj name="" r:id="rId33" imgW="805815" imgH="370205" progId="Equation.2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34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392988" y="3209925"/>
                        <a:ext cx="993775" cy="450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8" name="Object 51"/>
          <p:cNvGraphicFramePr/>
          <p:nvPr/>
        </p:nvGraphicFramePr>
        <p:xfrm>
          <a:off x="6864350" y="3602038"/>
          <a:ext cx="90963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35" imgW="744855" imgH="370205" progId="Equation.2">
                  <p:embed/>
                </p:oleObj>
              </mc:Choice>
              <mc:Fallback>
                <p:oleObj name="" r:id="rId35" imgW="744855" imgH="370205" progId="Equation.2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36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64350" y="3602038"/>
                        <a:ext cx="909638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9" name="Object 52"/>
          <p:cNvGraphicFramePr/>
          <p:nvPr/>
        </p:nvGraphicFramePr>
        <p:xfrm>
          <a:off x="6392863" y="3211513"/>
          <a:ext cx="8445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37" imgW="692150" imgH="370205" progId="Equation.2">
                  <p:embed/>
                </p:oleObj>
              </mc:Choice>
              <mc:Fallback>
                <p:oleObj name="" r:id="rId37" imgW="692150" imgH="370205" progId="Equation.2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3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392863" y="3211513"/>
                        <a:ext cx="844550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40" name="Object 53"/>
          <p:cNvGraphicFramePr/>
          <p:nvPr/>
        </p:nvGraphicFramePr>
        <p:xfrm>
          <a:off x="7423150" y="5553075"/>
          <a:ext cx="95091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39" imgW="779145" imgH="370205" progId="Equation.2">
                  <p:embed/>
                </p:oleObj>
              </mc:Choice>
              <mc:Fallback>
                <p:oleObj name="" r:id="rId39" imgW="779145" imgH="370205" progId="Equation.2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40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423150" y="5553075"/>
                        <a:ext cx="950913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41" name="Object 54"/>
          <p:cNvGraphicFramePr/>
          <p:nvPr/>
        </p:nvGraphicFramePr>
        <p:xfrm>
          <a:off x="6888163" y="5945188"/>
          <a:ext cx="8794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41" imgW="727075" imgH="370205" progId="Equation.2">
                  <p:embed/>
                </p:oleObj>
              </mc:Choice>
              <mc:Fallback>
                <p:oleObj name="" r:id="rId41" imgW="727075" imgH="370205" progId="Equation.2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42">
                        <a:clrChange>
                          <a:clrFrom>
                            <a:srgbClr val="000000"/>
                          </a:clrFrom>
                          <a:clrTo>
                            <a:srgbClr val="FF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88163" y="5945188"/>
                        <a:ext cx="87947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42" name="Object 55"/>
          <p:cNvGraphicFramePr/>
          <p:nvPr/>
        </p:nvGraphicFramePr>
        <p:xfrm>
          <a:off x="6423025" y="5554663"/>
          <a:ext cx="8032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43" imgW="666115" imgH="370205" progId="Equation.2">
                  <p:embed/>
                </p:oleObj>
              </mc:Choice>
              <mc:Fallback>
                <p:oleObj name="" r:id="rId43" imgW="666115" imgH="370205" progId="Equation.2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4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23025" y="5554663"/>
                        <a:ext cx="80327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43" name="Oval 56"/>
          <p:cNvSpPr/>
          <p:nvPr/>
        </p:nvSpPr>
        <p:spPr>
          <a:xfrm>
            <a:off x="7545388" y="1711325"/>
            <a:ext cx="246062" cy="246063"/>
          </a:xfrm>
          <a:prstGeom prst="ellipse">
            <a:avLst/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44" name="Oval 57"/>
          <p:cNvSpPr/>
          <p:nvPr/>
        </p:nvSpPr>
        <p:spPr>
          <a:xfrm>
            <a:off x="7688263" y="4049713"/>
            <a:ext cx="246062" cy="246062"/>
          </a:xfrm>
          <a:prstGeom prst="ellipse">
            <a:avLst/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45" name="Oval 58"/>
          <p:cNvSpPr/>
          <p:nvPr/>
        </p:nvSpPr>
        <p:spPr>
          <a:xfrm>
            <a:off x="7183438" y="2216150"/>
            <a:ext cx="246062" cy="246063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46" name="Oval 59"/>
          <p:cNvSpPr/>
          <p:nvPr/>
        </p:nvSpPr>
        <p:spPr>
          <a:xfrm>
            <a:off x="7197725" y="4540250"/>
            <a:ext cx="246063" cy="246063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47" name="Oval 60"/>
          <p:cNvSpPr/>
          <p:nvPr/>
        </p:nvSpPr>
        <p:spPr>
          <a:xfrm>
            <a:off x="6824663" y="2590800"/>
            <a:ext cx="246062" cy="246063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48" name="Oval 61"/>
          <p:cNvSpPr/>
          <p:nvPr/>
        </p:nvSpPr>
        <p:spPr>
          <a:xfrm>
            <a:off x="6767513" y="4927600"/>
            <a:ext cx="246062" cy="246063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49" name="Rectangle 64"/>
          <p:cNvSpPr/>
          <p:nvPr/>
        </p:nvSpPr>
        <p:spPr>
          <a:xfrm>
            <a:off x="6651625" y="898525"/>
            <a:ext cx="2359025" cy="11874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2400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Cond. demand</a:t>
            </a:r>
            <a:br>
              <a:rPr lang="en-US" altLang="zh-CN" sz="2400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   for</a:t>
            </a:r>
            <a:br>
              <a:rPr lang="en-US" altLang="zh-CN" sz="2400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input 2</a:t>
            </a:r>
            <a:endParaRPr lang="en-US" altLang="zh-CN" sz="2400" dirty="0">
              <a:solidFill>
                <a:srgbClr val="01FF0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50" name="Rectangle 65"/>
          <p:cNvSpPr/>
          <p:nvPr/>
        </p:nvSpPr>
        <p:spPr>
          <a:xfrm>
            <a:off x="7775575" y="3900488"/>
            <a:ext cx="1352550" cy="16144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2400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Cond.</a:t>
            </a:r>
            <a:br>
              <a:rPr lang="en-US" altLang="zh-CN" sz="2400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demand</a:t>
            </a:r>
            <a:br>
              <a:rPr lang="en-US" altLang="zh-CN" sz="2400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for</a:t>
            </a:r>
            <a:endParaRPr lang="en-US" altLang="zh-CN" sz="2400" dirty="0">
              <a:solidFill>
                <a:srgbClr val="01FF0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sz="2400" dirty="0">
                <a:solidFill>
                  <a:srgbClr val="01FF0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input 1</a:t>
            </a:r>
            <a:endParaRPr lang="en-US" altLang="zh-CN" sz="2400" dirty="0">
              <a:solidFill>
                <a:srgbClr val="01FF0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7951" name="Object 66"/>
          <p:cNvGraphicFramePr/>
          <p:nvPr/>
        </p:nvGraphicFramePr>
        <p:xfrm>
          <a:off x="8586788" y="3167063"/>
          <a:ext cx="38576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45" imgW="265430" imgH="370205" progId="Equation.2">
                  <p:embed/>
                </p:oleObj>
              </mc:Choice>
              <mc:Fallback>
                <p:oleObj name="" r:id="rId45" imgW="265430" imgH="370205" progId="Equation.2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4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586788" y="3167063"/>
                        <a:ext cx="385762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52" name="Object 67"/>
          <p:cNvGraphicFramePr/>
          <p:nvPr/>
        </p:nvGraphicFramePr>
        <p:xfrm>
          <a:off x="8599488" y="5510213"/>
          <a:ext cx="3508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47" imgW="248285" imgH="370205" progId="Equation.2">
                  <p:embed/>
                </p:oleObj>
              </mc:Choice>
              <mc:Fallback>
                <p:oleObj name="" r:id="rId47" imgW="248285" imgH="370205" progId="Equation.2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4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599488" y="5510213"/>
                        <a:ext cx="350837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53" name="Object 68"/>
          <p:cNvGraphicFramePr/>
          <p:nvPr/>
        </p:nvGraphicFramePr>
        <p:xfrm>
          <a:off x="5905500" y="1066800"/>
          <a:ext cx="214313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49" imgW="152400" imgH="213360" progId="Equation.2">
                  <p:embed/>
                </p:oleObj>
              </mc:Choice>
              <mc:Fallback>
                <p:oleObj name="" r:id="rId49" imgW="152400" imgH="213360" progId="Equation.2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5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05500" y="1066800"/>
                        <a:ext cx="214313" cy="296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54" name="Object 69"/>
          <p:cNvGraphicFramePr/>
          <p:nvPr/>
        </p:nvGraphicFramePr>
        <p:xfrm>
          <a:off x="5905500" y="3390900"/>
          <a:ext cx="214313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51" imgW="152400" imgH="213360" progId="Equation.2">
                  <p:embed/>
                </p:oleObj>
              </mc:Choice>
              <mc:Fallback>
                <p:oleObj name="" r:id="rId51" imgW="152400" imgH="213360" progId="Equation.2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5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05500" y="3390900"/>
                        <a:ext cx="214313" cy="296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55" name="Freeform 70"/>
          <p:cNvSpPr/>
          <p:nvPr/>
        </p:nvSpPr>
        <p:spPr>
          <a:xfrm>
            <a:off x="6276975" y="1333500"/>
            <a:ext cx="1695450" cy="187642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1088707500" y="2147483646"/>
              </a:cxn>
              <a:cxn ang="0">
                <a:pos x="1648182188" y="1602819375"/>
              </a:cxn>
              <a:cxn ang="0">
                <a:pos x="2147483646" y="801409688"/>
              </a:cxn>
              <a:cxn ang="0">
                <a:pos x="2147483646" y="0"/>
              </a:cxn>
            </a:cxnLst>
            <a:pathLst>
              <a:path w="1068" h="1182">
                <a:moveTo>
                  <a:pt x="0" y="1182"/>
                </a:moveTo>
                <a:cubicBezTo>
                  <a:pt x="161" y="1071"/>
                  <a:pt x="323" y="961"/>
                  <a:pt x="432" y="870"/>
                </a:cubicBezTo>
                <a:cubicBezTo>
                  <a:pt x="541" y="779"/>
                  <a:pt x="580" y="728"/>
                  <a:pt x="654" y="636"/>
                </a:cubicBezTo>
                <a:cubicBezTo>
                  <a:pt x="728" y="544"/>
                  <a:pt x="807" y="424"/>
                  <a:pt x="876" y="318"/>
                </a:cubicBezTo>
                <a:cubicBezTo>
                  <a:pt x="945" y="212"/>
                  <a:pt x="1006" y="106"/>
                  <a:pt x="1068" y="0"/>
                </a:cubicBezTo>
              </a:path>
            </a:pathLst>
          </a:custGeom>
          <a:noFill/>
          <a:ln w="50800" cap="flat" cmpd="sng">
            <a:solidFill>
              <a:srgbClr val="3BED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7956" name="Freeform 71"/>
          <p:cNvSpPr/>
          <p:nvPr/>
        </p:nvSpPr>
        <p:spPr>
          <a:xfrm>
            <a:off x="6267450" y="3829050"/>
            <a:ext cx="1905000" cy="17145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982860938" y="1935480000"/>
              </a:cxn>
              <a:cxn ang="0">
                <a:pos x="1678424063" y="1345763438"/>
              </a:cxn>
              <a:cxn ang="0">
                <a:pos x="2147483646" y="544353750"/>
              </a:cxn>
              <a:cxn ang="0">
                <a:pos x="2147483646" y="0"/>
              </a:cxn>
            </a:cxnLst>
            <a:pathLst>
              <a:path w="1200" h="1080">
                <a:moveTo>
                  <a:pt x="0" y="1080"/>
                </a:moveTo>
                <a:cubicBezTo>
                  <a:pt x="139" y="969"/>
                  <a:pt x="279" y="859"/>
                  <a:pt x="390" y="768"/>
                </a:cubicBezTo>
                <a:cubicBezTo>
                  <a:pt x="501" y="677"/>
                  <a:pt x="569" y="626"/>
                  <a:pt x="666" y="534"/>
                </a:cubicBezTo>
                <a:cubicBezTo>
                  <a:pt x="763" y="442"/>
                  <a:pt x="883" y="305"/>
                  <a:pt x="972" y="216"/>
                </a:cubicBezTo>
                <a:cubicBezTo>
                  <a:pt x="1061" y="127"/>
                  <a:pt x="1162" y="36"/>
                  <a:pt x="1200" y="0"/>
                </a:cubicBezTo>
              </a:path>
            </a:pathLst>
          </a:custGeom>
          <a:noFill/>
          <a:ln w="50800" cap="flat" cmpd="sng">
            <a:solidFill>
              <a:srgbClr val="3BED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Cobb-Douglas Example of 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8914" name="Rectangle 3"/>
          <p:cNvSpPr/>
          <p:nvPr/>
        </p:nvSpPr>
        <p:spPr>
          <a:xfrm>
            <a:off x="312738" y="1660525"/>
            <a:ext cx="8675687" cy="20415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For the production function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the cheapest input bundle yielding y output 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units is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8915" name="Object 0"/>
          <p:cNvGraphicFramePr/>
          <p:nvPr/>
        </p:nvGraphicFramePr>
        <p:xfrm>
          <a:off x="1779588" y="3684588"/>
          <a:ext cx="5176837" cy="221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1" imgW="3496310" imgH="1624330" progId="Equation.2">
                  <p:embed/>
                </p:oleObj>
              </mc:Choice>
              <mc:Fallback>
                <p:oleObj name="" r:id="rId1" imgW="3496310" imgH="1624330" progId="Equation.2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79588" y="3684588"/>
                        <a:ext cx="5176837" cy="2214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6" name="Object 1"/>
          <p:cNvGraphicFramePr/>
          <p:nvPr/>
        </p:nvGraphicFramePr>
        <p:xfrm>
          <a:off x="2608263" y="2163763"/>
          <a:ext cx="3668712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3" imgW="2416810" imgH="370205" progId="Equation.3">
                  <p:embed/>
                </p:oleObj>
              </mc:Choice>
              <mc:Fallback>
                <p:oleObj name="" r:id="rId3" imgW="2416810" imgH="370205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08263" y="2163763"/>
                        <a:ext cx="3668712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Cobb-Douglas Example of 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9938" name="Rectangle 3"/>
          <p:cNvSpPr/>
          <p:nvPr/>
        </p:nvSpPr>
        <p:spPr>
          <a:xfrm>
            <a:off x="431800" y="1470025"/>
            <a:ext cx="6732588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So the firm’s total cost function is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9939" name="Object 4"/>
          <p:cNvGraphicFramePr/>
          <p:nvPr/>
        </p:nvGraphicFramePr>
        <p:xfrm>
          <a:off x="176213" y="2071688"/>
          <a:ext cx="8688387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1" imgW="5891530" imgH="422275" progId="Equation.2">
                  <p:embed/>
                </p:oleObj>
              </mc:Choice>
              <mc:Fallback>
                <p:oleObj name="" r:id="rId1" imgW="5891530" imgH="422275" progId="Equation.2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213" y="2071688"/>
                        <a:ext cx="8688387" cy="566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Cobb-Douglas Example of 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0962" name="Rectangle 3"/>
          <p:cNvSpPr/>
          <p:nvPr/>
        </p:nvSpPr>
        <p:spPr>
          <a:xfrm>
            <a:off x="431800" y="1470025"/>
            <a:ext cx="6732588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So the firm’s total cost function is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0963" name="Object 4"/>
          <p:cNvGraphicFramePr/>
          <p:nvPr/>
        </p:nvGraphicFramePr>
        <p:xfrm>
          <a:off x="176213" y="2090738"/>
          <a:ext cx="8688387" cy="186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1" imgW="5891530" imgH="1380490" progId="Equation.2">
                  <p:embed/>
                </p:oleObj>
              </mc:Choice>
              <mc:Fallback>
                <p:oleObj name="" r:id="rId1" imgW="5891530" imgH="1380490" progId="Equation.2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213" y="2090738"/>
                        <a:ext cx="8688387" cy="1860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Cobb-Douglas Example of 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1986" name="Rectangle 3"/>
          <p:cNvSpPr/>
          <p:nvPr/>
        </p:nvSpPr>
        <p:spPr>
          <a:xfrm>
            <a:off x="431800" y="1470025"/>
            <a:ext cx="6732588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So the firm’s total cost function is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1987" name="Object 4"/>
          <p:cNvGraphicFramePr/>
          <p:nvPr/>
        </p:nvGraphicFramePr>
        <p:xfrm>
          <a:off x="176213" y="2103438"/>
          <a:ext cx="8688387" cy="307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1" imgW="5891530" imgH="2277110" progId="Equation.2">
                  <p:embed/>
                </p:oleObj>
              </mc:Choice>
              <mc:Fallback>
                <p:oleObj name="" r:id="rId1" imgW="5891530" imgH="2277110" progId="Equation.2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213" y="2103438"/>
                        <a:ext cx="8688387" cy="307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Cobb-Douglas Example of 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43010" name="Object 3"/>
          <p:cNvGraphicFramePr/>
          <p:nvPr/>
        </p:nvGraphicFramePr>
        <p:xfrm>
          <a:off x="176213" y="2106613"/>
          <a:ext cx="8697912" cy="455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1" imgW="5891530" imgH="3366135" progId="Equation.2">
                  <p:embed/>
                </p:oleObj>
              </mc:Choice>
              <mc:Fallback>
                <p:oleObj name="" r:id="rId1" imgW="5891530" imgH="3366135" progId="Equation.2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213" y="2106613"/>
                        <a:ext cx="8697912" cy="4554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1" name="Rectangle 4"/>
          <p:cNvSpPr/>
          <p:nvPr/>
        </p:nvSpPr>
        <p:spPr>
          <a:xfrm>
            <a:off x="431800" y="1470025"/>
            <a:ext cx="6732588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So the firm’s total cost function is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Perfect Complements Example of 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403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The firm’s production function is</a:t>
            </a:r>
            <a:br>
              <a:rPr lang="en-US" altLang="zh-CN" dirty="0">
                <a:ea typeface="宋体" panose="02010600030101010101" pitchFamily="2" charset="-122"/>
              </a:rPr>
            </a:b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Input prices w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and w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are given.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What are the firm’s conditional demands for inputs 1 and 2?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What is the firm’s total cost function? 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44035" name="Object 0"/>
          <p:cNvGraphicFramePr/>
          <p:nvPr/>
        </p:nvGraphicFramePr>
        <p:xfrm>
          <a:off x="2640013" y="2222500"/>
          <a:ext cx="34448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1" imgW="2033270" imgH="318135" progId="Equation.2">
                  <p:embed/>
                </p:oleObj>
              </mc:Choice>
              <mc:Fallback>
                <p:oleObj name="" r:id="rId1" imgW="2033270" imgH="318135" progId="Equation.2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40013" y="2222500"/>
                        <a:ext cx="3444875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Perfect Complements Example of 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5058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45059" name="Line 4"/>
          <p:cNvSpPr/>
          <p:nvPr/>
        </p:nvSpPr>
        <p:spPr>
          <a:xfrm>
            <a:off x="1619250" y="5095875"/>
            <a:ext cx="3929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45060" name="Rectangle 5"/>
          <p:cNvSpPr/>
          <p:nvPr/>
        </p:nvSpPr>
        <p:spPr>
          <a:xfrm>
            <a:off x="5389563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61" name="Rectangle 6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62" name="Rectangle 7"/>
          <p:cNvSpPr/>
          <p:nvPr/>
        </p:nvSpPr>
        <p:spPr>
          <a:xfrm>
            <a:off x="3937000" y="3595688"/>
            <a:ext cx="27447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min{4x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}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63" name="Line 8"/>
          <p:cNvSpPr/>
          <p:nvPr/>
        </p:nvSpPr>
        <p:spPr>
          <a:xfrm flipV="1">
            <a:off x="1619250" y="2143125"/>
            <a:ext cx="1214438" cy="2952750"/>
          </a:xfrm>
          <a:prstGeom prst="line">
            <a:avLst/>
          </a:prstGeom>
          <a:ln w="25400" cap="flat" cmpd="sng">
            <a:solidFill>
              <a:schemeClr val="tx1"/>
            </a:solidFill>
            <a:prstDash val="lgDash"/>
            <a:round/>
            <a:headEnd type="none" w="sm" len="sm"/>
            <a:tailEnd type="none" w="sm" len="sm"/>
          </a:ln>
        </p:spPr>
      </p:sp>
      <p:sp>
        <p:nvSpPr>
          <p:cNvPr id="45064" name="Line 9"/>
          <p:cNvSpPr/>
          <p:nvPr/>
        </p:nvSpPr>
        <p:spPr>
          <a:xfrm flipV="1">
            <a:off x="2349500" y="1755775"/>
            <a:ext cx="0" cy="15573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65" name="Line 10"/>
          <p:cNvSpPr/>
          <p:nvPr/>
        </p:nvSpPr>
        <p:spPr>
          <a:xfrm>
            <a:off x="2349500" y="3313113"/>
            <a:ext cx="17891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66" name="Line 11"/>
          <p:cNvSpPr/>
          <p:nvPr/>
        </p:nvSpPr>
        <p:spPr>
          <a:xfrm flipV="1">
            <a:off x="2132013" y="2289175"/>
            <a:ext cx="0" cy="15573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67" name="Line 12"/>
          <p:cNvSpPr/>
          <p:nvPr/>
        </p:nvSpPr>
        <p:spPr>
          <a:xfrm>
            <a:off x="2132013" y="3846513"/>
            <a:ext cx="17891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68" name="Rectangle 13"/>
          <p:cNvSpPr/>
          <p:nvPr/>
        </p:nvSpPr>
        <p:spPr>
          <a:xfrm>
            <a:off x="2632075" y="1633538"/>
            <a:ext cx="14525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4x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=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Perfect Complements Example of 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6082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46083" name="Line 4"/>
          <p:cNvSpPr/>
          <p:nvPr/>
        </p:nvSpPr>
        <p:spPr>
          <a:xfrm>
            <a:off x="1619250" y="5095875"/>
            <a:ext cx="3929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46084" name="Rectangle 5"/>
          <p:cNvSpPr/>
          <p:nvPr/>
        </p:nvSpPr>
        <p:spPr>
          <a:xfrm>
            <a:off x="5389563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085" name="Rectangle 6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086" name="Line 7"/>
          <p:cNvSpPr/>
          <p:nvPr/>
        </p:nvSpPr>
        <p:spPr>
          <a:xfrm flipH="1" flipV="1">
            <a:off x="1614488" y="2808288"/>
            <a:ext cx="3390900" cy="229393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087" name="Line 8"/>
          <p:cNvSpPr/>
          <p:nvPr/>
        </p:nvSpPr>
        <p:spPr>
          <a:xfrm flipH="1" flipV="1">
            <a:off x="1614488" y="3467100"/>
            <a:ext cx="2409825" cy="1630363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088" name="Line 9"/>
          <p:cNvSpPr/>
          <p:nvPr/>
        </p:nvSpPr>
        <p:spPr>
          <a:xfrm flipV="1">
            <a:off x="1619250" y="2143125"/>
            <a:ext cx="1214438" cy="2952750"/>
          </a:xfrm>
          <a:prstGeom prst="line">
            <a:avLst/>
          </a:prstGeom>
          <a:ln w="25400" cap="flat" cmpd="sng">
            <a:solidFill>
              <a:schemeClr val="tx1"/>
            </a:solidFill>
            <a:prstDash val="lgDash"/>
            <a:round/>
            <a:headEnd type="none" w="sm" len="sm"/>
            <a:tailEnd type="none" w="sm" len="sm"/>
          </a:ln>
        </p:spPr>
      </p:sp>
      <p:sp>
        <p:nvSpPr>
          <p:cNvPr id="46089" name="Line 10"/>
          <p:cNvSpPr/>
          <p:nvPr/>
        </p:nvSpPr>
        <p:spPr>
          <a:xfrm flipV="1">
            <a:off x="2349500" y="1755775"/>
            <a:ext cx="0" cy="15573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090" name="Line 11"/>
          <p:cNvSpPr/>
          <p:nvPr/>
        </p:nvSpPr>
        <p:spPr>
          <a:xfrm>
            <a:off x="2349500" y="3313113"/>
            <a:ext cx="17891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091" name="Line 12"/>
          <p:cNvSpPr/>
          <p:nvPr/>
        </p:nvSpPr>
        <p:spPr>
          <a:xfrm flipV="1">
            <a:off x="2132013" y="2289175"/>
            <a:ext cx="0" cy="15573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092" name="Line 13"/>
          <p:cNvSpPr/>
          <p:nvPr/>
        </p:nvSpPr>
        <p:spPr>
          <a:xfrm>
            <a:off x="2132013" y="3846513"/>
            <a:ext cx="17891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093" name="Rectangle 14"/>
          <p:cNvSpPr/>
          <p:nvPr/>
        </p:nvSpPr>
        <p:spPr>
          <a:xfrm>
            <a:off x="2632075" y="1633538"/>
            <a:ext cx="14525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4x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=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094" name="Rectangle 15"/>
          <p:cNvSpPr/>
          <p:nvPr/>
        </p:nvSpPr>
        <p:spPr>
          <a:xfrm>
            <a:off x="3937000" y="3595688"/>
            <a:ext cx="27447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min{4x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}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Perfect Complements Example of 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7106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47107" name="Line 4"/>
          <p:cNvSpPr/>
          <p:nvPr/>
        </p:nvSpPr>
        <p:spPr>
          <a:xfrm>
            <a:off x="1619250" y="5095875"/>
            <a:ext cx="3929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47108" name="Rectangle 5"/>
          <p:cNvSpPr/>
          <p:nvPr/>
        </p:nvSpPr>
        <p:spPr>
          <a:xfrm>
            <a:off x="5389563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109" name="Rectangle 6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110" name="Line 7"/>
          <p:cNvSpPr/>
          <p:nvPr/>
        </p:nvSpPr>
        <p:spPr>
          <a:xfrm flipH="1" flipV="1">
            <a:off x="1614488" y="2808288"/>
            <a:ext cx="3390900" cy="229393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111" name="Line 8"/>
          <p:cNvSpPr/>
          <p:nvPr/>
        </p:nvSpPr>
        <p:spPr>
          <a:xfrm flipH="1" flipV="1">
            <a:off x="1614488" y="3467100"/>
            <a:ext cx="2409825" cy="1630363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112" name="Line 9"/>
          <p:cNvSpPr/>
          <p:nvPr/>
        </p:nvSpPr>
        <p:spPr>
          <a:xfrm flipV="1">
            <a:off x="1619250" y="2143125"/>
            <a:ext cx="1214438" cy="2952750"/>
          </a:xfrm>
          <a:prstGeom prst="line">
            <a:avLst/>
          </a:prstGeom>
          <a:ln w="25400" cap="flat" cmpd="sng">
            <a:solidFill>
              <a:schemeClr val="tx1"/>
            </a:solidFill>
            <a:prstDash val="lgDash"/>
            <a:round/>
            <a:headEnd type="none" w="sm" len="sm"/>
            <a:tailEnd type="none" w="sm" len="sm"/>
          </a:ln>
        </p:spPr>
      </p:sp>
      <p:sp>
        <p:nvSpPr>
          <p:cNvPr id="47113" name="Line 10"/>
          <p:cNvSpPr/>
          <p:nvPr/>
        </p:nvSpPr>
        <p:spPr>
          <a:xfrm flipV="1">
            <a:off x="2349500" y="1755775"/>
            <a:ext cx="0" cy="15573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114" name="Line 11"/>
          <p:cNvSpPr/>
          <p:nvPr/>
        </p:nvSpPr>
        <p:spPr>
          <a:xfrm>
            <a:off x="2349500" y="3313113"/>
            <a:ext cx="17891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115" name="Line 12"/>
          <p:cNvSpPr/>
          <p:nvPr/>
        </p:nvSpPr>
        <p:spPr>
          <a:xfrm flipV="1">
            <a:off x="2132013" y="2289175"/>
            <a:ext cx="0" cy="15573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116" name="Line 13"/>
          <p:cNvSpPr/>
          <p:nvPr/>
        </p:nvSpPr>
        <p:spPr>
          <a:xfrm>
            <a:off x="2132013" y="3846513"/>
            <a:ext cx="17891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117" name="Rectangle 14"/>
          <p:cNvSpPr/>
          <p:nvPr/>
        </p:nvSpPr>
        <p:spPr>
          <a:xfrm>
            <a:off x="2632075" y="1633538"/>
            <a:ext cx="14525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4x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=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118" name="Rectangle 15"/>
          <p:cNvSpPr/>
          <p:nvPr/>
        </p:nvSpPr>
        <p:spPr>
          <a:xfrm>
            <a:off x="3937000" y="3595688"/>
            <a:ext cx="27447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min{4x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}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119" name="Rectangle 16"/>
          <p:cNvSpPr/>
          <p:nvPr/>
        </p:nvSpPr>
        <p:spPr>
          <a:xfrm>
            <a:off x="4122738" y="1470025"/>
            <a:ext cx="4927600" cy="155416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Where is the least costly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input bundle yielding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y’ output units?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Perfect Complements Example of 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8130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48131" name="Line 4"/>
          <p:cNvSpPr/>
          <p:nvPr/>
        </p:nvSpPr>
        <p:spPr>
          <a:xfrm>
            <a:off x="1619250" y="5095875"/>
            <a:ext cx="3929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48132" name="Rectangle 5"/>
          <p:cNvSpPr/>
          <p:nvPr/>
        </p:nvSpPr>
        <p:spPr>
          <a:xfrm>
            <a:off x="5389563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133" name="Rectangle 6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134" name="Line 7"/>
          <p:cNvSpPr/>
          <p:nvPr/>
        </p:nvSpPr>
        <p:spPr>
          <a:xfrm flipH="1" flipV="1">
            <a:off x="1614488" y="2808288"/>
            <a:ext cx="3390900" cy="229393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35" name="Line 8"/>
          <p:cNvSpPr/>
          <p:nvPr/>
        </p:nvSpPr>
        <p:spPr>
          <a:xfrm flipH="1" flipV="1">
            <a:off x="1614488" y="3467100"/>
            <a:ext cx="2409825" cy="1630363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36" name="Line 9"/>
          <p:cNvSpPr/>
          <p:nvPr/>
        </p:nvSpPr>
        <p:spPr>
          <a:xfrm>
            <a:off x="2139950" y="3851275"/>
            <a:ext cx="0" cy="123666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48137" name="Line 10"/>
          <p:cNvSpPr/>
          <p:nvPr/>
        </p:nvSpPr>
        <p:spPr>
          <a:xfrm flipH="1">
            <a:off x="1643063" y="3851275"/>
            <a:ext cx="49688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48138" name="Rectangle 11"/>
          <p:cNvSpPr/>
          <p:nvPr/>
        </p:nvSpPr>
        <p:spPr>
          <a:xfrm>
            <a:off x="1670050" y="5068888"/>
            <a:ext cx="984250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= y/4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139" name="Rectangle 12"/>
          <p:cNvSpPr/>
          <p:nvPr/>
        </p:nvSpPr>
        <p:spPr>
          <a:xfrm>
            <a:off x="381000" y="3608388"/>
            <a:ext cx="12588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* = 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140" name="Line 13"/>
          <p:cNvSpPr/>
          <p:nvPr/>
        </p:nvSpPr>
        <p:spPr>
          <a:xfrm flipV="1">
            <a:off x="1619250" y="2143125"/>
            <a:ext cx="1214438" cy="2952750"/>
          </a:xfrm>
          <a:prstGeom prst="line">
            <a:avLst/>
          </a:prstGeom>
          <a:ln w="25400" cap="flat" cmpd="sng">
            <a:solidFill>
              <a:schemeClr val="tx1"/>
            </a:solidFill>
            <a:prstDash val="lgDash"/>
            <a:round/>
            <a:headEnd type="none" w="sm" len="sm"/>
            <a:tailEnd type="none" w="sm" len="sm"/>
          </a:ln>
        </p:spPr>
      </p:sp>
      <p:sp>
        <p:nvSpPr>
          <p:cNvPr id="48141" name="Line 14"/>
          <p:cNvSpPr/>
          <p:nvPr/>
        </p:nvSpPr>
        <p:spPr>
          <a:xfrm flipV="1">
            <a:off x="2349500" y="1755775"/>
            <a:ext cx="0" cy="15573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42" name="Line 15"/>
          <p:cNvSpPr/>
          <p:nvPr/>
        </p:nvSpPr>
        <p:spPr>
          <a:xfrm>
            <a:off x="2349500" y="3313113"/>
            <a:ext cx="17891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43" name="Line 16"/>
          <p:cNvSpPr/>
          <p:nvPr/>
        </p:nvSpPr>
        <p:spPr>
          <a:xfrm flipV="1">
            <a:off x="2132013" y="2289175"/>
            <a:ext cx="0" cy="15573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44" name="Line 17"/>
          <p:cNvSpPr/>
          <p:nvPr/>
        </p:nvSpPr>
        <p:spPr>
          <a:xfrm>
            <a:off x="2132013" y="3846513"/>
            <a:ext cx="17891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45" name="Rectangle 18"/>
          <p:cNvSpPr/>
          <p:nvPr/>
        </p:nvSpPr>
        <p:spPr>
          <a:xfrm>
            <a:off x="2632075" y="1633538"/>
            <a:ext cx="14525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4x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= 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146" name="Oval 19"/>
          <p:cNvSpPr/>
          <p:nvPr/>
        </p:nvSpPr>
        <p:spPr>
          <a:xfrm>
            <a:off x="2024063" y="3724275"/>
            <a:ext cx="238125" cy="238125"/>
          </a:xfrm>
          <a:prstGeom prst="ellipse">
            <a:avLst/>
          </a:prstGeom>
          <a:solidFill>
            <a:srgbClr val="4CFF1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147" name="Rectangle 20"/>
          <p:cNvSpPr/>
          <p:nvPr/>
        </p:nvSpPr>
        <p:spPr>
          <a:xfrm>
            <a:off x="3937000" y="3595688"/>
            <a:ext cx="27447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min{4x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}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148" name="Rectangle 21"/>
          <p:cNvSpPr/>
          <p:nvPr/>
        </p:nvSpPr>
        <p:spPr>
          <a:xfrm>
            <a:off x="4122738" y="1470025"/>
            <a:ext cx="4927600" cy="155416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Where is the least costly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input bundle yielding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y’ output units?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Perfect Complements Example of 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49154" name="Object 3"/>
          <p:cNvGraphicFramePr/>
          <p:nvPr/>
        </p:nvGraphicFramePr>
        <p:xfrm>
          <a:off x="2698750" y="1889125"/>
          <a:ext cx="33162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" r:id="rId1" imgW="1964055" imgH="318135" progId="Equation.2">
                  <p:embed/>
                </p:oleObj>
              </mc:Choice>
              <mc:Fallback>
                <p:oleObj name="" r:id="rId1" imgW="1964055" imgH="318135" progId="Equation.2">
                  <p:embed/>
                  <p:pic>
                    <p:nvPicPr>
                      <p:cNvPr id="0" name="图片 323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98750" y="1889125"/>
                        <a:ext cx="3316288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5" name="Rectangle 4"/>
          <p:cNvSpPr/>
          <p:nvPr/>
        </p:nvSpPr>
        <p:spPr>
          <a:xfrm>
            <a:off x="455613" y="1422400"/>
            <a:ext cx="65278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The firm’s production function is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56" name="Rectangle 5"/>
          <p:cNvSpPr/>
          <p:nvPr/>
        </p:nvSpPr>
        <p:spPr>
          <a:xfrm>
            <a:off x="455613" y="2374900"/>
            <a:ext cx="76358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and the conditional input demands are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9157" name="Object 6"/>
          <p:cNvGraphicFramePr/>
          <p:nvPr/>
        </p:nvGraphicFramePr>
        <p:xfrm>
          <a:off x="387350" y="2778125"/>
          <a:ext cx="34417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name="" r:id="rId3" imgW="2059305" imgH="640080" progId="Equation.2">
                  <p:embed/>
                </p:oleObj>
              </mc:Choice>
              <mc:Fallback>
                <p:oleObj name="" r:id="rId3" imgW="2059305" imgH="640080" progId="Equation.2">
                  <p:embed/>
                  <p:pic>
                    <p:nvPicPr>
                      <p:cNvPr id="0" name="图片 322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7350" y="2778125"/>
                        <a:ext cx="3441700" cy="996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8" name="Object 7"/>
          <p:cNvGraphicFramePr/>
          <p:nvPr/>
        </p:nvGraphicFramePr>
        <p:xfrm>
          <a:off x="5211763" y="2898775"/>
          <a:ext cx="3548062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" name="" r:id="rId5" imgW="2129155" imgH="422275" progId="Equation.2">
                  <p:embed/>
                </p:oleObj>
              </mc:Choice>
              <mc:Fallback>
                <p:oleObj name="" r:id="rId5" imgW="2129155" imgH="422275" progId="Equation.2">
                  <p:embed/>
                  <p:pic>
                    <p:nvPicPr>
                      <p:cNvPr id="0" name="图片 322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11763" y="2898775"/>
                        <a:ext cx="3548062" cy="650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9" name="Rectangle 8"/>
          <p:cNvSpPr/>
          <p:nvPr/>
        </p:nvSpPr>
        <p:spPr>
          <a:xfrm>
            <a:off x="4122738" y="3041650"/>
            <a:ext cx="90646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and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Perfect Complements Example of 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50178" name="Object 3"/>
          <p:cNvGraphicFramePr/>
          <p:nvPr/>
        </p:nvGraphicFramePr>
        <p:xfrm>
          <a:off x="2698750" y="1889125"/>
          <a:ext cx="33162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" name="" r:id="rId1" imgW="1964055" imgH="318135" progId="Equation.2">
                  <p:embed/>
                </p:oleObj>
              </mc:Choice>
              <mc:Fallback>
                <p:oleObj name="" r:id="rId1" imgW="1964055" imgH="318135" progId="Equation.2">
                  <p:embed/>
                  <p:pic>
                    <p:nvPicPr>
                      <p:cNvPr id="0" name="图片 322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98750" y="1889125"/>
                        <a:ext cx="3316288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79" name="Rectangle 4"/>
          <p:cNvSpPr/>
          <p:nvPr/>
        </p:nvSpPr>
        <p:spPr>
          <a:xfrm>
            <a:off x="455613" y="1422400"/>
            <a:ext cx="65278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The firm’s production function is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0" name="Rectangle 5"/>
          <p:cNvSpPr/>
          <p:nvPr/>
        </p:nvSpPr>
        <p:spPr>
          <a:xfrm>
            <a:off x="455613" y="2374900"/>
            <a:ext cx="76358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and the conditional input demands are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0181" name="Object 6"/>
          <p:cNvGraphicFramePr/>
          <p:nvPr/>
        </p:nvGraphicFramePr>
        <p:xfrm>
          <a:off x="387350" y="2778125"/>
          <a:ext cx="34417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" name="" r:id="rId3" imgW="2059305" imgH="640080" progId="Equation.2">
                  <p:embed/>
                </p:oleObj>
              </mc:Choice>
              <mc:Fallback>
                <p:oleObj name="" r:id="rId3" imgW="2059305" imgH="640080" progId="Equation.2">
                  <p:embed/>
                  <p:pic>
                    <p:nvPicPr>
                      <p:cNvPr id="0" name="图片 323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7350" y="2778125"/>
                        <a:ext cx="3441700" cy="996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Object 7"/>
          <p:cNvGraphicFramePr/>
          <p:nvPr/>
        </p:nvGraphicFramePr>
        <p:xfrm>
          <a:off x="5211763" y="2898775"/>
          <a:ext cx="3548062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" name="" r:id="rId5" imgW="2129155" imgH="422275" progId="Equation.2">
                  <p:embed/>
                </p:oleObj>
              </mc:Choice>
              <mc:Fallback>
                <p:oleObj name="" r:id="rId5" imgW="2129155" imgH="422275" progId="Equation.2">
                  <p:embed/>
                  <p:pic>
                    <p:nvPicPr>
                      <p:cNvPr id="0" name="图片 323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11763" y="2898775"/>
                        <a:ext cx="3548062" cy="650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3" name="Rectangle 8"/>
          <p:cNvSpPr/>
          <p:nvPr/>
        </p:nvSpPr>
        <p:spPr>
          <a:xfrm>
            <a:off x="4122738" y="3041650"/>
            <a:ext cx="90646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and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4" name="Rectangle 9"/>
          <p:cNvSpPr/>
          <p:nvPr/>
        </p:nvSpPr>
        <p:spPr>
          <a:xfrm>
            <a:off x="431800" y="3756025"/>
            <a:ext cx="6732588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So the firm’s total cost function is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0185" name="Object 10"/>
          <p:cNvGraphicFramePr/>
          <p:nvPr/>
        </p:nvGraphicFramePr>
        <p:xfrm>
          <a:off x="1236663" y="4187825"/>
          <a:ext cx="6496050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3" name="" r:id="rId7" imgW="3923030" imgH="866775" progId="Equation.2">
                  <p:embed/>
                </p:oleObj>
              </mc:Choice>
              <mc:Fallback>
                <p:oleObj name="" r:id="rId7" imgW="3923030" imgH="866775" progId="Equation.2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36663" y="4187825"/>
                        <a:ext cx="6496050" cy="1311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Perfect Complements Example of Cost Minimization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51202" name="Object 3"/>
          <p:cNvGraphicFramePr/>
          <p:nvPr/>
        </p:nvGraphicFramePr>
        <p:xfrm>
          <a:off x="2698750" y="1889125"/>
          <a:ext cx="33162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" name="" r:id="rId1" imgW="1964055" imgH="318135" progId="Equation.2">
                  <p:embed/>
                </p:oleObj>
              </mc:Choice>
              <mc:Fallback>
                <p:oleObj name="" r:id="rId1" imgW="1964055" imgH="318135" progId="Equation.2">
                  <p:embed/>
                  <p:pic>
                    <p:nvPicPr>
                      <p:cNvPr id="0" name="图片 323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98750" y="1889125"/>
                        <a:ext cx="3316288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3" name="Rectangle 4"/>
          <p:cNvSpPr/>
          <p:nvPr/>
        </p:nvSpPr>
        <p:spPr>
          <a:xfrm>
            <a:off x="455613" y="1422400"/>
            <a:ext cx="65278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The firm’s production function is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04" name="Rectangle 5"/>
          <p:cNvSpPr/>
          <p:nvPr/>
        </p:nvSpPr>
        <p:spPr>
          <a:xfrm>
            <a:off x="455613" y="2374900"/>
            <a:ext cx="76358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and the conditional input demands are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1205" name="Object 6"/>
          <p:cNvGraphicFramePr/>
          <p:nvPr/>
        </p:nvGraphicFramePr>
        <p:xfrm>
          <a:off x="387350" y="2778125"/>
          <a:ext cx="34417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" r:id="rId3" imgW="2059305" imgH="640080" progId="Equation.2">
                  <p:embed/>
                </p:oleObj>
              </mc:Choice>
              <mc:Fallback>
                <p:oleObj name="" r:id="rId3" imgW="2059305" imgH="640080" progId="Equation.2">
                  <p:embed/>
                  <p:pic>
                    <p:nvPicPr>
                      <p:cNvPr id="0" name="图片 323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7350" y="2778125"/>
                        <a:ext cx="3441700" cy="996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6" name="Object 7"/>
          <p:cNvGraphicFramePr/>
          <p:nvPr/>
        </p:nvGraphicFramePr>
        <p:xfrm>
          <a:off x="5211763" y="2898775"/>
          <a:ext cx="3548062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" r:id="rId5" imgW="2129155" imgH="422275" progId="Equation.2">
                  <p:embed/>
                </p:oleObj>
              </mc:Choice>
              <mc:Fallback>
                <p:oleObj name="" r:id="rId5" imgW="2129155" imgH="422275" progId="Equation.2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11763" y="2898775"/>
                        <a:ext cx="3548062" cy="650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7" name="Rectangle 8"/>
          <p:cNvSpPr/>
          <p:nvPr/>
        </p:nvSpPr>
        <p:spPr>
          <a:xfrm>
            <a:off x="4122738" y="3041650"/>
            <a:ext cx="90646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and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08" name="Rectangle 9"/>
          <p:cNvSpPr/>
          <p:nvPr/>
        </p:nvSpPr>
        <p:spPr>
          <a:xfrm>
            <a:off x="431800" y="3756025"/>
            <a:ext cx="6732588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So the firm’s total cost function is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1209" name="Object 10"/>
          <p:cNvGraphicFramePr/>
          <p:nvPr/>
        </p:nvGraphicFramePr>
        <p:xfrm>
          <a:off x="1236663" y="4200525"/>
          <a:ext cx="6505575" cy="239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" name="" r:id="rId7" imgW="3923030" imgH="1571625" progId="Equation.2">
                  <p:embed/>
                </p:oleObj>
              </mc:Choice>
              <mc:Fallback>
                <p:oleObj name="" r:id="rId7" imgW="3923030" imgH="1571625" progId="Equation.2">
                  <p:embed/>
                  <p:pic>
                    <p:nvPicPr>
                      <p:cNvPr id="0" name="图片 323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36663" y="4200525"/>
                        <a:ext cx="6505575" cy="2392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Average Total Production Costs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>
                <a:ea typeface="宋体" panose="02010600030101010101" pitchFamily="2" charset="-122"/>
              </a:rPr>
              <a:t>平均总成本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222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For positive output levels y, a firm’s average total cost of producing y units is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52227" name="Object 4"/>
          <p:cNvGraphicFramePr/>
          <p:nvPr/>
        </p:nvGraphicFramePr>
        <p:xfrm>
          <a:off x="1604963" y="2719388"/>
          <a:ext cx="590550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" name="" r:id="rId1" imgW="3557270" imgH="701040" progId="Equation.2">
                  <p:embed/>
                </p:oleObj>
              </mc:Choice>
              <mc:Fallback>
                <p:oleObj name="" r:id="rId1" imgW="3557270" imgH="701040" progId="Equation.2">
                  <p:embed/>
                  <p:pic>
                    <p:nvPicPr>
                      <p:cNvPr id="0" name="图片 323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04963" y="2719388"/>
                        <a:ext cx="5905500" cy="1152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Returns-to-Scale and Av. Total Costs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>
                <a:ea typeface="宋体" panose="02010600030101010101" pitchFamily="2" charset="-122"/>
              </a:rPr>
              <a:t>规模报酬和平均总成本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3250" name="Rectangle 3"/>
          <p:cNvSpPr>
            <a:spLocks noGrp="1"/>
          </p:cNvSpPr>
          <p:nvPr>
            <p:ph idx="1"/>
          </p:nvPr>
        </p:nvSpPr>
        <p:spPr>
          <a:xfrm>
            <a:off x="685800" y="1447800"/>
            <a:ext cx="8029575" cy="45720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The returns-to-scale properties of a firm’s technology determine how average production costs change with output level.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Our firm is presently producing y’ output units.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How does the firm’s average production cost change if it instead produces 2y’ units of output?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Constant Returns-to-Scale and Average Total Costs</a:t>
            </a:r>
            <a:r>
              <a:rPr lang="zh-CN" altLang="en-US" dirty="0">
                <a:ea typeface="宋体" panose="02010600030101010101" pitchFamily="2" charset="-122"/>
              </a:rPr>
              <a:t>规模报酬不变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427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If a firm’s technology exhibits constant returns-to-scale then doubling its output level from y’ to 2y’ requires doubling all input levels. 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Constant Returns-to-Scale and Average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529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If a firm’s technology exhibits constant returns-to-scale then doubling its output level from y’ to 2y’ requires doubling all input levels. 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Total production cost doubles.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Constant Returns-to-Scale and Average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632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If a firm’s technology exhibits constant returns-to-scale then doubling its output level from y’ to 2y’ requires doubling all input levels. 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Total production cost doubles.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Average production cost does not change.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Decreasing Returns-to-Scale and Average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734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If a firm’s technology exhibits decreasing returns-to-scale then doubling its output level from y’ to 2y’ requires more than doubling all input levels. 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Decreasing Returns-to-Scale and Average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837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If a firm’s technology exhibits decreasing returns-to-scale then doubling its output level from y’ to 2y’ requires more than doubling all input levels. 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Total production cost more than doubles.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Decreasing Returns-to-Scale and Average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939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If a firm’s technology exhibits decreasing returns-to-scale then doubling its output level from y’ to 2y’ requires more than doubling all input levels. 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Total production cost more than doubles.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Average production cost increases.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Increasing Returns-to-Scale and Average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041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If a firm’s technology exhibits increasing returns-to-scale then doubling its output level from y’ to 2y’ requires less than doubling all input levels. 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Increasing Returns-to-Scale and Average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144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If a firm’s technology exhibits increasing returns-to-scale then doubling its output level from y’ to 2y’ requires less than doubling all input levels. 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Total production cost less than doubles.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Increasing Returns-to-Scale and Average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246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If a firm’s technology exhibits increasing returns-to-scale then doubling its output level from y’ to 2y’ requires less than doubling all input levels. 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Total production cost less than doubles.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Average production cost decreases.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Returns-to-Scale and Av.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3490" name="Line 3"/>
          <p:cNvSpPr/>
          <p:nvPr/>
        </p:nvSpPr>
        <p:spPr>
          <a:xfrm>
            <a:off x="1905000" y="1857375"/>
            <a:ext cx="0" cy="32146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63491" name="Line 4"/>
          <p:cNvSpPr/>
          <p:nvPr/>
        </p:nvSpPr>
        <p:spPr>
          <a:xfrm>
            <a:off x="1905000" y="5095875"/>
            <a:ext cx="44291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3492" name="Rectangle 5"/>
          <p:cNvSpPr/>
          <p:nvPr/>
        </p:nvSpPr>
        <p:spPr>
          <a:xfrm>
            <a:off x="6242050" y="51816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493" name="Rectangle 6"/>
          <p:cNvSpPr/>
          <p:nvPr/>
        </p:nvSpPr>
        <p:spPr>
          <a:xfrm>
            <a:off x="527050" y="1395413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494" name="Line 7"/>
          <p:cNvSpPr/>
          <p:nvPr/>
        </p:nvSpPr>
        <p:spPr>
          <a:xfrm>
            <a:off x="1905000" y="3619500"/>
            <a:ext cx="3571875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495" name="Rectangle 8"/>
          <p:cNvSpPr/>
          <p:nvPr/>
        </p:nvSpPr>
        <p:spPr>
          <a:xfrm>
            <a:off x="5551488" y="3357563"/>
            <a:ext cx="25161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constant r.t.s.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496" name="Arc 9"/>
          <p:cNvSpPr/>
          <p:nvPr/>
        </p:nvSpPr>
        <p:spPr>
          <a:xfrm rot="-240000">
            <a:off x="1860550" y="1560513"/>
            <a:ext cx="3594100" cy="193357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14386" h="21600" fill="none">
                <a:moveTo>
                  <a:pt x="14386" y="16112"/>
                </a:moveTo>
                <a:cubicBezTo>
                  <a:pt x="10427" y="19646"/>
                  <a:pt x="5306" y="21599"/>
                  <a:pt x="0" y="21600"/>
                </a:cubicBezTo>
              </a:path>
              <a:path w="14386" h="21600" stroke="0">
                <a:moveTo>
                  <a:pt x="14386" y="16112"/>
                </a:moveTo>
                <a:cubicBezTo>
                  <a:pt x="10427" y="19646"/>
                  <a:pt x="5306" y="21599"/>
                  <a:pt x="0" y="21600"/>
                </a:cubicBezTo>
                <a:lnTo>
                  <a:pt x="0" y="0"/>
                </a:lnTo>
                <a:lnTo>
                  <a:pt x="14386" y="16112"/>
                </a:lnTo>
                <a:close/>
              </a:path>
            </a:pathLst>
          </a:custGeom>
          <a:noFill/>
          <a:ln w="2540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63497" name="Rectangle 10"/>
          <p:cNvSpPr/>
          <p:nvPr/>
        </p:nvSpPr>
        <p:spPr>
          <a:xfrm>
            <a:off x="5551488" y="2586038"/>
            <a:ext cx="29114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decreasing r.t.s.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498" name="Rectangle 11"/>
          <p:cNvSpPr/>
          <p:nvPr/>
        </p:nvSpPr>
        <p:spPr>
          <a:xfrm>
            <a:off x="5551488" y="4273550"/>
            <a:ext cx="28130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increasing r.t.s.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499" name="Arc 12"/>
          <p:cNvSpPr/>
          <p:nvPr/>
        </p:nvSpPr>
        <p:spPr>
          <a:xfrm rot="-9600000">
            <a:off x="1989138" y="3227388"/>
            <a:ext cx="3735387" cy="1081087"/>
          </a:xfrm>
          <a:custGeom>
            <a:avLst/>
            <a:gdLst/>
            <a:ahLst/>
            <a:cxnLst>
              <a:cxn ang="0">
                <a:pos x="0" y="910367297"/>
              </a:cxn>
              <a:cxn ang="0">
                <a:pos x="2147483646" y="0"/>
              </a:cxn>
              <a:cxn ang="0">
                <a:pos x="2147483646" y="2147483646"/>
              </a:cxn>
            </a:cxnLst>
            <a:pathLst>
              <a:path w="16154" h="21600" fill="none">
                <a:moveTo>
                  <a:pt x="-1" y="7260"/>
                </a:moveTo>
                <a:cubicBezTo>
                  <a:pt x="4097" y="2644"/>
                  <a:pt x="9974" y="2"/>
                  <a:pt x="16147" y="0"/>
                </a:cubicBezTo>
              </a:path>
              <a:path w="16154" h="21600" stroke="0">
                <a:moveTo>
                  <a:pt x="-1" y="7260"/>
                </a:moveTo>
                <a:cubicBezTo>
                  <a:pt x="4097" y="2644"/>
                  <a:pt x="9974" y="2"/>
                  <a:pt x="16147" y="0"/>
                </a:cubicBezTo>
                <a:lnTo>
                  <a:pt x="16154" y="21600"/>
                </a:lnTo>
                <a:lnTo>
                  <a:pt x="-1" y="7260"/>
                </a:lnTo>
                <a:close/>
              </a:path>
            </a:pathLst>
          </a:custGeom>
          <a:noFill/>
          <a:ln w="25400" cap="rnd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63500" name="Rectangle 13"/>
          <p:cNvSpPr/>
          <p:nvPr/>
        </p:nvSpPr>
        <p:spPr>
          <a:xfrm>
            <a:off x="527050" y="2419350"/>
            <a:ext cx="11318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AC(y)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Returns-to-Scale and Total Costs</a:t>
            </a:r>
            <a:r>
              <a:rPr lang="zh-CN" altLang="en-US" dirty="0">
                <a:ea typeface="宋体" panose="02010600030101010101" pitchFamily="2" charset="-122"/>
              </a:rPr>
              <a:t>规模报酬和平均总成本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451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What does this imply for the shapes of total cost functions?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Returns-to-Scale and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5538" name="Line 3"/>
          <p:cNvSpPr/>
          <p:nvPr/>
        </p:nvSpPr>
        <p:spPr>
          <a:xfrm>
            <a:off x="1905000" y="1857375"/>
            <a:ext cx="0" cy="32146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65539" name="Line 4"/>
          <p:cNvSpPr/>
          <p:nvPr/>
        </p:nvSpPr>
        <p:spPr>
          <a:xfrm>
            <a:off x="1905000" y="5095875"/>
            <a:ext cx="4673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5540" name="Rectangle 5"/>
          <p:cNvSpPr/>
          <p:nvPr/>
        </p:nvSpPr>
        <p:spPr>
          <a:xfrm>
            <a:off x="6456363" y="518160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41" name="Rectangle 6"/>
          <p:cNvSpPr/>
          <p:nvPr/>
        </p:nvSpPr>
        <p:spPr>
          <a:xfrm>
            <a:off x="1741488" y="1395413"/>
            <a:ext cx="3825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42" name="Line 7"/>
          <p:cNvSpPr/>
          <p:nvPr/>
        </p:nvSpPr>
        <p:spPr>
          <a:xfrm flipV="1">
            <a:off x="5529263" y="2484438"/>
            <a:ext cx="0" cy="260350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5543" name="Line 8"/>
          <p:cNvSpPr/>
          <p:nvPr/>
        </p:nvSpPr>
        <p:spPr>
          <a:xfrm flipV="1">
            <a:off x="3714750" y="4322763"/>
            <a:ext cx="0" cy="7731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5544" name="Line 9"/>
          <p:cNvSpPr/>
          <p:nvPr/>
        </p:nvSpPr>
        <p:spPr>
          <a:xfrm flipH="1">
            <a:off x="1946275" y="2498725"/>
            <a:ext cx="35782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5545" name="Line 10"/>
          <p:cNvSpPr/>
          <p:nvPr/>
        </p:nvSpPr>
        <p:spPr>
          <a:xfrm flipH="1">
            <a:off x="1931988" y="4311650"/>
            <a:ext cx="17891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5546" name="Rectangle 11"/>
          <p:cNvSpPr/>
          <p:nvPr/>
        </p:nvSpPr>
        <p:spPr>
          <a:xfrm>
            <a:off x="3527425" y="5197475"/>
            <a:ext cx="48101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47" name="Rectangle 12"/>
          <p:cNvSpPr/>
          <p:nvPr/>
        </p:nvSpPr>
        <p:spPr>
          <a:xfrm>
            <a:off x="5213350" y="5202238"/>
            <a:ext cx="6778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48" name="Rectangle 13"/>
          <p:cNvSpPr/>
          <p:nvPr/>
        </p:nvSpPr>
        <p:spPr>
          <a:xfrm>
            <a:off x="1019175" y="4032250"/>
            <a:ext cx="9159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c(y’)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49" name="Rectangle 14"/>
          <p:cNvSpPr/>
          <p:nvPr/>
        </p:nvSpPr>
        <p:spPr>
          <a:xfrm>
            <a:off x="819150" y="2235200"/>
            <a:ext cx="11128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c(2y’)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50" name="Line 15"/>
          <p:cNvSpPr/>
          <p:nvPr/>
        </p:nvSpPr>
        <p:spPr>
          <a:xfrm flipV="1">
            <a:off x="1916113" y="4294188"/>
            <a:ext cx="1804987" cy="79375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551" name="Line 16"/>
          <p:cNvSpPr/>
          <p:nvPr/>
        </p:nvSpPr>
        <p:spPr>
          <a:xfrm flipV="1">
            <a:off x="1887538" y="2505075"/>
            <a:ext cx="3622675" cy="2582863"/>
          </a:xfrm>
          <a:prstGeom prst="line">
            <a:avLst/>
          </a:prstGeom>
          <a:ln w="25400" cap="flat" cmpd="sng">
            <a:solidFill>
              <a:srgbClr val="4CFF1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552" name="Rectangle 17"/>
          <p:cNvSpPr/>
          <p:nvPr/>
        </p:nvSpPr>
        <p:spPr>
          <a:xfrm>
            <a:off x="5745163" y="2263775"/>
            <a:ext cx="3079750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rgbClr val="4CFF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Slope = c(2y’)/2y’</a:t>
            </a:r>
            <a:endParaRPr lang="en-US" altLang="zh-CN" dirty="0">
              <a:solidFill>
                <a:srgbClr val="4CFF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dirty="0">
                <a:solidFill>
                  <a:srgbClr val="4CFF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= AC(2y’).</a:t>
            </a:r>
            <a:endParaRPr lang="en-US" altLang="zh-CN" dirty="0">
              <a:solidFill>
                <a:srgbClr val="4CFF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53" name="Line 18"/>
          <p:cNvSpPr/>
          <p:nvPr/>
        </p:nvSpPr>
        <p:spPr>
          <a:xfrm flipH="1">
            <a:off x="4857750" y="2800350"/>
            <a:ext cx="1790700" cy="1714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5554" name="Rectangle 19"/>
          <p:cNvSpPr/>
          <p:nvPr/>
        </p:nvSpPr>
        <p:spPr>
          <a:xfrm>
            <a:off x="5745163" y="3216275"/>
            <a:ext cx="2722562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Slope = c(y’)/y’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= AC(y’).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55" name="Line 20"/>
          <p:cNvSpPr/>
          <p:nvPr/>
        </p:nvSpPr>
        <p:spPr>
          <a:xfrm flipH="1">
            <a:off x="3048000" y="3790950"/>
            <a:ext cx="3714750" cy="8001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5556" name="Rectangle 21"/>
          <p:cNvSpPr/>
          <p:nvPr/>
        </p:nvSpPr>
        <p:spPr>
          <a:xfrm>
            <a:off x="2403475" y="814388"/>
            <a:ext cx="6435725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Av. cost increases with y if the firm’s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technology exhibits decreasing r.t.s.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Returns-to-Scale and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6562" name="Line 3"/>
          <p:cNvSpPr/>
          <p:nvPr/>
        </p:nvSpPr>
        <p:spPr>
          <a:xfrm>
            <a:off x="1905000" y="1857375"/>
            <a:ext cx="0" cy="32146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66563" name="Line 4"/>
          <p:cNvSpPr/>
          <p:nvPr/>
        </p:nvSpPr>
        <p:spPr>
          <a:xfrm>
            <a:off x="1905000" y="5095875"/>
            <a:ext cx="4673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6564" name="Rectangle 5"/>
          <p:cNvSpPr/>
          <p:nvPr/>
        </p:nvSpPr>
        <p:spPr>
          <a:xfrm>
            <a:off x="6456363" y="518160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65" name="Rectangle 6"/>
          <p:cNvSpPr/>
          <p:nvPr/>
        </p:nvSpPr>
        <p:spPr>
          <a:xfrm>
            <a:off x="1741488" y="1395413"/>
            <a:ext cx="3825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66" name="Rectangle 7"/>
          <p:cNvSpPr/>
          <p:nvPr/>
        </p:nvSpPr>
        <p:spPr>
          <a:xfrm>
            <a:off x="5505450" y="1606550"/>
            <a:ext cx="8159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67" name="Arc 8"/>
          <p:cNvSpPr/>
          <p:nvPr/>
        </p:nvSpPr>
        <p:spPr>
          <a:xfrm rot="-1020000">
            <a:off x="1458913" y="1957388"/>
            <a:ext cx="4476750" cy="257175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575" h="21600" fill="none">
                <a:moveTo>
                  <a:pt x="20574" y="6574"/>
                </a:moveTo>
                <a:cubicBezTo>
                  <a:pt x="17714" y="15525"/>
                  <a:pt x="9396" y="21599"/>
                  <a:pt x="0" y="21600"/>
                </a:cubicBezTo>
              </a:path>
              <a:path w="20575" h="21600" stroke="0">
                <a:moveTo>
                  <a:pt x="20574" y="6574"/>
                </a:moveTo>
                <a:cubicBezTo>
                  <a:pt x="17714" y="15525"/>
                  <a:pt x="9396" y="21599"/>
                  <a:pt x="0" y="21600"/>
                </a:cubicBezTo>
                <a:lnTo>
                  <a:pt x="0" y="0"/>
                </a:lnTo>
                <a:lnTo>
                  <a:pt x="20574" y="6574"/>
                </a:lnTo>
                <a:close/>
              </a:path>
            </a:pathLst>
          </a:custGeom>
          <a:noFill/>
          <a:ln w="2540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66568" name="Line 9"/>
          <p:cNvSpPr/>
          <p:nvPr/>
        </p:nvSpPr>
        <p:spPr>
          <a:xfrm flipV="1">
            <a:off x="5529263" y="2484438"/>
            <a:ext cx="0" cy="260350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6569" name="Line 10"/>
          <p:cNvSpPr/>
          <p:nvPr/>
        </p:nvSpPr>
        <p:spPr>
          <a:xfrm flipV="1">
            <a:off x="3714750" y="4322763"/>
            <a:ext cx="0" cy="7731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6570" name="Line 11"/>
          <p:cNvSpPr/>
          <p:nvPr/>
        </p:nvSpPr>
        <p:spPr>
          <a:xfrm flipH="1">
            <a:off x="1946275" y="2498725"/>
            <a:ext cx="35782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6571" name="Line 12"/>
          <p:cNvSpPr/>
          <p:nvPr/>
        </p:nvSpPr>
        <p:spPr>
          <a:xfrm flipH="1">
            <a:off x="1931988" y="4311650"/>
            <a:ext cx="17891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6572" name="Rectangle 13"/>
          <p:cNvSpPr/>
          <p:nvPr/>
        </p:nvSpPr>
        <p:spPr>
          <a:xfrm>
            <a:off x="3527425" y="5197475"/>
            <a:ext cx="48101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73" name="Rectangle 14"/>
          <p:cNvSpPr/>
          <p:nvPr/>
        </p:nvSpPr>
        <p:spPr>
          <a:xfrm>
            <a:off x="5213350" y="5202238"/>
            <a:ext cx="6778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74" name="Rectangle 15"/>
          <p:cNvSpPr/>
          <p:nvPr/>
        </p:nvSpPr>
        <p:spPr>
          <a:xfrm>
            <a:off x="1019175" y="4032250"/>
            <a:ext cx="9159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c(y’)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75" name="Rectangle 16"/>
          <p:cNvSpPr/>
          <p:nvPr/>
        </p:nvSpPr>
        <p:spPr>
          <a:xfrm>
            <a:off x="819150" y="2235200"/>
            <a:ext cx="11128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c(2y’)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76" name="Line 17"/>
          <p:cNvSpPr/>
          <p:nvPr/>
        </p:nvSpPr>
        <p:spPr>
          <a:xfrm flipV="1">
            <a:off x="1916113" y="4294188"/>
            <a:ext cx="1804987" cy="79375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577" name="Line 18"/>
          <p:cNvSpPr/>
          <p:nvPr/>
        </p:nvSpPr>
        <p:spPr>
          <a:xfrm flipV="1">
            <a:off x="1887538" y="2505075"/>
            <a:ext cx="3622675" cy="2582863"/>
          </a:xfrm>
          <a:prstGeom prst="line">
            <a:avLst/>
          </a:prstGeom>
          <a:ln w="25400" cap="flat" cmpd="sng">
            <a:solidFill>
              <a:srgbClr val="4CFF1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578" name="Rectangle 19"/>
          <p:cNvSpPr/>
          <p:nvPr/>
        </p:nvSpPr>
        <p:spPr>
          <a:xfrm>
            <a:off x="5745163" y="2263775"/>
            <a:ext cx="3079750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rgbClr val="4CFF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Slope = c(2y’)/2y’</a:t>
            </a:r>
            <a:endParaRPr lang="en-US" altLang="zh-CN" dirty="0">
              <a:solidFill>
                <a:srgbClr val="4CFF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dirty="0">
                <a:solidFill>
                  <a:srgbClr val="4CFF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= AC(2y’).</a:t>
            </a:r>
            <a:endParaRPr lang="en-US" altLang="zh-CN" dirty="0">
              <a:solidFill>
                <a:srgbClr val="4CFF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79" name="Line 20"/>
          <p:cNvSpPr/>
          <p:nvPr/>
        </p:nvSpPr>
        <p:spPr>
          <a:xfrm flipH="1">
            <a:off x="4857750" y="2800350"/>
            <a:ext cx="1790700" cy="1714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6580" name="Rectangle 21"/>
          <p:cNvSpPr/>
          <p:nvPr/>
        </p:nvSpPr>
        <p:spPr>
          <a:xfrm>
            <a:off x="5745163" y="3216275"/>
            <a:ext cx="2722562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Slope = c(y’)/y’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= AC(y’).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81" name="Line 22"/>
          <p:cNvSpPr/>
          <p:nvPr/>
        </p:nvSpPr>
        <p:spPr>
          <a:xfrm flipH="1">
            <a:off x="3048000" y="3790950"/>
            <a:ext cx="3714750" cy="8001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6582" name="Rectangle 23"/>
          <p:cNvSpPr/>
          <p:nvPr/>
        </p:nvSpPr>
        <p:spPr>
          <a:xfrm>
            <a:off x="2403475" y="814388"/>
            <a:ext cx="6435725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Av. cost increases with y if the firm’s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technology exhibits decreasing r.t.s.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Returns-to-Scale and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7586" name="Line 3"/>
          <p:cNvSpPr/>
          <p:nvPr/>
        </p:nvSpPr>
        <p:spPr>
          <a:xfrm>
            <a:off x="1905000" y="1857375"/>
            <a:ext cx="0" cy="32146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67587" name="Line 4"/>
          <p:cNvSpPr/>
          <p:nvPr/>
        </p:nvSpPr>
        <p:spPr>
          <a:xfrm>
            <a:off x="1905000" y="5095875"/>
            <a:ext cx="4673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7588" name="Rectangle 5"/>
          <p:cNvSpPr/>
          <p:nvPr/>
        </p:nvSpPr>
        <p:spPr>
          <a:xfrm>
            <a:off x="6456363" y="518160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89" name="Rectangle 6"/>
          <p:cNvSpPr/>
          <p:nvPr/>
        </p:nvSpPr>
        <p:spPr>
          <a:xfrm>
            <a:off x="1741488" y="1395413"/>
            <a:ext cx="3825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90" name="Line 7"/>
          <p:cNvSpPr/>
          <p:nvPr/>
        </p:nvSpPr>
        <p:spPr>
          <a:xfrm flipV="1">
            <a:off x="5491163" y="2179638"/>
            <a:ext cx="0" cy="29067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7591" name="Line 8"/>
          <p:cNvSpPr/>
          <p:nvPr/>
        </p:nvSpPr>
        <p:spPr>
          <a:xfrm flipV="1">
            <a:off x="3714750" y="2933700"/>
            <a:ext cx="0" cy="216217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7592" name="Line 9"/>
          <p:cNvSpPr/>
          <p:nvPr/>
        </p:nvSpPr>
        <p:spPr>
          <a:xfrm flipH="1">
            <a:off x="1908175" y="2174875"/>
            <a:ext cx="35782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7593" name="Line 10"/>
          <p:cNvSpPr/>
          <p:nvPr/>
        </p:nvSpPr>
        <p:spPr>
          <a:xfrm flipH="1">
            <a:off x="1931988" y="2921000"/>
            <a:ext cx="17891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7594" name="Rectangle 11"/>
          <p:cNvSpPr/>
          <p:nvPr/>
        </p:nvSpPr>
        <p:spPr>
          <a:xfrm>
            <a:off x="3527425" y="5197475"/>
            <a:ext cx="48101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95" name="Rectangle 12"/>
          <p:cNvSpPr/>
          <p:nvPr/>
        </p:nvSpPr>
        <p:spPr>
          <a:xfrm>
            <a:off x="5213350" y="5202238"/>
            <a:ext cx="6778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96" name="Rectangle 13"/>
          <p:cNvSpPr/>
          <p:nvPr/>
        </p:nvSpPr>
        <p:spPr>
          <a:xfrm>
            <a:off x="1019175" y="2641600"/>
            <a:ext cx="9159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c(y’)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97" name="Rectangle 14"/>
          <p:cNvSpPr/>
          <p:nvPr/>
        </p:nvSpPr>
        <p:spPr>
          <a:xfrm>
            <a:off x="819150" y="1892300"/>
            <a:ext cx="11128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c(2y’)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98" name="Line 15"/>
          <p:cNvSpPr/>
          <p:nvPr/>
        </p:nvSpPr>
        <p:spPr>
          <a:xfrm flipV="1">
            <a:off x="1916113" y="2933700"/>
            <a:ext cx="1779587" cy="2154238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599" name="Line 16"/>
          <p:cNvSpPr/>
          <p:nvPr/>
        </p:nvSpPr>
        <p:spPr>
          <a:xfrm flipV="1">
            <a:off x="1905000" y="2181225"/>
            <a:ext cx="3605213" cy="2905125"/>
          </a:xfrm>
          <a:prstGeom prst="line">
            <a:avLst/>
          </a:prstGeom>
          <a:ln w="25400" cap="flat" cmpd="sng">
            <a:solidFill>
              <a:srgbClr val="4CFF1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600" name="Rectangle 17"/>
          <p:cNvSpPr/>
          <p:nvPr/>
        </p:nvSpPr>
        <p:spPr>
          <a:xfrm>
            <a:off x="5745163" y="2263775"/>
            <a:ext cx="3079750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rgbClr val="4CFF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Slope = c(2y’)/2y’</a:t>
            </a:r>
            <a:endParaRPr lang="en-US" altLang="zh-CN" dirty="0">
              <a:solidFill>
                <a:srgbClr val="4CFF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dirty="0">
                <a:solidFill>
                  <a:srgbClr val="4CFF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= AC(2y’).</a:t>
            </a:r>
            <a:endParaRPr lang="en-US" altLang="zh-CN" dirty="0">
              <a:solidFill>
                <a:srgbClr val="4CFF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601" name="Line 18"/>
          <p:cNvSpPr/>
          <p:nvPr/>
        </p:nvSpPr>
        <p:spPr>
          <a:xfrm flipH="1">
            <a:off x="4629150" y="2800350"/>
            <a:ext cx="2019300" cy="1143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7602" name="Rectangle 19"/>
          <p:cNvSpPr/>
          <p:nvPr/>
        </p:nvSpPr>
        <p:spPr>
          <a:xfrm>
            <a:off x="5745163" y="3216275"/>
            <a:ext cx="2722562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Slope = c(y’)/y’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= AC(y’).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603" name="Line 20"/>
          <p:cNvSpPr/>
          <p:nvPr/>
        </p:nvSpPr>
        <p:spPr>
          <a:xfrm flipH="1">
            <a:off x="2762250" y="3790950"/>
            <a:ext cx="4000500" cy="3048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7604" name="Rectangle 21"/>
          <p:cNvSpPr/>
          <p:nvPr/>
        </p:nvSpPr>
        <p:spPr>
          <a:xfrm>
            <a:off x="2403475" y="814388"/>
            <a:ext cx="6535738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Av. cost decreases with y if the firm’s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technology exhibits increasing r.t.s.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Returns-to-Scale and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8610" name="Line 3"/>
          <p:cNvSpPr/>
          <p:nvPr/>
        </p:nvSpPr>
        <p:spPr>
          <a:xfrm>
            <a:off x="1905000" y="1857375"/>
            <a:ext cx="0" cy="32146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68611" name="Line 4"/>
          <p:cNvSpPr/>
          <p:nvPr/>
        </p:nvSpPr>
        <p:spPr>
          <a:xfrm>
            <a:off x="1905000" y="5095875"/>
            <a:ext cx="4673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8612" name="Rectangle 5"/>
          <p:cNvSpPr/>
          <p:nvPr/>
        </p:nvSpPr>
        <p:spPr>
          <a:xfrm>
            <a:off x="6456363" y="518160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13" name="Rectangle 6"/>
          <p:cNvSpPr/>
          <p:nvPr/>
        </p:nvSpPr>
        <p:spPr>
          <a:xfrm>
            <a:off x="1741488" y="1395413"/>
            <a:ext cx="3825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14" name="Rectangle 7"/>
          <p:cNvSpPr/>
          <p:nvPr/>
        </p:nvSpPr>
        <p:spPr>
          <a:xfrm>
            <a:off x="5505450" y="1606550"/>
            <a:ext cx="8159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15" name="Arc 8"/>
          <p:cNvSpPr/>
          <p:nvPr/>
        </p:nvSpPr>
        <p:spPr>
          <a:xfrm rot="7020000">
            <a:off x="2141538" y="2198688"/>
            <a:ext cx="4476750" cy="32893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0"/>
              </a:cxn>
            </a:cxnLst>
            <a:pathLst>
              <a:path w="20574" h="21600" fill="none">
                <a:moveTo>
                  <a:pt x="20574" y="21600"/>
                </a:moveTo>
                <a:cubicBezTo>
                  <a:pt x="11178" y="21600"/>
                  <a:pt x="2860" y="15526"/>
                  <a:pt x="-1" y="6577"/>
                </a:cubicBezTo>
              </a:path>
              <a:path w="20574" h="21600" stroke="0">
                <a:moveTo>
                  <a:pt x="20574" y="21600"/>
                </a:moveTo>
                <a:cubicBezTo>
                  <a:pt x="11178" y="21600"/>
                  <a:pt x="2860" y="15526"/>
                  <a:pt x="-1" y="6577"/>
                </a:cubicBezTo>
                <a:lnTo>
                  <a:pt x="20574" y="0"/>
                </a:lnTo>
                <a:lnTo>
                  <a:pt x="20574" y="21600"/>
                </a:lnTo>
                <a:close/>
              </a:path>
            </a:pathLst>
          </a:custGeom>
          <a:noFill/>
          <a:ln w="2540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68616" name="Line 9"/>
          <p:cNvSpPr/>
          <p:nvPr/>
        </p:nvSpPr>
        <p:spPr>
          <a:xfrm flipV="1">
            <a:off x="5491163" y="2179638"/>
            <a:ext cx="0" cy="29067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8617" name="Line 10"/>
          <p:cNvSpPr/>
          <p:nvPr/>
        </p:nvSpPr>
        <p:spPr>
          <a:xfrm flipV="1">
            <a:off x="3714750" y="2933700"/>
            <a:ext cx="0" cy="216217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8618" name="Line 11"/>
          <p:cNvSpPr/>
          <p:nvPr/>
        </p:nvSpPr>
        <p:spPr>
          <a:xfrm flipH="1">
            <a:off x="1908175" y="2174875"/>
            <a:ext cx="35782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8619" name="Line 12"/>
          <p:cNvSpPr/>
          <p:nvPr/>
        </p:nvSpPr>
        <p:spPr>
          <a:xfrm flipH="1">
            <a:off x="1931988" y="2921000"/>
            <a:ext cx="17891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8620" name="Rectangle 13"/>
          <p:cNvSpPr/>
          <p:nvPr/>
        </p:nvSpPr>
        <p:spPr>
          <a:xfrm>
            <a:off x="3527425" y="5197475"/>
            <a:ext cx="48101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21" name="Rectangle 14"/>
          <p:cNvSpPr/>
          <p:nvPr/>
        </p:nvSpPr>
        <p:spPr>
          <a:xfrm>
            <a:off x="5213350" y="5202238"/>
            <a:ext cx="6778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22" name="Rectangle 15"/>
          <p:cNvSpPr/>
          <p:nvPr/>
        </p:nvSpPr>
        <p:spPr>
          <a:xfrm>
            <a:off x="1019175" y="2641600"/>
            <a:ext cx="9159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c(y’)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23" name="Rectangle 16"/>
          <p:cNvSpPr/>
          <p:nvPr/>
        </p:nvSpPr>
        <p:spPr>
          <a:xfrm>
            <a:off x="819150" y="1892300"/>
            <a:ext cx="11128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c(2y’)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24" name="Line 17"/>
          <p:cNvSpPr/>
          <p:nvPr/>
        </p:nvSpPr>
        <p:spPr>
          <a:xfrm flipV="1">
            <a:off x="1916113" y="2933700"/>
            <a:ext cx="1779587" cy="2154238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625" name="Line 18"/>
          <p:cNvSpPr/>
          <p:nvPr/>
        </p:nvSpPr>
        <p:spPr>
          <a:xfrm flipV="1">
            <a:off x="1905000" y="2181225"/>
            <a:ext cx="3605213" cy="2905125"/>
          </a:xfrm>
          <a:prstGeom prst="line">
            <a:avLst/>
          </a:prstGeom>
          <a:ln w="25400" cap="flat" cmpd="sng">
            <a:solidFill>
              <a:srgbClr val="4CFF1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626" name="Rectangle 19"/>
          <p:cNvSpPr/>
          <p:nvPr/>
        </p:nvSpPr>
        <p:spPr>
          <a:xfrm>
            <a:off x="5745163" y="2263775"/>
            <a:ext cx="3079750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rgbClr val="4CFF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Slope = c(2y’)/2y’</a:t>
            </a:r>
            <a:endParaRPr lang="en-US" altLang="zh-CN" dirty="0">
              <a:solidFill>
                <a:srgbClr val="4CFF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dirty="0">
                <a:solidFill>
                  <a:srgbClr val="4CFF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= AC(2y’).</a:t>
            </a:r>
            <a:endParaRPr lang="en-US" altLang="zh-CN" dirty="0">
              <a:solidFill>
                <a:srgbClr val="4CFF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27" name="Line 20"/>
          <p:cNvSpPr/>
          <p:nvPr/>
        </p:nvSpPr>
        <p:spPr>
          <a:xfrm flipH="1">
            <a:off x="4629150" y="2800350"/>
            <a:ext cx="2019300" cy="1143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8628" name="Rectangle 21"/>
          <p:cNvSpPr/>
          <p:nvPr/>
        </p:nvSpPr>
        <p:spPr>
          <a:xfrm>
            <a:off x="5745163" y="3216275"/>
            <a:ext cx="2722562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Slope = c(y’)/y’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= AC(y’).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29" name="Line 22"/>
          <p:cNvSpPr/>
          <p:nvPr/>
        </p:nvSpPr>
        <p:spPr>
          <a:xfrm flipH="1">
            <a:off x="2762250" y="3790950"/>
            <a:ext cx="4000500" cy="3048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8630" name="Rectangle 23"/>
          <p:cNvSpPr/>
          <p:nvPr/>
        </p:nvSpPr>
        <p:spPr>
          <a:xfrm>
            <a:off x="2403475" y="814388"/>
            <a:ext cx="6535738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Av. cost decreases with y if the firm’s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technology exhibits increasing r.t.s.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Returns-to-Scale and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9634" name="Line 3"/>
          <p:cNvSpPr/>
          <p:nvPr/>
        </p:nvSpPr>
        <p:spPr>
          <a:xfrm>
            <a:off x="1905000" y="1857375"/>
            <a:ext cx="0" cy="32146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69635" name="Line 4"/>
          <p:cNvSpPr/>
          <p:nvPr/>
        </p:nvSpPr>
        <p:spPr>
          <a:xfrm>
            <a:off x="1905000" y="5095875"/>
            <a:ext cx="4673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9636" name="Rectangle 5"/>
          <p:cNvSpPr/>
          <p:nvPr/>
        </p:nvSpPr>
        <p:spPr>
          <a:xfrm>
            <a:off x="6456363" y="518160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37" name="Rectangle 6"/>
          <p:cNvSpPr/>
          <p:nvPr/>
        </p:nvSpPr>
        <p:spPr>
          <a:xfrm>
            <a:off x="1741488" y="1395413"/>
            <a:ext cx="3825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38" name="Rectangle 7"/>
          <p:cNvSpPr/>
          <p:nvPr/>
        </p:nvSpPr>
        <p:spPr>
          <a:xfrm>
            <a:off x="6000750" y="1606550"/>
            <a:ext cx="8159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39" name="Line 8"/>
          <p:cNvSpPr/>
          <p:nvPr/>
        </p:nvSpPr>
        <p:spPr>
          <a:xfrm flipV="1">
            <a:off x="5491163" y="2179638"/>
            <a:ext cx="0" cy="29067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9640" name="Line 9"/>
          <p:cNvSpPr/>
          <p:nvPr/>
        </p:nvSpPr>
        <p:spPr>
          <a:xfrm flipV="1">
            <a:off x="3714750" y="3600450"/>
            <a:ext cx="0" cy="14954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9641" name="Line 10"/>
          <p:cNvSpPr/>
          <p:nvPr/>
        </p:nvSpPr>
        <p:spPr>
          <a:xfrm flipH="1">
            <a:off x="1908175" y="2193925"/>
            <a:ext cx="35782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9642" name="Line 11"/>
          <p:cNvSpPr/>
          <p:nvPr/>
        </p:nvSpPr>
        <p:spPr>
          <a:xfrm flipH="1">
            <a:off x="1931988" y="3606800"/>
            <a:ext cx="17891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9643" name="Rectangle 12"/>
          <p:cNvSpPr/>
          <p:nvPr/>
        </p:nvSpPr>
        <p:spPr>
          <a:xfrm>
            <a:off x="3527425" y="5197475"/>
            <a:ext cx="48101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44" name="Rectangle 13"/>
          <p:cNvSpPr/>
          <p:nvPr/>
        </p:nvSpPr>
        <p:spPr>
          <a:xfrm>
            <a:off x="5213350" y="5202238"/>
            <a:ext cx="6778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45" name="Rectangle 14"/>
          <p:cNvSpPr/>
          <p:nvPr/>
        </p:nvSpPr>
        <p:spPr>
          <a:xfrm>
            <a:off x="1019175" y="3327400"/>
            <a:ext cx="9159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c(y’)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46" name="Rectangle 15"/>
          <p:cNvSpPr/>
          <p:nvPr/>
        </p:nvSpPr>
        <p:spPr>
          <a:xfrm>
            <a:off x="571500" y="1682750"/>
            <a:ext cx="1320800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c(2y’)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=2c(y’)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47" name="Line 16"/>
          <p:cNvSpPr/>
          <p:nvPr/>
        </p:nvSpPr>
        <p:spPr>
          <a:xfrm flipV="1">
            <a:off x="1905000" y="1755775"/>
            <a:ext cx="4133850" cy="333057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648" name="Rectangle 17"/>
          <p:cNvSpPr/>
          <p:nvPr/>
        </p:nvSpPr>
        <p:spPr>
          <a:xfrm>
            <a:off x="5745163" y="2263775"/>
            <a:ext cx="3098800" cy="222726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Slope = c(2y’)/2y’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   = 2c(y’)/2y’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   = c(y’)/y’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so 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AC(y’) = AC(2y’).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49" name="Rectangle 18"/>
          <p:cNvSpPr/>
          <p:nvPr/>
        </p:nvSpPr>
        <p:spPr>
          <a:xfrm>
            <a:off x="2403475" y="814388"/>
            <a:ext cx="6257925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Av. cost is constant when the firm’s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technology exhibits constant r.t.s.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065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In the long-run a firm can vary all of its input levels.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Consider a firm that cannot change its input 2 level from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’ units.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How does the short-run total cost of producing y output units compare to the long-run total cost of producing y units of output?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168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The long-run cost-minimization problem is</a:t>
            </a:r>
            <a:br>
              <a:rPr lang="en-US" altLang="zh-CN" dirty="0">
                <a:ea typeface="宋体" panose="02010600030101010101" pitchFamily="2" charset="-122"/>
              </a:rPr>
            </a:b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 short-run cost-minimization problem is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71683" name="Object 4"/>
          <p:cNvGraphicFramePr/>
          <p:nvPr/>
        </p:nvGraphicFramePr>
        <p:xfrm>
          <a:off x="3043238" y="1985963"/>
          <a:ext cx="4033837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" name="" r:id="rId1" imgW="2390775" imgH="553085" progId="Equation.2">
                  <p:embed/>
                </p:oleObj>
              </mc:Choice>
              <mc:Fallback>
                <p:oleObj name="" r:id="rId1" imgW="2390775" imgH="553085" progId="Equation.2">
                  <p:embed/>
                  <p:pic>
                    <p:nvPicPr>
                      <p:cNvPr id="0" name="图片 324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43238" y="1985963"/>
                        <a:ext cx="4033837" cy="922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4" name="Rectangle 5"/>
          <p:cNvSpPr/>
          <p:nvPr/>
        </p:nvSpPr>
        <p:spPr>
          <a:xfrm>
            <a:off x="3836988" y="2827338"/>
            <a:ext cx="210343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subject to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1685" name="Object 6"/>
          <p:cNvGraphicFramePr/>
          <p:nvPr/>
        </p:nvGraphicFramePr>
        <p:xfrm>
          <a:off x="6129338" y="2859088"/>
          <a:ext cx="262255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" name="" r:id="rId3" imgW="1554480" imgH="318135" progId="Equation.2">
                  <p:embed/>
                </p:oleObj>
              </mc:Choice>
              <mc:Fallback>
                <p:oleObj name="" r:id="rId3" imgW="1554480" imgH="318135" progId="Equation.2">
                  <p:embed/>
                  <p:pic>
                    <p:nvPicPr>
                      <p:cNvPr id="0" name="图片 323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29338" y="2859088"/>
                        <a:ext cx="2622550" cy="528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6" name="Object 7"/>
          <p:cNvGraphicFramePr/>
          <p:nvPr/>
        </p:nvGraphicFramePr>
        <p:xfrm>
          <a:off x="3314700" y="4033838"/>
          <a:ext cx="3481388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" name="" r:id="rId5" imgW="2068195" imgH="553085" progId="Equation.2">
                  <p:embed/>
                </p:oleObj>
              </mc:Choice>
              <mc:Fallback>
                <p:oleObj name="" r:id="rId5" imgW="2068195" imgH="553085" progId="Equation.2">
                  <p:embed/>
                  <p:pic>
                    <p:nvPicPr>
                      <p:cNvPr id="0" name="图片 324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14700" y="4033838"/>
                        <a:ext cx="3481388" cy="912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7" name="Rectangle 8"/>
          <p:cNvSpPr/>
          <p:nvPr/>
        </p:nvSpPr>
        <p:spPr>
          <a:xfrm>
            <a:off x="3836988" y="4851400"/>
            <a:ext cx="2103437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subject to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1688" name="Object 9"/>
          <p:cNvGraphicFramePr/>
          <p:nvPr/>
        </p:nvGraphicFramePr>
        <p:xfrm>
          <a:off x="6129338" y="4883150"/>
          <a:ext cx="262255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" name="" r:id="rId7" imgW="1554480" imgH="318135" progId="Equation.2">
                  <p:embed/>
                </p:oleObj>
              </mc:Choice>
              <mc:Fallback>
                <p:oleObj name="" r:id="rId7" imgW="1554480" imgH="318135" progId="Equation.2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29338" y="4883150"/>
                        <a:ext cx="2622550" cy="528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2706" name="Rectangle 3"/>
          <p:cNvSpPr>
            <a:spLocks noGrp="1"/>
          </p:cNvSpPr>
          <p:nvPr>
            <p:ph idx="1"/>
          </p:nvPr>
        </p:nvSpPr>
        <p:spPr>
          <a:xfrm>
            <a:off x="685800" y="1257300"/>
            <a:ext cx="8101013" cy="45720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The short-run cost-min. problem is the long-run problem subject to the extra constraint that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=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’.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If the long-run choice for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was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’ then the extra constraint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=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’ is not really a constraint at all and so the long-run and short-run total costs of producing y output units are the same.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2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3730" name="Rectangle 3"/>
          <p:cNvSpPr>
            <a:spLocks noGrp="1"/>
          </p:cNvSpPr>
          <p:nvPr>
            <p:ph idx="1"/>
          </p:nvPr>
        </p:nvSpPr>
        <p:spPr>
          <a:xfrm>
            <a:off x="685800" y="1257300"/>
            <a:ext cx="8101013" cy="4910138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The short-run cost-min. problem is therefore the long-run problem subject to the extra constraint that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=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”.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But, if the long-run choice for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¹</a:t>
            </a:r>
            <a:r>
              <a:rPr lang="en-US" altLang="zh-CN" dirty="0">
                <a:ea typeface="宋体" panose="02010600030101010101" pitchFamily="2" charset="-122"/>
              </a:rPr>
              <a:t>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” then the extra constraint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=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” prevents the firm in this short-run from achieving its long-run production cost, causing the short-run total cost to exceed the long-run total cost of producing y output units.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4754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74755" name="Line 4"/>
          <p:cNvSpPr/>
          <p:nvPr/>
        </p:nvSpPr>
        <p:spPr>
          <a:xfrm>
            <a:off x="1619250" y="5095875"/>
            <a:ext cx="45116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74756" name="Rectangle 5"/>
          <p:cNvSpPr/>
          <p:nvPr/>
        </p:nvSpPr>
        <p:spPr>
          <a:xfrm>
            <a:off x="5932488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57" name="Rectangle 6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58" name="Arc 7"/>
          <p:cNvSpPr/>
          <p:nvPr/>
        </p:nvSpPr>
        <p:spPr>
          <a:xfrm rot="10800000">
            <a:off x="2039938" y="2451100"/>
            <a:ext cx="2690812" cy="22574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4759" name="Arc 8"/>
          <p:cNvSpPr/>
          <p:nvPr/>
        </p:nvSpPr>
        <p:spPr>
          <a:xfrm rot="10800000">
            <a:off x="2312988" y="1574800"/>
            <a:ext cx="3571875" cy="28305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4760" name="Arc 9"/>
          <p:cNvSpPr/>
          <p:nvPr/>
        </p:nvSpPr>
        <p:spPr>
          <a:xfrm rot="10800000">
            <a:off x="1846263" y="3387725"/>
            <a:ext cx="1860550" cy="15049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74761" name="Object 10"/>
          <p:cNvGraphicFramePr/>
          <p:nvPr/>
        </p:nvGraphicFramePr>
        <p:xfrm>
          <a:off x="2090738" y="1130300"/>
          <a:ext cx="5619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" name="" r:id="rId1" imgW="387350" imgH="300355" progId="Equation.2">
                  <p:embed/>
                </p:oleObj>
              </mc:Choice>
              <mc:Fallback>
                <p:oleObj name="" r:id="rId1" imgW="387350" imgH="300355" progId="Equation.2">
                  <p:embed/>
                  <p:pic>
                    <p:nvPicPr>
                      <p:cNvPr id="0" name="图片 324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90738" y="1130300"/>
                        <a:ext cx="561975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2" name="Object 11"/>
          <p:cNvGraphicFramePr/>
          <p:nvPr/>
        </p:nvGraphicFramePr>
        <p:xfrm>
          <a:off x="1854200" y="1963738"/>
          <a:ext cx="4524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" name="" r:id="rId3" imgW="318135" imgH="300355" progId="Equation.2">
                  <p:embed/>
                </p:oleObj>
              </mc:Choice>
              <mc:Fallback>
                <p:oleObj name="" r:id="rId3" imgW="318135" imgH="300355" progId="Equation.2">
                  <p:embed/>
                  <p:pic>
                    <p:nvPicPr>
                      <p:cNvPr id="0" name="图片 324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54200" y="1963738"/>
                        <a:ext cx="452438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3" name="Object 12"/>
          <p:cNvGraphicFramePr/>
          <p:nvPr/>
        </p:nvGraphicFramePr>
        <p:xfrm>
          <a:off x="1682750" y="2892425"/>
          <a:ext cx="3571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5" name="" r:id="rId5" imgW="257175" imgH="300355" progId="Equation.2">
                  <p:embed/>
                </p:oleObj>
              </mc:Choice>
              <mc:Fallback>
                <p:oleObj name="" r:id="rId5" imgW="257175" imgH="300355" progId="Equation.2">
                  <p:embed/>
                  <p:pic>
                    <p:nvPicPr>
                      <p:cNvPr id="0" name="图片 324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82750" y="2892425"/>
                        <a:ext cx="357188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4" name="Rectangle 13"/>
          <p:cNvSpPr/>
          <p:nvPr/>
        </p:nvSpPr>
        <p:spPr>
          <a:xfrm>
            <a:off x="3241675" y="1279525"/>
            <a:ext cx="578485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algn="ctr"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Consider three output levels.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5778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75779" name="Line 4"/>
          <p:cNvSpPr/>
          <p:nvPr/>
        </p:nvSpPr>
        <p:spPr>
          <a:xfrm>
            <a:off x="1619250" y="5095875"/>
            <a:ext cx="45116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75780" name="Rectangle 5"/>
          <p:cNvSpPr/>
          <p:nvPr/>
        </p:nvSpPr>
        <p:spPr>
          <a:xfrm>
            <a:off x="5932488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781" name="Rectangle 6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782" name="Arc 7"/>
          <p:cNvSpPr/>
          <p:nvPr/>
        </p:nvSpPr>
        <p:spPr>
          <a:xfrm rot="10800000">
            <a:off x="2039938" y="2451100"/>
            <a:ext cx="2690812" cy="22574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5783" name="Arc 8"/>
          <p:cNvSpPr/>
          <p:nvPr/>
        </p:nvSpPr>
        <p:spPr>
          <a:xfrm rot="10800000">
            <a:off x="2312988" y="1574800"/>
            <a:ext cx="3571875" cy="28305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5784" name="Arc 9"/>
          <p:cNvSpPr/>
          <p:nvPr/>
        </p:nvSpPr>
        <p:spPr>
          <a:xfrm rot="10800000">
            <a:off x="1846263" y="3387725"/>
            <a:ext cx="1860550" cy="15049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5785" name="Line 10"/>
          <p:cNvSpPr/>
          <p:nvPr/>
        </p:nvSpPr>
        <p:spPr>
          <a:xfrm>
            <a:off x="1612900" y="3295650"/>
            <a:ext cx="2857500" cy="18176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786" name="Line 11"/>
          <p:cNvSpPr/>
          <p:nvPr/>
        </p:nvSpPr>
        <p:spPr>
          <a:xfrm>
            <a:off x="1612900" y="3983038"/>
            <a:ext cx="1762125" cy="1120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787" name="Line 12"/>
          <p:cNvSpPr/>
          <p:nvPr/>
        </p:nvSpPr>
        <p:spPr>
          <a:xfrm>
            <a:off x="1612900" y="2479675"/>
            <a:ext cx="4141788" cy="26352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75788" name="Object 13"/>
          <p:cNvGraphicFramePr/>
          <p:nvPr/>
        </p:nvGraphicFramePr>
        <p:xfrm>
          <a:off x="2090738" y="1130300"/>
          <a:ext cx="5619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" name="" r:id="rId1" imgW="387350" imgH="300355" progId="Equation.2">
                  <p:embed/>
                </p:oleObj>
              </mc:Choice>
              <mc:Fallback>
                <p:oleObj name="" r:id="rId1" imgW="387350" imgH="300355" progId="Equation.2">
                  <p:embed/>
                  <p:pic>
                    <p:nvPicPr>
                      <p:cNvPr id="0" name="图片 324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90738" y="1130300"/>
                        <a:ext cx="561975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9" name="Object 14"/>
          <p:cNvGraphicFramePr/>
          <p:nvPr/>
        </p:nvGraphicFramePr>
        <p:xfrm>
          <a:off x="1854200" y="1963738"/>
          <a:ext cx="4524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1" name="" r:id="rId3" imgW="318135" imgH="300355" progId="Equation.2">
                  <p:embed/>
                </p:oleObj>
              </mc:Choice>
              <mc:Fallback>
                <p:oleObj name="" r:id="rId3" imgW="318135" imgH="300355" progId="Equation.2">
                  <p:embed/>
                  <p:pic>
                    <p:nvPicPr>
                      <p:cNvPr id="0" name="图片 325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54200" y="1963738"/>
                        <a:ext cx="452438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0" name="Object 15"/>
          <p:cNvGraphicFramePr/>
          <p:nvPr/>
        </p:nvGraphicFramePr>
        <p:xfrm>
          <a:off x="1682750" y="2892425"/>
          <a:ext cx="3571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" name="" r:id="rId5" imgW="257175" imgH="300355" progId="Equation.2">
                  <p:embed/>
                </p:oleObj>
              </mc:Choice>
              <mc:Fallback>
                <p:oleObj name="" r:id="rId5" imgW="257175" imgH="300355" progId="Equation.2">
                  <p:embed/>
                  <p:pic>
                    <p:nvPicPr>
                      <p:cNvPr id="0" name="图片 324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82750" y="2892425"/>
                        <a:ext cx="357188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1" name="Rectangle 16"/>
          <p:cNvSpPr/>
          <p:nvPr/>
        </p:nvSpPr>
        <p:spPr>
          <a:xfrm>
            <a:off x="3455988" y="1112838"/>
            <a:ext cx="5783262" cy="20415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In the long-run when the firm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is free to choose both x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and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, the least-costly input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bundles are ...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6802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76803" name="Line 4"/>
          <p:cNvSpPr/>
          <p:nvPr/>
        </p:nvSpPr>
        <p:spPr>
          <a:xfrm>
            <a:off x="1619250" y="5095875"/>
            <a:ext cx="45116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76804" name="Rectangle 5"/>
          <p:cNvSpPr/>
          <p:nvPr/>
        </p:nvSpPr>
        <p:spPr>
          <a:xfrm>
            <a:off x="5932488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05" name="Rectangle 6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06" name="Arc 7"/>
          <p:cNvSpPr/>
          <p:nvPr/>
        </p:nvSpPr>
        <p:spPr>
          <a:xfrm rot="10800000">
            <a:off x="2039938" y="2451100"/>
            <a:ext cx="2690812" cy="22574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6807" name="Arc 8"/>
          <p:cNvSpPr/>
          <p:nvPr/>
        </p:nvSpPr>
        <p:spPr>
          <a:xfrm rot="10800000">
            <a:off x="2312988" y="1574800"/>
            <a:ext cx="3571875" cy="28305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6808" name="Arc 9"/>
          <p:cNvSpPr/>
          <p:nvPr/>
        </p:nvSpPr>
        <p:spPr>
          <a:xfrm rot="10800000">
            <a:off x="1846263" y="3387725"/>
            <a:ext cx="1860550" cy="15049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6809" name="Line 10"/>
          <p:cNvSpPr/>
          <p:nvPr/>
        </p:nvSpPr>
        <p:spPr>
          <a:xfrm>
            <a:off x="1612900" y="3295650"/>
            <a:ext cx="2857500" cy="18176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810" name="Line 11"/>
          <p:cNvSpPr/>
          <p:nvPr/>
        </p:nvSpPr>
        <p:spPr>
          <a:xfrm>
            <a:off x="1612900" y="3983038"/>
            <a:ext cx="1762125" cy="1120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811" name="Line 12"/>
          <p:cNvSpPr/>
          <p:nvPr/>
        </p:nvSpPr>
        <p:spPr>
          <a:xfrm>
            <a:off x="1612900" y="2479675"/>
            <a:ext cx="4141788" cy="26352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76812" name="Object 13"/>
          <p:cNvGraphicFramePr/>
          <p:nvPr/>
        </p:nvGraphicFramePr>
        <p:xfrm>
          <a:off x="2090738" y="1130300"/>
          <a:ext cx="5619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0" name="" r:id="rId1" imgW="387350" imgH="300355" progId="Equation.2">
                  <p:embed/>
                </p:oleObj>
              </mc:Choice>
              <mc:Fallback>
                <p:oleObj name="" r:id="rId1" imgW="387350" imgH="300355" progId="Equation.2">
                  <p:embed/>
                  <p:pic>
                    <p:nvPicPr>
                      <p:cNvPr id="0" name="图片 324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90738" y="1130300"/>
                        <a:ext cx="561975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3" name="Object 14"/>
          <p:cNvGraphicFramePr/>
          <p:nvPr/>
        </p:nvGraphicFramePr>
        <p:xfrm>
          <a:off x="1854200" y="1963738"/>
          <a:ext cx="4524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" name="" r:id="rId3" imgW="318135" imgH="300355" progId="Equation.2">
                  <p:embed/>
                </p:oleObj>
              </mc:Choice>
              <mc:Fallback>
                <p:oleObj name="" r:id="rId3" imgW="318135" imgH="300355" progId="Equation.2">
                  <p:embed/>
                  <p:pic>
                    <p:nvPicPr>
                      <p:cNvPr id="0" name="图片 324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54200" y="1963738"/>
                        <a:ext cx="452438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4" name="Object 15"/>
          <p:cNvGraphicFramePr/>
          <p:nvPr/>
        </p:nvGraphicFramePr>
        <p:xfrm>
          <a:off x="1682750" y="2892425"/>
          <a:ext cx="3571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" name="" r:id="rId5" imgW="257175" imgH="300355" progId="Equation.2">
                  <p:embed/>
                </p:oleObj>
              </mc:Choice>
              <mc:Fallback>
                <p:oleObj name="" r:id="rId5" imgW="257175" imgH="300355" progId="Equation.2">
                  <p:embed/>
                  <p:pic>
                    <p:nvPicPr>
                      <p:cNvPr id="0" name="图片 325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82750" y="2892425"/>
                        <a:ext cx="357188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5" name="Line 16"/>
          <p:cNvSpPr/>
          <p:nvPr/>
        </p:nvSpPr>
        <p:spPr>
          <a:xfrm>
            <a:off x="2508250" y="4554538"/>
            <a:ext cx="0" cy="5191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6816" name="Line 17"/>
          <p:cNvSpPr/>
          <p:nvPr/>
        </p:nvSpPr>
        <p:spPr>
          <a:xfrm flipH="1">
            <a:off x="1614488" y="4540250"/>
            <a:ext cx="89376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6817" name="Line 18"/>
          <p:cNvSpPr/>
          <p:nvPr/>
        </p:nvSpPr>
        <p:spPr>
          <a:xfrm>
            <a:off x="3071813" y="4237038"/>
            <a:ext cx="0" cy="8366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6818" name="Line 19"/>
          <p:cNvSpPr/>
          <p:nvPr/>
        </p:nvSpPr>
        <p:spPr>
          <a:xfrm flipH="1">
            <a:off x="1628775" y="4237038"/>
            <a:ext cx="14430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6819" name="Line 20"/>
          <p:cNvSpPr/>
          <p:nvPr/>
        </p:nvSpPr>
        <p:spPr>
          <a:xfrm>
            <a:off x="3633788" y="3789363"/>
            <a:ext cx="0" cy="13128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6820" name="Line 21"/>
          <p:cNvSpPr/>
          <p:nvPr/>
        </p:nvSpPr>
        <p:spPr>
          <a:xfrm flipH="1">
            <a:off x="1614488" y="3789363"/>
            <a:ext cx="20193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6821" name="Oval 22"/>
          <p:cNvSpPr/>
          <p:nvPr/>
        </p:nvSpPr>
        <p:spPr>
          <a:xfrm>
            <a:off x="3548063" y="3675063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22" name="Oval 23"/>
          <p:cNvSpPr/>
          <p:nvPr/>
        </p:nvSpPr>
        <p:spPr>
          <a:xfrm>
            <a:off x="2986088" y="4137025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23" name="Oval 24"/>
          <p:cNvSpPr/>
          <p:nvPr/>
        </p:nvSpPr>
        <p:spPr>
          <a:xfrm>
            <a:off x="2422525" y="4440238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6824" name="Object 26"/>
          <p:cNvGraphicFramePr/>
          <p:nvPr/>
        </p:nvGraphicFramePr>
        <p:xfrm>
          <a:off x="2341563" y="5191125"/>
          <a:ext cx="36036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4" name="" r:id="rId7" imgW="265430" imgH="318135" progId="Equation.2">
                  <p:embed/>
                </p:oleObj>
              </mc:Choice>
              <mc:Fallback>
                <p:oleObj name="" r:id="rId7" imgW="265430" imgH="318135" progId="Equation.2">
                  <p:embed/>
                  <p:pic>
                    <p:nvPicPr>
                      <p:cNvPr id="0" name="图片 325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41563" y="5191125"/>
                        <a:ext cx="360362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5" name="Object 27"/>
          <p:cNvGraphicFramePr/>
          <p:nvPr/>
        </p:nvGraphicFramePr>
        <p:xfrm>
          <a:off x="2870200" y="5191125"/>
          <a:ext cx="4095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0" name="" r:id="rId9" imgW="309245" imgH="318135" progId="Equation.2">
                  <p:embed/>
                </p:oleObj>
              </mc:Choice>
              <mc:Fallback>
                <p:oleObj name="" r:id="rId9" imgW="309245" imgH="318135" progId="Equation.2">
                  <p:embed/>
                  <p:pic>
                    <p:nvPicPr>
                      <p:cNvPr id="0" name="图片 3259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70200" y="5191125"/>
                        <a:ext cx="409575" cy="420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6" name="Object 28"/>
          <p:cNvGraphicFramePr/>
          <p:nvPr/>
        </p:nvGraphicFramePr>
        <p:xfrm>
          <a:off x="3413125" y="5191125"/>
          <a:ext cx="49053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" name="" r:id="rId11" imgW="379095" imgH="318135" progId="Equation.2">
                  <p:embed/>
                </p:oleObj>
              </mc:Choice>
              <mc:Fallback>
                <p:oleObj name="" r:id="rId11" imgW="379095" imgH="318135" progId="Equation.2">
                  <p:embed/>
                  <p:pic>
                    <p:nvPicPr>
                      <p:cNvPr id="0" name="图片 3256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13125" y="5191125"/>
                        <a:ext cx="490538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7" name="Object 29"/>
          <p:cNvGraphicFramePr/>
          <p:nvPr/>
        </p:nvGraphicFramePr>
        <p:xfrm>
          <a:off x="1155700" y="4383088"/>
          <a:ext cx="385763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1" name="" r:id="rId13" imgW="291465" imgH="318135" progId="Equation.2">
                  <p:embed/>
                </p:oleObj>
              </mc:Choice>
              <mc:Fallback>
                <p:oleObj name="" r:id="rId13" imgW="291465" imgH="318135" progId="Equation.2">
                  <p:embed/>
                  <p:pic>
                    <p:nvPicPr>
                      <p:cNvPr id="0" name="图片 3260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55700" y="4383088"/>
                        <a:ext cx="385763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8" name="Object 30"/>
          <p:cNvGraphicFramePr/>
          <p:nvPr/>
        </p:nvGraphicFramePr>
        <p:xfrm>
          <a:off x="1154113" y="3963988"/>
          <a:ext cx="40957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5" name="" r:id="rId15" imgW="309245" imgH="318135" progId="Equation.2">
                  <p:embed/>
                </p:oleObj>
              </mc:Choice>
              <mc:Fallback>
                <p:oleObj name="" r:id="rId15" imgW="309245" imgH="318135" progId="Equation.2">
                  <p:embed/>
                  <p:pic>
                    <p:nvPicPr>
                      <p:cNvPr id="0" name="图片 3254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54113" y="3963988"/>
                        <a:ext cx="409575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9" name="Object 31"/>
          <p:cNvGraphicFramePr/>
          <p:nvPr/>
        </p:nvGraphicFramePr>
        <p:xfrm>
          <a:off x="1103313" y="3505200"/>
          <a:ext cx="490537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" name="" r:id="rId17" imgW="379095" imgH="318135" progId="Equation.2">
                  <p:embed/>
                </p:oleObj>
              </mc:Choice>
              <mc:Fallback>
                <p:oleObj name="" r:id="rId17" imgW="379095" imgH="318135" progId="Equation.2">
                  <p:embed/>
                  <p:pic>
                    <p:nvPicPr>
                      <p:cNvPr id="0" name="图片 3258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03313" y="3505200"/>
                        <a:ext cx="490537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30" name="Rectangle 32"/>
          <p:cNvSpPr/>
          <p:nvPr/>
        </p:nvSpPr>
        <p:spPr>
          <a:xfrm>
            <a:off x="3108325" y="1568450"/>
            <a:ext cx="1943100" cy="18002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rgbClr val="3BED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Long-run</a:t>
            </a:r>
            <a:br>
              <a:rPr lang="en-US" altLang="zh-CN" dirty="0">
                <a:solidFill>
                  <a:srgbClr val="3BED00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3BED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output</a:t>
            </a:r>
            <a:br>
              <a:rPr lang="en-US" altLang="zh-CN" dirty="0">
                <a:solidFill>
                  <a:srgbClr val="3BED00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3BED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expansion</a:t>
            </a:r>
            <a:br>
              <a:rPr lang="en-US" altLang="zh-CN" dirty="0">
                <a:solidFill>
                  <a:srgbClr val="3BED00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3BED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path</a:t>
            </a:r>
            <a:endParaRPr lang="en-US" altLang="zh-CN" dirty="0">
              <a:solidFill>
                <a:srgbClr val="3BED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31" name="Freeform 33"/>
          <p:cNvSpPr/>
          <p:nvPr/>
        </p:nvSpPr>
        <p:spPr>
          <a:xfrm>
            <a:off x="2000250" y="3219450"/>
            <a:ext cx="2143125" cy="165735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816530625" y="2101810313"/>
              </a:cxn>
              <a:cxn ang="0">
                <a:pos x="1693545000" y="1617940313"/>
              </a:cxn>
              <a:cxn ang="0">
                <a:pos x="2147483646" y="907256250"/>
              </a:cxn>
              <a:cxn ang="0">
                <a:pos x="2147483646" y="0"/>
              </a:cxn>
            </a:cxnLst>
            <a:pathLst>
              <a:path w="1350" h="1044">
                <a:moveTo>
                  <a:pt x="0" y="1044"/>
                </a:moveTo>
                <a:cubicBezTo>
                  <a:pt x="106" y="972"/>
                  <a:pt x="212" y="901"/>
                  <a:pt x="324" y="834"/>
                </a:cubicBezTo>
                <a:cubicBezTo>
                  <a:pt x="436" y="767"/>
                  <a:pt x="555" y="721"/>
                  <a:pt x="672" y="642"/>
                </a:cubicBezTo>
                <a:cubicBezTo>
                  <a:pt x="789" y="563"/>
                  <a:pt x="913" y="467"/>
                  <a:pt x="1026" y="360"/>
                </a:cubicBezTo>
                <a:cubicBezTo>
                  <a:pt x="1139" y="253"/>
                  <a:pt x="1296" y="59"/>
                  <a:pt x="1350" y="0"/>
                </a:cubicBezTo>
              </a:path>
            </a:pathLst>
          </a:custGeom>
          <a:noFill/>
          <a:ln w="50800" cap="flat" cmpd="sng">
            <a:solidFill>
              <a:srgbClr val="3BED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7826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77827" name="Line 4"/>
          <p:cNvSpPr/>
          <p:nvPr/>
        </p:nvSpPr>
        <p:spPr>
          <a:xfrm>
            <a:off x="1619250" y="5095875"/>
            <a:ext cx="45116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77828" name="Rectangle 5"/>
          <p:cNvSpPr/>
          <p:nvPr/>
        </p:nvSpPr>
        <p:spPr>
          <a:xfrm>
            <a:off x="5932488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29" name="Rectangle 6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0" name="Arc 7"/>
          <p:cNvSpPr/>
          <p:nvPr/>
        </p:nvSpPr>
        <p:spPr>
          <a:xfrm rot="10800000">
            <a:off x="2039938" y="2451100"/>
            <a:ext cx="2690812" cy="22574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7831" name="Arc 8"/>
          <p:cNvSpPr/>
          <p:nvPr/>
        </p:nvSpPr>
        <p:spPr>
          <a:xfrm rot="10800000">
            <a:off x="2312988" y="1574800"/>
            <a:ext cx="3571875" cy="28305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7832" name="Arc 9"/>
          <p:cNvSpPr/>
          <p:nvPr/>
        </p:nvSpPr>
        <p:spPr>
          <a:xfrm rot="10800000">
            <a:off x="1846263" y="3387725"/>
            <a:ext cx="1860550" cy="15049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7833" name="Line 10"/>
          <p:cNvSpPr/>
          <p:nvPr/>
        </p:nvSpPr>
        <p:spPr>
          <a:xfrm>
            <a:off x="1612900" y="3295650"/>
            <a:ext cx="2857500" cy="18176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834" name="Line 11"/>
          <p:cNvSpPr/>
          <p:nvPr/>
        </p:nvSpPr>
        <p:spPr>
          <a:xfrm>
            <a:off x="1612900" y="3983038"/>
            <a:ext cx="1762125" cy="1120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835" name="Line 12"/>
          <p:cNvSpPr/>
          <p:nvPr/>
        </p:nvSpPr>
        <p:spPr>
          <a:xfrm>
            <a:off x="1612900" y="2479675"/>
            <a:ext cx="4141788" cy="26352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77836" name="Object 1024"/>
          <p:cNvGraphicFramePr/>
          <p:nvPr/>
        </p:nvGraphicFramePr>
        <p:xfrm>
          <a:off x="2090738" y="1130300"/>
          <a:ext cx="5619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3" name="" r:id="rId1" imgW="387350" imgH="300355" progId="Equation.2">
                  <p:embed/>
                </p:oleObj>
              </mc:Choice>
              <mc:Fallback>
                <p:oleObj name="" r:id="rId1" imgW="387350" imgH="300355" progId="Equation.2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90738" y="1130300"/>
                        <a:ext cx="561975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7" name="Object 1025"/>
          <p:cNvGraphicFramePr/>
          <p:nvPr/>
        </p:nvGraphicFramePr>
        <p:xfrm>
          <a:off x="1854200" y="1963738"/>
          <a:ext cx="4524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" name="" r:id="rId3" imgW="318135" imgH="300355" progId="Equation.2">
                  <p:embed/>
                </p:oleObj>
              </mc:Choice>
              <mc:Fallback>
                <p:oleObj name="" r:id="rId3" imgW="318135" imgH="300355" progId="Equation.2">
                  <p:embed/>
                  <p:pic>
                    <p:nvPicPr>
                      <p:cNvPr id="0" name="图片 325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54200" y="1963738"/>
                        <a:ext cx="452438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8" name="Object 1026"/>
          <p:cNvGraphicFramePr/>
          <p:nvPr/>
        </p:nvGraphicFramePr>
        <p:xfrm>
          <a:off x="1682750" y="2892425"/>
          <a:ext cx="3571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8" name="" r:id="rId5" imgW="257175" imgH="300355" progId="Equation.2">
                  <p:embed/>
                </p:oleObj>
              </mc:Choice>
              <mc:Fallback>
                <p:oleObj name="" r:id="rId5" imgW="257175" imgH="300355" progId="Equation.2">
                  <p:embed/>
                  <p:pic>
                    <p:nvPicPr>
                      <p:cNvPr id="0" name="图片 325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82750" y="2892425"/>
                        <a:ext cx="357188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9" name="Rectangle 16"/>
          <p:cNvSpPr/>
          <p:nvPr/>
        </p:nvSpPr>
        <p:spPr>
          <a:xfrm>
            <a:off x="3108325" y="1568450"/>
            <a:ext cx="1943100" cy="18002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rgbClr val="3BED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Long-run</a:t>
            </a:r>
            <a:br>
              <a:rPr lang="en-US" altLang="zh-CN" dirty="0">
                <a:solidFill>
                  <a:srgbClr val="3BED00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3BED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output</a:t>
            </a:r>
            <a:br>
              <a:rPr lang="en-US" altLang="zh-CN" dirty="0">
                <a:solidFill>
                  <a:srgbClr val="3BED00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3BED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expansion</a:t>
            </a:r>
            <a:br>
              <a:rPr lang="en-US" altLang="zh-CN" dirty="0">
                <a:solidFill>
                  <a:srgbClr val="3BED00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3BED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path</a:t>
            </a:r>
            <a:endParaRPr lang="en-US" altLang="zh-CN" dirty="0">
              <a:solidFill>
                <a:srgbClr val="3BED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40" name="Line 17"/>
          <p:cNvSpPr/>
          <p:nvPr/>
        </p:nvSpPr>
        <p:spPr>
          <a:xfrm>
            <a:off x="2508250" y="4554538"/>
            <a:ext cx="0" cy="5191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7841" name="Line 18"/>
          <p:cNvSpPr/>
          <p:nvPr/>
        </p:nvSpPr>
        <p:spPr>
          <a:xfrm flipH="1">
            <a:off x="1614488" y="4540250"/>
            <a:ext cx="89376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7842" name="Line 19"/>
          <p:cNvSpPr/>
          <p:nvPr/>
        </p:nvSpPr>
        <p:spPr>
          <a:xfrm>
            <a:off x="3071813" y="4237038"/>
            <a:ext cx="0" cy="8366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7843" name="Line 20"/>
          <p:cNvSpPr/>
          <p:nvPr/>
        </p:nvSpPr>
        <p:spPr>
          <a:xfrm flipH="1">
            <a:off x="1628775" y="4237038"/>
            <a:ext cx="14430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7844" name="Line 21"/>
          <p:cNvSpPr/>
          <p:nvPr/>
        </p:nvSpPr>
        <p:spPr>
          <a:xfrm>
            <a:off x="3633788" y="3789363"/>
            <a:ext cx="0" cy="13128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7845" name="Line 22"/>
          <p:cNvSpPr/>
          <p:nvPr/>
        </p:nvSpPr>
        <p:spPr>
          <a:xfrm flipH="1">
            <a:off x="1614488" y="3789363"/>
            <a:ext cx="20193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7846" name="Oval 23"/>
          <p:cNvSpPr/>
          <p:nvPr/>
        </p:nvSpPr>
        <p:spPr>
          <a:xfrm>
            <a:off x="3548063" y="3675063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47" name="Oval 24"/>
          <p:cNvSpPr/>
          <p:nvPr/>
        </p:nvSpPr>
        <p:spPr>
          <a:xfrm>
            <a:off x="2986088" y="4137025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48" name="Oval 25"/>
          <p:cNvSpPr/>
          <p:nvPr/>
        </p:nvSpPr>
        <p:spPr>
          <a:xfrm>
            <a:off x="2422525" y="4440238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7849" name="Object 1027"/>
          <p:cNvGraphicFramePr/>
          <p:nvPr/>
        </p:nvGraphicFramePr>
        <p:xfrm>
          <a:off x="2341563" y="5191125"/>
          <a:ext cx="36036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" name="" r:id="rId7" imgW="265430" imgH="318135" progId="Equation.2">
                  <p:embed/>
                </p:oleObj>
              </mc:Choice>
              <mc:Fallback>
                <p:oleObj name="" r:id="rId7" imgW="265430" imgH="318135" progId="Equation.2">
                  <p:embed/>
                  <p:pic>
                    <p:nvPicPr>
                      <p:cNvPr id="0" name="图片 326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41563" y="5191125"/>
                        <a:ext cx="360362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0" name="Object 1028"/>
          <p:cNvGraphicFramePr/>
          <p:nvPr/>
        </p:nvGraphicFramePr>
        <p:xfrm>
          <a:off x="2870200" y="5191125"/>
          <a:ext cx="4095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" name="" r:id="rId9" imgW="309245" imgH="318135" progId="Equation.2">
                  <p:embed/>
                </p:oleObj>
              </mc:Choice>
              <mc:Fallback>
                <p:oleObj name="" r:id="rId9" imgW="309245" imgH="318135" progId="Equation.2">
                  <p:embed/>
                  <p:pic>
                    <p:nvPicPr>
                      <p:cNvPr id="0" name="图片 3267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70200" y="5191125"/>
                        <a:ext cx="409575" cy="420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1" name="Object 1029"/>
          <p:cNvGraphicFramePr/>
          <p:nvPr/>
        </p:nvGraphicFramePr>
        <p:xfrm>
          <a:off x="3413125" y="5191125"/>
          <a:ext cx="49053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" name="" r:id="rId11" imgW="379095" imgH="318135" progId="Equation.2">
                  <p:embed/>
                </p:oleObj>
              </mc:Choice>
              <mc:Fallback>
                <p:oleObj name="" r:id="rId11" imgW="379095" imgH="318135" progId="Equation.2">
                  <p:embed/>
                  <p:pic>
                    <p:nvPicPr>
                      <p:cNvPr id="0" name="图片 3263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13125" y="5191125"/>
                        <a:ext cx="490538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2" name="Object 1030"/>
          <p:cNvGraphicFramePr/>
          <p:nvPr/>
        </p:nvGraphicFramePr>
        <p:xfrm>
          <a:off x="1155700" y="4383088"/>
          <a:ext cx="385763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2" name="" r:id="rId13" imgW="291465" imgH="318135" progId="Equation.2">
                  <p:embed/>
                </p:oleObj>
              </mc:Choice>
              <mc:Fallback>
                <p:oleObj name="" r:id="rId13" imgW="291465" imgH="318135" progId="Equation.2">
                  <p:embed/>
                  <p:pic>
                    <p:nvPicPr>
                      <p:cNvPr id="0" name="图片 3261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55700" y="4383088"/>
                        <a:ext cx="385763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3" name="Object 1031"/>
          <p:cNvGraphicFramePr/>
          <p:nvPr/>
        </p:nvGraphicFramePr>
        <p:xfrm>
          <a:off x="1154113" y="3963988"/>
          <a:ext cx="40957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" name="" r:id="rId15" imgW="309245" imgH="318135" progId="Equation.2">
                  <p:embed/>
                </p:oleObj>
              </mc:Choice>
              <mc:Fallback>
                <p:oleObj name="" r:id="rId15" imgW="309245" imgH="318135" progId="Equation.2">
                  <p:embed/>
                  <p:pic>
                    <p:nvPicPr>
                      <p:cNvPr id="0" name="图片 3264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54113" y="3963988"/>
                        <a:ext cx="409575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4" name="Object 1032"/>
          <p:cNvGraphicFramePr/>
          <p:nvPr/>
        </p:nvGraphicFramePr>
        <p:xfrm>
          <a:off x="1103313" y="3505200"/>
          <a:ext cx="490537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3" name="" r:id="rId17" imgW="379095" imgH="318135" progId="Equation.2">
                  <p:embed/>
                </p:oleObj>
              </mc:Choice>
              <mc:Fallback>
                <p:oleObj name="" r:id="rId17" imgW="379095" imgH="318135" progId="Equation.2">
                  <p:embed/>
                  <p:pic>
                    <p:nvPicPr>
                      <p:cNvPr id="0" name="图片 3262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03313" y="3505200"/>
                        <a:ext cx="490537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55" name="Rectangle 33"/>
          <p:cNvSpPr/>
          <p:nvPr/>
        </p:nvSpPr>
        <p:spPr>
          <a:xfrm>
            <a:off x="5075238" y="803275"/>
            <a:ext cx="40005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Long-run costs are: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7856" name="Object 1033"/>
          <p:cNvGraphicFramePr/>
          <p:nvPr/>
        </p:nvGraphicFramePr>
        <p:xfrm>
          <a:off x="5324475" y="1312863"/>
          <a:ext cx="3557588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6" name="" r:id="rId19" imgW="2625725" imgH="1014730" progId="Equation.2">
                  <p:embed/>
                </p:oleObj>
              </mc:Choice>
              <mc:Fallback>
                <p:oleObj name="" r:id="rId19" imgW="2625725" imgH="1014730" progId="Equation.2">
                  <p:embed/>
                  <p:pic>
                    <p:nvPicPr>
                      <p:cNvPr id="0" name="图片 3265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24475" y="1312863"/>
                        <a:ext cx="3557588" cy="1339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57" name="Freeform 35"/>
          <p:cNvSpPr/>
          <p:nvPr/>
        </p:nvSpPr>
        <p:spPr>
          <a:xfrm>
            <a:off x="2000250" y="3219450"/>
            <a:ext cx="2143125" cy="165735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816530625" y="2101810313"/>
              </a:cxn>
              <a:cxn ang="0">
                <a:pos x="1693545000" y="1617940313"/>
              </a:cxn>
              <a:cxn ang="0">
                <a:pos x="2147483646" y="907256250"/>
              </a:cxn>
              <a:cxn ang="0">
                <a:pos x="2147483646" y="0"/>
              </a:cxn>
            </a:cxnLst>
            <a:pathLst>
              <a:path w="1350" h="1044">
                <a:moveTo>
                  <a:pt x="0" y="1044"/>
                </a:moveTo>
                <a:cubicBezTo>
                  <a:pt x="106" y="972"/>
                  <a:pt x="212" y="901"/>
                  <a:pt x="324" y="834"/>
                </a:cubicBezTo>
                <a:cubicBezTo>
                  <a:pt x="436" y="767"/>
                  <a:pt x="555" y="721"/>
                  <a:pt x="672" y="642"/>
                </a:cubicBezTo>
                <a:cubicBezTo>
                  <a:pt x="789" y="563"/>
                  <a:pt x="913" y="467"/>
                  <a:pt x="1026" y="360"/>
                </a:cubicBezTo>
                <a:cubicBezTo>
                  <a:pt x="1139" y="253"/>
                  <a:pt x="1296" y="59"/>
                  <a:pt x="1350" y="0"/>
                </a:cubicBezTo>
              </a:path>
            </a:pathLst>
          </a:custGeom>
          <a:noFill/>
          <a:ln w="50800" cap="flat" cmpd="sng">
            <a:solidFill>
              <a:srgbClr val="3BED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4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885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Now suppose the firm becomes subject to the short-run constraint that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= x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”.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9874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79875" name="Line 4"/>
          <p:cNvSpPr/>
          <p:nvPr/>
        </p:nvSpPr>
        <p:spPr>
          <a:xfrm>
            <a:off x="1619250" y="5095875"/>
            <a:ext cx="45116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79876" name="Rectangle 5"/>
          <p:cNvSpPr/>
          <p:nvPr/>
        </p:nvSpPr>
        <p:spPr>
          <a:xfrm>
            <a:off x="5932488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77" name="Rectangle 6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78" name="Arc 7"/>
          <p:cNvSpPr/>
          <p:nvPr/>
        </p:nvSpPr>
        <p:spPr>
          <a:xfrm rot="10800000">
            <a:off x="2039938" y="2451100"/>
            <a:ext cx="2690812" cy="22574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9879" name="Arc 8"/>
          <p:cNvSpPr/>
          <p:nvPr/>
        </p:nvSpPr>
        <p:spPr>
          <a:xfrm rot="10800000">
            <a:off x="2312988" y="1574800"/>
            <a:ext cx="3571875" cy="28305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9880" name="Arc 9"/>
          <p:cNvSpPr/>
          <p:nvPr/>
        </p:nvSpPr>
        <p:spPr>
          <a:xfrm rot="10800000">
            <a:off x="1846263" y="3387725"/>
            <a:ext cx="1860550" cy="15049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9881" name="Line 10"/>
          <p:cNvSpPr/>
          <p:nvPr/>
        </p:nvSpPr>
        <p:spPr>
          <a:xfrm>
            <a:off x="1612900" y="3295650"/>
            <a:ext cx="2857500" cy="18176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882" name="Line 11"/>
          <p:cNvSpPr/>
          <p:nvPr/>
        </p:nvSpPr>
        <p:spPr>
          <a:xfrm>
            <a:off x="1612900" y="3983038"/>
            <a:ext cx="1762125" cy="1120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883" name="Line 12"/>
          <p:cNvSpPr/>
          <p:nvPr/>
        </p:nvSpPr>
        <p:spPr>
          <a:xfrm>
            <a:off x="1612900" y="2479675"/>
            <a:ext cx="4141788" cy="26352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79884" name="Object 13"/>
          <p:cNvGraphicFramePr/>
          <p:nvPr/>
        </p:nvGraphicFramePr>
        <p:xfrm>
          <a:off x="2090738" y="1130300"/>
          <a:ext cx="5619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" name="" r:id="rId1" imgW="387350" imgH="300355" progId="Equation.2">
                  <p:embed/>
                </p:oleObj>
              </mc:Choice>
              <mc:Fallback>
                <p:oleObj name="" r:id="rId1" imgW="387350" imgH="300355" progId="Equation.2">
                  <p:embed/>
                  <p:pic>
                    <p:nvPicPr>
                      <p:cNvPr id="0" name="图片 327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90738" y="1130300"/>
                        <a:ext cx="561975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5" name="Object 14"/>
          <p:cNvGraphicFramePr/>
          <p:nvPr/>
        </p:nvGraphicFramePr>
        <p:xfrm>
          <a:off x="1854200" y="1963738"/>
          <a:ext cx="4524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" name="" r:id="rId3" imgW="318135" imgH="300355" progId="Equation.2">
                  <p:embed/>
                </p:oleObj>
              </mc:Choice>
              <mc:Fallback>
                <p:oleObj name="" r:id="rId3" imgW="318135" imgH="300355" progId="Equation.2">
                  <p:embed/>
                  <p:pic>
                    <p:nvPicPr>
                      <p:cNvPr id="0" name="图片 326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54200" y="1963738"/>
                        <a:ext cx="452438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6" name="Object 15"/>
          <p:cNvGraphicFramePr/>
          <p:nvPr/>
        </p:nvGraphicFramePr>
        <p:xfrm>
          <a:off x="1682750" y="2892425"/>
          <a:ext cx="3571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" name="" r:id="rId5" imgW="257175" imgH="300355" progId="Equation.2">
                  <p:embed/>
                </p:oleObj>
              </mc:Choice>
              <mc:Fallback>
                <p:oleObj name="" r:id="rId5" imgW="257175" imgH="300355" progId="Equation.2">
                  <p:embed/>
                  <p:pic>
                    <p:nvPicPr>
                      <p:cNvPr id="0" name="图片 327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82750" y="2892425"/>
                        <a:ext cx="357188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7" name="Line 16"/>
          <p:cNvSpPr/>
          <p:nvPr/>
        </p:nvSpPr>
        <p:spPr>
          <a:xfrm>
            <a:off x="2508250" y="4554538"/>
            <a:ext cx="0" cy="5191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9888" name="Line 17"/>
          <p:cNvSpPr/>
          <p:nvPr/>
        </p:nvSpPr>
        <p:spPr>
          <a:xfrm flipH="1">
            <a:off x="1614488" y="4540250"/>
            <a:ext cx="89376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9889" name="Line 18"/>
          <p:cNvSpPr/>
          <p:nvPr/>
        </p:nvSpPr>
        <p:spPr>
          <a:xfrm flipH="1">
            <a:off x="1628775" y="4237038"/>
            <a:ext cx="14430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9890" name="Line 19"/>
          <p:cNvSpPr/>
          <p:nvPr/>
        </p:nvSpPr>
        <p:spPr>
          <a:xfrm>
            <a:off x="3633788" y="3789363"/>
            <a:ext cx="0" cy="13128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9891" name="Line 20"/>
          <p:cNvSpPr/>
          <p:nvPr/>
        </p:nvSpPr>
        <p:spPr>
          <a:xfrm flipH="1">
            <a:off x="1614488" y="3789363"/>
            <a:ext cx="20193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9892" name="Oval 21"/>
          <p:cNvSpPr/>
          <p:nvPr/>
        </p:nvSpPr>
        <p:spPr>
          <a:xfrm>
            <a:off x="3548063" y="3675063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93" name="Oval 22"/>
          <p:cNvSpPr/>
          <p:nvPr/>
        </p:nvSpPr>
        <p:spPr>
          <a:xfrm>
            <a:off x="2986088" y="4137025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94" name="Oval 23"/>
          <p:cNvSpPr/>
          <p:nvPr/>
        </p:nvSpPr>
        <p:spPr>
          <a:xfrm>
            <a:off x="2422525" y="4440238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9895" name="Object 25"/>
          <p:cNvGraphicFramePr/>
          <p:nvPr/>
        </p:nvGraphicFramePr>
        <p:xfrm>
          <a:off x="2341563" y="5191125"/>
          <a:ext cx="36036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2" name="" r:id="rId7" imgW="265430" imgH="318135" progId="Equation.2">
                  <p:embed/>
                </p:oleObj>
              </mc:Choice>
              <mc:Fallback>
                <p:oleObj name="" r:id="rId7" imgW="265430" imgH="318135" progId="Equation.2">
                  <p:embed/>
                  <p:pic>
                    <p:nvPicPr>
                      <p:cNvPr id="0" name="图片 327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41563" y="5191125"/>
                        <a:ext cx="360362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6" name="Object 26"/>
          <p:cNvGraphicFramePr/>
          <p:nvPr/>
        </p:nvGraphicFramePr>
        <p:xfrm>
          <a:off x="2870200" y="5191125"/>
          <a:ext cx="4095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3" name="" r:id="rId9" imgW="309245" imgH="318135" progId="Equation.2">
                  <p:embed/>
                </p:oleObj>
              </mc:Choice>
              <mc:Fallback>
                <p:oleObj name="" r:id="rId9" imgW="309245" imgH="318135" progId="Equation.2">
                  <p:embed/>
                  <p:pic>
                    <p:nvPicPr>
                      <p:cNvPr id="0" name="图片 327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70200" y="5191125"/>
                        <a:ext cx="409575" cy="420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7" name="Object 27"/>
          <p:cNvGraphicFramePr/>
          <p:nvPr/>
        </p:nvGraphicFramePr>
        <p:xfrm>
          <a:off x="3413125" y="5191125"/>
          <a:ext cx="49053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4" name="" r:id="rId11" imgW="379095" imgH="318135" progId="Equation.2">
                  <p:embed/>
                </p:oleObj>
              </mc:Choice>
              <mc:Fallback>
                <p:oleObj name="" r:id="rId11" imgW="379095" imgH="318135" progId="Equation.2">
                  <p:embed/>
                  <p:pic>
                    <p:nvPicPr>
                      <p:cNvPr id="0" name="图片 3273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13125" y="5191125"/>
                        <a:ext cx="490538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8" name="Object 28"/>
          <p:cNvGraphicFramePr/>
          <p:nvPr/>
        </p:nvGraphicFramePr>
        <p:xfrm>
          <a:off x="1155700" y="4383088"/>
          <a:ext cx="385763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5" name="" r:id="rId13" imgW="291465" imgH="318135" progId="Equation.2">
                  <p:embed/>
                </p:oleObj>
              </mc:Choice>
              <mc:Fallback>
                <p:oleObj name="" r:id="rId13" imgW="291465" imgH="318135" progId="Equation.2">
                  <p:embed/>
                  <p:pic>
                    <p:nvPicPr>
                      <p:cNvPr id="0" name="图片 3274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55700" y="4383088"/>
                        <a:ext cx="385763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9" name="Object 29"/>
          <p:cNvGraphicFramePr/>
          <p:nvPr/>
        </p:nvGraphicFramePr>
        <p:xfrm>
          <a:off x="1154113" y="3963988"/>
          <a:ext cx="40957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" name="" r:id="rId15" imgW="309245" imgH="318135" progId="Equation.2">
                  <p:embed/>
                </p:oleObj>
              </mc:Choice>
              <mc:Fallback>
                <p:oleObj name="" r:id="rId15" imgW="309245" imgH="318135" progId="Equation.2">
                  <p:embed/>
                  <p:pic>
                    <p:nvPicPr>
                      <p:cNvPr id="0" name="图片 3276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54113" y="3963988"/>
                        <a:ext cx="409575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00" name="Object 30"/>
          <p:cNvGraphicFramePr/>
          <p:nvPr/>
        </p:nvGraphicFramePr>
        <p:xfrm>
          <a:off x="1103313" y="3505200"/>
          <a:ext cx="490537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9" name="" r:id="rId17" imgW="379095" imgH="318135" progId="Equation.2">
                  <p:embed/>
                </p:oleObj>
              </mc:Choice>
              <mc:Fallback>
                <p:oleObj name="" r:id="rId17" imgW="379095" imgH="318135" progId="Equation.2">
                  <p:embed/>
                  <p:pic>
                    <p:nvPicPr>
                      <p:cNvPr id="0" name="图片 3268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03313" y="3505200"/>
                        <a:ext cx="490537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01" name="Line 31"/>
          <p:cNvSpPr/>
          <p:nvPr/>
        </p:nvSpPr>
        <p:spPr>
          <a:xfrm>
            <a:off x="3071813" y="2876550"/>
            <a:ext cx="0" cy="221615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902" name="Rectangle 32"/>
          <p:cNvSpPr/>
          <p:nvPr/>
        </p:nvSpPr>
        <p:spPr>
          <a:xfrm>
            <a:off x="2693988" y="1104900"/>
            <a:ext cx="1946275" cy="18002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Short-run</a:t>
            </a:r>
            <a:b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output</a:t>
            </a:r>
            <a:b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expansion</a:t>
            </a:r>
            <a:b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path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903" name="Rectangle 33"/>
          <p:cNvSpPr/>
          <p:nvPr/>
        </p:nvSpPr>
        <p:spPr>
          <a:xfrm>
            <a:off x="5075238" y="803275"/>
            <a:ext cx="40005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Long-run costs are: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9904" name="Object 34"/>
          <p:cNvGraphicFramePr/>
          <p:nvPr/>
        </p:nvGraphicFramePr>
        <p:xfrm>
          <a:off x="5324475" y="1312863"/>
          <a:ext cx="3557588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" name="" r:id="rId19" imgW="2625725" imgH="1014730" progId="Equation.2">
                  <p:embed/>
                </p:oleObj>
              </mc:Choice>
              <mc:Fallback>
                <p:oleObj name="" r:id="rId19" imgW="2625725" imgH="1014730" progId="Equation.2">
                  <p:embed/>
                  <p:pic>
                    <p:nvPicPr>
                      <p:cNvPr id="0" name="图片 3279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24475" y="1312863"/>
                        <a:ext cx="3557588" cy="1339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05" name="Freeform 35"/>
          <p:cNvSpPr/>
          <p:nvPr/>
        </p:nvSpPr>
        <p:spPr>
          <a:xfrm>
            <a:off x="2000250" y="3219450"/>
            <a:ext cx="2143125" cy="165735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816530625" y="2101810313"/>
              </a:cxn>
              <a:cxn ang="0">
                <a:pos x="1693545000" y="1617940313"/>
              </a:cxn>
              <a:cxn ang="0">
                <a:pos x="2147483646" y="907256250"/>
              </a:cxn>
              <a:cxn ang="0">
                <a:pos x="2147483646" y="0"/>
              </a:cxn>
            </a:cxnLst>
            <a:pathLst>
              <a:path w="1350" h="1044">
                <a:moveTo>
                  <a:pt x="0" y="1044"/>
                </a:moveTo>
                <a:cubicBezTo>
                  <a:pt x="106" y="972"/>
                  <a:pt x="212" y="901"/>
                  <a:pt x="324" y="834"/>
                </a:cubicBezTo>
                <a:cubicBezTo>
                  <a:pt x="436" y="767"/>
                  <a:pt x="555" y="721"/>
                  <a:pt x="672" y="642"/>
                </a:cubicBezTo>
                <a:cubicBezTo>
                  <a:pt x="789" y="563"/>
                  <a:pt x="913" y="467"/>
                  <a:pt x="1026" y="360"/>
                </a:cubicBezTo>
                <a:cubicBezTo>
                  <a:pt x="1139" y="253"/>
                  <a:pt x="1296" y="59"/>
                  <a:pt x="1350" y="0"/>
                </a:cubicBezTo>
              </a:path>
            </a:pathLst>
          </a:custGeom>
          <a:noFill/>
          <a:ln w="50800" cap="flat" cmpd="sng">
            <a:solidFill>
              <a:srgbClr val="3BED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0898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80899" name="Line 4"/>
          <p:cNvSpPr/>
          <p:nvPr/>
        </p:nvSpPr>
        <p:spPr>
          <a:xfrm>
            <a:off x="1619250" y="5095875"/>
            <a:ext cx="45116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80900" name="Rectangle 5"/>
          <p:cNvSpPr/>
          <p:nvPr/>
        </p:nvSpPr>
        <p:spPr>
          <a:xfrm>
            <a:off x="5932488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01" name="Rectangle 6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02" name="Arc 7"/>
          <p:cNvSpPr/>
          <p:nvPr/>
        </p:nvSpPr>
        <p:spPr>
          <a:xfrm rot="10800000">
            <a:off x="2039938" y="2451100"/>
            <a:ext cx="2690812" cy="22574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80903" name="Arc 8"/>
          <p:cNvSpPr/>
          <p:nvPr/>
        </p:nvSpPr>
        <p:spPr>
          <a:xfrm rot="10800000">
            <a:off x="2312988" y="1574800"/>
            <a:ext cx="3571875" cy="28305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80904" name="Arc 9"/>
          <p:cNvSpPr/>
          <p:nvPr/>
        </p:nvSpPr>
        <p:spPr>
          <a:xfrm rot="10800000">
            <a:off x="1846263" y="3387725"/>
            <a:ext cx="1860550" cy="15049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80905" name="Line 10"/>
          <p:cNvSpPr/>
          <p:nvPr/>
        </p:nvSpPr>
        <p:spPr>
          <a:xfrm>
            <a:off x="1612900" y="3295650"/>
            <a:ext cx="2857500" cy="18176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906" name="Line 11"/>
          <p:cNvSpPr/>
          <p:nvPr/>
        </p:nvSpPr>
        <p:spPr>
          <a:xfrm>
            <a:off x="1612900" y="3983038"/>
            <a:ext cx="1762125" cy="1120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907" name="Line 12"/>
          <p:cNvSpPr/>
          <p:nvPr/>
        </p:nvSpPr>
        <p:spPr>
          <a:xfrm>
            <a:off x="1612900" y="2479675"/>
            <a:ext cx="4141788" cy="26352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80908" name="Object 0"/>
          <p:cNvGraphicFramePr/>
          <p:nvPr/>
        </p:nvGraphicFramePr>
        <p:xfrm>
          <a:off x="2090738" y="1130300"/>
          <a:ext cx="5619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" name="" r:id="rId1" imgW="387350" imgH="300355" progId="Equation.2">
                  <p:embed/>
                </p:oleObj>
              </mc:Choice>
              <mc:Fallback>
                <p:oleObj name="" r:id="rId1" imgW="387350" imgH="300355" progId="Equation.2">
                  <p:embed/>
                  <p:pic>
                    <p:nvPicPr>
                      <p:cNvPr id="0" name="图片 328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90738" y="1130300"/>
                        <a:ext cx="561975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9" name="Object 1"/>
          <p:cNvGraphicFramePr/>
          <p:nvPr/>
        </p:nvGraphicFramePr>
        <p:xfrm>
          <a:off x="1854200" y="1963738"/>
          <a:ext cx="4524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" name="" r:id="rId3" imgW="318135" imgH="300355" progId="Equation.2">
                  <p:embed/>
                </p:oleObj>
              </mc:Choice>
              <mc:Fallback>
                <p:oleObj name="" r:id="rId3" imgW="318135" imgH="300355" progId="Equation.2">
                  <p:embed/>
                  <p:pic>
                    <p:nvPicPr>
                      <p:cNvPr id="0" name="图片 327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54200" y="1963738"/>
                        <a:ext cx="452438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0" name="Object 2"/>
          <p:cNvGraphicFramePr/>
          <p:nvPr/>
        </p:nvGraphicFramePr>
        <p:xfrm>
          <a:off x="1682750" y="2892425"/>
          <a:ext cx="3571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" name="" r:id="rId5" imgW="257175" imgH="300355" progId="Equation.2">
                  <p:embed/>
                </p:oleObj>
              </mc:Choice>
              <mc:Fallback>
                <p:oleObj name="" r:id="rId5" imgW="257175" imgH="300355" progId="Equation.2">
                  <p:embed/>
                  <p:pic>
                    <p:nvPicPr>
                      <p:cNvPr id="0" name="图片 327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82750" y="2892425"/>
                        <a:ext cx="357188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11" name="Line 16"/>
          <p:cNvSpPr/>
          <p:nvPr/>
        </p:nvSpPr>
        <p:spPr>
          <a:xfrm>
            <a:off x="2508250" y="4554538"/>
            <a:ext cx="0" cy="5191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0912" name="Line 17"/>
          <p:cNvSpPr/>
          <p:nvPr/>
        </p:nvSpPr>
        <p:spPr>
          <a:xfrm flipH="1">
            <a:off x="1614488" y="4540250"/>
            <a:ext cx="89376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0913" name="Line 18"/>
          <p:cNvSpPr/>
          <p:nvPr/>
        </p:nvSpPr>
        <p:spPr>
          <a:xfrm flipH="1">
            <a:off x="1628775" y="4237038"/>
            <a:ext cx="14430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0914" name="Line 19"/>
          <p:cNvSpPr/>
          <p:nvPr/>
        </p:nvSpPr>
        <p:spPr>
          <a:xfrm>
            <a:off x="3633788" y="3789363"/>
            <a:ext cx="0" cy="13128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0915" name="Line 20"/>
          <p:cNvSpPr/>
          <p:nvPr/>
        </p:nvSpPr>
        <p:spPr>
          <a:xfrm flipH="1">
            <a:off x="1614488" y="3789363"/>
            <a:ext cx="20193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0916" name="Oval 21"/>
          <p:cNvSpPr/>
          <p:nvPr/>
        </p:nvSpPr>
        <p:spPr>
          <a:xfrm>
            <a:off x="3548063" y="3675063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17" name="Oval 22"/>
          <p:cNvSpPr/>
          <p:nvPr/>
        </p:nvSpPr>
        <p:spPr>
          <a:xfrm>
            <a:off x="2986088" y="4137025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18" name="Oval 23"/>
          <p:cNvSpPr/>
          <p:nvPr/>
        </p:nvSpPr>
        <p:spPr>
          <a:xfrm>
            <a:off x="2422525" y="4440238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0919" name="Object 3"/>
          <p:cNvGraphicFramePr/>
          <p:nvPr/>
        </p:nvGraphicFramePr>
        <p:xfrm>
          <a:off x="2341563" y="5191125"/>
          <a:ext cx="36036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" name="" r:id="rId7" imgW="265430" imgH="318135" progId="Equation.2">
                  <p:embed/>
                </p:oleObj>
              </mc:Choice>
              <mc:Fallback>
                <p:oleObj name="" r:id="rId7" imgW="265430" imgH="318135" progId="Equation.2">
                  <p:embed/>
                  <p:pic>
                    <p:nvPicPr>
                      <p:cNvPr id="0" name="图片 328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41563" y="5191125"/>
                        <a:ext cx="360362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0" name="Object 4"/>
          <p:cNvGraphicFramePr/>
          <p:nvPr/>
        </p:nvGraphicFramePr>
        <p:xfrm>
          <a:off x="2870200" y="5191125"/>
          <a:ext cx="4095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" name="" r:id="rId9" imgW="309245" imgH="318135" progId="Equation.2">
                  <p:embed/>
                </p:oleObj>
              </mc:Choice>
              <mc:Fallback>
                <p:oleObj name="" r:id="rId9" imgW="309245" imgH="318135" progId="Equation.2">
                  <p:embed/>
                  <p:pic>
                    <p:nvPicPr>
                      <p:cNvPr id="0" name="图片 3285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70200" y="5191125"/>
                        <a:ext cx="409575" cy="420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1" name="Object 5"/>
          <p:cNvGraphicFramePr/>
          <p:nvPr/>
        </p:nvGraphicFramePr>
        <p:xfrm>
          <a:off x="3413125" y="5191125"/>
          <a:ext cx="49053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" name="" r:id="rId11" imgW="379095" imgH="318135" progId="Equation.2">
                  <p:embed/>
                </p:oleObj>
              </mc:Choice>
              <mc:Fallback>
                <p:oleObj name="" r:id="rId11" imgW="379095" imgH="318135" progId="Equation.2">
                  <p:embed/>
                  <p:pic>
                    <p:nvPicPr>
                      <p:cNvPr id="0" name="图片 3284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13125" y="5191125"/>
                        <a:ext cx="490538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2" name="Object 6"/>
          <p:cNvGraphicFramePr/>
          <p:nvPr/>
        </p:nvGraphicFramePr>
        <p:xfrm>
          <a:off x="1155700" y="4383088"/>
          <a:ext cx="385763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" name="" r:id="rId13" imgW="291465" imgH="318135" progId="Equation.2">
                  <p:embed/>
                </p:oleObj>
              </mc:Choice>
              <mc:Fallback>
                <p:oleObj name="" r:id="rId13" imgW="291465" imgH="318135" progId="Equation.2">
                  <p:embed/>
                  <p:pic>
                    <p:nvPicPr>
                      <p:cNvPr id="0" name="图片 3282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55700" y="4383088"/>
                        <a:ext cx="385763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3" name="Object 7"/>
          <p:cNvGraphicFramePr/>
          <p:nvPr/>
        </p:nvGraphicFramePr>
        <p:xfrm>
          <a:off x="1154113" y="3963988"/>
          <a:ext cx="40957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" name="" r:id="rId15" imgW="309245" imgH="318135" progId="Equation.2">
                  <p:embed/>
                </p:oleObj>
              </mc:Choice>
              <mc:Fallback>
                <p:oleObj name="" r:id="rId15" imgW="309245" imgH="318135" progId="Equation.2">
                  <p:embed/>
                  <p:pic>
                    <p:nvPicPr>
                      <p:cNvPr id="0" name="图片 3287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54113" y="3963988"/>
                        <a:ext cx="409575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4" name="Object 8"/>
          <p:cNvGraphicFramePr/>
          <p:nvPr/>
        </p:nvGraphicFramePr>
        <p:xfrm>
          <a:off x="1103313" y="3505200"/>
          <a:ext cx="490537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" name="" r:id="rId17" imgW="379095" imgH="318135" progId="Equation.2">
                  <p:embed/>
                </p:oleObj>
              </mc:Choice>
              <mc:Fallback>
                <p:oleObj name="" r:id="rId17" imgW="379095" imgH="318135" progId="Equation.2">
                  <p:embed/>
                  <p:pic>
                    <p:nvPicPr>
                      <p:cNvPr id="0" name="图片 3283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03313" y="3505200"/>
                        <a:ext cx="490537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25" name="Line 31"/>
          <p:cNvSpPr/>
          <p:nvPr/>
        </p:nvSpPr>
        <p:spPr>
          <a:xfrm>
            <a:off x="3071813" y="2876550"/>
            <a:ext cx="0" cy="221615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926" name="Rectangle 32"/>
          <p:cNvSpPr/>
          <p:nvPr/>
        </p:nvSpPr>
        <p:spPr>
          <a:xfrm>
            <a:off x="2693988" y="1104900"/>
            <a:ext cx="1946275" cy="18002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Short-run</a:t>
            </a:r>
            <a:b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output</a:t>
            </a:r>
            <a:b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expansion</a:t>
            </a:r>
            <a:b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path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27" name="Oval 33"/>
          <p:cNvSpPr/>
          <p:nvPr/>
        </p:nvSpPr>
        <p:spPr>
          <a:xfrm>
            <a:off x="2997200" y="4683125"/>
            <a:ext cx="136525" cy="136525"/>
          </a:xfrm>
          <a:prstGeom prst="ellipse">
            <a:avLst/>
          </a:prstGeom>
          <a:noFill/>
          <a:ln w="508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28" name="Rectangle 34"/>
          <p:cNvSpPr/>
          <p:nvPr/>
        </p:nvSpPr>
        <p:spPr>
          <a:xfrm>
            <a:off x="5075238" y="803275"/>
            <a:ext cx="40005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Long-run costs are: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0929" name="Object 9"/>
          <p:cNvGraphicFramePr/>
          <p:nvPr/>
        </p:nvGraphicFramePr>
        <p:xfrm>
          <a:off x="5324475" y="1312863"/>
          <a:ext cx="3557588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" name="" r:id="rId19" imgW="2625725" imgH="1014730" progId="Equation.2">
                  <p:embed/>
                </p:oleObj>
              </mc:Choice>
              <mc:Fallback>
                <p:oleObj name="" r:id="rId19" imgW="2625725" imgH="1014730" progId="Equation.2">
                  <p:embed/>
                  <p:pic>
                    <p:nvPicPr>
                      <p:cNvPr id="0" name="图片 3281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24475" y="1312863"/>
                        <a:ext cx="3557588" cy="1339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30" name="Freeform 36"/>
          <p:cNvSpPr/>
          <p:nvPr/>
        </p:nvSpPr>
        <p:spPr>
          <a:xfrm>
            <a:off x="2000250" y="3219450"/>
            <a:ext cx="2143125" cy="165735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816530625" y="2101810313"/>
              </a:cxn>
              <a:cxn ang="0">
                <a:pos x="1693545000" y="1617940313"/>
              </a:cxn>
              <a:cxn ang="0">
                <a:pos x="2147483646" y="907256250"/>
              </a:cxn>
              <a:cxn ang="0">
                <a:pos x="2147483646" y="0"/>
              </a:cxn>
            </a:cxnLst>
            <a:pathLst>
              <a:path w="1350" h="1044">
                <a:moveTo>
                  <a:pt x="0" y="1044"/>
                </a:moveTo>
                <a:cubicBezTo>
                  <a:pt x="106" y="972"/>
                  <a:pt x="212" y="901"/>
                  <a:pt x="324" y="834"/>
                </a:cubicBezTo>
                <a:cubicBezTo>
                  <a:pt x="436" y="767"/>
                  <a:pt x="555" y="721"/>
                  <a:pt x="672" y="642"/>
                </a:cubicBezTo>
                <a:cubicBezTo>
                  <a:pt x="789" y="563"/>
                  <a:pt x="913" y="467"/>
                  <a:pt x="1026" y="360"/>
                </a:cubicBezTo>
                <a:cubicBezTo>
                  <a:pt x="1139" y="253"/>
                  <a:pt x="1296" y="59"/>
                  <a:pt x="1350" y="0"/>
                </a:cubicBezTo>
              </a:path>
            </a:pathLst>
          </a:custGeom>
          <a:noFill/>
          <a:ln w="50800" cap="flat" cmpd="sng">
            <a:solidFill>
              <a:srgbClr val="3BED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1" name="Line 39"/>
          <p:cNvSpPr/>
          <p:nvPr/>
        </p:nvSpPr>
        <p:spPr>
          <a:xfrm>
            <a:off x="1612900" y="3295650"/>
            <a:ext cx="2857500" cy="18176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9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1923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81924" name="Line 4"/>
          <p:cNvSpPr/>
          <p:nvPr/>
        </p:nvSpPr>
        <p:spPr>
          <a:xfrm>
            <a:off x="1619250" y="5095875"/>
            <a:ext cx="45116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81925" name="Rectangle 5"/>
          <p:cNvSpPr/>
          <p:nvPr/>
        </p:nvSpPr>
        <p:spPr>
          <a:xfrm>
            <a:off x="5932488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26" name="Rectangle 6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27" name="Arc 7"/>
          <p:cNvSpPr/>
          <p:nvPr/>
        </p:nvSpPr>
        <p:spPr>
          <a:xfrm rot="10800000">
            <a:off x="2039938" y="2451100"/>
            <a:ext cx="2690812" cy="22574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81928" name="Arc 8"/>
          <p:cNvSpPr/>
          <p:nvPr/>
        </p:nvSpPr>
        <p:spPr>
          <a:xfrm rot="10800000">
            <a:off x="2312988" y="1574800"/>
            <a:ext cx="3571875" cy="28305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81929" name="Arc 9"/>
          <p:cNvSpPr/>
          <p:nvPr/>
        </p:nvSpPr>
        <p:spPr>
          <a:xfrm rot="10800000">
            <a:off x="1846263" y="3387725"/>
            <a:ext cx="1860550" cy="15049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81930" name="Line 10"/>
          <p:cNvSpPr/>
          <p:nvPr/>
        </p:nvSpPr>
        <p:spPr>
          <a:xfrm>
            <a:off x="1612900" y="3983038"/>
            <a:ext cx="1762125" cy="1120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931" name="Line 11"/>
          <p:cNvSpPr/>
          <p:nvPr/>
        </p:nvSpPr>
        <p:spPr>
          <a:xfrm>
            <a:off x="1612900" y="2479675"/>
            <a:ext cx="4141788" cy="26352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81932" name="Object 1024"/>
          <p:cNvGraphicFramePr/>
          <p:nvPr/>
        </p:nvGraphicFramePr>
        <p:xfrm>
          <a:off x="2090738" y="1130300"/>
          <a:ext cx="5619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" name="" r:id="rId1" imgW="387350" imgH="300355" progId="Equation.2">
                  <p:embed/>
                </p:oleObj>
              </mc:Choice>
              <mc:Fallback>
                <p:oleObj name="" r:id="rId1" imgW="387350" imgH="300355" progId="Equation.2">
                  <p:embed/>
                  <p:pic>
                    <p:nvPicPr>
                      <p:cNvPr id="0" name="图片 328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90738" y="1130300"/>
                        <a:ext cx="561975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3" name="Object 1025"/>
          <p:cNvGraphicFramePr/>
          <p:nvPr/>
        </p:nvGraphicFramePr>
        <p:xfrm>
          <a:off x="1854200" y="1963738"/>
          <a:ext cx="4524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4" name="" r:id="rId3" imgW="318135" imgH="300355" progId="Equation.2">
                  <p:embed/>
                </p:oleObj>
              </mc:Choice>
              <mc:Fallback>
                <p:oleObj name="" r:id="rId3" imgW="318135" imgH="300355" progId="Equation.2">
                  <p:embed/>
                  <p:pic>
                    <p:nvPicPr>
                      <p:cNvPr id="0" name="图片 329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54200" y="1963738"/>
                        <a:ext cx="452438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4" name="Object 1026"/>
          <p:cNvGraphicFramePr/>
          <p:nvPr/>
        </p:nvGraphicFramePr>
        <p:xfrm>
          <a:off x="1682750" y="2892425"/>
          <a:ext cx="3571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" name="" r:id="rId5" imgW="257175" imgH="300355" progId="Equation.2">
                  <p:embed/>
                </p:oleObj>
              </mc:Choice>
              <mc:Fallback>
                <p:oleObj name="" r:id="rId5" imgW="257175" imgH="300355" progId="Equation.2">
                  <p:embed/>
                  <p:pic>
                    <p:nvPicPr>
                      <p:cNvPr id="0" name="图片 329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82750" y="2892425"/>
                        <a:ext cx="357188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5" name="Line 15"/>
          <p:cNvSpPr/>
          <p:nvPr/>
        </p:nvSpPr>
        <p:spPr>
          <a:xfrm>
            <a:off x="2508250" y="4554538"/>
            <a:ext cx="0" cy="5191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1936" name="Line 16"/>
          <p:cNvSpPr/>
          <p:nvPr/>
        </p:nvSpPr>
        <p:spPr>
          <a:xfrm flipH="1">
            <a:off x="1614488" y="4540250"/>
            <a:ext cx="89376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1937" name="Line 17"/>
          <p:cNvSpPr/>
          <p:nvPr/>
        </p:nvSpPr>
        <p:spPr>
          <a:xfrm flipH="1">
            <a:off x="1628775" y="4237038"/>
            <a:ext cx="14430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1938" name="Line 18"/>
          <p:cNvSpPr/>
          <p:nvPr/>
        </p:nvSpPr>
        <p:spPr>
          <a:xfrm>
            <a:off x="3633788" y="3789363"/>
            <a:ext cx="0" cy="13128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1939" name="Line 19"/>
          <p:cNvSpPr/>
          <p:nvPr/>
        </p:nvSpPr>
        <p:spPr>
          <a:xfrm flipH="1">
            <a:off x="1614488" y="3789363"/>
            <a:ext cx="20193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1940" name="Oval 20"/>
          <p:cNvSpPr/>
          <p:nvPr/>
        </p:nvSpPr>
        <p:spPr>
          <a:xfrm>
            <a:off x="3548063" y="3675063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41" name="Oval 21"/>
          <p:cNvSpPr/>
          <p:nvPr/>
        </p:nvSpPr>
        <p:spPr>
          <a:xfrm>
            <a:off x="2986088" y="4137025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42" name="Oval 22"/>
          <p:cNvSpPr/>
          <p:nvPr/>
        </p:nvSpPr>
        <p:spPr>
          <a:xfrm>
            <a:off x="2422525" y="4440238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1943" name="Object 1027"/>
          <p:cNvGraphicFramePr/>
          <p:nvPr/>
        </p:nvGraphicFramePr>
        <p:xfrm>
          <a:off x="2341563" y="5191125"/>
          <a:ext cx="36036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" name="" r:id="rId7" imgW="265430" imgH="318135" progId="Equation.2">
                  <p:embed/>
                </p:oleObj>
              </mc:Choice>
              <mc:Fallback>
                <p:oleObj name="" r:id="rId7" imgW="265430" imgH="318135" progId="Equation.2">
                  <p:embed/>
                  <p:pic>
                    <p:nvPicPr>
                      <p:cNvPr id="0" name="图片 329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41563" y="5191125"/>
                        <a:ext cx="360362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4" name="Object 1028"/>
          <p:cNvGraphicFramePr/>
          <p:nvPr/>
        </p:nvGraphicFramePr>
        <p:xfrm>
          <a:off x="2870200" y="5191125"/>
          <a:ext cx="4095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" name="" r:id="rId9" imgW="309245" imgH="318135" progId="Equation.2">
                  <p:embed/>
                </p:oleObj>
              </mc:Choice>
              <mc:Fallback>
                <p:oleObj name="" r:id="rId9" imgW="309245" imgH="318135" progId="Equation.2">
                  <p:embed/>
                  <p:pic>
                    <p:nvPicPr>
                      <p:cNvPr id="0" name="图片 329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70200" y="5191125"/>
                        <a:ext cx="409575" cy="420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5" name="Object 1029"/>
          <p:cNvGraphicFramePr/>
          <p:nvPr/>
        </p:nvGraphicFramePr>
        <p:xfrm>
          <a:off x="3413125" y="5191125"/>
          <a:ext cx="49053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" name="" r:id="rId11" imgW="379095" imgH="318135" progId="Equation.2">
                  <p:embed/>
                </p:oleObj>
              </mc:Choice>
              <mc:Fallback>
                <p:oleObj name="" r:id="rId11" imgW="379095" imgH="318135" progId="Equation.2">
                  <p:embed/>
                  <p:pic>
                    <p:nvPicPr>
                      <p:cNvPr id="0" name="图片 3296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13125" y="5191125"/>
                        <a:ext cx="490538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6" name="Object 1030"/>
          <p:cNvGraphicFramePr/>
          <p:nvPr/>
        </p:nvGraphicFramePr>
        <p:xfrm>
          <a:off x="1155700" y="4383088"/>
          <a:ext cx="385763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6" name="" r:id="rId13" imgW="291465" imgH="318135" progId="Equation.2">
                  <p:embed/>
                </p:oleObj>
              </mc:Choice>
              <mc:Fallback>
                <p:oleObj name="" r:id="rId13" imgW="291465" imgH="318135" progId="Equation.2">
                  <p:embed/>
                  <p:pic>
                    <p:nvPicPr>
                      <p:cNvPr id="0" name="图片 3295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55700" y="4383088"/>
                        <a:ext cx="385763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7" name="Object 1031"/>
          <p:cNvGraphicFramePr/>
          <p:nvPr/>
        </p:nvGraphicFramePr>
        <p:xfrm>
          <a:off x="1154113" y="3963988"/>
          <a:ext cx="40957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" name="" r:id="rId15" imgW="309245" imgH="318135" progId="Equation.2">
                  <p:embed/>
                </p:oleObj>
              </mc:Choice>
              <mc:Fallback>
                <p:oleObj name="" r:id="rId15" imgW="309245" imgH="318135" progId="Equation.2">
                  <p:embed/>
                  <p:pic>
                    <p:nvPicPr>
                      <p:cNvPr id="0" name="图片 3288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54113" y="3963988"/>
                        <a:ext cx="409575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8" name="Object 1032"/>
          <p:cNvGraphicFramePr/>
          <p:nvPr/>
        </p:nvGraphicFramePr>
        <p:xfrm>
          <a:off x="1103313" y="3505200"/>
          <a:ext cx="490537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1" name="" r:id="rId17" imgW="379095" imgH="318135" progId="Equation.2">
                  <p:embed/>
                </p:oleObj>
              </mc:Choice>
              <mc:Fallback>
                <p:oleObj name="" r:id="rId17" imgW="379095" imgH="318135" progId="Equation.2">
                  <p:embed/>
                  <p:pic>
                    <p:nvPicPr>
                      <p:cNvPr id="0" name="图片 3290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03313" y="3505200"/>
                        <a:ext cx="490537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49" name="Line 30"/>
          <p:cNvSpPr/>
          <p:nvPr/>
        </p:nvSpPr>
        <p:spPr>
          <a:xfrm>
            <a:off x="3071813" y="2876550"/>
            <a:ext cx="0" cy="221615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950" name="Rectangle 31"/>
          <p:cNvSpPr/>
          <p:nvPr/>
        </p:nvSpPr>
        <p:spPr>
          <a:xfrm>
            <a:off x="2693988" y="1104900"/>
            <a:ext cx="1946275" cy="18002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Short-run</a:t>
            </a:r>
            <a:b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output</a:t>
            </a:r>
            <a:b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expansion</a:t>
            </a:r>
            <a:b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path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51" name="Line 32"/>
          <p:cNvSpPr/>
          <p:nvPr/>
        </p:nvSpPr>
        <p:spPr>
          <a:xfrm>
            <a:off x="1612900" y="3840163"/>
            <a:ext cx="1962150" cy="124777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952" name="Oval 33"/>
          <p:cNvSpPr/>
          <p:nvPr/>
        </p:nvSpPr>
        <p:spPr>
          <a:xfrm>
            <a:off x="2997200" y="4683125"/>
            <a:ext cx="136525" cy="136525"/>
          </a:xfrm>
          <a:prstGeom prst="ellipse">
            <a:avLst/>
          </a:prstGeom>
          <a:noFill/>
          <a:ln w="508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53" name="Rectangle 34"/>
          <p:cNvSpPr/>
          <p:nvPr/>
        </p:nvSpPr>
        <p:spPr>
          <a:xfrm>
            <a:off x="5075238" y="803275"/>
            <a:ext cx="40005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Long-run costs are: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1954" name="Object 1033"/>
          <p:cNvGraphicFramePr/>
          <p:nvPr/>
        </p:nvGraphicFramePr>
        <p:xfrm>
          <a:off x="5324475" y="1312863"/>
          <a:ext cx="3557588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" name="" r:id="rId19" imgW="2625725" imgH="1014730" progId="Equation.2">
                  <p:embed/>
                </p:oleObj>
              </mc:Choice>
              <mc:Fallback>
                <p:oleObj name="" r:id="rId19" imgW="2625725" imgH="1014730" progId="Equation.2">
                  <p:embed/>
                  <p:pic>
                    <p:nvPicPr>
                      <p:cNvPr id="0" name="图片 3291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24475" y="1312863"/>
                        <a:ext cx="3557588" cy="1339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5" name="Rectangle 36"/>
          <p:cNvSpPr/>
          <p:nvPr/>
        </p:nvSpPr>
        <p:spPr>
          <a:xfrm>
            <a:off x="5075238" y="2636838"/>
            <a:ext cx="40687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Short-run costs are: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1956" name="Object 1034"/>
          <p:cNvGraphicFramePr/>
          <p:nvPr/>
        </p:nvGraphicFramePr>
        <p:xfrm>
          <a:off x="6423025" y="3143250"/>
          <a:ext cx="214947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3" name="" r:id="rId21" imgW="1598295" imgH="318135" progId="Equation.2">
                  <p:embed/>
                </p:oleObj>
              </mc:Choice>
              <mc:Fallback>
                <p:oleObj name="" r:id="rId21" imgW="1598295" imgH="318135" progId="Equation.2">
                  <p:embed/>
                  <p:pic>
                    <p:nvPicPr>
                      <p:cNvPr id="0" name="图片 3292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23025" y="3143250"/>
                        <a:ext cx="2149475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7" name="Freeform 38"/>
          <p:cNvSpPr/>
          <p:nvPr/>
        </p:nvSpPr>
        <p:spPr>
          <a:xfrm>
            <a:off x="2000250" y="3219450"/>
            <a:ext cx="2143125" cy="165735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816530625" y="2101810313"/>
              </a:cxn>
              <a:cxn ang="0">
                <a:pos x="1693545000" y="1617940313"/>
              </a:cxn>
              <a:cxn ang="0">
                <a:pos x="2147483646" y="907256250"/>
              </a:cxn>
              <a:cxn ang="0">
                <a:pos x="2147483646" y="0"/>
              </a:cxn>
            </a:cxnLst>
            <a:pathLst>
              <a:path w="1350" h="1044">
                <a:moveTo>
                  <a:pt x="0" y="1044"/>
                </a:moveTo>
                <a:cubicBezTo>
                  <a:pt x="106" y="972"/>
                  <a:pt x="212" y="901"/>
                  <a:pt x="324" y="834"/>
                </a:cubicBezTo>
                <a:cubicBezTo>
                  <a:pt x="436" y="767"/>
                  <a:pt x="555" y="721"/>
                  <a:pt x="672" y="642"/>
                </a:cubicBezTo>
                <a:cubicBezTo>
                  <a:pt x="789" y="563"/>
                  <a:pt x="913" y="467"/>
                  <a:pt x="1026" y="360"/>
                </a:cubicBezTo>
                <a:cubicBezTo>
                  <a:pt x="1139" y="253"/>
                  <a:pt x="1296" y="59"/>
                  <a:pt x="1350" y="0"/>
                </a:cubicBezTo>
              </a:path>
            </a:pathLst>
          </a:custGeom>
          <a:noFill/>
          <a:ln w="50800" cap="flat" cmpd="sng">
            <a:solidFill>
              <a:srgbClr val="3BED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2946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82947" name="Line 4"/>
          <p:cNvSpPr/>
          <p:nvPr/>
        </p:nvSpPr>
        <p:spPr>
          <a:xfrm>
            <a:off x="1619250" y="5095875"/>
            <a:ext cx="45116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82948" name="Rectangle 5"/>
          <p:cNvSpPr/>
          <p:nvPr/>
        </p:nvSpPr>
        <p:spPr>
          <a:xfrm>
            <a:off x="5932488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49" name="Rectangle 6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50" name="Arc 7"/>
          <p:cNvSpPr/>
          <p:nvPr/>
        </p:nvSpPr>
        <p:spPr>
          <a:xfrm rot="10800000">
            <a:off x="2039938" y="2451100"/>
            <a:ext cx="2690812" cy="22574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82951" name="Arc 8"/>
          <p:cNvSpPr/>
          <p:nvPr/>
        </p:nvSpPr>
        <p:spPr>
          <a:xfrm rot="10800000">
            <a:off x="2312988" y="1574800"/>
            <a:ext cx="3571875" cy="28305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82952" name="Arc 9"/>
          <p:cNvSpPr/>
          <p:nvPr/>
        </p:nvSpPr>
        <p:spPr>
          <a:xfrm rot="10800000">
            <a:off x="1846263" y="3387725"/>
            <a:ext cx="1860550" cy="15049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82953" name="Line 10"/>
          <p:cNvSpPr/>
          <p:nvPr/>
        </p:nvSpPr>
        <p:spPr>
          <a:xfrm>
            <a:off x="1612900" y="3295650"/>
            <a:ext cx="2857500" cy="1817688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954" name="Line 11"/>
          <p:cNvSpPr/>
          <p:nvPr/>
        </p:nvSpPr>
        <p:spPr>
          <a:xfrm>
            <a:off x="1612900" y="3983038"/>
            <a:ext cx="1762125" cy="1120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955" name="Line 12"/>
          <p:cNvSpPr/>
          <p:nvPr/>
        </p:nvSpPr>
        <p:spPr>
          <a:xfrm>
            <a:off x="1612900" y="2479675"/>
            <a:ext cx="4141788" cy="26352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82956" name="Object 0"/>
          <p:cNvGraphicFramePr/>
          <p:nvPr/>
        </p:nvGraphicFramePr>
        <p:xfrm>
          <a:off x="2090738" y="1130300"/>
          <a:ext cx="5619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" name="" r:id="rId1" imgW="387350" imgH="300355" progId="Equation.2">
                  <p:embed/>
                </p:oleObj>
              </mc:Choice>
              <mc:Fallback>
                <p:oleObj name="" r:id="rId1" imgW="387350" imgH="300355" progId="Equation.2">
                  <p:embed/>
                  <p:pic>
                    <p:nvPicPr>
                      <p:cNvPr id="0" name="图片 329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90738" y="1130300"/>
                        <a:ext cx="561975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7" name="Object 1"/>
          <p:cNvGraphicFramePr/>
          <p:nvPr/>
        </p:nvGraphicFramePr>
        <p:xfrm>
          <a:off x="1854200" y="1963738"/>
          <a:ext cx="4524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3" name="" r:id="rId3" imgW="318135" imgH="300355" progId="Equation.2">
                  <p:embed/>
                </p:oleObj>
              </mc:Choice>
              <mc:Fallback>
                <p:oleObj name="" r:id="rId3" imgW="318135" imgH="300355" progId="Equation.2">
                  <p:embed/>
                  <p:pic>
                    <p:nvPicPr>
                      <p:cNvPr id="0" name="图片 330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54200" y="1963738"/>
                        <a:ext cx="452438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8" name="Object 2"/>
          <p:cNvGraphicFramePr/>
          <p:nvPr/>
        </p:nvGraphicFramePr>
        <p:xfrm>
          <a:off x="1682750" y="2892425"/>
          <a:ext cx="3571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" name="" r:id="rId5" imgW="257175" imgH="300355" progId="Equation.2">
                  <p:embed/>
                </p:oleObj>
              </mc:Choice>
              <mc:Fallback>
                <p:oleObj name="" r:id="rId5" imgW="257175" imgH="300355" progId="Equation.2">
                  <p:embed/>
                  <p:pic>
                    <p:nvPicPr>
                      <p:cNvPr id="0" name="图片 330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82750" y="2892425"/>
                        <a:ext cx="357188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9" name="Line 16"/>
          <p:cNvSpPr/>
          <p:nvPr/>
        </p:nvSpPr>
        <p:spPr>
          <a:xfrm>
            <a:off x="2508250" y="4554538"/>
            <a:ext cx="0" cy="5191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2960" name="Line 17"/>
          <p:cNvSpPr/>
          <p:nvPr/>
        </p:nvSpPr>
        <p:spPr>
          <a:xfrm flipH="1">
            <a:off x="1614488" y="4540250"/>
            <a:ext cx="89376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2961" name="Line 18"/>
          <p:cNvSpPr/>
          <p:nvPr/>
        </p:nvSpPr>
        <p:spPr>
          <a:xfrm flipH="1">
            <a:off x="1628775" y="4237038"/>
            <a:ext cx="14430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2962" name="Line 19"/>
          <p:cNvSpPr/>
          <p:nvPr/>
        </p:nvSpPr>
        <p:spPr>
          <a:xfrm>
            <a:off x="3633788" y="3789363"/>
            <a:ext cx="0" cy="13128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2963" name="Line 20"/>
          <p:cNvSpPr/>
          <p:nvPr/>
        </p:nvSpPr>
        <p:spPr>
          <a:xfrm flipH="1">
            <a:off x="1614488" y="3789363"/>
            <a:ext cx="20193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2964" name="Oval 21"/>
          <p:cNvSpPr/>
          <p:nvPr/>
        </p:nvSpPr>
        <p:spPr>
          <a:xfrm>
            <a:off x="3548063" y="3675063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65" name="Oval 22"/>
          <p:cNvSpPr/>
          <p:nvPr/>
        </p:nvSpPr>
        <p:spPr>
          <a:xfrm>
            <a:off x="2986088" y="4137025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66" name="Oval 23"/>
          <p:cNvSpPr/>
          <p:nvPr/>
        </p:nvSpPr>
        <p:spPr>
          <a:xfrm>
            <a:off x="2422525" y="4440238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2967" name="Object 3"/>
          <p:cNvGraphicFramePr/>
          <p:nvPr/>
        </p:nvGraphicFramePr>
        <p:xfrm>
          <a:off x="2341563" y="5191125"/>
          <a:ext cx="36036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" name="" r:id="rId7" imgW="265430" imgH="318135" progId="Equation.2">
                  <p:embed/>
                </p:oleObj>
              </mc:Choice>
              <mc:Fallback>
                <p:oleObj name="" r:id="rId7" imgW="265430" imgH="318135" progId="Equation.2">
                  <p:embed/>
                  <p:pic>
                    <p:nvPicPr>
                      <p:cNvPr id="0" name="图片 330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41563" y="5191125"/>
                        <a:ext cx="360362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8" name="Object 4"/>
          <p:cNvGraphicFramePr/>
          <p:nvPr/>
        </p:nvGraphicFramePr>
        <p:xfrm>
          <a:off x="2870200" y="5191125"/>
          <a:ext cx="4095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" name="" r:id="rId9" imgW="309245" imgH="318135" progId="Equation.2">
                  <p:embed/>
                </p:oleObj>
              </mc:Choice>
              <mc:Fallback>
                <p:oleObj name="" r:id="rId9" imgW="309245" imgH="318135" progId="Equation.2">
                  <p:embed/>
                  <p:pic>
                    <p:nvPicPr>
                      <p:cNvPr id="0" name="图片 3305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70200" y="5191125"/>
                        <a:ext cx="409575" cy="420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9" name="Object 5"/>
          <p:cNvGraphicFramePr/>
          <p:nvPr/>
        </p:nvGraphicFramePr>
        <p:xfrm>
          <a:off x="3413125" y="5191125"/>
          <a:ext cx="49053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" name="" r:id="rId11" imgW="379095" imgH="318135" progId="Equation.2">
                  <p:embed/>
                </p:oleObj>
              </mc:Choice>
              <mc:Fallback>
                <p:oleObj name="" r:id="rId11" imgW="379095" imgH="318135" progId="Equation.2">
                  <p:embed/>
                  <p:pic>
                    <p:nvPicPr>
                      <p:cNvPr id="0" name="图片 3307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13125" y="5191125"/>
                        <a:ext cx="490538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70" name="Object 6"/>
          <p:cNvGraphicFramePr/>
          <p:nvPr/>
        </p:nvGraphicFramePr>
        <p:xfrm>
          <a:off x="1155700" y="4383088"/>
          <a:ext cx="385763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" name="" r:id="rId13" imgW="291465" imgH="318135" progId="Equation.2">
                  <p:embed/>
                </p:oleObj>
              </mc:Choice>
              <mc:Fallback>
                <p:oleObj name="" r:id="rId13" imgW="291465" imgH="318135" progId="Equation.2">
                  <p:embed/>
                  <p:pic>
                    <p:nvPicPr>
                      <p:cNvPr id="0" name="图片 3304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55700" y="4383088"/>
                        <a:ext cx="385763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71" name="Object 7"/>
          <p:cNvGraphicFramePr/>
          <p:nvPr/>
        </p:nvGraphicFramePr>
        <p:xfrm>
          <a:off x="1154113" y="3963988"/>
          <a:ext cx="40957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0" name="" r:id="rId15" imgW="309245" imgH="318135" progId="Equation.2">
                  <p:embed/>
                </p:oleObj>
              </mc:Choice>
              <mc:Fallback>
                <p:oleObj name="" r:id="rId15" imgW="309245" imgH="318135" progId="Equation.2">
                  <p:embed/>
                  <p:pic>
                    <p:nvPicPr>
                      <p:cNvPr id="0" name="图片 3309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54113" y="3963988"/>
                        <a:ext cx="409575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72" name="Object 8"/>
          <p:cNvGraphicFramePr/>
          <p:nvPr/>
        </p:nvGraphicFramePr>
        <p:xfrm>
          <a:off x="1103313" y="3505200"/>
          <a:ext cx="490537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7" name="" r:id="rId17" imgW="379095" imgH="318135" progId="Equation.2">
                  <p:embed/>
                </p:oleObj>
              </mc:Choice>
              <mc:Fallback>
                <p:oleObj name="" r:id="rId17" imgW="379095" imgH="318135" progId="Equation.2">
                  <p:embed/>
                  <p:pic>
                    <p:nvPicPr>
                      <p:cNvPr id="0" name="图片 3306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03313" y="3505200"/>
                        <a:ext cx="490537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73" name="Line 31"/>
          <p:cNvSpPr/>
          <p:nvPr/>
        </p:nvSpPr>
        <p:spPr>
          <a:xfrm>
            <a:off x="3071813" y="2876550"/>
            <a:ext cx="0" cy="221615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974" name="Rectangle 32"/>
          <p:cNvSpPr/>
          <p:nvPr/>
        </p:nvSpPr>
        <p:spPr>
          <a:xfrm>
            <a:off x="2693988" y="1104900"/>
            <a:ext cx="1946275" cy="18002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Short-run</a:t>
            </a:r>
            <a:b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output</a:t>
            </a:r>
            <a:b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expansion</a:t>
            </a:r>
            <a:b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path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75" name="Line 33"/>
          <p:cNvSpPr/>
          <p:nvPr/>
        </p:nvSpPr>
        <p:spPr>
          <a:xfrm>
            <a:off x="1612900" y="3840163"/>
            <a:ext cx="1962150" cy="124777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976" name="Oval 34"/>
          <p:cNvSpPr/>
          <p:nvPr/>
        </p:nvSpPr>
        <p:spPr>
          <a:xfrm>
            <a:off x="2997200" y="4683125"/>
            <a:ext cx="136525" cy="136525"/>
          </a:xfrm>
          <a:prstGeom prst="ellipse">
            <a:avLst/>
          </a:prstGeom>
          <a:noFill/>
          <a:ln w="508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77" name="Oval 35"/>
          <p:cNvSpPr/>
          <p:nvPr/>
        </p:nvSpPr>
        <p:spPr>
          <a:xfrm>
            <a:off x="3009900" y="4170363"/>
            <a:ext cx="136525" cy="136525"/>
          </a:xfrm>
          <a:prstGeom prst="ellipse">
            <a:avLst/>
          </a:prstGeom>
          <a:noFill/>
          <a:ln w="508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78" name="Rectangle 36"/>
          <p:cNvSpPr/>
          <p:nvPr/>
        </p:nvSpPr>
        <p:spPr>
          <a:xfrm>
            <a:off x="5075238" y="803275"/>
            <a:ext cx="40005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Long-run costs are: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2979" name="Object 9"/>
          <p:cNvGraphicFramePr/>
          <p:nvPr/>
        </p:nvGraphicFramePr>
        <p:xfrm>
          <a:off x="5324475" y="1312863"/>
          <a:ext cx="3557588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" name="" r:id="rId19" imgW="2625725" imgH="1014730" progId="Equation.2">
                  <p:embed/>
                </p:oleObj>
              </mc:Choice>
              <mc:Fallback>
                <p:oleObj name="" r:id="rId19" imgW="2625725" imgH="1014730" progId="Equation.2">
                  <p:embed/>
                  <p:pic>
                    <p:nvPicPr>
                      <p:cNvPr id="0" name="图片 3308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24475" y="1312863"/>
                        <a:ext cx="3557588" cy="1339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80" name="Rectangle 38"/>
          <p:cNvSpPr/>
          <p:nvPr/>
        </p:nvSpPr>
        <p:spPr>
          <a:xfrm>
            <a:off x="5075238" y="2636838"/>
            <a:ext cx="40687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Short-run costs are: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2981" name="Object 10"/>
          <p:cNvGraphicFramePr/>
          <p:nvPr/>
        </p:nvGraphicFramePr>
        <p:xfrm>
          <a:off x="6329363" y="3144838"/>
          <a:ext cx="2336800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" name="" r:id="rId21" imgW="1737360" imgH="666115" progId="Equation.2">
                  <p:embed/>
                </p:oleObj>
              </mc:Choice>
              <mc:Fallback>
                <p:oleObj name="" r:id="rId21" imgW="1737360" imgH="666115" progId="Equation.2">
                  <p:embed/>
                  <p:pic>
                    <p:nvPicPr>
                      <p:cNvPr id="0" name="图片 3303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329363" y="3144838"/>
                        <a:ext cx="2336800" cy="865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82" name="Freeform 40"/>
          <p:cNvSpPr/>
          <p:nvPr/>
        </p:nvSpPr>
        <p:spPr>
          <a:xfrm>
            <a:off x="2000250" y="3219450"/>
            <a:ext cx="2143125" cy="165735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816530625" y="2101810313"/>
              </a:cxn>
              <a:cxn ang="0">
                <a:pos x="1693545000" y="1617940313"/>
              </a:cxn>
              <a:cxn ang="0">
                <a:pos x="2147483646" y="907256250"/>
              </a:cxn>
              <a:cxn ang="0">
                <a:pos x="2147483646" y="0"/>
              </a:cxn>
            </a:cxnLst>
            <a:pathLst>
              <a:path w="1350" h="1044">
                <a:moveTo>
                  <a:pt x="0" y="1044"/>
                </a:moveTo>
                <a:cubicBezTo>
                  <a:pt x="106" y="972"/>
                  <a:pt x="212" y="901"/>
                  <a:pt x="324" y="834"/>
                </a:cubicBezTo>
                <a:cubicBezTo>
                  <a:pt x="436" y="767"/>
                  <a:pt x="555" y="721"/>
                  <a:pt x="672" y="642"/>
                </a:cubicBezTo>
                <a:cubicBezTo>
                  <a:pt x="789" y="563"/>
                  <a:pt x="913" y="467"/>
                  <a:pt x="1026" y="360"/>
                </a:cubicBezTo>
                <a:cubicBezTo>
                  <a:pt x="1139" y="253"/>
                  <a:pt x="1296" y="59"/>
                  <a:pt x="1350" y="0"/>
                </a:cubicBezTo>
              </a:path>
            </a:pathLst>
          </a:custGeom>
          <a:noFill/>
          <a:ln w="50800" cap="flat" cmpd="sng">
            <a:solidFill>
              <a:srgbClr val="3BED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6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3970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83971" name="Line 4"/>
          <p:cNvSpPr/>
          <p:nvPr/>
        </p:nvSpPr>
        <p:spPr>
          <a:xfrm>
            <a:off x="1619250" y="5095875"/>
            <a:ext cx="45116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83972" name="Rectangle 5"/>
          <p:cNvSpPr/>
          <p:nvPr/>
        </p:nvSpPr>
        <p:spPr>
          <a:xfrm>
            <a:off x="5932488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973" name="Rectangle 6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974" name="Arc 7"/>
          <p:cNvSpPr/>
          <p:nvPr/>
        </p:nvSpPr>
        <p:spPr>
          <a:xfrm rot="10800000">
            <a:off x="2039938" y="2451100"/>
            <a:ext cx="2690812" cy="22574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83975" name="Arc 8"/>
          <p:cNvSpPr/>
          <p:nvPr/>
        </p:nvSpPr>
        <p:spPr>
          <a:xfrm rot="10800000">
            <a:off x="2312988" y="1574800"/>
            <a:ext cx="3571875" cy="28305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83976" name="Arc 9"/>
          <p:cNvSpPr/>
          <p:nvPr/>
        </p:nvSpPr>
        <p:spPr>
          <a:xfrm rot="10800000">
            <a:off x="1846263" y="3387725"/>
            <a:ext cx="1860550" cy="15049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83977" name="Line 10"/>
          <p:cNvSpPr/>
          <p:nvPr/>
        </p:nvSpPr>
        <p:spPr>
          <a:xfrm>
            <a:off x="1612900" y="3295650"/>
            <a:ext cx="2857500" cy="1817688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978" name="Line 11"/>
          <p:cNvSpPr/>
          <p:nvPr/>
        </p:nvSpPr>
        <p:spPr>
          <a:xfrm>
            <a:off x="1612900" y="3983038"/>
            <a:ext cx="1762125" cy="1120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979" name="Line 12"/>
          <p:cNvSpPr/>
          <p:nvPr/>
        </p:nvSpPr>
        <p:spPr>
          <a:xfrm>
            <a:off x="1612900" y="2479675"/>
            <a:ext cx="4141788" cy="26352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83980" name="Object 0"/>
          <p:cNvGraphicFramePr/>
          <p:nvPr/>
        </p:nvGraphicFramePr>
        <p:xfrm>
          <a:off x="2090738" y="1130300"/>
          <a:ext cx="5619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" name="" r:id="rId1" imgW="387350" imgH="300355" progId="Equation.2">
                  <p:embed/>
                </p:oleObj>
              </mc:Choice>
              <mc:Fallback>
                <p:oleObj name="" r:id="rId1" imgW="387350" imgH="300355" progId="Equation.2">
                  <p:embed/>
                  <p:pic>
                    <p:nvPicPr>
                      <p:cNvPr id="0" name="图片 331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90738" y="1130300"/>
                        <a:ext cx="561975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1" name="Object 1"/>
          <p:cNvGraphicFramePr/>
          <p:nvPr/>
        </p:nvGraphicFramePr>
        <p:xfrm>
          <a:off x="1854200" y="1963738"/>
          <a:ext cx="4524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3" name="" r:id="rId3" imgW="318135" imgH="300355" progId="Equation.2">
                  <p:embed/>
                </p:oleObj>
              </mc:Choice>
              <mc:Fallback>
                <p:oleObj name="" r:id="rId3" imgW="318135" imgH="300355" progId="Equation.2">
                  <p:embed/>
                  <p:pic>
                    <p:nvPicPr>
                      <p:cNvPr id="0" name="图片 331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54200" y="1963738"/>
                        <a:ext cx="452438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2" name="Object 2"/>
          <p:cNvGraphicFramePr/>
          <p:nvPr/>
        </p:nvGraphicFramePr>
        <p:xfrm>
          <a:off x="1682750" y="2892425"/>
          <a:ext cx="3571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6" name="" r:id="rId5" imgW="257175" imgH="300355" progId="Equation.2">
                  <p:embed/>
                </p:oleObj>
              </mc:Choice>
              <mc:Fallback>
                <p:oleObj name="" r:id="rId5" imgW="257175" imgH="300355" progId="Equation.2">
                  <p:embed/>
                  <p:pic>
                    <p:nvPicPr>
                      <p:cNvPr id="0" name="图片 331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82750" y="2892425"/>
                        <a:ext cx="357188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83" name="Line 16"/>
          <p:cNvSpPr/>
          <p:nvPr/>
        </p:nvSpPr>
        <p:spPr>
          <a:xfrm>
            <a:off x="2508250" y="4554538"/>
            <a:ext cx="0" cy="5191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3984" name="Line 17"/>
          <p:cNvSpPr/>
          <p:nvPr/>
        </p:nvSpPr>
        <p:spPr>
          <a:xfrm flipH="1">
            <a:off x="1614488" y="4540250"/>
            <a:ext cx="89376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3985" name="Line 18"/>
          <p:cNvSpPr/>
          <p:nvPr/>
        </p:nvSpPr>
        <p:spPr>
          <a:xfrm flipH="1">
            <a:off x="1628775" y="4237038"/>
            <a:ext cx="14430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3986" name="Line 19"/>
          <p:cNvSpPr/>
          <p:nvPr/>
        </p:nvSpPr>
        <p:spPr>
          <a:xfrm>
            <a:off x="3633788" y="3789363"/>
            <a:ext cx="0" cy="13128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3987" name="Line 20"/>
          <p:cNvSpPr/>
          <p:nvPr/>
        </p:nvSpPr>
        <p:spPr>
          <a:xfrm flipH="1">
            <a:off x="1614488" y="3789363"/>
            <a:ext cx="20193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3988" name="Oval 21"/>
          <p:cNvSpPr/>
          <p:nvPr/>
        </p:nvSpPr>
        <p:spPr>
          <a:xfrm>
            <a:off x="3548063" y="3675063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989" name="Oval 22"/>
          <p:cNvSpPr/>
          <p:nvPr/>
        </p:nvSpPr>
        <p:spPr>
          <a:xfrm>
            <a:off x="2986088" y="4137025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990" name="Oval 23"/>
          <p:cNvSpPr/>
          <p:nvPr/>
        </p:nvSpPr>
        <p:spPr>
          <a:xfrm>
            <a:off x="2422525" y="4440238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3991" name="Object 3"/>
          <p:cNvGraphicFramePr/>
          <p:nvPr/>
        </p:nvGraphicFramePr>
        <p:xfrm>
          <a:off x="2341563" y="5191125"/>
          <a:ext cx="36036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2" name="" r:id="rId7" imgW="265430" imgH="318135" progId="Equation.2">
                  <p:embed/>
                </p:oleObj>
              </mc:Choice>
              <mc:Fallback>
                <p:oleObj name="" r:id="rId7" imgW="265430" imgH="318135" progId="Equation.2">
                  <p:embed/>
                  <p:pic>
                    <p:nvPicPr>
                      <p:cNvPr id="0" name="图片 331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41563" y="5191125"/>
                        <a:ext cx="360362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2" name="Object 4"/>
          <p:cNvGraphicFramePr/>
          <p:nvPr/>
        </p:nvGraphicFramePr>
        <p:xfrm>
          <a:off x="2870200" y="5191125"/>
          <a:ext cx="4095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" name="" r:id="rId9" imgW="309245" imgH="318135" progId="Equation.2">
                  <p:embed/>
                </p:oleObj>
              </mc:Choice>
              <mc:Fallback>
                <p:oleObj name="" r:id="rId9" imgW="309245" imgH="318135" progId="Equation.2">
                  <p:embed/>
                  <p:pic>
                    <p:nvPicPr>
                      <p:cNvPr id="0" name="图片 3317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70200" y="5191125"/>
                        <a:ext cx="409575" cy="420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3" name="Object 5"/>
          <p:cNvGraphicFramePr/>
          <p:nvPr/>
        </p:nvGraphicFramePr>
        <p:xfrm>
          <a:off x="3413125" y="5191125"/>
          <a:ext cx="49053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" name="" r:id="rId11" imgW="379095" imgH="318135" progId="Equation.2">
                  <p:embed/>
                </p:oleObj>
              </mc:Choice>
              <mc:Fallback>
                <p:oleObj name="" r:id="rId11" imgW="379095" imgH="318135" progId="Equation.2">
                  <p:embed/>
                  <p:pic>
                    <p:nvPicPr>
                      <p:cNvPr id="0" name="图片 3314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13125" y="5191125"/>
                        <a:ext cx="490538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4" name="Object 6"/>
          <p:cNvGraphicFramePr/>
          <p:nvPr/>
        </p:nvGraphicFramePr>
        <p:xfrm>
          <a:off x="1155700" y="4383088"/>
          <a:ext cx="385763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7" name="" r:id="rId13" imgW="291465" imgH="318135" progId="Equation.2">
                  <p:embed/>
                </p:oleObj>
              </mc:Choice>
              <mc:Fallback>
                <p:oleObj name="" r:id="rId13" imgW="291465" imgH="318135" progId="Equation.2">
                  <p:embed/>
                  <p:pic>
                    <p:nvPicPr>
                      <p:cNvPr id="0" name="图片 3316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55700" y="4383088"/>
                        <a:ext cx="385763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5" name="Object 7"/>
          <p:cNvGraphicFramePr/>
          <p:nvPr/>
        </p:nvGraphicFramePr>
        <p:xfrm>
          <a:off x="1154113" y="3963988"/>
          <a:ext cx="40957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" name="" r:id="rId15" imgW="309245" imgH="318135" progId="Equation.2">
                  <p:embed/>
                </p:oleObj>
              </mc:Choice>
              <mc:Fallback>
                <p:oleObj name="" r:id="rId15" imgW="309245" imgH="318135" progId="Equation.2">
                  <p:embed/>
                  <p:pic>
                    <p:nvPicPr>
                      <p:cNvPr id="0" name="图片 3310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54113" y="3963988"/>
                        <a:ext cx="409575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6" name="Object 8"/>
          <p:cNvGraphicFramePr/>
          <p:nvPr/>
        </p:nvGraphicFramePr>
        <p:xfrm>
          <a:off x="1103313" y="3505200"/>
          <a:ext cx="490537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" name="" r:id="rId17" imgW="379095" imgH="318135" progId="Equation.2">
                  <p:embed/>
                </p:oleObj>
              </mc:Choice>
              <mc:Fallback>
                <p:oleObj name="" r:id="rId17" imgW="379095" imgH="318135" progId="Equation.2">
                  <p:embed/>
                  <p:pic>
                    <p:nvPicPr>
                      <p:cNvPr id="0" name="图片 3318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03313" y="3505200"/>
                        <a:ext cx="490537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97" name="Line 31"/>
          <p:cNvSpPr/>
          <p:nvPr/>
        </p:nvSpPr>
        <p:spPr>
          <a:xfrm>
            <a:off x="3071813" y="2876550"/>
            <a:ext cx="0" cy="221615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998" name="Rectangle 32"/>
          <p:cNvSpPr/>
          <p:nvPr/>
        </p:nvSpPr>
        <p:spPr>
          <a:xfrm>
            <a:off x="2693988" y="1104900"/>
            <a:ext cx="1946275" cy="18002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Short-run</a:t>
            </a:r>
            <a:b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output</a:t>
            </a:r>
            <a:b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expansion</a:t>
            </a:r>
            <a:b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path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999" name="Line 33"/>
          <p:cNvSpPr/>
          <p:nvPr/>
        </p:nvSpPr>
        <p:spPr>
          <a:xfrm>
            <a:off x="1612900" y="3840163"/>
            <a:ext cx="1962150" cy="124777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000" name="Oval 34"/>
          <p:cNvSpPr/>
          <p:nvPr/>
        </p:nvSpPr>
        <p:spPr>
          <a:xfrm>
            <a:off x="2997200" y="4683125"/>
            <a:ext cx="136525" cy="136525"/>
          </a:xfrm>
          <a:prstGeom prst="ellipse">
            <a:avLst/>
          </a:prstGeom>
          <a:noFill/>
          <a:ln w="508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4001" name="Oval 35"/>
          <p:cNvSpPr/>
          <p:nvPr/>
        </p:nvSpPr>
        <p:spPr>
          <a:xfrm>
            <a:off x="3009900" y="4170363"/>
            <a:ext cx="136525" cy="136525"/>
          </a:xfrm>
          <a:prstGeom prst="ellipse">
            <a:avLst/>
          </a:prstGeom>
          <a:noFill/>
          <a:ln w="508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4002" name="Oval 36"/>
          <p:cNvSpPr/>
          <p:nvPr/>
        </p:nvSpPr>
        <p:spPr>
          <a:xfrm>
            <a:off x="3009900" y="3224213"/>
            <a:ext cx="136525" cy="136525"/>
          </a:xfrm>
          <a:prstGeom prst="ellipse">
            <a:avLst/>
          </a:prstGeom>
          <a:noFill/>
          <a:ln w="508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4003" name="Rectangle 37"/>
          <p:cNvSpPr/>
          <p:nvPr/>
        </p:nvSpPr>
        <p:spPr>
          <a:xfrm>
            <a:off x="5075238" y="803275"/>
            <a:ext cx="40005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Long-run costs are: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4004" name="Object 9"/>
          <p:cNvGraphicFramePr/>
          <p:nvPr/>
        </p:nvGraphicFramePr>
        <p:xfrm>
          <a:off x="5324475" y="1312863"/>
          <a:ext cx="3557588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4" name="" r:id="rId19" imgW="2625725" imgH="1014730" progId="Equation.2">
                  <p:embed/>
                </p:oleObj>
              </mc:Choice>
              <mc:Fallback>
                <p:oleObj name="" r:id="rId19" imgW="2625725" imgH="1014730" progId="Equation.2">
                  <p:embed/>
                  <p:pic>
                    <p:nvPicPr>
                      <p:cNvPr id="0" name="图片 3323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24475" y="1312863"/>
                        <a:ext cx="3557588" cy="1339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005" name="Rectangle 39"/>
          <p:cNvSpPr/>
          <p:nvPr/>
        </p:nvSpPr>
        <p:spPr>
          <a:xfrm>
            <a:off x="5075238" y="2636838"/>
            <a:ext cx="40687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Short-run costs are: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4006" name="Object 10"/>
          <p:cNvGraphicFramePr/>
          <p:nvPr/>
        </p:nvGraphicFramePr>
        <p:xfrm>
          <a:off x="6329363" y="3144838"/>
          <a:ext cx="2336800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1" name="" r:id="rId21" imgW="1737360" imgH="666115" progId="Equation.2">
                  <p:embed/>
                </p:oleObj>
              </mc:Choice>
              <mc:Fallback>
                <p:oleObj name="" r:id="rId21" imgW="1737360" imgH="666115" progId="Equation.2">
                  <p:embed/>
                  <p:pic>
                    <p:nvPicPr>
                      <p:cNvPr id="0" name="图片 3320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329363" y="3144838"/>
                        <a:ext cx="2336800" cy="865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007" name="Freeform 41"/>
          <p:cNvSpPr/>
          <p:nvPr/>
        </p:nvSpPr>
        <p:spPr>
          <a:xfrm>
            <a:off x="2000250" y="3219450"/>
            <a:ext cx="2143125" cy="165735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816530625" y="2101810313"/>
              </a:cxn>
              <a:cxn ang="0">
                <a:pos x="1693545000" y="1617940313"/>
              </a:cxn>
              <a:cxn ang="0">
                <a:pos x="2147483646" y="907256250"/>
              </a:cxn>
              <a:cxn ang="0">
                <a:pos x="2147483646" y="0"/>
              </a:cxn>
            </a:cxnLst>
            <a:pathLst>
              <a:path w="1350" h="1044">
                <a:moveTo>
                  <a:pt x="0" y="1044"/>
                </a:moveTo>
                <a:cubicBezTo>
                  <a:pt x="106" y="972"/>
                  <a:pt x="212" y="901"/>
                  <a:pt x="324" y="834"/>
                </a:cubicBezTo>
                <a:cubicBezTo>
                  <a:pt x="436" y="767"/>
                  <a:pt x="555" y="721"/>
                  <a:pt x="672" y="642"/>
                </a:cubicBezTo>
                <a:cubicBezTo>
                  <a:pt x="789" y="563"/>
                  <a:pt x="913" y="467"/>
                  <a:pt x="1026" y="360"/>
                </a:cubicBezTo>
                <a:cubicBezTo>
                  <a:pt x="1139" y="253"/>
                  <a:pt x="1296" y="59"/>
                  <a:pt x="1350" y="0"/>
                </a:cubicBezTo>
              </a:path>
            </a:pathLst>
          </a:custGeom>
          <a:noFill/>
          <a:ln w="50800" cap="flat" cmpd="sng">
            <a:solidFill>
              <a:srgbClr val="3BED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4994" name="Line 3"/>
          <p:cNvSpPr/>
          <p:nvPr/>
        </p:nvSpPr>
        <p:spPr>
          <a:xfrm>
            <a:off x="1619250" y="1690688"/>
            <a:ext cx="0" cy="3405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84995" name="Line 4"/>
          <p:cNvSpPr/>
          <p:nvPr/>
        </p:nvSpPr>
        <p:spPr>
          <a:xfrm>
            <a:off x="1619250" y="5095875"/>
            <a:ext cx="45116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84996" name="Rectangle 5"/>
          <p:cNvSpPr/>
          <p:nvPr/>
        </p:nvSpPr>
        <p:spPr>
          <a:xfrm>
            <a:off x="5932488" y="5126038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4997" name="Rectangle 6"/>
          <p:cNvSpPr/>
          <p:nvPr/>
        </p:nvSpPr>
        <p:spPr>
          <a:xfrm>
            <a:off x="974725" y="143192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4998" name="Arc 7"/>
          <p:cNvSpPr/>
          <p:nvPr/>
        </p:nvSpPr>
        <p:spPr>
          <a:xfrm rot="10800000">
            <a:off x="2039938" y="2451100"/>
            <a:ext cx="2690812" cy="22574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84999" name="Arc 8"/>
          <p:cNvSpPr/>
          <p:nvPr/>
        </p:nvSpPr>
        <p:spPr>
          <a:xfrm rot="10800000">
            <a:off x="2312988" y="1574800"/>
            <a:ext cx="3571875" cy="28305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85000" name="Arc 9"/>
          <p:cNvSpPr/>
          <p:nvPr/>
        </p:nvSpPr>
        <p:spPr>
          <a:xfrm rot="10800000">
            <a:off x="1846263" y="3387725"/>
            <a:ext cx="1860550" cy="15049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85001" name="Line 10"/>
          <p:cNvSpPr/>
          <p:nvPr/>
        </p:nvSpPr>
        <p:spPr>
          <a:xfrm>
            <a:off x="1612900" y="3295650"/>
            <a:ext cx="2857500" cy="1817688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002" name="Line 11"/>
          <p:cNvSpPr/>
          <p:nvPr/>
        </p:nvSpPr>
        <p:spPr>
          <a:xfrm>
            <a:off x="1612900" y="3983038"/>
            <a:ext cx="1762125" cy="1120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003" name="Line 12"/>
          <p:cNvSpPr/>
          <p:nvPr/>
        </p:nvSpPr>
        <p:spPr>
          <a:xfrm>
            <a:off x="1612900" y="2479675"/>
            <a:ext cx="4141788" cy="26352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85004" name="Object 0"/>
          <p:cNvGraphicFramePr/>
          <p:nvPr/>
        </p:nvGraphicFramePr>
        <p:xfrm>
          <a:off x="2090738" y="1130300"/>
          <a:ext cx="5619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0" name="" r:id="rId1" imgW="387350" imgH="300355" progId="Equation.2">
                  <p:embed/>
                </p:oleObj>
              </mc:Choice>
              <mc:Fallback>
                <p:oleObj name="" r:id="rId1" imgW="387350" imgH="300355" progId="Equation.2">
                  <p:embed/>
                  <p:pic>
                    <p:nvPicPr>
                      <p:cNvPr id="0" name="图片 331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90738" y="1130300"/>
                        <a:ext cx="561975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5" name="Object 1"/>
          <p:cNvGraphicFramePr/>
          <p:nvPr/>
        </p:nvGraphicFramePr>
        <p:xfrm>
          <a:off x="1854200" y="1963738"/>
          <a:ext cx="4524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2" name="" r:id="rId3" imgW="318135" imgH="300355" progId="Equation.2">
                  <p:embed/>
                </p:oleObj>
              </mc:Choice>
              <mc:Fallback>
                <p:oleObj name="" r:id="rId3" imgW="318135" imgH="300355" progId="Equation.2">
                  <p:embed/>
                  <p:pic>
                    <p:nvPicPr>
                      <p:cNvPr id="0" name="图片 332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54200" y="1963738"/>
                        <a:ext cx="452438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6" name="Object 2"/>
          <p:cNvGraphicFramePr/>
          <p:nvPr/>
        </p:nvGraphicFramePr>
        <p:xfrm>
          <a:off x="1682750" y="2892425"/>
          <a:ext cx="3571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3" name="" r:id="rId5" imgW="257175" imgH="300355" progId="Equation.2">
                  <p:embed/>
                </p:oleObj>
              </mc:Choice>
              <mc:Fallback>
                <p:oleObj name="" r:id="rId5" imgW="257175" imgH="300355" progId="Equation.2">
                  <p:embed/>
                  <p:pic>
                    <p:nvPicPr>
                      <p:cNvPr id="0" name="图片 332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82750" y="2892425"/>
                        <a:ext cx="357188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07" name="Line 16"/>
          <p:cNvSpPr/>
          <p:nvPr/>
        </p:nvSpPr>
        <p:spPr>
          <a:xfrm>
            <a:off x="2508250" y="4554538"/>
            <a:ext cx="0" cy="5191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5008" name="Line 17"/>
          <p:cNvSpPr/>
          <p:nvPr/>
        </p:nvSpPr>
        <p:spPr>
          <a:xfrm flipH="1">
            <a:off x="1614488" y="4540250"/>
            <a:ext cx="89376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5009" name="Line 18"/>
          <p:cNvSpPr/>
          <p:nvPr/>
        </p:nvSpPr>
        <p:spPr>
          <a:xfrm flipH="1">
            <a:off x="1628775" y="4237038"/>
            <a:ext cx="14430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5010" name="Line 19"/>
          <p:cNvSpPr/>
          <p:nvPr/>
        </p:nvSpPr>
        <p:spPr>
          <a:xfrm>
            <a:off x="3633788" y="3789363"/>
            <a:ext cx="0" cy="13128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5011" name="Line 20"/>
          <p:cNvSpPr/>
          <p:nvPr/>
        </p:nvSpPr>
        <p:spPr>
          <a:xfrm flipH="1">
            <a:off x="1614488" y="3789363"/>
            <a:ext cx="20193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5012" name="Oval 21"/>
          <p:cNvSpPr/>
          <p:nvPr/>
        </p:nvSpPr>
        <p:spPr>
          <a:xfrm>
            <a:off x="3548063" y="3675063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5013" name="Oval 22"/>
          <p:cNvSpPr/>
          <p:nvPr/>
        </p:nvSpPr>
        <p:spPr>
          <a:xfrm>
            <a:off x="2986088" y="4137025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5014" name="Oval 23"/>
          <p:cNvSpPr/>
          <p:nvPr/>
        </p:nvSpPr>
        <p:spPr>
          <a:xfrm>
            <a:off x="2422525" y="4440238"/>
            <a:ext cx="187325" cy="187325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5015" name="Object 3"/>
          <p:cNvGraphicFramePr/>
          <p:nvPr/>
        </p:nvGraphicFramePr>
        <p:xfrm>
          <a:off x="2341563" y="5191125"/>
          <a:ext cx="36036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7" name="" r:id="rId7" imgW="265430" imgH="318135" progId="Equation.2">
                  <p:embed/>
                </p:oleObj>
              </mc:Choice>
              <mc:Fallback>
                <p:oleObj name="" r:id="rId7" imgW="265430" imgH="318135" progId="Equation.2">
                  <p:embed/>
                  <p:pic>
                    <p:nvPicPr>
                      <p:cNvPr id="0" name="图片 332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41563" y="5191125"/>
                        <a:ext cx="360362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6" name="Object 4"/>
          <p:cNvGraphicFramePr/>
          <p:nvPr/>
        </p:nvGraphicFramePr>
        <p:xfrm>
          <a:off x="2870200" y="5191125"/>
          <a:ext cx="4095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2" name="" r:id="rId9" imgW="309245" imgH="318135" progId="Equation.2">
                  <p:embed/>
                </p:oleObj>
              </mc:Choice>
              <mc:Fallback>
                <p:oleObj name="" r:id="rId9" imgW="309245" imgH="318135" progId="Equation.2">
                  <p:embed/>
                  <p:pic>
                    <p:nvPicPr>
                      <p:cNvPr id="0" name="图片 3331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70200" y="5191125"/>
                        <a:ext cx="409575" cy="420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7" name="Object 5"/>
          <p:cNvGraphicFramePr/>
          <p:nvPr/>
        </p:nvGraphicFramePr>
        <p:xfrm>
          <a:off x="3413125" y="5191125"/>
          <a:ext cx="49053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5" name="" r:id="rId11" imgW="379095" imgH="318135" progId="Equation.2">
                  <p:embed/>
                </p:oleObj>
              </mc:Choice>
              <mc:Fallback>
                <p:oleObj name="" r:id="rId11" imgW="379095" imgH="318135" progId="Equation.2">
                  <p:embed/>
                  <p:pic>
                    <p:nvPicPr>
                      <p:cNvPr id="0" name="图片 3324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13125" y="5191125"/>
                        <a:ext cx="490538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8" name="Object 6"/>
          <p:cNvGraphicFramePr/>
          <p:nvPr/>
        </p:nvGraphicFramePr>
        <p:xfrm>
          <a:off x="1155700" y="4383088"/>
          <a:ext cx="385763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" name="" r:id="rId13" imgW="291465" imgH="318135" progId="Equation.2">
                  <p:embed/>
                </p:oleObj>
              </mc:Choice>
              <mc:Fallback>
                <p:oleObj name="" r:id="rId13" imgW="291465" imgH="318135" progId="Equation.2">
                  <p:embed/>
                  <p:pic>
                    <p:nvPicPr>
                      <p:cNvPr id="0" name="图片 3328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55700" y="4383088"/>
                        <a:ext cx="385763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9" name="Object 7"/>
          <p:cNvGraphicFramePr/>
          <p:nvPr/>
        </p:nvGraphicFramePr>
        <p:xfrm>
          <a:off x="1154113" y="3963988"/>
          <a:ext cx="40957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1" name="" r:id="rId15" imgW="309245" imgH="318135" progId="Equation.2">
                  <p:embed/>
                </p:oleObj>
              </mc:Choice>
              <mc:Fallback>
                <p:oleObj name="" r:id="rId15" imgW="309245" imgH="318135" progId="Equation.2">
                  <p:embed/>
                  <p:pic>
                    <p:nvPicPr>
                      <p:cNvPr id="0" name="图片 3330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54113" y="3963988"/>
                        <a:ext cx="409575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20" name="Object 8"/>
          <p:cNvGraphicFramePr/>
          <p:nvPr/>
        </p:nvGraphicFramePr>
        <p:xfrm>
          <a:off x="1103313" y="3505200"/>
          <a:ext cx="490537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" name="" r:id="rId17" imgW="379095" imgH="318135" progId="Equation.2">
                  <p:embed/>
                </p:oleObj>
              </mc:Choice>
              <mc:Fallback>
                <p:oleObj name="" r:id="rId17" imgW="379095" imgH="318135" progId="Equation.2">
                  <p:embed/>
                  <p:pic>
                    <p:nvPicPr>
                      <p:cNvPr id="0" name="图片 3327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03313" y="3505200"/>
                        <a:ext cx="490537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21" name="Line 31"/>
          <p:cNvSpPr/>
          <p:nvPr/>
        </p:nvSpPr>
        <p:spPr>
          <a:xfrm>
            <a:off x="3071813" y="2876550"/>
            <a:ext cx="0" cy="221615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022" name="Rectangle 32"/>
          <p:cNvSpPr/>
          <p:nvPr/>
        </p:nvSpPr>
        <p:spPr>
          <a:xfrm>
            <a:off x="2693988" y="1104900"/>
            <a:ext cx="1946275" cy="18002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Short-run</a:t>
            </a:r>
            <a:b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output</a:t>
            </a:r>
            <a:b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expansion</a:t>
            </a:r>
            <a:b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path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5023" name="Line 33"/>
          <p:cNvSpPr/>
          <p:nvPr/>
        </p:nvSpPr>
        <p:spPr>
          <a:xfrm>
            <a:off x="1612900" y="2363788"/>
            <a:ext cx="4281488" cy="272415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024" name="Line 34"/>
          <p:cNvSpPr/>
          <p:nvPr/>
        </p:nvSpPr>
        <p:spPr>
          <a:xfrm>
            <a:off x="1612900" y="3840163"/>
            <a:ext cx="1962150" cy="124777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025" name="Oval 35"/>
          <p:cNvSpPr/>
          <p:nvPr/>
        </p:nvSpPr>
        <p:spPr>
          <a:xfrm>
            <a:off x="2997200" y="4683125"/>
            <a:ext cx="136525" cy="136525"/>
          </a:xfrm>
          <a:prstGeom prst="ellipse">
            <a:avLst/>
          </a:prstGeom>
          <a:noFill/>
          <a:ln w="508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5026" name="Oval 36"/>
          <p:cNvSpPr/>
          <p:nvPr/>
        </p:nvSpPr>
        <p:spPr>
          <a:xfrm>
            <a:off x="3009900" y="4170363"/>
            <a:ext cx="136525" cy="136525"/>
          </a:xfrm>
          <a:prstGeom prst="ellipse">
            <a:avLst/>
          </a:prstGeom>
          <a:noFill/>
          <a:ln w="508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5027" name="Oval 37"/>
          <p:cNvSpPr/>
          <p:nvPr/>
        </p:nvSpPr>
        <p:spPr>
          <a:xfrm>
            <a:off x="3009900" y="3224213"/>
            <a:ext cx="136525" cy="136525"/>
          </a:xfrm>
          <a:prstGeom prst="ellipse">
            <a:avLst/>
          </a:prstGeom>
          <a:noFill/>
          <a:ln w="508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5028" name="Rectangle 38"/>
          <p:cNvSpPr/>
          <p:nvPr/>
        </p:nvSpPr>
        <p:spPr>
          <a:xfrm>
            <a:off x="5075238" y="803275"/>
            <a:ext cx="40005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Long-run costs are: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5029" name="Object 9"/>
          <p:cNvGraphicFramePr/>
          <p:nvPr/>
        </p:nvGraphicFramePr>
        <p:xfrm>
          <a:off x="5324475" y="1312863"/>
          <a:ext cx="3557588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" name="" r:id="rId19" imgW="2625725" imgH="1014730" progId="Equation.2">
                  <p:embed/>
                </p:oleObj>
              </mc:Choice>
              <mc:Fallback>
                <p:oleObj name="" r:id="rId19" imgW="2625725" imgH="1014730" progId="Equation.2">
                  <p:embed/>
                  <p:pic>
                    <p:nvPicPr>
                      <p:cNvPr id="0" name="图片 3329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24475" y="1312863"/>
                        <a:ext cx="3557588" cy="1339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30" name="Rectangle 40"/>
          <p:cNvSpPr/>
          <p:nvPr/>
        </p:nvSpPr>
        <p:spPr>
          <a:xfrm>
            <a:off x="5075238" y="2636838"/>
            <a:ext cx="40687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Short-run costs are: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5031" name="Object 10"/>
          <p:cNvGraphicFramePr/>
          <p:nvPr/>
        </p:nvGraphicFramePr>
        <p:xfrm>
          <a:off x="6246813" y="3146425"/>
          <a:ext cx="2511425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6" name="" r:id="rId21" imgW="1859280" imgH="1014730" progId="Equation.2">
                  <p:embed/>
                </p:oleObj>
              </mc:Choice>
              <mc:Fallback>
                <p:oleObj name="" r:id="rId21" imgW="1859280" imgH="1014730" progId="Equation.2">
                  <p:embed/>
                  <p:pic>
                    <p:nvPicPr>
                      <p:cNvPr id="0" name="图片 3325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246813" y="3146425"/>
                        <a:ext cx="2511425" cy="1330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32" name="Freeform 42"/>
          <p:cNvSpPr/>
          <p:nvPr/>
        </p:nvSpPr>
        <p:spPr>
          <a:xfrm>
            <a:off x="2000250" y="3219450"/>
            <a:ext cx="2143125" cy="165735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816530625" y="2101810313"/>
              </a:cxn>
              <a:cxn ang="0">
                <a:pos x="1693545000" y="1617940313"/>
              </a:cxn>
              <a:cxn ang="0">
                <a:pos x="2147483646" y="907256250"/>
              </a:cxn>
              <a:cxn ang="0">
                <a:pos x="2147483646" y="0"/>
              </a:cxn>
            </a:cxnLst>
            <a:pathLst>
              <a:path w="1350" h="1044">
                <a:moveTo>
                  <a:pt x="0" y="1044"/>
                </a:moveTo>
                <a:cubicBezTo>
                  <a:pt x="106" y="972"/>
                  <a:pt x="212" y="901"/>
                  <a:pt x="324" y="834"/>
                </a:cubicBezTo>
                <a:cubicBezTo>
                  <a:pt x="436" y="767"/>
                  <a:pt x="555" y="721"/>
                  <a:pt x="672" y="642"/>
                </a:cubicBezTo>
                <a:cubicBezTo>
                  <a:pt x="789" y="563"/>
                  <a:pt x="913" y="467"/>
                  <a:pt x="1026" y="360"/>
                </a:cubicBezTo>
                <a:cubicBezTo>
                  <a:pt x="1139" y="253"/>
                  <a:pt x="1296" y="59"/>
                  <a:pt x="1350" y="0"/>
                </a:cubicBezTo>
              </a:path>
            </a:pathLst>
          </a:custGeom>
          <a:noFill/>
          <a:ln w="50800" cap="flat" cmpd="sng">
            <a:solidFill>
              <a:srgbClr val="3BED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601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Short-run total cost exceeds long-run total cost except for the output level where the short-run input level restriction is the long-run input level choice.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This says that the long-run total cost curve always has one point in common with any particular short-run total cost curve.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&amp; Long-Run Total Costs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7042" name="Line 3"/>
          <p:cNvSpPr/>
          <p:nvPr/>
        </p:nvSpPr>
        <p:spPr>
          <a:xfrm>
            <a:off x="1452563" y="1690688"/>
            <a:ext cx="0" cy="34528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87043" name="Line 4"/>
          <p:cNvSpPr/>
          <p:nvPr/>
        </p:nvSpPr>
        <p:spPr>
          <a:xfrm>
            <a:off x="1452563" y="5143500"/>
            <a:ext cx="46196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87044" name="Rectangle 5"/>
          <p:cNvSpPr/>
          <p:nvPr/>
        </p:nvSpPr>
        <p:spPr>
          <a:xfrm>
            <a:off x="5980113" y="527685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45" name="Rectangle 6"/>
          <p:cNvSpPr/>
          <p:nvPr/>
        </p:nvSpPr>
        <p:spPr>
          <a:xfrm>
            <a:off x="1312863" y="1157288"/>
            <a:ext cx="3825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46" name="Arc 7"/>
          <p:cNvSpPr/>
          <p:nvPr/>
        </p:nvSpPr>
        <p:spPr>
          <a:xfrm rot="-780000">
            <a:off x="1263650" y="3330575"/>
            <a:ext cx="4619625" cy="1309688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16118" h="21600" fill="none">
                <a:moveTo>
                  <a:pt x="16117" y="14379"/>
                </a:moveTo>
                <a:cubicBezTo>
                  <a:pt x="12019" y="18973"/>
                  <a:pt x="6155" y="21599"/>
                  <a:pt x="0" y="21600"/>
                </a:cubicBezTo>
              </a:path>
              <a:path w="16118" h="21600" stroke="0">
                <a:moveTo>
                  <a:pt x="16117" y="14379"/>
                </a:moveTo>
                <a:cubicBezTo>
                  <a:pt x="12019" y="18973"/>
                  <a:pt x="6155" y="21599"/>
                  <a:pt x="0" y="21600"/>
                </a:cubicBezTo>
                <a:lnTo>
                  <a:pt x="0" y="0"/>
                </a:lnTo>
                <a:lnTo>
                  <a:pt x="16117" y="14379"/>
                </a:lnTo>
                <a:close/>
              </a:path>
            </a:pathLst>
          </a:custGeom>
          <a:noFill/>
          <a:ln w="25400" cap="rnd" cmpd="sng">
            <a:solidFill>
              <a:srgbClr val="4CFF1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87047" name="Rectangle 8"/>
          <p:cNvSpPr/>
          <p:nvPr/>
        </p:nvSpPr>
        <p:spPr>
          <a:xfrm>
            <a:off x="5932488" y="3514725"/>
            <a:ext cx="8159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solidFill>
                  <a:srgbClr val="4CFF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c(y)</a:t>
            </a:r>
            <a:endParaRPr lang="en-US" altLang="zh-CN" dirty="0">
              <a:solidFill>
                <a:srgbClr val="4CFF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48" name="Line 10"/>
          <p:cNvSpPr/>
          <p:nvPr/>
        </p:nvSpPr>
        <p:spPr>
          <a:xfrm>
            <a:off x="4081463" y="4352925"/>
            <a:ext cx="0" cy="7937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7049" name="Line 11"/>
          <p:cNvSpPr/>
          <p:nvPr/>
        </p:nvSpPr>
        <p:spPr>
          <a:xfrm>
            <a:off x="5451475" y="3630613"/>
            <a:ext cx="0" cy="15160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7050" name="Line 12"/>
          <p:cNvSpPr/>
          <p:nvPr/>
        </p:nvSpPr>
        <p:spPr>
          <a:xfrm>
            <a:off x="2436813" y="4713288"/>
            <a:ext cx="0" cy="4175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graphicFrame>
        <p:nvGraphicFramePr>
          <p:cNvPr id="87051" name="Object 0"/>
          <p:cNvGraphicFramePr/>
          <p:nvPr/>
        </p:nvGraphicFramePr>
        <p:xfrm>
          <a:off x="5221288" y="5200650"/>
          <a:ext cx="5619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" name="" r:id="rId1" imgW="387350" imgH="300355" progId="Equation.2">
                  <p:embed/>
                </p:oleObj>
              </mc:Choice>
              <mc:Fallback>
                <p:oleObj name="" r:id="rId1" imgW="387350" imgH="300355" progId="Equation.2">
                  <p:embed/>
                  <p:pic>
                    <p:nvPicPr>
                      <p:cNvPr id="0" name="图片 333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21288" y="5200650"/>
                        <a:ext cx="561975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2" name="Object 1"/>
          <p:cNvGraphicFramePr/>
          <p:nvPr/>
        </p:nvGraphicFramePr>
        <p:xfrm>
          <a:off x="3916363" y="5210175"/>
          <a:ext cx="45243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4" name="" r:id="rId3" imgW="318135" imgH="300355" progId="Equation.2">
                  <p:embed/>
                </p:oleObj>
              </mc:Choice>
              <mc:Fallback>
                <p:oleObj name="" r:id="rId3" imgW="318135" imgH="300355" progId="Equation.2">
                  <p:embed/>
                  <p:pic>
                    <p:nvPicPr>
                      <p:cNvPr id="0" name="图片 333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16363" y="5210175"/>
                        <a:ext cx="452437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3" name="Object 2"/>
          <p:cNvGraphicFramePr/>
          <p:nvPr/>
        </p:nvGraphicFramePr>
        <p:xfrm>
          <a:off x="2301875" y="5172075"/>
          <a:ext cx="3571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6" name="" r:id="rId5" imgW="257175" imgH="300355" progId="Equation.2">
                  <p:embed/>
                </p:oleObj>
              </mc:Choice>
              <mc:Fallback>
                <p:oleObj name="" r:id="rId5" imgW="257175" imgH="300355" progId="Equation.2">
                  <p:embed/>
                  <p:pic>
                    <p:nvPicPr>
                      <p:cNvPr id="0" name="图片 333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01875" y="5172075"/>
                        <a:ext cx="357188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4" name="Rectangle 17"/>
          <p:cNvSpPr/>
          <p:nvPr/>
        </p:nvSpPr>
        <p:spPr>
          <a:xfrm>
            <a:off x="5965825" y="2832100"/>
            <a:ext cx="9540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(y)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7055" name="Object 3"/>
          <p:cNvGraphicFramePr/>
          <p:nvPr/>
        </p:nvGraphicFramePr>
        <p:xfrm>
          <a:off x="512763" y="4157663"/>
          <a:ext cx="914400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5" name="" r:id="rId7" imgW="675005" imgH="570230" progId="Equation.2">
                  <p:embed/>
                </p:oleObj>
              </mc:Choice>
              <mc:Fallback>
                <p:oleObj name="" r:id="rId7" imgW="675005" imgH="570230" progId="Equation.2">
                  <p:embed/>
                  <p:pic>
                    <p:nvPicPr>
                      <p:cNvPr id="0" name="图片 333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12763" y="4157663"/>
                        <a:ext cx="914400" cy="757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6" name="Rectangle 19"/>
          <p:cNvSpPr/>
          <p:nvPr/>
        </p:nvSpPr>
        <p:spPr>
          <a:xfrm>
            <a:off x="1646238" y="919163"/>
            <a:ext cx="7042150" cy="18002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Sz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 short-run total cost curve always has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one point in common with the long-run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total cost curve, and is elsewhere higher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than the long-run total cost curve.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57" name="Freeform 20"/>
          <p:cNvSpPr/>
          <p:nvPr/>
        </p:nvSpPr>
        <p:spPr>
          <a:xfrm>
            <a:off x="1476375" y="3219450"/>
            <a:ext cx="4438650" cy="155257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1814512500"/>
              </a:cxn>
              <a:cxn ang="0">
                <a:pos x="2147483646" y="0"/>
              </a:cxn>
            </a:cxnLst>
            <a:pathLst>
              <a:path w="2796" h="978">
                <a:moveTo>
                  <a:pt x="0" y="978"/>
                </a:moveTo>
                <a:cubicBezTo>
                  <a:pt x="592" y="930"/>
                  <a:pt x="1184" y="883"/>
                  <a:pt x="1650" y="720"/>
                </a:cubicBezTo>
                <a:cubicBezTo>
                  <a:pt x="2116" y="557"/>
                  <a:pt x="2456" y="278"/>
                  <a:pt x="2796" y="0"/>
                </a:cubicBezTo>
              </a:path>
            </a:pathLst>
          </a:custGeom>
          <a:noFill/>
          <a:ln w="317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87058" name="Oval 16"/>
          <p:cNvSpPr/>
          <p:nvPr/>
        </p:nvSpPr>
        <p:spPr>
          <a:xfrm>
            <a:off x="3994150" y="4289425"/>
            <a:ext cx="173038" cy="173038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es On Blue">
  <a:themeElements>
    <a:clrScheme name="Lines On Blue 1">
      <a:dk1>
        <a:srgbClr val="000000"/>
      </a:dk1>
      <a:lt1>
        <a:srgbClr val="FFFFFF"/>
      </a:lt1>
      <a:dk2>
        <a:srgbClr val="000000"/>
      </a:dk2>
      <a:lt2>
        <a:srgbClr val="FFFF00"/>
      </a:lt2>
      <a:accent1>
        <a:srgbClr val="FF9933"/>
      </a:accent1>
      <a:accent2>
        <a:srgbClr val="0000FF"/>
      </a:accent2>
      <a:accent3>
        <a:srgbClr val="AAAAAA"/>
      </a:accent3>
      <a:accent4>
        <a:srgbClr val="DADADA"/>
      </a:accent4>
      <a:accent5>
        <a:srgbClr val="FFCAAD"/>
      </a:accent5>
      <a:accent6>
        <a:srgbClr val="0000E7"/>
      </a:accent6>
      <a:hlink>
        <a:srgbClr val="FF33CC"/>
      </a:hlink>
      <a:folHlink>
        <a:srgbClr val="000080"/>
      </a:folHlink>
    </a:clrScheme>
    <a:fontScheme name="Lines On Blue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ines On Blue 1">
        <a:dk1>
          <a:srgbClr val="000000"/>
        </a:dk1>
        <a:lt1>
          <a:srgbClr val="FFFFFF"/>
        </a:lt1>
        <a:dk2>
          <a:srgbClr val="000000"/>
        </a:dk2>
        <a:lt2>
          <a:srgbClr val="FFFF00"/>
        </a:lt2>
        <a:accent1>
          <a:srgbClr val="FF9933"/>
        </a:accent1>
        <a:accent2>
          <a:srgbClr val="0000FF"/>
        </a:accent2>
        <a:accent3>
          <a:srgbClr val="AAAAAA"/>
        </a:accent3>
        <a:accent4>
          <a:srgbClr val="DADADA"/>
        </a:accent4>
        <a:accent5>
          <a:srgbClr val="FFCAAD"/>
        </a:accent5>
        <a:accent6>
          <a:srgbClr val="0000E7"/>
        </a:accent6>
        <a:hlink>
          <a:srgbClr val="FF33CC"/>
        </a:hlink>
        <a:folHlink>
          <a:srgbClr val="000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nes On Blue 2">
        <a:dk1>
          <a:srgbClr val="000000"/>
        </a:dk1>
        <a:lt1>
          <a:srgbClr val="CCCCFF"/>
        </a:lt1>
        <a:dk2>
          <a:srgbClr val="660066"/>
        </a:dk2>
        <a:lt2>
          <a:srgbClr val="99CCFF"/>
        </a:lt2>
        <a:accent1>
          <a:srgbClr val="33CCFF"/>
        </a:accent1>
        <a:accent2>
          <a:srgbClr val="6699FF"/>
        </a:accent2>
        <a:accent3>
          <a:srgbClr val="E2E2FF"/>
        </a:accent3>
        <a:accent4>
          <a:srgbClr val="000000"/>
        </a:accent4>
        <a:accent5>
          <a:srgbClr val="ADE2FF"/>
        </a:accent5>
        <a:accent6>
          <a:srgbClr val="5C8AE7"/>
        </a:accent6>
        <a:hlink>
          <a:srgbClr val="6666FF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nes On Blue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878787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nes On Blue 4">
        <a:dk1>
          <a:srgbClr val="000066"/>
        </a:dk1>
        <a:lt1>
          <a:srgbClr val="EAEAEA"/>
        </a:lt1>
        <a:dk2>
          <a:srgbClr val="660066"/>
        </a:dk2>
        <a:lt2>
          <a:srgbClr val="CBCBCB"/>
        </a:lt2>
        <a:accent1>
          <a:srgbClr val="330099"/>
        </a:accent1>
        <a:accent2>
          <a:srgbClr val="FF7C80"/>
        </a:accent2>
        <a:accent3>
          <a:srgbClr val="B8AAB8"/>
        </a:accent3>
        <a:accent4>
          <a:srgbClr val="C8C8C8"/>
        </a:accent4>
        <a:accent5>
          <a:srgbClr val="ADAACA"/>
        </a:accent5>
        <a:accent6>
          <a:srgbClr val="E77073"/>
        </a:accent6>
        <a:hlink>
          <a:srgbClr val="6666FF"/>
        </a:hlink>
        <a:folHlink>
          <a:srgbClr val="D6009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nes On Blue 5">
        <a:dk1>
          <a:srgbClr val="000080"/>
        </a:dk1>
        <a:lt1>
          <a:srgbClr val="EAEAEA"/>
        </a:lt1>
        <a:dk2>
          <a:srgbClr val="9933FF"/>
        </a:dk2>
        <a:lt2>
          <a:srgbClr val="CBCBCB"/>
        </a:lt2>
        <a:accent1>
          <a:srgbClr val="00CC99"/>
        </a:accent1>
        <a:accent2>
          <a:srgbClr val="00CCFF"/>
        </a:accent2>
        <a:accent3>
          <a:srgbClr val="CAADFF"/>
        </a:accent3>
        <a:accent4>
          <a:srgbClr val="C8C8C8"/>
        </a:accent4>
        <a:accent5>
          <a:srgbClr val="AAE2CA"/>
        </a:accent5>
        <a:accent6>
          <a:srgbClr val="00B9E7"/>
        </a:accent6>
        <a:hlink>
          <a:srgbClr val="6666FF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nes On Blue 6">
        <a:dk1>
          <a:srgbClr val="000000"/>
        </a:dk1>
        <a:lt1>
          <a:srgbClr val="FFFFCC"/>
        </a:lt1>
        <a:dk2>
          <a:srgbClr val="660066"/>
        </a:dk2>
        <a:lt2>
          <a:srgbClr val="FFFFFF"/>
        </a:lt2>
        <a:accent1>
          <a:srgbClr val="99CCFF"/>
        </a:accent1>
        <a:accent2>
          <a:srgbClr val="FFCC99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E7B98A"/>
        </a:accent6>
        <a:hlink>
          <a:srgbClr val="CCCCFF"/>
        </a:hlink>
        <a:folHlink>
          <a:srgbClr val="FFCC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Lines On Blue 1">
    <a:dk1>
      <a:srgbClr val="000000"/>
    </a:dk1>
    <a:lt1>
      <a:srgbClr val="FFFFFF"/>
    </a:lt1>
    <a:dk2>
      <a:srgbClr val="000000"/>
    </a:dk2>
    <a:lt2>
      <a:srgbClr val="FFFF00"/>
    </a:lt2>
    <a:accent1>
      <a:srgbClr val="FF9933"/>
    </a:accent1>
    <a:accent2>
      <a:srgbClr val="0000FF"/>
    </a:accent2>
    <a:accent3>
      <a:srgbClr val="AAAAAA"/>
    </a:accent3>
    <a:accent4>
      <a:srgbClr val="DADADA"/>
    </a:accent4>
    <a:accent5>
      <a:srgbClr val="FFCAAD"/>
    </a:accent5>
    <a:accent6>
      <a:srgbClr val="0000E7"/>
    </a:accent6>
    <a:hlink>
      <a:srgbClr val="FF33CC"/>
    </a:hlink>
    <a:folHlink>
      <a:srgbClr val="0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C:\MSOFFICE\Templates\Presentation Designs\Lines On Blue.pot</Template>
  <TotalTime>0</TotalTime>
  <Words>12072</Words>
  <Application>WPS 演示</Application>
  <PresentationFormat>全屏显示(4:3)</PresentationFormat>
  <Paragraphs>724</Paragraphs>
  <Slides>82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267</vt:i4>
      </vt:variant>
      <vt:variant>
        <vt:lpstr>幻灯片标题</vt:lpstr>
      </vt:variant>
      <vt:variant>
        <vt:i4>82</vt:i4>
      </vt:variant>
    </vt:vector>
  </HeadingPairs>
  <TitlesOfParts>
    <vt:vector size="360" baseType="lpstr">
      <vt:lpstr>Arial</vt:lpstr>
      <vt:lpstr>宋体</vt:lpstr>
      <vt:lpstr>Wingdings</vt:lpstr>
      <vt:lpstr>Times New Roman</vt:lpstr>
      <vt:lpstr>Monotype Sorts</vt:lpstr>
      <vt:lpstr>Wingdings</vt:lpstr>
      <vt:lpstr>黑体</vt:lpstr>
      <vt:lpstr>Symbol</vt:lpstr>
      <vt:lpstr>Times New Roman</vt:lpstr>
      <vt:lpstr>Arial Unicode MS</vt:lpstr>
      <vt:lpstr>Lines On Blue</vt:lpstr>
      <vt:lpstr>Equation.2</vt:lpstr>
      <vt:lpstr>Equation.2</vt:lpstr>
      <vt:lpstr>PowerPoint.Slide.8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PowerPoint.Slide.8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Equation.3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PowerPoint.Slide.8</vt:lpstr>
      <vt:lpstr>Equation.2</vt:lpstr>
      <vt:lpstr>Equation.2</vt:lpstr>
      <vt:lpstr>Equation.2</vt:lpstr>
      <vt:lpstr>Equation.2</vt:lpstr>
      <vt:lpstr>PowerPoint.Slide.8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PowerPoint.Slide.8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Equation.DSMT4</vt:lpstr>
      <vt:lpstr>Equation.2</vt:lpstr>
      <vt:lpstr>Equation.2</vt:lpstr>
      <vt:lpstr>Equation.2</vt:lpstr>
      <vt:lpstr>Equation.2</vt:lpstr>
      <vt:lpstr>PowerPoint.Slide.8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Nineteen</dc:title>
  <dc:creator>Gateway Authorized Customer</dc:creator>
  <cp:lastModifiedBy>蒋士成</cp:lastModifiedBy>
  <cp:revision>35</cp:revision>
  <dcterms:created xsi:type="dcterms:W3CDTF">1997-03-05T15:04:34Z</dcterms:created>
  <dcterms:modified xsi:type="dcterms:W3CDTF">2023-12-29T07:10:40Z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3C74CD94962441CDB517BA05E6F4D9C1_13</vt:lpwstr>
  </property>
</Properties>
</file>
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4"/>
  </p:notesMasterIdLst>
  <p:sldIdLst>
    <p:sldId id="256" r:id="rId3"/>
    <p:sldId id="258" r:id="rId4"/>
    <p:sldId id="260" r:id="rId5"/>
    <p:sldId id="257" r:id="rId6"/>
    <p:sldId id="259" r:id="rId7"/>
    <p:sldId id="261" r:id="rId8"/>
    <p:sldId id="262" r:id="rId9"/>
    <p:sldId id="329" r:id="rId10"/>
    <p:sldId id="390" r:id="rId11"/>
    <p:sldId id="266" r:id="rId12"/>
    <p:sldId id="267" r:id="rId13"/>
    <p:sldId id="268" r:id="rId14"/>
    <p:sldId id="269" r:id="rId15"/>
    <p:sldId id="270" r:id="rId16"/>
    <p:sldId id="282" r:id="rId17"/>
    <p:sldId id="279" r:id="rId18"/>
    <p:sldId id="280" r:id="rId19"/>
    <p:sldId id="281" r:id="rId20"/>
    <p:sldId id="283" r:id="rId21"/>
    <p:sldId id="284" r:id="rId22"/>
    <p:sldId id="285" r:id="rId23"/>
    <p:sldId id="286" r:id="rId24"/>
    <p:sldId id="287" r:id="rId25"/>
    <p:sldId id="309" r:id="rId26"/>
    <p:sldId id="310" r:id="rId27"/>
    <p:sldId id="330" r:id="rId28"/>
    <p:sldId id="331" r:id="rId29"/>
    <p:sldId id="311" r:id="rId30"/>
    <p:sldId id="317" r:id="rId31"/>
    <p:sldId id="288" r:id="rId32"/>
    <p:sldId id="289" r:id="rId33"/>
    <p:sldId id="290" r:id="rId34"/>
    <p:sldId id="291" r:id="rId35"/>
    <p:sldId id="292" r:id="rId36"/>
    <p:sldId id="293" r:id="rId37"/>
    <p:sldId id="314" r:id="rId38"/>
    <p:sldId id="318" r:id="rId39"/>
    <p:sldId id="319" r:id="rId40"/>
    <p:sldId id="294" r:id="rId41"/>
    <p:sldId id="295" r:id="rId42"/>
    <p:sldId id="296" r:id="rId43"/>
    <p:sldId id="297" r:id="rId44"/>
    <p:sldId id="298" r:id="rId45"/>
    <p:sldId id="299" r:id="rId46"/>
    <p:sldId id="320" r:id="rId47"/>
    <p:sldId id="321" r:id="rId48"/>
    <p:sldId id="322" r:id="rId49"/>
    <p:sldId id="300" r:id="rId50"/>
    <p:sldId id="301" r:id="rId51"/>
    <p:sldId id="308" r:id="rId52"/>
    <p:sldId id="302" r:id="rId53"/>
    <p:sldId id="304" r:id="rId54"/>
    <p:sldId id="305" r:id="rId55"/>
    <p:sldId id="306" r:id="rId56"/>
    <p:sldId id="307" r:id="rId57"/>
    <p:sldId id="334" r:id="rId58"/>
    <p:sldId id="332" r:id="rId59"/>
    <p:sldId id="333" r:id="rId60"/>
    <p:sldId id="335" r:id="rId61"/>
    <p:sldId id="336" r:id="rId62"/>
    <p:sldId id="338" r:id="rId63"/>
    <p:sldId id="337" r:id="rId64"/>
    <p:sldId id="339" r:id="rId65"/>
    <p:sldId id="340" r:id="rId66"/>
    <p:sldId id="341" r:id="rId67"/>
    <p:sldId id="342" r:id="rId68"/>
    <p:sldId id="343" r:id="rId69"/>
    <p:sldId id="345" r:id="rId70"/>
    <p:sldId id="344" r:id="rId71"/>
    <p:sldId id="346" r:id="rId72"/>
    <p:sldId id="347" r:id="rId73"/>
    <p:sldId id="348" r:id="rId74"/>
    <p:sldId id="349" r:id="rId75"/>
    <p:sldId id="350" r:id="rId76"/>
    <p:sldId id="351" r:id="rId77"/>
    <p:sldId id="353" r:id="rId78"/>
    <p:sldId id="354" r:id="rId79"/>
    <p:sldId id="356" r:id="rId80"/>
    <p:sldId id="357" r:id="rId81"/>
    <p:sldId id="358" r:id="rId82"/>
    <p:sldId id="359" r:id="rId83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5AFF24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notesMaster" Target="notesMasters/notesMaster1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emf"/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9.emf"/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26.emf"/><Relationship Id="rId4" Type="http://schemas.openxmlformats.org/officeDocument/2006/relationships/image" Target="../media/image25.emf"/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4" Type="http://schemas.openxmlformats.org/officeDocument/2006/relationships/image" Target="../media/image30.emf"/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2.vml.rels><?xml version="1.0" encoding="UTF-8" standalone="yes"?>
<Relationships xmlns="http://schemas.openxmlformats.org/package/2006/relationships"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3.vml.rels><?xml version="1.0" encoding="UTF-8" standalone="yes"?>
<Relationships xmlns="http://schemas.openxmlformats.org/package/2006/relationships"><Relationship Id="rId7" Type="http://schemas.openxmlformats.org/officeDocument/2006/relationships/image" Target="../media/image45.emf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49.emf"/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54.emf"/><Relationship Id="rId4" Type="http://schemas.openxmlformats.org/officeDocument/2006/relationships/image" Target="../media/image53.emf"/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58.emf"/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image" Target="../media/image62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/Relationships>
</file>

<file path=ppt/drawings/_rels/vmlDrawing20.vml.rels><?xml version="1.0" encoding="UTF-8" standalone="yes"?>
<Relationships xmlns="http://schemas.openxmlformats.org/package/2006/relationships"><Relationship Id="rId4" Type="http://schemas.openxmlformats.org/officeDocument/2006/relationships/image" Target="../media/image70.emf"/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image" Target="../media/image67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image" Target="../media/image71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image" Target="../media/image73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24.vml.rels><?xml version="1.0" encoding="UTF-8" standalone="yes"?>
<Relationships xmlns="http://schemas.openxmlformats.org/package/2006/relationships"><Relationship Id="rId7" Type="http://schemas.openxmlformats.org/officeDocument/2006/relationships/image" Target="../media/image83.emf"/><Relationship Id="rId6" Type="http://schemas.openxmlformats.org/officeDocument/2006/relationships/image" Target="../media/image82.emf"/><Relationship Id="rId5" Type="http://schemas.openxmlformats.org/officeDocument/2006/relationships/image" Target="../media/image81.emf"/><Relationship Id="rId4" Type="http://schemas.openxmlformats.org/officeDocument/2006/relationships/image" Target="../media/image80.emf"/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/Relationships>
</file>

<file path=ppt/drawings/_rels/vmlDrawing25.vml.rels><?xml version="1.0" encoding="UTF-8" standalone="yes"?>
<Relationships xmlns="http://schemas.openxmlformats.org/package/2006/relationships"><Relationship Id="rId4" Type="http://schemas.openxmlformats.org/officeDocument/2006/relationships/image" Target="../media/image87.emf"/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/Relationships>
</file>

<file path=ppt/drawings/_rels/vmlDrawing26.vml.rels><?xml version="1.0" encoding="UTF-8" standalone="yes"?>
<Relationships xmlns="http://schemas.openxmlformats.org/package/2006/relationships"><Relationship Id="rId4" Type="http://schemas.openxmlformats.org/officeDocument/2006/relationships/image" Target="../media/image91.emf"/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image" Target="../media/image88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image" Target="../media/image92.emf"/></Relationships>
</file>

<file path=ppt/drawings/_rels/vmlDrawing28.vml.rels><?xml version="1.0" encoding="UTF-8" standalone="yes"?>
<Relationships xmlns="http://schemas.openxmlformats.org/package/2006/relationships"><Relationship Id="rId4" Type="http://schemas.openxmlformats.org/officeDocument/2006/relationships/image" Target="../media/image98.emf"/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image" Target="../media/image95.emf"/></Relationships>
</file>

<file path=ppt/drawings/_rels/vmlDrawing29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3.emf"/><Relationship Id="rId4" Type="http://schemas.openxmlformats.org/officeDocument/2006/relationships/image" Target="../media/image102.emf"/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image" Target="../media/image99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emf"/></Relationships>
</file>

<file path=ppt/drawings/_rels/vmlDrawing3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1.emf"/><Relationship Id="rId6" Type="http://schemas.openxmlformats.org/officeDocument/2006/relationships/image" Target="../media/image110.emf"/><Relationship Id="rId5" Type="http://schemas.openxmlformats.org/officeDocument/2006/relationships/image" Target="../media/image109.emf"/><Relationship Id="rId4" Type="http://schemas.openxmlformats.org/officeDocument/2006/relationships/image" Target="../media/image108.emf"/><Relationship Id="rId3" Type="http://schemas.openxmlformats.org/officeDocument/2006/relationships/image" Target="../media/image107.emf"/><Relationship Id="rId2" Type="http://schemas.openxmlformats.org/officeDocument/2006/relationships/image" Target="../media/image106.emf"/><Relationship Id="rId1" Type="http://schemas.openxmlformats.org/officeDocument/2006/relationships/image" Target="../media/image105.emf"/></Relationships>
</file>

<file path=ppt/drawings/_rels/vmlDrawing3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8.emf"/><Relationship Id="rId6" Type="http://schemas.openxmlformats.org/officeDocument/2006/relationships/image" Target="../media/image117.emf"/><Relationship Id="rId5" Type="http://schemas.openxmlformats.org/officeDocument/2006/relationships/image" Target="../media/image116.emf"/><Relationship Id="rId4" Type="http://schemas.openxmlformats.org/officeDocument/2006/relationships/image" Target="../media/image115.emf"/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image" Target="../media/image112.emf"/></Relationships>
</file>

<file path=ppt/drawings/_rels/vmlDrawing3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5.emf"/><Relationship Id="rId6" Type="http://schemas.openxmlformats.org/officeDocument/2006/relationships/image" Target="../media/image124.emf"/><Relationship Id="rId5" Type="http://schemas.openxmlformats.org/officeDocument/2006/relationships/image" Target="../media/image123.emf"/><Relationship Id="rId4" Type="http://schemas.openxmlformats.org/officeDocument/2006/relationships/image" Target="../media/image122.emf"/><Relationship Id="rId3" Type="http://schemas.openxmlformats.org/officeDocument/2006/relationships/image" Target="../media/image121.emf"/><Relationship Id="rId2" Type="http://schemas.openxmlformats.org/officeDocument/2006/relationships/image" Target="../media/image120.emf"/><Relationship Id="rId1" Type="http://schemas.openxmlformats.org/officeDocument/2006/relationships/image" Target="../media/image119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emf"/><Relationship Id="rId2" Type="http://schemas.openxmlformats.org/officeDocument/2006/relationships/image" Target="../media/image127.emf"/><Relationship Id="rId1" Type="http://schemas.openxmlformats.org/officeDocument/2006/relationships/image" Target="../media/image126.emf"/></Relationships>
</file>

<file path=ppt/drawings/_rels/vmlDrawing3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2.emf"/><Relationship Id="rId3" Type="http://schemas.openxmlformats.org/officeDocument/2006/relationships/image" Target="../media/image131.emf"/><Relationship Id="rId2" Type="http://schemas.openxmlformats.org/officeDocument/2006/relationships/image" Target="../media/image130.emf"/><Relationship Id="rId1" Type="http://schemas.openxmlformats.org/officeDocument/2006/relationships/image" Target="../media/image129.emf"/></Relationships>
</file>

<file path=ppt/drawings/_rels/vmlDrawing3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37.emf"/><Relationship Id="rId4" Type="http://schemas.openxmlformats.org/officeDocument/2006/relationships/image" Target="../media/image136.emf"/><Relationship Id="rId3" Type="http://schemas.openxmlformats.org/officeDocument/2006/relationships/image" Target="../media/image135.emf"/><Relationship Id="rId2" Type="http://schemas.openxmlformats.org/officeDocument/2006/relationships/image" Target="../media/image134.emf"/><Relationship Id="rId1" Type="http://schemas.openxmlformats.org/officeDocument/2006/relationships/image" Target="../media/image133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8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9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emf"/><Relationship Id="rId2" Type="http://schemas.openxmlformats.org/officeDocument/2006/relationships/image" Target="../media/image141.emf"/><Relationship Id="rId1" Type="http://schemas.openxmlformats.org/officeDocument/2006/relationships/image" Target="../media/image140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image" Target="../media/image144.emf"/><Relationship Id="rId1" Type="http://schemas.openxmlformats.org/officeDocument/2006/relationships/image" Target="../media/image143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emf"/><Relationship Id="rId2" Type="http://schemas.openxmlformats.org/officeDocument/2006/relationships/image" Target="../media/image147.emf"/><Relationship Id="rId1" Type="http://schemas.openxmlformats.org/officeDocument/2006/relationships/image" Target="../media/image146.emf"/></Relationships>
</file>

<file path=ppt/drawings/_rels/vmlDrawing4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7.emf"/><Relationship Id="rId8" Type="http://schemas.openxmlformats.org/officeDocument/2006/relationships/image" Target="../media/image156.emf"/><Relationship Id="rId7" Type="http://schemas.openxmlformats.org/officeDocument/2006/relationships/image" Target="../media/image155.emf"/><Relationship Id="rId6" Type="http://schemas.openxmlformats.org/officeDocument/2006/relationships/image" Target="../media/image154.emf"/><Relationship Id="rId5" Type="http://schemas.openxmlformats.org/officeDocument/2006/relationships/image" Target="../media/image153.emf"/><Relationship Id="rId4" Type="http://schemas.openxmlformats.org/officeDocument/2006/relationships/image" Target="../media/image152.emf"/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0" Type="http://schemas.openxmlformats.org/officeDocument/2006/relationships/image" Target="../media/image158.emf"/><Relationship Id="rId1" Type="http://schemas.openxmlformats.org/officeDocument/2006/relationships/image" Target="../media/image149.emf"/></Relationships>
</file>

<file path=ppt/drawings/_rels/vmlDrawing4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7.emf"/><Relationship Id="rId8" Type="http://schemas.openxmlformats.org/officeDocument/2006/relationships/image" Target="../media/image166.emf"/><Relationship Id="rId7" Type="http://schemas.openxmlformats.org/officeDocument/2006/relationships/image" Target="../media/image165.emf"/><Relationship Id="rId6" Type="http://schemas.openxmlformats.org/officeDocument/2006/relationships/image" Target="../media/image164.emf"/><Relationship Id="rId5" Type="http://schemas.openxmlformats.org/officeDocument/2006/relationships/image" Target="../media/image163.emf"/><Relationship Id="rId4" Type="http://schemas.openxmlformats.org/officeDocument/2006/relationships/image" Target="../media/image162.emf"/><Relationship Id="rId3" Type="http://schemas.openxmlformats.org/officeDocument/2006/relationships/image" Target="../media/image161.emf"/><Relationship Id="rId2" Type="http://schemas.openxmlformats.org/officeDocument/2006/relationships/image" Target="../media/image160.emf"/><Relationship Id="rId10" Type="http://schemas.openxmlformats.org/officeDocument/2006/relationships/image" Target="../media/image168.emf"/><Relationship Id="rId1" Type="http://schemas.openxmlformats.org/officeDocument/2006/relationships/image" Target="../media/image159.emf"/></Relationships>
</file>

<file path=ppt/drawings/_rels/vmlDrawing4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emf"/><Relationship Id="rId8" Type="http://schemas.openxmlformats.org/officeDocument/2006/relationships/image" Target="../media/image176.emf"/><Relationship Id="rId7" Type="http://schemas.openxmlformats.org/officeDocument/2006/relationships/image" Target="../media/image175.emf"/><Relationship Id="rId6" Type="http://schemas.openxmlformats.org/officeDocument/2006/relationships/image" Target="../media/image174.emf"/><Relationship Id="rId5" Type="http://schemas.openxmlformats.org/officeDocument/2006/relationships/image" Target="../media/image173.emf"/><Relationship Id="rId4" Type="http://schemas.openxmlformats.org/officeDocument/2006/relationships/image" Target="../media/image172.emf"/><Relationship Id="rId3" Type="http://schemas.openxmlformats.org/officeDocument/2006/relationships/image" Target="../media/image171.emf"/><Relationship Id="rId2" Type="http://schemas.openxmlformats.org/officeDocument/2006/relationships/image" Target="../media/image170.emf"/><Relationship Id="rId10" Type="http://schemas.openxmlformats.org/officeDocument/2006/relationships/image" Target="../media/image178.emf"/><Relationship Id="rId1" Type="http://schemas.openxmlformats.org/officeDocument/2006/relationships/image" Target="../media/image169.e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emf"/><Relationship Id="rId1" Type="http://schemas.openxmlformats.org/officeDocument/2006/relationships/image" Target="../media/image179.e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emf"/><Relationship Id="rId2" Type="http://schemas.openxmlformats.org/officeDocument/2006/relationships/image" Target="../media/image182.emf"/><Relationship Id="rId1" Type="http://schemas.openxmlformats.org/officeDocument/2006/relationships/image" Target="../media/image181.e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emf"/><Relationship Id="rId1" Type="http://schemas.openxmlformats.org/officeDocument/2006/relationships/image" Target="../media/image184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emf"/><Relationship Id="rId2" Type="http://schemas.openxmlformats.org/officeDocument/2006/relationships/image" Target="../media/image187.emf"/><Relationship Id="rId1" Type="http://schemas.openxmlformats.org/officeDocument/2006/relationships/image" Target="../media/image186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9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0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1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2.e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emf"/><Relationship Id="rId2" Type="http://schemas.openxmlformats.org/officeDocument/2006/relationships/image" Target="../media/image194.emf"/><Relationship Id="rId1" Type="http://schemas.openxmlformats.org/officeDocument/2006/relationships/image" Target="../media/image193.emf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emf"/><Relationship Id="rId1" Type="http://schemas.openxmlformats.org/officeDocument/2006/relationships/image" Target="../media/image196.e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emf"/><Relationship Id="rId2" Type="http://schemas.openxmlformats.org/officeDocument/2006/relationships/image" Target="../media/image199.emf"/><Relationship Id="rId1" Type="http://schemas.openxmlformats.org/officeDocument/2006/relationships/image" Target="../media/image198.emf"/></Relationships>
</file>

<file path=ppt/drawings/_rels/vmlDrawing5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emf"/><Relationship Id="rId1" Type="http://schemas.openxmlformats.org/officeDocument/2006/relationships/image" Target="../media/image201.e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emf"/><Relationship Id="rId2" Type="http://schemas.openxmlformats.org/officeDocument/2006/relationships/image" Target="../media/image204.emf"/><Relationship Id="rId1" Type="http://schemas.openxmlformats.org/officeDocument/2006/relationships/image" Target="../media/image203.emf"/></Relationships>
</file>

<file path=ppt/drawings/_rels/vmlDrawing5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emf"/><Relationship Id="rId1" Type="http://schemas.openxmlformats.org/officeDocument/2006/relationships/image" Target="../media/image206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8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9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0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9"/>
          <p:cNvGrpSpPr/>
          <p:nvPr/>
        </p:nvGrpSpPr>
        <p:grpSpPr>
          <a:xfrm>
            <a:off x="0" y="2760663"/>
            <a:ext cx="9151938" cy="4113212"/>
            <a:chOff x="0" y="1739"/>
            <a:chExt cx="5765" cy="2591"/>
          </a:xfrm>
        </p:grpSpPr>
        <p:grpSp>
          <p:nvGrpSpPr>
            <p:cNvPr id="2051" name="Group 17"/>
            <p:cNvGrpSpPr/>
            <p:nvPr/>
          </p:nvGrpSpPr>
          <p:grpSpPr>
            <a:xfrm>
              <a:off x="0" y="3652"/>
              <a:ext cx="5765" cy="678"/>
              <a:chOff x="0" y="3652"/>
              <a:chExt cx="5765" cy="678"/>
            </a:xfrm>
          </p:grpSpPr>
          <p:sp>
            <p:nvSpPr>
              <p:cNvPr id="2052" name="Rectangle 2"/>
              <p:cNvSpPr/>
              <p:nvPr/>
            </p:nvSpPr>
            <p:spPr>
              <a:xfrm>
                <a:off x="0" y="3676"/>
                <a:ext cx="5764" cy="643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 eaLnBrk="0" hangingPunc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053" name="Group 16"/>
              <p:cNvGrpSpPr/>
              <p:nvPr/>
            </p:nvGrpSpPr>
            <p:grpSpPr>
              <a:xfrm>
                <a:off x="0" y="3652"/>
                <a:ext cx="5765" cy="678"/>
                <a:chOff x="0" y="3652"/>
                <a:chExt cx="5765" cy="678"/>
              </a:xfrm>
            </p:grpSpPr>
            <p:sp useBgFill="1">
              <p:nvSpPr>
                <p:cNvPr id="2054" name="Freeform 3"/>
                <p:cNvSpPr/>
                <p:nvPr/>
              </p:nvSpPr>
              <p:spPr>
                <a:xfrm>
                  <a:off x="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5" name="Freeform 4"/>
                <p:cNvSpPr/>
                <p:nvPr/>
              </p:nvSpPr>
              <p:spPr>
                <a:xfrm>
                  <a:off x="43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6" name="Freeform 5"/>
                <p:cNvSpPr/>
                <p:nvPr/>
              </p:nvSpPr>
              <p:spPr>
                <a:xfrm>
                  <a:off x="87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7" name="Freeform 6"/>
                <p:cNvSpPr/>
                <p:nvPr/>
              </p:nvSpPr>
              <p:spPr>
                <a:xfrm>
                  <a:off x="132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8" name="Freeform 7"/>
                <p:cNvSpPr/>
                <p:nvPr/>
              </p:nvSpPr>
              <p:spPr>
                <a:xfrm>
                  <a:off x="176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9" name="Freeform 8"/>
                <p:cNvSpPr/>
                <p:nvPr/>
              </p:nvSpPr>
              <p:spPr>
                <a:xfrm>
                  <a:off x="221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0" name="Freeform 9"/>
                <p:cNvSpPr/>
                <p:nvPr/>
              </p:nvSpPr>
              <p:spPr>
                <a:xfrm>
                  <a:off x="2646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1" name="Freeform 10"/>
                <p:cNvSpPr/>
                <p:nvPr/>
              </p:nvSpPr>
              <p:spPr>
                <a:xfrm>
                  <a:off x="3090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2" name="Freeform 11"/>
                <p:cNvSpPr/>
                <p:nvPr/>
              </p:nvSpPr>
              <p:spPr>
                <a:xfrm>
                  <a:off x="3547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3" name="Freeform 12"/>
                <p:cNvSpPr/>
                <p:nvPr/>
              </p:nvSpPr>
              <p:spPr>
                <a:xfrm>
                  <a:off x="4004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4" name="Freeform 13"/>
                <p:cNvSpPr/>
                <p:nvPr/>
              </p:nvSpPr>
              <p:spPr>
                <a:xfrm>
                  <a:off x="4473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5" name="Freeform 14"/>
                <p:cNvSpPr/>
                <p:nvPr/>
              </p:nvSpPr>
              <p:spPr>
                <a:xfrm>
                  <a:off x="493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6" name="Freeform 15"/>
                <p:cNvSpPr/>
                <p:nvPr/>
              </p:nvSpPr>
              <p:spPr>
                <a:xfrm>
                  <a:off x="5403" y="3825"/>
                  <a:ext cx="362" cy="505"/>
                </a:xfrm>
                <a:custGeom>
                  <a:avLst/>
                  <a:gdLst/>
                  <a:ahLst/>
                  <a:cxnLst>
                    <a:cxn ang="0">
                      <a:pos x="0" y="504"/>
                    </a:cxn>
                    <a:cxn ang="0">
                      <a:pos x="361" y="0"/>
                    </a:cxn>
                    <a:cxn ang="0">
                      <a:pos x="361" y="122"/>
                    </a:cxn>
                    <a:cxn ang="0">
                      <a:pos x="96" y="504"/>
                    </a:cxn>
                    <a:cxn ang="0">
                      <a:pos x="0" y="504"/>
                    </a:cxn>
                  </a:cxnLst>
                  <a:pathLst>
                    <a:path w="362" h="505">
                      <a:moveTo>
                        <a:pt x="0" y="504"/>
                      </a:moveTo>
                      <a:lnTo>
                        <a:pt x="361" y="0"/>
                      </a:lnTo>
                      <a:lnTo>
                        <a:pt x="361" y="122"/>
                      </a:lnTo>
                      <a:lnTo>
                        <a:pt x="96" y="504"/>
                      </a:lnTo>
                      <a:lnTo>
                        <a:pt x="0" y="504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2067" name="Freeform 18"/>
            <p:cNvSpPr/>
            <p:nvPr/>
          </p:nvSpPr>
          <p:spPr>
            <a:xfrm>
              <a:off x="0" y="1739"/>
              <a:ext cx="516" cy="9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15" y="0"/>
                </a:cxn>
                <a:cxn ang="0">
                  <a:pos x="0" y="912"/>
                </a:cxn>
                <a:cxn ang="0">
                  <a:pos x="0" y="0"/>
                </a:cxn>
              </a:cxnLst>
              <a:pathLst>
                <a:path w="516" h="913">
                  <a:moveTo>
                    <a:pt x="0" y="0"/>
                  </a:moveTo>
                  <a:lnTo>
                    <a:pt x="515" y="0"/>
                  </a:lnTo>
                  <a:lnTo>
                    <a:pt x="0" y="912"/>
                  </a:ln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092" name="Rectangle 2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en-US" altLang="zh-CN" strike="noStrike" noProof="1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fontAlgn="base"/>
            <a:r>
              <a:rPr lang="en-US" altLang="zh-CN" strike="noStrike" noProof="1"/>
              <a:t>Click to edit Master subtitle style</a:t>
            </a:r>
            <a:endParaRPr lang="en-US" altLang="zh-CN" strike="noStrike" noProof="1"/>
          </a:p>
        </p:txBody>
      </p:sp>
      <p:sp>
        <p:nvSpPr>
          <p:cNvPr id="41" name="Rectangle 22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2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32BA0F-FBEB-4539-B0F8-05DEFB5C0EB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E967E2-AC1B-4294-B0A8-D9C259780B5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E967E2-AC1B-4294-B0A8-D9C259780B5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714500"/>
            <a:ext cx="3810000" cy="4152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4500"/>
            <a:ext cx="3810000" cy="4152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E967E2-AC1B-4294-B0A8-D9C259780B5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E967E2-AC1B-4294-B0A8-D9C259780B5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E967E2-AC1B-4294-B0A8-D9C259780B5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E967E2-AC1B-4294-B0A8-D9C259780B5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E967E2-AC1B-4294-B0A8-D9C259780B5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E967E2-AC1B-4294-B0A8-D9C259780B5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E967E2-AC1B-4294-B0A8-D9C259780B5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4413" cy="5867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5867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E967E2-AC1B-4294-B0A8-D9C259780B5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7"/>
          <p:cNvGrpSpPr/>
          <p:nvPr/>
        </p:nvGrpSpPr>
        <p:grpSpPr>
          <a:xfrm>
            <a:off x="0" y="5797550"/>
            <a:ext cx="9167813" cy="1076325"/>
            <a:chOff x="0" y="3652"/>
            <a:chExt cx="5775" cy="678"/>
          </a:xfrm>
        </p:grpSpPr>
        <p:sp>
          <p:nvSpPr>
            <p:cNvPr id="1027" name="Rectangle 2"/>
            <p:cNvSpPr/>
            <p:nvPr/>
          </p:nvSpPr>
          <p:spPr>
            <a:xfrm>
              <a:off x="0" y="3676"/>
              <a:ext cx="5774" cy="64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eaLnBrk="0" hangingPunc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028" name="Group 16"/>
            <p:cNvGrpSpPr/>
            <p:nvPr/>
          </p:nvGrpSpPr>
          <p:grpSpPr>
            <a:xfrm>
              <a:off x="0" y="3652"/>
              <a:ext cx="5775" cy="678"/>
              <a:chOff x="0" y="3652"/>
              <a:chExt cx="5775" cy="678"/>
            </a:xfrm>
          </p:grpSpPr>
          <p:sp useBgFill="1">
            <p:nvSpPr>
              <p:cNvPr id="1029" name="Freeform 3"/>
              <p:cNvSpPr/>
              <p:nvPr/>
            </p:nvSpPr>
            <p:spPr>
              <a:xfrm>
                <a:off x="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0" name="Freeform 4"/>
              <p:cNvSpPr/>
              <p:nvPr/>
            </p:nvSpPr>
            <p:spPr>
              <a:xfrm>
                <a:off x="43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1" name="Freeform 5"/>
              <p:cNvSpPr/>
              <p:nvPr/>
            </p:nvSpPr>
            <p:spPr>
              <a:xfrm>
                <a:off x="879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2" name="Freeform 6"/>
              <p:cNvSpPr/>
              <p:nvPr/>
            </p:nvSpPr>
            <p:spPr>
              <a:xfrm>
                <a:off x="1325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3" name="Freeform 7"/>
              <p:cNvSpPr/>
              <p:nvPr/>
            </p:nvSpPr>
            <p:spPr>
              <a:xfrm>
                <a:off x="177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4" name="Freeform 8"/>
              <p:cNvSpPr/>
              <p:nvPr/>
            </p:nvSpPr>
            <p:spPr>
              <a:xfrm>
                <a:off x="2216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5" name="Freeform 9"/>
              <p:cNvSpPr/>
              <p:nvPr/>
            </p:nvSpPr>
            <p:spPr>
              <a:xfrm>
                <a:off x="265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6" name="Freeform 10"/>
              <p:cNvSpPr/>
              <p:nvPr/>
            </p:nvSpPr>
            <p:spPr>
              <a:xfrm>
                <a:off x="3096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7" name="Freeform 11"/>
              <p:cNvSpPr/>
              <p:nvPr/>
            </p:nvSpPr>
            <p:spPr>
              <a:xfrm>
                <a:off x="355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8" name="Freeform 12"/>
              <p:cNvSpPr/>
              <p:nvPr/>
            </p:nvSpPr>
            <p:spPr>
              <a:xfrm>
                <a:off x="401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9" name="Freeform 13"/>
              <p:cNvSpPr/>
              <p:nvPr/>
            </p:nvSpPr>
            <p:spPr>
              <a:xfrm>
                <a:off x="448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0" name="Freeform 14"/>
              <p:cNvSpPr/>
              <p:nvPr/>
            </p:nvSpPr>
            <p:spPr>
              <a:xfrm>
                <a:off x="4939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1" name="Freeform 15"/>
              <p:cNvSpPr/>
              <p:nvPr/>
            </p:nvSpPr>
            <p:spPr>
              <a:xfrm>
                <a:off x="5413" y="3825"/>
                <a:ext cx="362" cy="505"/>
              </a:xfrm>
              <a:custGeom>
                <a:avLst/>
                <a:gdLst/>
                <a:ahLst/>
                <a:cxnLst>
                  <a:cxn ang="0">
                    <a:pos x="0" y="504"/>
                  </a:cxn>
                  <a:cxn ang="0">
                    <a:pos x="361" y="0"/>
                  </a:cxn>
                  <a:cxn ang="0">
                    <a:pos x="361" y="122"/>
                  </a:cxn>
                  <a:cxn ang="0">
                    <a:pos x="96" y="504"/>
                  </a:cxn>
                  <a:cxn ang="0">
                    <a:pos x="0" y="504"/>
                  </a:cxn>
                </a:cxnLst>
                <a:pathLst>
                  <a:path w="362" h="505">
                    <a:moveTo>
                      <a:pt x="0" y="504"/>
                    </a:moveTo>
                    <a:lnTo>
                      <a:pt x="361" y="0"/>
                    </a:lnTo>
                    <a:lnTo>
                      <a:pt x="361" y="122"/>
                    </a:lnTo>
                    <a:lnTo>
                      <a:pt x="96" y="504"/>
                    </a:lnTo>
                    <a:lnTo>
                      <a:pt x="0" y="504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042" name="Rectangle 18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1219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43" name="Rectangle 19"/>
          <p:cNvSpPr>
            <a:spLocks noGrp="1"/>
          </p:cNvSpPr>
          <p:nvPr>
            <p:ph type="body"/>
          </p:nvPr>
        </p:nvSpPr>
        <p:spPr>
          <a:xfrm>
            <a:off x="685800" y="1714500"/>
            <a:ext cx="7772400" cy="41529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  <a:p>
            <a:pPr lvl="2" indent="-228600"/>
            <a:r>
              <a:rPr lang="en-US" altLang="zh-CN" dirty="0"/>
              <a:t>Third Level</a:t>
            </a:r>
            <a:endParaRPr lang="en-US" altLang="zh-CN" dirty="0"/>
          </a:p>
          <a:p>
            <a:pPr lvl="3" indent="-228600"/>
            <a:r>
              <a:rPr lang="en-US" altLang="zh-CN" dirty="0"/>
              <a:t>Fourth Level</a:t>
            </a:r>
            <a:endParaRPr lang="en-US" altLang="zh-CN" dirty="0"/>
          </a:p>
          <a:p>
            <a:pPr lvl="4" indent="-228600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2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E967E2-AC1B-4294-B0A8-D9C259780B5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u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3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v"/>
        <a:defRPr sz="32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e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4.emf"/><Relationship Id="rId1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e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8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e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6.e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e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1.emf"/><Relationship Id="rId1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e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3.emf"/><Relationship Id="rId1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9.e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7.e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6.e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16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1.e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0.emf"/><Relationship Id="rId1" Type="http://schemas.openxmlformats.org/officeDocument/2006/relationships/oleObject" Target="../embeddings/oleObject20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5.e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4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3.e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2.e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26.emf"/><Relationship Id="rId1" Type="http://schemas.openxmlformats.org/officeDocument/2006/relationships/oleObject" Target="../embeddings/oleObject22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30.e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e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27.emf"/><Relationship Id="rId14" Type="http://schemas.openxmlformats.org/officeDocument/2006/relationships/vmlDrawing" Target="../drawings/vmlDrawing11.v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32.emf"/><Relationship Id="rId11" Type="http://schemas.openxmlformats.org/officeDocument/2006/relationships/oleObject" Target="../embeddings/oleObject32.bin"/><Relationship Id="rId10" Type="http://schemas.openxmlformats.org/officeDocument/2006/relationships/image" Target="../media/image31.emf"/><Relationship Id="rId1" Type="http://schemas.openxmlformats.org/officeDocument/2006/relationships/oleObject" Target="../embeddings/oleObject27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.bin"/><Relationship Id="rId8" Type="http://schemas.openxmlformats.org/officeDocument/2006/relationships/image" Target="../media/image36.emf"/><Relationship Id="rId7" Type="http://schemas.openxmlformats.org/officeDocument/2006/relationships/oleObject" Target="../embeddings/oleObject36.bin"/><Relationship Id="rId6" Type="http://schemas.openxmlformats.org/officeDocument/2006/relationships/image" Target="../media/image35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4.e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33.emf"/><Relationship Id="rId14" Type="http://schemas.openxmlformats.org/officeDocument/2006/relationships/vmlDrawing" Target="../drawings/vmlDrawing12.v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38.emf"/><Relationship Id="rId11" Type="http://schemas.openxmlformats.org/officeDocument/2006/relationships/oleObject" Target="../embeddings/oleObject38.bin"/><Relationship Id="rId10" Type="http://schemas.openxmlformats.org/officeDocument/2006/relationships/image" Target="../media/image37.emf"/><Relationship Id="rId1" Type="http://schemas.openxmlformats.org/officeDocument/2006/relationships/oleObject" Target="../embeddings/oleObject33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.bin"/><Relationship Id="rId8" Type="http://schemas.openxmlformats.org/officeDocument/2006/relationships/image" Target="../media/image42.e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41.e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0.e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39.emf"/><Relationship Id="rId16" Type="http://schemas.openxmlformats.org/officeDocument/2006/relationships/vmlDrawing" Target="../drawings/vmlDrawing13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45.emf"/><Relationship Id="rId13" Type="http://schemas.openxmlformats.org/officeDocument/2006/relationships/oleObject" Target="../embeddings/oleObject45.bin"/><Relationship Id="rId12" Type="http://schemas.openxmlformats.org/officeDocument/2006/relationships/image" Target="../media/image44.emf"/><Relationship Id="rId11" Type="http://schemas.openxmlformats.org/officeDocument/2006/relationships/oleObject" Target="../embeddings/oleObject44.bin"/><Relationship Id="rId10" Type="http://schemas.openxmlformats.org/officeDocument/2006/relationships/image" Target="../media/image43.emf"/><Relationship Id="rId1" Type="http://schemas.openxmlformats.org/officeDocument/2006/relationships/oleObject" Target="../embeddings/oleObject39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49.e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48.e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7.e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46.emf"/><Relationship Id="rId10" Type="http://schemas.openxmlformats.org/officeDocument/2006/relationships/vmlDrawing" Target="../drawings/vmlDrawing14.vml"/><Relationship Id="rId1" Type="http://schemas.openxmlformats.org/officeDocument/2006/relationships/oleObject" Target="../embeddings/oleObject46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.bin"/><Relationship Id="rId8" Type="http://schemas.openxmlformats.org/officeDocument/2006/relationships/image" Target="../media/image53.emf"/><Relationship Id="rId7" Type="http://schemas.openxmlformats.org/officeDocument/2006/relationships/oleObject" Target="../embeddings/oleObject53.bin"/><Relationship Id="rId6" Type="http://schemas.openxmlformats.org/officeDocument/2006/relationships/image" Target="../media/image52.e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1.e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50.emf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54.emf"/><Relationship Id="rId1" Type="http://schemas.openxmlformats.org/officeDocument/2006/relationships/oleObject" Target="../embeddings/oleObject50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58.e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57.e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6.e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55.emf"/><Relationship Id="rId10" Type="http://schemas.openxmlformats.org/officeDocument/2006/relationships/vmlDrawing" Target="../drawings/vmlDrawing16.vml"/><Relationship Id="rId1" Type="http://schemas.openxmlformats.org/officeDocument/2006/relationships/oleObject" Target="../embeddings/oleObject5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61.e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0.e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59.emf"/><Relationship Id="rId1" Type="http://schemas.openxmlformats.org/officeDocument/2006/relationships/oleObject" Target="../embeddings/oleObject59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3.e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62.emf"/><Relationship Id="rId1" Type="http://schemas.openxmlformats.org/officeDocument/2006/relationships/oleObject" Target="../embeddings/oleObject62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5.e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64.emf"/><Relationship Id="rId1" Type="http://schemas.openxmlformats.org/officeDocument/2006/relationships/oleObject" Target="../embeddings/oleObject64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70.emf"/><Relationship Id="rId7" Type="http://schemas.openxmlformats.org/officeDocument/2006/relationships/oleObject" Target="../embeddings/oleObject70.bin"/><Relationship Id="rId6" Type="http://schemas.openxmlformats.org/officeDocument/2006/relationships/image" Target="../media/image69.e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8.emf"/><Relationship Id="rId3" Type="http://schemas.openxmlformats.org/officeDocument/2006/relationships/oleObject" Target="../embeddings/oleObject68.bin"/><Relationship Id="rId2" Type="http://schemas.openxmlformats.org/officeDocument/2006/relationships/image" Target="../media/image67.emf"/><Relationship Id="rId10" Type="http://schemas.openxmlformats.org/officeDocument/2006/relationships/vmlDrawing" Target="../drawings/vmlDrawing20.vml"/><Relationship Id="rId1" Type="http://schemas.openxmlformats.org/officeDocument/2006/relationships/oleObject" Target="../embeddings/oleObject67.bin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2.emf"/><Relationship Id="rId3" Type="http://schemas.openxmlformats.org/officeDocument/2006/relationships/oleObject" Target="../embeddings/oleObject72.bin"/><Relationship Id="rId2" Type="http://schemas.openxmlformats.org/officeDocument/2006/relationships/image" Target="../media/image71.emf"/><Relationship Id="rId1" Type="http://schemas.openxmlformats.org/officeDocument/2006/relationships/oleObject" Target="../embeddings/oleObject7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75.e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74.emf"/><Relationship Id="rId3" Type="http://schemas.openxmlformats.org/officeDocument/2006/relationships/oleObject" Target="../embeddings/oleObject74.bin"/><Relationship Id="rId2" Type="http://schemas.openxmlformats.org/officeDocument/2006/relationships/image" Target="../media/image73.emf"/><Relationship Id="rId1" Type="http://schemas.openxmlformats.org/officeDocument/2006/relationships/oleObject" Target="../embeddings/oleObject73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6.emf"/><Relationship Id="rId1" Type="http://schemas.openxmlformats.org/officeDocument/2006/relationships/oleObject" Target="../embeddings/oleObject76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1.bin"/><Relationship Id="rId8" Type="http://schemas.openxmlformats.org/officeDocument/2006/relationships/image" Target="../media/image80.emf"/><Relationship Id="rId7" Type="http://schemas.openxmlformats.org/officeDocument/2006/relationships/oleObject" Target="../embeddings/oleObject80.bin"/><Relationship Id="rId6" Type="http://schemas.openxmlformats.org/officeDocument/2006/relationships/image" Target="../media/image79.e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78.emf"/><Relationship Id="rId3" Type="http://schemas.openxmlformats.org/officeDocument/2006/relationships/oleObject" Target="../embeddings/oleObject78.bin"/><Relationship Id="rId2" Type="http://schemas.openxmlformats.org/officeDocument/2006/relationships/image" Target="../media/image77.emf"/><Relationship Id="rId16" Type="http://schemas.openxmlformats.org/officeDocument/2006/relationships/vmlDrawing" Target="../drawings/vmlDrawing24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83.emf"/><Relationship Id="rId13" Type="http://schemas.openxmlformats.org/officeDocument/2006/relationships/oleObject" Target="../embeddings/oleObject83.bin"/><Relationship Id="rId12" Type="http://schemas.openxmlformats.org/officeDocument/2006/relationships/image" Target="../media/image82.emf"/><Relationship Id="rId11" Type="http://schemas.openxmlformats.org/officeDocument/2006/relationships/oleObject" Target="../embeddings/oleObject82.bin"/><Relationship Id="rId10" Type="http://schemas.openxmlformats.org/officeDocument/2006/relationships/image" Target="../media/image81.emf"/><Relationship Id="rId1" Type="http://schemas.openxmlformats.org/officeDocument/2006/relationships/oleObject" Target="../embeddings/oleObject77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87.emf"/><Relationship Id="rId7" Type="http://schemas.openxmlformats.org/officeDocument/2006/relationships/oleObject" Target="../embeddings/oleObject87.bin"/><Relationship Id="rId6" Type="http://schemas.openxmlformats.org/officeDocument/2006/relationships/image" Target="../media/image86.e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85.e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84.emf"/><Relationship Id="rId10" Type="http://schemas.openxmlformats.org/officeDocument/2006/relationships/vmlDrawing" Target="../drawings/vmlDrawing25.vml"/><Relationship Id="rId1" Type="http://schemas.openxmlformats.org/officeDocument/2006/relationships/oleObject" Target="../embeddings/oleObject84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91.emf"/><Relationship Id="rId7" Type="http://schemas.openxmlformats.org/officeDocument/2006/relationships/oleObject" Target="../embeddings/oleObject91.bin"/><Relationship Id="rId6" Type="http://schemas.openxmlformats.org/officeDocument/2006/relationships/image" Target="../media/image90.e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89.e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88.emf"/><Relationship Id="rId10" Type="http://schemas.openxmlformats.org/officeDocument/2006/relationships/vmlDrawing" Target="../drawings/vmlDrawing26.vml"/><Relationship Id="rId1" Type="http://schemas.openxmlformats.org/officeDocument/2006/relationships/oleObject" Target="../embeddings/oleObject88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7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94.e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93.emf"/><Relationship Id="rId3" Type="http://schemas.openxmlformats.org/officeDocument/2006/relationships/oleObject" Target="../embeddings/oleObject93.bin"/><Relationship Id="rId2" Type="http://schemas.openxmlformats.org/officeDocument/2006/relationships/image" Target="../media/image92.emf"/><Relationship Id="rId1" Type="http://schemas.openxmlformats.org/officeDocument/2006/relationships/oleObject" Target="../embeddings/oleObject92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98.emf"/><Relationship Id="rId7" Type="http://schemas.openxmlformats.org/officeDocument/2006/relationships/oleObject" Target="../embeddings/oleObject98.bin"/><Relationship Id="rId6" Type="http://schemas.openxmlformats.org/officeDocument/2006/relationships/image" Target="../media/image97.e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6.emf"/><Relationship Id="rId3" Type="http://schemas.openxmlformats.org/officeDocument/2006/relationships/oleObject" Target="../embeddings/oleObject96.bin"/><Relationship Id="rId2" Type="http://schemas.openxmlformats.org/officeDocument/2006/relationships/image" Target="../media/image95.emf"/><Relationship Id="rId10" Type="http://schemas.openxmlformats.org/officeDocument/2006/relationships/vmlDrawing" Target="../drawings/vmlDrawing28.vml"/><Relationship Id="rId1" Type="http://schemas.openxmlformats.org/officeDocument/2006/relationships/oleObject" Target="../embeddings/oleObject95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3.bin"/><Relationship Id="rId8" Type="http://schemas.openxmlformats.org/officeDocument/2006/relationships/image" Target="../media/image102.emf"/><Relationship Id="rId7" Type="http://schemas.openxmlformats.org/officeDocument/2006/relationships/oleObject" Target="../embeddings/oleObject102.bin"/><Relationship Id="rId6" Type="http://schemas.openxmlformats.org/officeDocument/2006/relationships/image" Target="../media/image101.e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00.emf"/><Relationship Id="rId3" Type="http://schemas.openxmlformats.org/officeDocument/2006/relationships/oleObject" Target="../embeddings/oleObject100.bin"/><Relationship Id="rId2" Type="http://schemas.openxmlformats.org/officeDocument/2006/relationships/image" Target="../media/image99.emf"/><Relationship Id="rId12" Type="http://schemas.openxmlformats.org/officeDocument/2006/relationships/vmlDrawing" Target="../drawings/vmlDrawing29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03.emf"/><Relationship Id="rId1" Type="http://schemas.openxmlformats.org/officeDocument/2006/relationships/oleObject" Target="../embeddings/oleObject99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0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4.emf"/><Relationship Id="rId1" Type="http://schemas.openxmlformats.org/officeDocument/2006/relationships/oleObject" Target="../embeddings/oleObject104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9.bin"/><Relationship Id="rId8" Type="http://schemas.openxmlformats.org/officeDocument/2006/relationships/image" Target="../media/image108.e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107.e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06.e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105.emf"/><Relationship Id="rId16" Type="http://schemas.openxmlformats.org/officeDocument/2006/relationships/vmlDrawing" Target="../drawings/vmlDrawing31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111.emf"/><Relationship Id="rId13" Type="http://schemas.openxmlformats.org/officeDocument/2006/relationships/oleObject" Target="../embeddings/oleObject111.bin"/><Relationship Id="rId12" Type="http://schemas.openxmlformats.org/officeDocument/2006/relationships/image" Target="../media/image110.emf"/><Relationship Id="rId11" Type="http://schemas.openxmlformats.org/officeDocument/2006/relationships/oleObject" Target="../embeddings/oleObject110.bin"/><Relationship Id="rId10" Type="http://schemas.openxmlformats.org/officeDocument/2006/relationships/image" Target="../media/image109.emf"/><Relationship Id="rId1" Type="http://schemas.openxmlformats.org/officeDocument/2006/relationships/oleObject" Target="../embeddings/oleObject105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6.bin"/><Relationship Id="rId8" Type="http://schemas.openxmlformats.org/officeDocument/2006/relationships/image" Target="../media/image115.emf"/><Relationship Id="rId7" Type="http://schemas.openxmlformats.org/officeDocument/2006/relationships/oleObject" Target="../embeddings/oleObject115.bin"/><Relationship Id="rId6" Type="http://schemas.openxmlformats.org/officeDocument/2006/relationships/image" Target="../media/image114.e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13.e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112.emf"/><Relationship Id="rId16" Type="http://schemas.openxmlformats.org/officeDocument/2006/relationships/vmlDrawing" Target="../drawings/vmlDrawing32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118.emf"/><Relationship Id="rId13" Type="http://schemas.openxmlformats.org/officeDocument/2006/relationships/oleObject" Target="../embeddings/oleObject118.bin"/><Relationship Id="rId12" Type="http://schemas.openxmlformats.org/officeDocument/2006/relationships/image" Target="../media/image117.emf"/><Relationship Id="rId11" Type="http://schemas.openxmlformats.org/officeDocument/2006/relationships/oleObject" Target="../embeddings/oleObject117.bin"/><Relationship Id="rId10" Type="http://schemas.openxmlformats.org/officeDocument/2006/relationships/image" Target="../media/image116.emf"/><Relationship Id="rId1" Type="http://schemas.openxmlformats.org/officeDocument/2006/relationships/oleObject" Target="../embeddings/oleObject112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3.bin"/><Relationship Id="rId8" Type="http://schemas.openxmlformats.org/officeDocument/2006/relationships/image" Target="../media/image122.emf"/><Relationship Id="rId7" Type="http://schemas.openxmlformats.org/officeDocument/2006/relationships/oleObject" Target="../embeddings/oleObject122.bin"/><Relationship Id="rId6" Type="http://schemas.openxmlformats.org/officeDocument/2006/relationships/image" Target="../media/image121.e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20.emf"/><Relationship Id="rId3" Type="http://schemas.openxmlformats.org/officeDocument/2006/relationships/oleObject" Target="../embeddings/oleObject120.bin"/><Relationship Id="rId2" Type="http://schemas.openxmlformats.org/officeDocument/2006/relationships/image" Target="../media/image119.emf"/><Relationship Id="rId16" Type="http://schemas.openxmlformats.org/officeDocument/2006/relationships/vmlDrawing" Target="../drawings/vmlDrawing33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125.emf"/><Relationship Id="rId13" Type="http://schemas.openxmlformats.org/officeDocument/2006/relationships/oleObject" Target="../embeddings/oleObject125.bin"/><Relationship Id="rId12" Type="http://schemas.openxmlformats.org/officeDocument/2006/relationships/image" Target="../media/image124.emf"/><Relationship Id="rId11" Type="http://schemas.openxmlformats.org/officeDocument/2006/relationships/oleObject" Target="../embeddings/oleObject124.bin"/><Relationship Id="rId10" Type="http://schemas.openxmlformats.org/officeDocument/2006/relationships/image" Target="../media/image123.emf"/><Relationship Id="rId1" Type="http://schemas.openxmlformats.org/officeDocument/2006/relationships/oleObject" Target="../embeddings/oleObject119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4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28.e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27.emf"/><Relationship Id="rId3" Type="http://schemas.openxmlformats.org/officeDocument/2006/relationships/oleObject" Target="../embeddings/oleObject127.bin"/><Relationship Id="rId2" Type="http://schemas.openxmlformats.org/officeDocument/2006/relationships/image" Target="../media/image126.emf"/><Relationship Id="rId1" Type="http://schemas.openxmlformats.org/officeDocument/2006/relationships/oleObject" Target="../embeddings/oleObject126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32.emf"/><Relationship Id="rId7" Type="http://schemas.openxmlformats.org/officeDocument/2006/relationships/oleObject" Target="../embeddings/oleObject132.bin"/><Relationship Id="rId6" Type="http://schemas.openxmlformats.org/officeDocument/2006/relationships/image" Target="../media/image131.e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30.emf"/><Relationship Id="rId3" Type="http://schemas.openxmlformats.org/officeDocument/2006/relationships/oleObject" Target="../embeddings/oleObject130.bin"/><Relationship Id="rId2" Type="http://schemas.openxmlformats.org/officeDocument/2006/relationships/image" Target="../media/image129.emf"/><Relationship Id="rId10" Type="http://schemas.openxmlformats.org/officeDocument/2006/relationships/vmlDrawing" Target="../drawings/vmlDrawing35.vml"/><Relationship Id="rId1" Type="http://schemas.openxmlformats.org/officeDocument/2006/relationships/oleObject" Target="../embeddings/oleObject129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136.e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35.e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34.emf"/><Relationship Id="rId3" Type="http://schemas.openxmlformats.org/officeDocument/2006/relationships/oleObject" Target="../embeddings/oleObject134.bin"/><Relationship Id="rId2" Type="http://schemas.openxmlformats.org/officeDocument/2006/relationships/image" Target="../media/image133.emf"/><Relationship Id="rId12" Type="http://schemas.openxmlformats.org/officeDocument/2006/relationships/vmlDrawing" Target="../drawings/vmlDrawing36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37.emf"/><Relationship Id="rId1" Type="http://schemas.openxmlformats.org/officeDocument/2006/relationships/oleObject" Target="../embeddings/oleObject133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7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8.emf"/><Relationship Id="rId1" Type="http://schemas.openxmlformats.org/officeDocument/2006/relationships/oleObject" Target="../embeddings/oleObject138.bin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8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9.emf"/><Relationship Id="rId1" Type="http://schemas.openxmlformats.org/officeDocument/2006/relationships/oleObject" Target="../embeddings/oleObject139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9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42.emf"/><Relationship Id="rId5" Type="http://schemas.openxmlformats.org/officeDocument/2006/relationships/oleObject" Target="../embeddings/oleObject142.bin"/><Relationship Id="rId4" Type="http://schemas.openxmlformats.org/officeDocument/2006/relationships/image" Target="../media/image141.emf"/><Relationship Id="rId3" Type="http://schemas.openxmlformats.org/officeDocument/2006/relationships/oleObject" Target="../embeddings/oleObject141.bin"/><Relationship Id="rId2" Type="http://schemas.openxmlformats.org/officeDocument/2006/relationships/image" Target="../media/image140.emf"/><Relationship Id="rId1" Type="http://schemas.openxmlformats.org/officeDocument/2006/relationships/oleObject" Target="../embeddings/oleObject140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0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45.e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44.emf"/><Relationship Id="rId3" Type="http://schemas.openxmlformats.org/officeDocument/2006/relationships/oleObject" Target="../embeddings/oleObject144.bin"/><Relationship Id="rId2" Type="http://schemas.openxmlformats.org/officeDocument/2006/relationships/image" Target="../media/image143.emf"/><Relationship Id="rId1" Type="http://schemas.openxmlformats.org/officeDocument/2006/relationships/oleObject" Target="../embeddings/oleObject143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1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48.e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47.emf"/><Relationship Id="rId3" Type="http://schemas.openxmlformats.org/officeDocument/2006/relationships/oleObject" Target="../embeddings/oleObject147.bin"/><Relationship Id="rId2" Type="http://schemas.openxmlformats.org/officeDocument/2006/relationships/image" Target="../media/image146.emf"/><Relationship Id="rId1" Type="http://schemas.openxmlformats.org/officeDocument/2006/relationships/oleObject" Target="../embeddings/oleObject146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3.bin"/><Relationship Id="rId8" Type="http://schemas.openxmlformats.org/officeDocument/2006/relationships/image" Target="../media/image152.emf"/><Relationship Id="rId7" Type="http://schemas.openxmlformats.org/officeDocument/2006/relationships/oleObject" Target="../embeddings/oleObject152.bin"/><Relationship Id="rId6" Type="http://schemas.openxmlformats.org/officeDocument/2006/relationships/image" Target="../media/image151.e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50.emf"/><Relationship Id="rId3" Type="http://schemas.openxmlformats.org/officeDocument/2006/relationships/oleObject" Target="../embeddings/oleObject150.bin"/><Relationship Id="rId22" Type="http://schemas.openxmlformats.org/officeDocument/2006/relationships/vmlDrawing" Target="../drawings/vmlDrawing42.vml"/><Relationship Id="rId21" Type="http://schemas.openxmlformats.org/officeDocument/2006/relationships/slideLayout" Target="../slideLayouts/slideLayout6.xml"/><Relationship Id="rId20" Type="http://schemas.openxmlformats.org/officeDocument/2006/relationships/image" Target="../media/image158.emf"/><Relationship Id="rId2" Type="http://schemas.openxmlformats.org/officeDocument/2006/relationships/image" Target="../media/image149.emf"/><Relationship Id="rId19" Type="http://schemas.openxmlformats.org/officeDocument/2006/relationships/oleObject" Target="../embeddings/oleObject158.bin"/><Relationship Id="rId18" Type="http://schemas.openxmlformats.org/officeDocument/2006/relationships/image" Target="../media/image157.emf"/><Relationship Id="rId17" Type="http://schemas.openxmlformats.org/officeDocument/2006/relationships/oleObject" Target="../embeddings/oleObject157.bin"/><Relationship Id="rId16" Type="http://schemas.openxmlformats.org/officeDocument/2006/relationships/image" Target="../media/image156.emf"/><Relationship Id="rId15" Type="http://schemas.openxmlformats.org/officeDocument/2006/relationships/oleObject" Target="../embeddings/oleObject156.bin"/><Relationship Id="rId14" Type="http://schemas.openxmlformats.org/officeDocument/2006/relationships/image" Target="../media/image155.emf"/><Relationship Id="rId13" Type="http://schemas.openxmlformats.org/officeDocument/2006/relationships/oleObject" Target="../embeddings/oleObject155.bin"/><Relationship Id="rId12" Type="http://schemas.openxmlformats.org/officeDocument/2006/relationships/image" Target="../media/image154.emf"/><Relationship Id="rId11" Type="http://schemas.openxmlformats.org/officeDocument/2006/relationships/oleObject" Target="../embeddings/oleObject154.bin"/><Relationship Id="rId10" Type="http://schemas.openxmlformats.org/officeDocument/2006/relationships/image" Target="../media/image153.emf"/><Relationship Id="rId1" Type="http://schemas.openxmlformats.org/officeDocument/2006/relationships/oleObject" Target="../embeddings/oleObject149.bin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3.bin"/><Relationship Id="rId8" Type="http://schemas.openxmlformats.org/officeDocument/2006/relationships/image" Target="../media/image162.emf"/><Relationship Id="rId7" Type="http://schemas.openxmlformats.org/officeDocument/2006/relationships/oleObject" Target="../embeddings/oleObject162.bin"/><Relationship Id="rId6" Type="http://schemas.openxmlformats.org/officeDocument/2006/relationships/image" Target="../media/image161.e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60.emf"/><Relationship Id="rId3" Type="http://schemas.openxmlformats.org/officeDocument/2006/relationships/oleObject" Target="../embeddings/oleObject160.bin"/><Relationship Id="rId22" Type="http://schemas.openxmlformats.org/officeDocument/2006/relationships/vmlDrawing" Target="../drawings/vmlDrawing43.vml"/><Relationship Id="rId21" Type="http://schemas.openxmlformats.org/officeDocument/2006/relationships/slideLayout" Target="../slideLayouts/slideLayout6.xml"/><Relationship Id="rId20" Type="http://schemas.openxmlformats.org/officeDocument/2006/relationships/image" Target="../media/image168.emf"/><Relationship Id="rId2" Type="http://schemas.openxmlformats.org/officeDocument/2006/relationships/image" Target="../media/image159.emf"/><Relationship Id="rId19" Type="http://schemas.openxmlformats.org/officeDocument/2006/relationships/oleObject" Target="../embeddings/oleObject168.bin"/><Relationship Id="rId18" Type="http://schemas.openxmlformats.org/officeDocument/2006/relationships/image" Target="../media/image167.emf"/><Relationship Id="rId17" Type="http://schemas.openxmlformats.org/officeDocument/2006/relationships/oleObject" Target="../embeddings/oleObject167.bin"/><Relationship Id="rId16" Type="http://schemas.openxmlformats.org/officeDocument/2006/relationships/image" Target="../media/image166.emf"/><Relationship Id="rId15" Type="http://schemas.openxmlformats.org/officeDocument/2006/relationships/oleObject" Target="../embeddings/oleObject166.bin"/><Relationship Id="rId14" Type="http://schemas.openxmlformats.org/officeDocument/2006/relationships/image" Target="../media/image165.emf"/><Relationship Id="rId13" Type="http://schemas.openxmlformats.org/officeDocument/2006/relationships/oleObject" Target="../embeddings/oleObject165.bin"/><Relationship Id="rId12" Type="http://schemas.openxmlformats.org/officeDocument/2006/relationships/image" Target="../media/image164.emf"/><Relationship Id="rId11" Type="http://schemas.openxmlformats.org/officeDocument/2006/relationships/oleObject" Target="../embeddings/oleObject164.bin"/><Relationship Id="rId10" Type="http://schemas.openxmlformats.org/officeDocument/2006/relationships/image" Target="../media/image163.emf"/><Relationship Id="rId1" Type="http://schemas.openxmlformats.org/officeDocument/2006/relationships/oleObject" Target="../embeddings/oleObject159.bin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3.bin"/><Relationship Id="rId8" Type="http://schemas.openxmlformats.org/officeDocument/2006/relationships/image" Target="../media/image172.emf"/><Relationship Id="rId7" Type="http://schemas.openxmlformats.org/officeDocument/2006/relationships/oleObject" Target="../embeddings/oleObject172.bin"/><Relationship Id="rId6" Type="http://schemas.openxmlformats.org/officeDocument/2006/relationships/image" Target="../media/image171.emf"/><Relationship Id="rId5" Type="http://schemas.openxmlformats.org/officeDocument/2006/relationships/oleObject" Target="../embeddings/oleObject171.bin"/><Relationship Id="rId4" Type="http://schemas.openxmlformats.org/officeDocument/2006/relationships/image" Target="../media/image170.emf"/><Relationship Id="rId3" Type="http://schemas.openxmlformats.org/officeDocument/2006/relationships/oleObject" Target="../embeddings/oleObject170.bin"/><Relationship Id="rId22" Type="http://schemas.openxmlformats.org/officeDocument/2006/relationships/vmlDrawing" Target="../drawings/vmlDrawing44.vml"/><Relationship Id="rId21" Type="http://schemas.openxmlformats.org/officeDocument/2006/relationships/slideLayout" Target="../slideLayouts/slideLayout6.xml"/><Relationship Id="rId20" Type="http://schemas.openxmlformats.org/officeDocument/2006/relationships/image" Target="../media/image178.emf"/><Relationship Id="rId2" Type="http://schemas.openxmlformats.org/officeDocument/2006/relationships/image" Target="../media/image169.emf"/><Relationship Id="rId19" Type="http://schemas.openxmlformats.org/officeDocument/2006/relationships/oleObject" Target="../embeddings/oleObject178.bin"/><Relationship Id="rId18" Type="http://schemas.openxmlformats.org/officeDocument/2006/relationships/image" Target="../media/image177.emf"/><Relationship Id="rId17" Type="http://schemas.openxmlformats.org/officeDocument/2006/relationships/oleObject" Target="../embeddings/oleObject177.bin"/><Relationship Id="rId16" Type="http://schemas.openxmlformats.org/officeDocument/2006/relationships/image" Target="../media/image176.emf"/><Relationship Id="rId15" Type="http://schemas.openxmlformats.org/officeDocument/2006/relationships/oleObject" Target="../embeddings/oleObject176.bin"/><Relationship Id="rId14" Type="http://schemas.openxmlformats.org/officeDocument/2006/relationships/image" Target="../media/image175.emf"/><Relationship Id="rId13" Type="http://schemas.openxmlformats.org/officeDocument/2006/relationships/oleObject" Target="../embeddings/oleObject175.bin"/><Relationship Id="rId12" Type="http://schemas.openxmlformats.org/officeDocument/2006/relationships/image" Target="../media/image174.emf"/><Relationship Id="rId11" Type="http://schemas.openxmlformats.org/officeDocument/2006/relationships/oleObject" Target="../embeddings/oleObject174.bin"/><Relationship Id="rId10" Type="http://schemas.openxmlformats.org/officeDocument/2006/relationships/image" Target="../media/image173.emf"/><Relationship Id="rId1" Type="http://schemas.openxmlformats.org/officeDocument/2006/relationships/oleObject" Target="../embeddings/oleObject169.bin"/></Relationships>
</file>

<file path=ppt/slides/_rels/slide5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0.emf"/><Relationship Id="rId3" Type="http://schemas.openxmlformats.org/officeDocument/2006/relationships/oleObject" Target="../embeddings/oleObject180.bin"/><Relationship Id="rId2" Type="http://schemas.openxmlformats.org/officeDocument/2006/relationships/image" Target="../media/image179.emf"/><Relationship Id="rId1" Type="http://schemas.openxmlformats.org/officeDocument/2006/relationships/oleObject" Target="../embeddings/oleObject179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3.emf"/><Relationship Id="rId5" Type="http://schemas.openxmlformats.org/officeDocument/2006/relationships/oleObject" Target="../embeddings/oleObject183.bin"/><Relationship Id="rId4" Type="http://schemas.openxmlformats.org/officeDocument/2006/relationships/image" Target="../media/image182.emf"/><Relationship Id="rId3" Type="http://schemas.openxmlformats.org/officeDocument/2006/relationships/oleObject" Target="../embeddings/oleObject182.bin"/><Relationship Id="rId2" Type="http://schemas.openxmlformats.org/officeDocument/2006/relationships/image" Target="../media/image181.emf"/><Relationship Id="rId1" Type="http://schemas.openxmlformats.org/officeDocument/2006/relationships/oleObject" Target="../embeddings/oleObject181.bin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5.emf"/><Relationship Id="rId3" Type="http://schemas.openxmlformats.org/officeDocument/2006/relationships/oleObject" Target="../embeddings/oleObject185.bin"/><Relationship Id="rId2" Type="http://schemas.openxmlformats.org/officeDocument/2006/relationships/image" Target="../media/image184.emf"/><Relationship Id="rId1" Type="http://schemas.openxmlformats.org/officeDocument/2006/relationships/oleObject" Target="../embeddings/oleObject184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8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88.emf"/><Relationship Id="rId5" Type="http://schemas.openxmlformats.org/officeDocument/2006/relationships/oleObject" Target="../embeddings/oleObject188.bin"/><Relationship Id="rId4" Type="http://schemas.openxmlformats.org/officeDocument/2006/relationships/image" Target="../media/image187.emf"/><Relationship Id="rId3" Type="http://schemas.openxmlformats.org/officeDocument/2006/relationships/oleObject" Target="../embeddings/oleObject187.bin"/><Relationship Id="rId2" Type="http://schemas.openxmlformats.org/officeDocument/2006/relationships/image" Target="../media/image186.emf"/><Relationship Id="rId1" Type="http://schemas.openxmlformats.org/officeDocument/2006/relationships/oleObject" Target="../embeddings/oleObject186.bin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9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89.emf"/><Relationship Id="rId1" Type="http://schemas.openxmlformats.org/officeDocument/2006/relationships/oleObject" Target="../embeddings/oleObject189.bin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0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0.emf"/><Relationship Id="rId1" Type="http://schemas.openxmlformats.org/officeDocument/2006/relationships/oleObject" Target="../embeddings/oleObject190.bin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1.emf"/><Relationship Id="rId1" Type="http://schemas.openxmlformats.org/officeDocument/2006/relationships/oleObject" Target="../embeddings/oleObject191.bin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2.emf"/><Relationship Id="rId1" Type="http://schemas.openxmlformats.org/officeDocument/2006/relationships/oleObject" Target="../embeddings/oleObject192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3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95.e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194.emf"/><Relationship Id="rId3" Type="http://schemas.openxmlformats.org/officeDocument/2006/relationships/oleObject" Target="../embeddings/oleObject194.bin"/><Relationship Id="rId2" Type="http://schemas.openxmlformats.org/officeDocument/2006/relationships/image" Target="../media/image193.emf"/><Relationship Id="rId1" Type="http://schemas.openxmlformats.org/officeDocument/2006/relationships/oleObject" Target="../embeddings/oleObject193.bin"/></Relationships>
</file>

<file path=ppt/slides/_rels/slide6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4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97.emf"/><Relationship Id="rId3" Type="http://schemas.openxmlformats.org/officeDocument/2006/relationships/oleObject" Target="../embeddings/oleObject197.bin"/><Relationship Id="rId2" Type="http://schemas.openxmlformats.org/officeDocument/2006/relationships/image" Target="../media/image196.emf"/><Relationship Id="rId1" Type="http://schemas.openxmlformats.org/officeDocument/2006/relationships/oleObject" Target="../embeddings/oleObject196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5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00.emf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199.emf"/><Relationship Id="rId3" Type="http://schemas.openxmlformats.org/officeDocument/2006/relationships/oleObject" Target="../embeddings/oleObject199.bin"/><Relationship Id="rId2" Type="http://schemas.openxmlformats.org/officeDocument/2006/relationships/image" Target="../media/image198.emf"/><Relationship Id="rId1" Type="http://schemas.openxmlformats.org/officeDocument/2006/relationships/oleObject" Target="../embeddings/oleObject198.bin"/></Relationships>
</file>

<file path=ppt/slides/_rels/slide6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6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02.emf"/><Relationship Id="rId3" Type="http://schemas.openxmlformats.org/officeDocument/2006/relationships/oleObject" Target="../embeddings/oleObject202.bin"/><Relationship Id="rId2" Type="http://schemas.openxmlformats.org/officeDocument/2006/relationships/image" Target="../media/image201.emf"/><Relationship Id="rId1" Type="http://schemas.openxmlformats.org/officeDocument/2006/relationships/oleObject" Target="../embeddings/oleObject201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7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05.emf"/><Relationship Id="rId5" Type="http://schemas.openxmlformats.org/officeDocument/2006/relationships/oleObject" Target="../embeddings/oleObject205.bin"/><Relationship Id="rId4" Type="http://schemas.openxmlformats.org/officeDocument/2006/relationships/image" Target="../media/image204.emf"/><Relationship Id="rId3" Type="http://schemas.openxmlformats.org/officeDocument/2006/relationships/oleObject" Target="../embeddings/oleObject204.bin"/><Relationship Id="rId2" Type="http://schemas.openxmlformats.org/officeDocument/2006/relationships/image" Target="../media/image203.emf"/><Relationship Id="rId1" Type="http://schemas.openxmlformats.org/officeDocument/2006/relationships/oleObject" Target="../embeddings/oleObject203.bin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8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07.emf"/><Relationship Id="rId3" Type="http://schemas.openxmlformats.org/officeDocument/2006/relationships/oleObject" Target="../embeddings/oleObject207.bin"/><Relationship Id="rId2" Type="http://schemas.openxmlformats.org/officeDocument/2006/relationships/image" Target="../media/image206.emf"/><Relationship Id="rId1" Type="http://schemas.openxmlformats.org/officeDocument/2006/relationships/oleObject" Target="../embeddings/oleObject206.bin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9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8.emf"/><Relationship Id="rId1" Type="http://schemas.openxmlformats.org/officeDocument/2006/relationships/oleObject" Target="../embeddings/oleObject208.bin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0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9.emf"/><Relationship Id="rId1" Type="http://schemas.openxmlformats.org/officeDocument/2006/relationships/oleObject" Target="../embeddings/oleObject209.bin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10.emf"/><Relationship Id="rId1" Type="http://schemas.openxmlformats.org/officeDocument/2006/relationships/oleObject" Target="../embeddings/oleObject210.bin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11.emf"/><Relationship Id="rId1" Type="http://schemas.openxmlformats.org/officeDocument/2006/relationships/oleObject" Target="../embeddings/oleObject21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Rectangle 2"/>
          <p:cNvSpPr>
            <a:spLocks noGrp="1"/>
          </p:cNvSpPr>
          <p:nvPr>
            <p:ph type="ctrTitle" sz="quarter"/>
          </p:nvPr>
        </p:nvSpPr>
        <p:spPr>
          <a:ln/>
        </p:spPr>
        <p:txBody>
          <a:bodyPr vert="horz" wrap="square" lIns="92075" tIns="46038" rIns="92075" bIns="46038" anchor="ctr" anchorCtr="0"/>
          <a:p>
            <a:pPr>
              <a:buClrTx/>
              <a:buSzTx/>
              <a:buFontTx/>
            </a:pP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Chapter Nineteen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098" name="Rectangle 3"/>
          <p:cNvSpPr>
            <a:spLocks noGrp="1"/>
          </p:cNvSpPr>
          <p:nvPr>
            <p:ph type="subTitle" sz="quarter" idx="1"/>
          </p:nvPr>
        </p:nvSpPr>
        <p:spPr>
          <a:ln/>
        </p:spPr>
        <p:txBody>
          <a:bodyPr vert="horz" wrap="square" lIns="92075" tIns="46038" rIns="92075" bIns="46038" anchor="t" anchorCtr="0"/>
          <a:p>
            <a:pPr>
              <a:buSzPct val="75000"/>
            </a:pPr>
            <a:r>
              <a:rPr lang="en-US" altLang="zh-CN" sz="4000" dirty="0">
                <a:latin typeface="+mn-lt"/>
                <a:ea typeface="宋体" panose="02010600030101010101" pitchFamily="2" charset="-122"/>
                <a:cs typeface="+mn-cs"/>
              </a:rPr>
              <a:t>Profit-Maximization</a:t>
            </a:r>
            <a:endParaRPr lang="en-US" altLang="zh-CN" sz="4000" dirty="0">
              <a:latin typeface="+mn-lt"/>
              <a:ea typeface="宋体" panose="02010600030101010101" pitchFamily="2" charset="-122"/>
              <a:cs typeface="+mn-cs"/>
            </a:endParaRPr>
          </a:p>
          <a:p>
            <a:pPr>
              <a:buSzPct val="75000"/>
            </a:pPr>
            <a:r>
              <a:rPr lang="zh-CN" altLang="en-US" sz="4000" dirty="0">
                <a:latin typeface="+mn-lt"/>
                <a:ea typeface="宋体" panose="02010600030101010101" pitchFamily="2" charset="-122"/>
                <a:cs typeface="+mn-cs"/>
              </a:rPr>
              <a:t>利润最大化</a:t>
            </a:r>
            <a:endParaRPr lang="en-US" altLang="zh-CN" sz="4000" dirty="0"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Economic Profit</a:t>
            </a:r>
            <a:r>
              <a:rPr lang="zh-CN" altLang="en-US" dirty="0">
                <a:ea typeface="宋体" panose="02010600030101010101" pitchFamily="2" charset="-122"/>
              </a:rPr>
              <a:t>经济利润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2" name="Rectangle 3"/>
          <p:cNvSpPr>
            <a:spLocks noGrp="1"/>
          </p:cNvSpPr>
          <p:nvPr>
            <p:ph idx="1"/>
          </p:nvPr>
        </p:nvSpPr>
        <p:spPr>
          <a:xfrm>
            <a:off x="685800" y="1333500"/>
            <a:ext cx="7772400" cy="44577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firm uses inputs j = 1…,m to make products i = 1,…n.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Output levels are 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,…,y</a:t>
            </a:r>
            <a:r>
              <a:rPr lang="en-US" altLang="zh-CN" baseline="-25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Input levels are x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,…,x</a:t>
            </a:r>
            <a:r>
              <a:rPr lang="en-US" altLang="zh-CN" baseline="-25000" dirty="0"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Product prices are 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,…,p</a:t>
            </a:r>
            <a:r>
              <a:rPr lang="en-US" altLang="zh-CN" baseline="-25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Input prices are 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,…,w</a:t>
            </a:r>
            <a:r>
              <a:rPr lang="en-US" altLang="zh-CN" baseline="-25000" dirty="0">
                <a:ea typeface="宋体" panose="02010600030101010101" pitchFamily="2" charset="-122"/>
              </a:rPr>
              <a:t>m.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Competitive Firm</a:t>
            </a:r>
            <a:r>
              <a:rPr lang="zh-CN" altLang="en-US" dirty="0">
                <a:ea typeface="宋体" panose="02010600030101010101" pitchFamily="2" charset="-122"/>
              </a:rPr>
              <a:t>竞争性企业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competitive firm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takes</a:t>
            </a:r>
            <a:r>
              <a:rPr lang="en-US" altLang="zh-CN" dirty="0">
                <a:ea typeface="宋体" panose="02010600030101010101" pitchFamily="2" charset="-122"/>
              </a:rPr>
              <a:t> all output prices p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,…,p</a:t>
            </a:r>
            <a:r>
              <a:rPr lang="en-US" altLang="zh-CN" baseline="-25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 and all input prices 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,…,w</a:t>
            </a:r>
            <a:r>
              <a:rPr lang="en-US" altLang="zh-CN" baseline="-25000" dirty="0"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 as given constants.</a:t>
            </a:r>
            <a:r>
              <a:rPr lang="zh-CN" altLang="en-US" dirty="0">
                <a:ea typeface="宋体" panose="02010600030101010101" pitchFamily="2" charset="-122"/>
              </a:rPr>
              <a:t>产品和要素价格外生给定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Economic Profit</a:t>
            </a:r>
            <a:r>
              <a:rPr lang="zh-CN" altLang="en-US" dirty="0">
                <a:ea typeface="宋体" panose="02010600030101010101" pitchFamily="2" charset="-122"/>
              </a:rPr>
              <a:t>经济利润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economic profit</a:t>
            </a:r>
            <a:r>
              <a:rPr lang="en-US" altLang="zh-CN" dirty="0">
                <a:ea typeface="宋体" panose="02010600030101010101" pitchFamily="2" charset="-122"/>
              </a:rPr>
              <a:t> generated by the production plan (x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,…,x</a:t>
            </a:r>
            <a:r>
              <a:rPr lang="en-US" altLang="zh-CN" baseline="-25000" dirty="0"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,y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,…,y</a:t>
            </a:r>
            <a:r>
              <a:rPr lang="en-US" altLang="zh-CN" baseline="-25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) is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7171" name="Object 4"/>
          <p:cNvGraphicFramePr/>
          <p:nvPr/>
        </p:nvGraphicFramePr>
        <p:xfrm>
          <a:off x="4256088" y="3278188"/>
          <a:ext cx="61277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22300" imgH="292100" progId="Equation.2">
                  <p:embed/>
                </p:oleObj>
              </mc:Choice>
              <mc:Fallback>
                <p:oleObj name="" r:id="rId1" imgW="622300" imgH="292100" progId="Equation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56088" y="3278188"/>
                        <a:ext cx="612775" cy="28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5"/>
          <p:cNvGraphicFramePr/>
          <p:nvPr/>
        </p:nvGraphicFramePr>
        <p:xfrm>
          <a:off x="838200" y="3116263"/>
          <a:ext cx="77454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3962400" imgH="287655" progId="Equation.2">
                  <p:embed/>
                </p:oleObj>
              </mc:Choice>
              <mc:Fallback>
                <p:oleObj name="" r:id="rId3" imgW="3962400" imgH="287655" progId="Equation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38200" y="3116263"/>
                        <a:ext cx="7745413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Economic Profit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4" name="Rectangle 3"/>
          <p:cNvSpPr>
            <a:spLocks noGrp="1"/>
          </p:cNvSpPr>
          <p:nvPr>
            <p:ph idx="1"/>
          </p:nvPr>
        </p:nvSpPr>
        <p:spPr>
          <a:xfrm>
            <a:off x="685800" y="1028700"/>
            <a:ext cx="7772400" cy="47625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Output and input levels are typically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flows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流量（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stock 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存量）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E.g. x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might be the number of labor units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used per hour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And y</a:t>
            </a:r>
            <a:r>
              <a:rPr lang="en-US" altLang="zh-CN" baseline="-25000" dirty="0">
                <a:ea typeface="宋体" panose="02010600030101010101" pitchFamily="2" charset="-122"/>
              </a:rPr>
              <a:t>3</a:t>
            </a:r>
            <a:r>
              <a:rPr lang="en-US" altLang="zh-CN" dirty="0">
                <a:ea typeface="宋体" panose="02010600030101010101" pitchFamily="2" charset="-122"/>
              </a:rPr>
              <a:t> might be the number of cars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produced per hour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Consequently, profit is typically a flow also; e.g. the number of dollars of profit earned per hour.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Economic Profit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218" name="Rectangle 3"/>
          <p:cNvSpPr>
            <a:spLocks noGrp="1"/>
          </p:cNvSpPr>
          <p:nvPr>
            <p:ph idx="1"/>
          </p:nvPr>
        </p:nvSpPr>
        <p:spPr>
          <a:xfrm>
            <a:off x="685800" y="1104900"/>
            <a:ext cx="7772400" cy="41529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How do we value a firm</a:t>
            </a:r>
            <a:r>
              <a:rPr lang="zh-CN" altLang="en-US" dirty="0">
                <a:ea typeface="宋体" panose="02010600030101010101" pitchFamily="2" charset="-122"/>
              </a:rPr>
              <a:t>企业的价值</a:t>
            </a:r>
            <a:r>
              <a:rPr lang="en-US" altLang="zh-CN" dirty="0">
                <a:ea typeface="宋体" panose="02010600030101010101" pitchFamily="2" charset="-122"/>
              </a:rPr>
              <a:t>?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Suppose the firm’s stream of periodic economic profits  is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Symbol" panose="05050102010706020507" pitchFamily="18" charset="2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, P</a:t>
            </a:r>
            <a:r>
              <a:rPr lang="en-US" altLang="zh-CN" baseline="-25000" dirty="0">
                <a:latin typeface="Symbol" panose="05050102010706020507" pitchFamily="18" charset="2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, P</a:t>
            </a:r>
            <a:r>
              <a:rPr lang="en-US" altLang="zh-CN" baseline="-25000" dirty="0">
                <a:latin typeface="Symbol" panose="05050102010706020507" pitchFamily="18" charset="2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,</a:t>
            </a:r>
            <a:r>
              <a:rPr lang="en-US" altLang="zh-CN" dirty="0">
                <a:ea typeface="宋体" panose="02010600030101010101" pitchFamily="2" charset="-122"/>
              </a:rPr>
              <a:t> … and r is the rate of interest</a:t>
            </a:r>
            <a:r>
              <a:rPr lang="zh-CN" altLang="en-US" dirty="0">
                <a:ea typeface="宋体" panose="02010600030101010101" pitchFamily="2" charset="-122"/>
              </a:rPr>
              <a:t>利率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Then the present-value </a:t>
            </a:r>
            <a:r>
              <a:rPr lang="zh-CN" altLang="en-US" dirty="0">
                <a:ea typeface="宋体" panose="02010600030101010101" pitchFamily="2" charset="-122"/>
              </a:rPr>
              <a:t>现值</a:t>
            </a:r>
            <a:r>
              <a:rPr lang="en-US" altLang="zh-CN" dirty="0">
                <a:ea typeface="宋体" panose="02010600030101010101" pitchFamily="2" charset="-122"/>
              </a:rPr>
              <a:t>of the firm’s economic profit stream is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9219" name="Object 4"/>
          <p:cNvGraphicFramePr/>
          <p:nvPr/>
        </p:nvGraphicFramePr>
        <p:xfrm>
          <a:off x="2057400" y="4379913"/>
          <a:ext cx="500221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091815" imgH="661670" progId="Equation.2">
                  <p:embed/>
                </p:oleObj>
              </mc:Choice>
              <mc:Fallback>
                <p:oleObj name="" r:id="rId1" imgW="3091815" imgH="661670" progId="Equation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57400" y="4379913"/>
                        <a:ext cx="5002213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Economic Profit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4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competitive firm seeks to maximize its present-value.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How?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Economic Profit</a:t>
            </a:r>
            <a:r>
              <a:rPr lang="zh-CN" altLang="en-US" dirty="0">
                <a:ea typeface="宋体" panose="02010600030101010101" pitchFamily="2" charset="-122"/>
              </a:rPr>
              <a:t>经济利润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685800" y="1262063"/>
            <a:ext cx="7772400" cy="41529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Suppose the firm is in a short-run circumstance in which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Its short-run production function is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1267" name="Object 4"/>
          <p:cNvGraphicFramePr/>
          <p:nvPr/>
        </p:nvGraphicFramePr>
        <p:xfrm>
          <a:off x="3333750" y="2894013"/>
          <a:ext cx="24574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358265" imgH="287655" progId="Equation.2">
                  <p:embed/>
                </p:oleObj>
              </mc:Choice>
              <mc:Fallback>
                <p:oleObj name="" r:id="rId1" imgW="1358265" imgH="287655" progId="Equation.2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33750" y="2894013"/>
                        <a:ext cx="245745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6"/>
          <p:cNvGraphicFramePr/>
          <p:nvPr/>
        </p:nvGraphicFramePr>
        <p:xfrm>
          <a:off x="5595938" y="1831975"/>
          <a:ext cx="15605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879475" imgH="287655" progId="Equation.2">
                  <p:embed/>
                </p:oleObj>
              </mc:Choice>
              <mc:Fallback>
                <p:oleObj name="" r:id="rId3" imgW="879475" imgH="287655" progId="Equation.2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95938" y="1831975"/>
                        <a:ext cx="1560512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Economic Profit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290" name="Rectangle 3"/>
          <p:cNvSpPr>
            <a:spLocks noGrp="1"/>
          </p:cNvSpPr>
          <p:nvPr>
            <p:ph idx="1"/>
          </p:nvPr>
        </p:nvSpPr>
        <p:spPr>
          <a:xfrm>
            <a:off x="685800" y="1262063"/>
            <a:ext cx="7772400" cy="41529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Suppose the firm is in a short-run circumstance in which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Its short-run production function is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firm’s fixed cost is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and its profit function is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2291" name="Object 4"/>
          <p:cNvGraphicFramePr/>
          <p:nvPr/>
        </p:nvGraphicFramePr>
        <p:xfrm>
          <a:off x="3333750" y="2894013"/>
          <a:ext cx="24574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358265" imgH="287655" progId="Equation.2">
                  <p:embed/>
                </p:oleObj>
              </mc:Choice>
              <mc:Fallback>
                <p:oleObj name="" r:id="rId1" imgW="1358265" imgH="287655" progId="Equation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33750" y="2894013"/>
                        <a:ext cx="245745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5"/>
          <p:cNvGraphicFramePr/>
          <p:nvPr/>
        </p:nvGraphicFramePr>
        <p:xfrm>
          <a:off x="2517775" y="4484688"/>
          <a:ext cx="43672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2429510" imgH="287655" progId="Equation.2">
                  <p:embed/>
                </p:oleObj>
              </mc:Choice>
              <mc:Fallback>
                <p:oleObj name="" r:id="rId3" imgW="2429510" imgH="287655" progId="Equation.2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7775" y="4484688"/>
                        <a:ext cx="4367213" cy="481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6"/>
          <p:cNvGraphicFramePr/>
          <p:nvPr/>
        </p:nvGraphicFramePr>
        <p:xfrm>
          <a:off x="5595938" y="1831975"/>
          <a:ext cx="15605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879475" imgH="287655" progId="Equation.2">
                  <p:embed/>
                </p:oleObj>
              </mc:Choice>
              <mc:Fallback>
                <p:oleObj name="" r:id="rId5" imgW="879475" imgH="287655" progId="Equation.2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95938" y="1831975"/>
                        <a:ext cx="1560512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7"/>
          <p:cNvGraphicFramePr/>
          <p:nvPr/>
        </p:nvGraphicFramePr>
        <p:xfrm>
          <a:off x="5675313" y="3460750"/>
          <a:ext cx="20605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1167130" imgH="287655" progId="Equation.2">
                  <p:embed/>
                </p:oleObj>
              </mc:Choice>
              <mc:Fallback>
                <p:oleObj name="" r:id="rId7" imgW="1167130" imgH="287655" progId="Equation.2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75313" y="3460750"/>
                        <a:ext cx="206057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Iso-Profit Lines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短期等利润线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$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iso-profit line</a:t>
            </a:r>
            <a:r>
              <a:rPr lang="en-US" altLang="zh-CN" dirty="0">
                <a:ea typeface="宋体" panose="02010600030101010101" pitchFamily="2" charset="-122"/>
              </a:rPr>
              <a:t> contains all the production plans that provide a profit level $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 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 $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 iso-profit line’s equation is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3315" name="Object 4"/>
          <p:cNvGraphicFramePr/>
          <p:nvPr/>
        </p:nvGraphicFramePr>
        <p:xfrm>
          <a:off x="2054225" y="3838575"/>
          <a:ext cx="46751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429510" imgH="287655" progId="Equation.2">
                  <p:embed/>
                </p:oleObj>
              </mc:Choice>
              <mc:Fallback>
                <p:oleObj name="" r:id="rId1" imgW="2429510" imgH="287655" progId="Equation.2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54225" y="3838575"/>
                        <a:ext cx="4675188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Iso-Profit Lines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33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$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iso-profit line</a:t>
            </a:r>
            <a:r>
              <a:rPr lang="en-US" altLang="zh-CN" dirty="0">
                <a:ea typeface="宋体" panose="02010600030101010101" pitchFamily="2" charset="-122"/>
              </a:rPr>
              <a:t> contains all the production plans that yield a profit level of $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 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equation of a $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 iso-profit line is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I.e.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4339" name="Object 4"/>
          <p:cNvGraphicFramePr/>
          <p:nvPr/>
        </p:nvGraphicFramePr>
        <p:xfrm>
          <a:off x="2054225" y="3838575"/>
          <a:ext cx="46751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2429510" imgH="287655" progId="Equation.2">
                  <p:embed/>
                </p:oleObj>
              </mc:Choice>
              <mc:Fallback>
                <p:oleObj name="" r:id="rId1" imgW="2429510" imgH="287655" progId="Equation.2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54225" y="3838575"/>
                        <a:ext cx="4675188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5"/>
          <p:cNvGraphicFramePr/>
          <p:nvPr/>
        </p:nvGraphicFramePr>
        <p:xfrm>
          <a:off x="2262188" y="4691063"/>
          <a:ext cx="45910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3" imgW="2386330" imgH="609600" progId="Equation.2">
                  <p:embed/>
                </p:oleObj>
              </mc:Choice>
              <mc:Fallback>
                <p:oleObj name="" r:id="rId3" imgW="2386330" imgH="609600" progId="Equation.2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62188" y="4691063"/>
                        <a:ext cx="459105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Iso-Profit Lines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5362" name="Object 3"/>
          <p:cNvGraphicFramePr/>
          <p:nvPr/>
        </p:nvGraphicFramePr>
        <p:xfrm>
          <a:off x="2051050" y="1209675"/>
          <a:ext cx="4430713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2307590" imgH="609600" progId="Equation.2">
                  <p:embed/>
                </p:oleObj>
              </mc:Choice>
              <mc:Fallback>
                <p:oleObj name="" r:id="rId1" imgW="2307590" imgH="609600" progId="Equation.2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51050" y="1209675"/>
                        <a:ext cx="4430713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4"/>
          <p:cNvSpPr/>
          <p:nvPr/>
        </p:nvSpPr>
        <p:spPr>
          <a:xfrm>
            <a:off x="741363" y="2327275"/>
            <a:ext cx="28876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has a slope of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5364" name="Object 5"/>
          <p:cNvGraphicFramePr/>
          <p:nvPr/>
        </p:nvGraphicFramePr>
        <p:xfrm>
          <a:off x="3795713" y="2843213"/>
          <a:ext cx="106045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3" imgW="557530" imgH="609600" progId="Equation.2">
                  <p:embed/>
                </p:oleObj>
              </mc:Choice>
              <mc:Fallback>
                <p:oleObj name="" r:id="rId3" imgW="557530" imgH="609600" progId="Equation.2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95713" y="2843213"/>
                        <a:ext cx="1060450" cy="1123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6"/>
          <p:cNvSpPr/>
          <p:nvPr/>
        </p:nvSpPr>
        <p:spPr>
          <a:xfrm>
            <a:off x="741363" y="4017963"/>
            <a:ext cx="6383337" cy="5857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and a vertical intercept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纵截距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of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5366" name="Object 7"/>
          <p:cNvGraphicFramePr/>
          <p:nvPr/>
        </p:nvGraphicFramePr>
        <p:xfrm>
          <a:off x="3211513" y="4700588"/>
          <a:ext cx="2185987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5" imgW="1149350" imgH="609600" progId="Equation.2">
                  <p:embed/>
                </p:oleObj>
              </mc:Choice>
              <mc:Fallback>
                <p:oleObj name="" r:id="rId5" imgW="1149350" imgH="609600" progId="Equation.2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11513" y="4700588"/>
                        <a:ext cx="2185987" cy="1114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Iso-Profit Lines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6" name="Line 3"/>
          <p:cNvSpPr/>
          <p:nvPr/>
        </p:nvSpPr>
        <p:spPr>
          <a:xfrm>
            <a:off x="1547813" y="1619250"/>
            <a:ext cx="0" cy="35480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16387" name="Line 4"/>
          <p:cNvSpPr/>
          <p:nvPr/>
        </p:nvSpPr>
        <p:spPr>
          <a:xfrm>
            <a:off x="1546225" y="5167313"/>
            <a:ext cx="46434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6388" name="Line 5"/>
          <p:cNvSpPr/>
          <p:nvPr/>
        </p:nvSpPr>
        <p:spPr>
          <a:xfrm flipV="1">
            <a:off x="1549400" y="3149600"/>
            <a:ext cx="3479800" cy="18288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89" name="Line 6"/>
          <p:cNvSpPr/>
          <p:nvPr/>
        </p:nvSpPr>
        <p:spPr>
          <a:xfrm flipV="1">
            <a:off x="1549400" y="2717800"/>
            <a:ext cx="3479800" cy="1828800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90" name="Line 7"/>
          <p:cNvSpPr/>
          <p:nvPr/>
        </p:nvSpPr>
        <p:spPr>
          <a:xfrm flipV="1">
            <a:off x="1549400" y="2298700"/>
            <a:ext cx="3479800" cy="18288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16391" name="Object 8"/>
          <p:cNvGraphicFramePr/>
          <p:nvPr/>
        </p:nvGraphicFramePr>
        <p:xfrm>
          <a:off x="5075238" y="2960688"/>
          <a:ext cx="11080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766445" imgH="217805" progId="Equation.2">
                  <p:embed/>
                </p:oleObj>
              </mc:Choice>
              <mc:Fallback>
                <p:oleObj name="" r:id="rId1" imgW="766445" imgH="217805" progId="Equation.2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5238" y="2960688"/>
                        <a:ext cx="1108075" cy="307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9"/>
          <p:cNvGraphicFramePr/>
          <p:nvPr/>
        </p:nvGraphicFramePr>
        <p:xfrm>
          <a:off x="5075238" y="2528888"/>
          <a:ext cx="11747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3" imgW="818515" imgH="217805" progId="Equation.2">
                  <p:embed/>
                </p:oleObj>
              </mc:Choice>
              <mc:Fallback>
                <p:oleObj name="" r:id="rId3" imgW="818515" imgH="217805" progId="Equation.2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5238" y="2528888"/>
                        <a:ext cx="11747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10"/>
          <p:cNvGraphicFramePr/>
          <p:nvPr/>
        </p:nvGraphicFramePr>
        <p:xfrm>
          <a:off x="5068888" y="2109788"/>
          <a:ext cx="12541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5" imgW="879475" imgH="217805" progId="Equation.2">
                  <p:embed/>
                </p:oleObj>
              </mc:Choice>
              <mc:Fallback>
                <p:oleObj name="" r:id="rId5" imgW="879475" imgH="217805" progId="Equation.2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68888" y="2109788"/>
                        <a:ext cx="125412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AutoShape 11"/>
          <p:cNvSpPr/>
          <p:nvPr/>
        </p:nvSpPr>
        <p:spPr>
          <a:xfrm rot="-1680000">
            <a:off x="3300413" y="2427288"/>
            <a:ext cx="279400" cy="2111375"/>
          </a:xfrm>
          <a:prstGeom prst="upArrow">
            <a:avLst>
              <a:gd name="adj1" fmla="val 50000"/>
              <a:gd name="adj2" fmla="val 377770"/>
            </a:avLst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5" name="Rectangle 12"/>
          <p:cNvSpPr/>
          <p:nvPr/>
        </p:nvSpPr>
        <p:spPr>
          <a:xfrm rot="-1620000">
            <a:off x="1751013" y="1665288"/>
            <a:ext cx="1962150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Increasing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   profit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6" name="Rectangle 13"/>
          <p:cNvSpPr/>
          <p:nvPr/>
        </p:nvSpPr>
        <p:spPr>
          <a:xfrm>
            <a:off x="1089025" y="1503363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7" name="Rectangle 14"/>
          <p:cNvSpPr/>
          <p:nvPr/>
        </p:nvSpPr>
        <p:spPr>
          <a:xfrm>
            <a:off x="5894388" y="515461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398" name="Object 15"/>
          <p:cNvGraphicFramePr/>
          <p:nvPr/>
        </p:nvGraphicFramePr>
        <p:xfrm>
          <a:off x="4429125" y="3694113"/>
          <a:ext cx="231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7" imgW="1593850" imgH="609600" progId="Equation.2">
                  <p:embed/>
                </p:oleObj>
              </mc:Choice>
              <mc:Fallback>
                <p:oleObj name="" r:id="rId7" imgW="1593850" imgH="609600" progId="Equation.2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9125" y="3694113"/>
                        <a:ext cx="23145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短期利润最大化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firm’s problem is to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locate the production plan</a:t>
            </a:r>
            <a:r>
              <a:rPr lang="en-US" altLang="zh-CN" dirty="0">
                <a:ea typeface="宋体" panose="02010600030101010101" pitchFamily="2" charset="-122"/>
              </a:rPr>
              <a:t> that attains the highest possible iso-profit line, given the firm’s constraint on choices of production plans.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Q: What is this constraint?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843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firm’s problem is to locate the production plan that attains the highest possible iso-profit line, given the firm’s constraint on choices of production plans.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Q: What is this constraint?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A:  The production function.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Freeform 14"/>
          <p:cNvSpPr/>
          <p:nvPr/>
        </p:nvSpPr>
        <p:spPr>
          <a:xfrm>
            <a:off x="1447800" y="2844800"/>
            <a:ext cx="4902200" cy="27178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3088" h="1712">
                <a:moveTo>
                  <a:pt x="3088" y="0"/>
                </a:moveTo>
                <a:lnTo>
                  <a:pt x="3088" y="1712"/>
                </a:lnTo>
                <a:lnTo>
                  <a:pt x="0" y="1712"/>
                </a:lnTo>
                <a:lnTo>
                  <a:pt x="104" y="1504"/>
                </a:lnTo>
                <a:lnTo>
                  <a:pt x="200" y="1376"/>
                </a:lnTo>
                <a:lnTo>
                  <a:pt x="288" y="1240"/>
                </a:lnTo>
                <a:lnTo>
                  <a:pt x="400" y="1104"/>
                </a:lnTo>
                <a:lnTo>
                  <a:pt x="592" y="936"/>
                </a:lnTo>
                <a:lnTo>
                  <a:pt x="776" y="792"/>
                </a:lnTo>
                <a:lnTo>
                  <a:pt x="952" y="672"/>
                </a:lnTo>
                <a:lnTo>
                  <a:pt x="1144" y="568"/>
                </a:lnTo>
                <a:lnTo>
                  <a:pt x="1376" y="432"/>
                </a:lnTo>
                <a:lnTo>
                  <a:pt x="1608" y="344"/>
                </a:lnTo>
                <a:lnTo>
                  <a:pt x="1848" y="248"/>
                </a:lnTo>
                <a:lnTo>
                  <a:pt x="2128" y="168"/>
                </a:lnTo>
                <a:lnTo>
                  <a:pt x="2400" y="96"/>
                </a:lnTo>
                <a:lnTo>
                  <a:pt x="2672" y="48"/>
                </a:lnTo>
                <a:lnTo>
                  <a:pt x="2896" y="8"/>
                </a:lnTo>
                <a:lnTo>
                  <a:pt x="3088" y="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19459" name="Line 3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9460" name="Rectangle 4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Arc 6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1016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9462" name="Rectangle 7"/>
          <p:cNvSpPr/>
          <p:nvPr/>
        </p:nvSpPr>
        <p:spPr>
          <a:xfrm>
            <a:off x="4205288" y="4132263"/>
            <a:ext cx="2120900" cy="13731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Technically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inefficient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plans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3" name="Line 8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19464" name="Rectangle 9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5" name="Rectangle 11"/>
          <p:cNvSpPr/>
          <p:nvPr/>
        </p:nvSpPr>
        <p:spPr>
          <a:xfrm>
            <a:off x="2074863" y="1133475"/>
            <a:ext cx="6683375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The short-run production function and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technology set for 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9466" name="Object 12"/>
          <p:cNvGraphicFramePr/>
          <p:nvPr/>
        </p:nvGraphicFramePr>
        <p:xfrm>
          <a:off x="5370513" y="1574800"/>
          <a:ext cx="14398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879475" imgH="287655" progId="Equation.2">
                  <p:embed/>
                </p:oleObj>
              </mc:Choice>
              <mc:Fallback>
                <p:oleObj name="" r:id="rId1" imgW="879475" imgH="287655" progId="Equation.2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70513" y="1574800"/>
                        <a:ext cx="1439862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18"/>
          <p:cNvGraphicFramePr/>
          <p:nvPr/>
        </p:nvGraphicFramePr>
        <p:xfrm>
          <a:off x="6502400" y="2728913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3" imgW="1306195" imgH="287655" progId="Equation.2">
                  <p:embed/>
                </p:oleObj>
              </mc:Choice>
              <mc:Fallback>
                <p:oleObj name="" r:id="rId3" imgW="1306195" imgH="287655" progId="Equation.2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02400" y="2728913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Freeform 22"/>
          <p:cNvSpPr/>
          <p:nvPr/>
        </p:nvSpPr>
        <p:spPr>
          <a:xfrm>
            <a:off x="1447800" y="2844800"/>
            <a:ext cx="4902200" cy="27178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3088" h="1712">
                <a:moveTo>
                  <a:pt x="3088" y="0"/>
                </a:moveTo>
                <a:lnTo>
                  <a:pt x="3088" y="1712"/>
                </a:lnTo>
                <a:lnTo>
                  <a:pt x="0" y="1712"/>
                </a:lnTo>
                <a:lnTo>
                  <a:pt x="104" y="1504"/>
                </a:lnTo>
                <a:lnTo>
                  <a:pt x="200" y="1376"/>
                </a:lnTo>
                <a:lnTo>
                  <a:pt x="288" y="1240"/>
                </a:lnTo>
                <a:lnTo>
                  <a:pt x="400" y="1104"/>
                </a:lnTo>
                <a:lnTo>
                  <a:pt x="592" y="936"/>
                </a:lnTo>
                <a:lnTo>
                  <a:pt x="776" y="792"/>
                </a:lnTo>
                <a:lnTo>
                  <a:pt x="952" y="672"/>
                </a:lnTo>
                <a:lnTo>
                  <a:pt x="1144" y="568"/>
                </a:lnTo>
                <a:lnTo>
                  <a:pt x="1376" y="432"/>
                </a:lnTo>
                <a:lnTo>
                  <a:pt x="1608" y="344"/>
                </a:lnTo>
                <a:lnTo>
                  <a:pt x="1848" y="248"/>
                </a:lnTo>
                <a:lnTo>
                  <a:pt x="2128" y="168"/>
                </a:lnTo>
                <a:lnTo>
                  <a:pt x="2400" y="96"/>
                </a:lnTo>
                <a:lnTo>
                  <a:pt x="2672" y="48"/>
                </a:lnTo>
                <a:lnTo>
                  <a:pt x="2896" y="8"/>
                </a:lnTo>
                <a:lnTo>
                  <a:pt x="3088" y="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483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Arc 7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1016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0485" name="AutoShape 14"/>
          <p:cNvSpPr/>
          <p:nvPr/>
        </p:nvSpPr>
        <p:spPr>
          <a:xfrm rot="-1680000">
            <a:off x="3300413" y="2427288"/>
            <a:ext cx="279400" cy="2111375"/>
          </a:xfrm>
          <a:prstGeom prst="upArrow">
            <a:avLst>
              <a:gd name="adj1" fmla="val 50000"/>
              <a:gd name="adj2" fmla="val 377770"/>
            </a:avLst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6" name="Rectangle 15"/>
          <p:cNvSpPr/>
          <p:nvPr/>
        </p:nvSpPr>
        <p:spPr>
          <a:xfrm rot="-1620000">
            <a:off x="1751013" y="1665288"/>
            <a:ext cx="1962150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Increasing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   profit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487" name="Object 16"/>
          <p:cNvGraphicFramePr/>
          <p:nvPr/>
        </p:nvGraphicFramePr>
        <p:xfrm>
          <a:off x="3952875" y="3646488"/>
          <a:ext cx="231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" imgW="1593850" imgH="609600" progId="Equation.2">
                  <p:embed/>
                </p:oleObj>
              </mc:Choice>
              <mc:Fallback>
                <p:oleObj name="" r:id="rId1" imgW="1593850" imgH="609600" progId="Equation.2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75" y="3646488"/>
                        <a:ext cx="23145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Rectangle 17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489" name="Object 18"/>
          <p:cNvGraphicFramePr/>
          <p:nvPr/>
        </p:nvGraphicFramePr>
        <p:xfrm>
          <a:off x="6502400" y="2728913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" imgW="1306195" imgH="287655" progId="Equation.2">
                  <p:embed/>
                </p:oleObj>
              </mc:Choice>
              <mc:Fallback>
                <p:oleObj name="" r:id="rId3" imgW="1306195" imgH="287655" progId="Equation.2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02400" y="2728913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20491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0492" name="Line 19"/>
          <p:cNvSpPr/>
          <p:nvPr/>
        </p:nvSpPr>
        <p:spPr>
          <a:xfrm flipV="1">
            <a:off x="1435100" y="2620963"/>
            <a:ext cx="4522788" cy="23764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93" name="Line 20"/>
          <p:cNvSpPr/>
          <p:nvPr/>
        </p:nvSpPr>
        <p:spPr>
          <a:xfrm flipV="1">
            <a:off x="1435100" y="2173288"/>
            <a:ext cx="4551363" cy="2392362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94" name="Line 21"/>
          <p:cNvSpPr/>
          <p:nvPr/>
        </p:nvSpPr>
        <p:spPr>
          <a:xfrm flipV="1">
            <a:off x="1435100" y="1770063"/>
            <a:ext cx="4522788" cy="2376487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20495" name="Object 23"/>
          <p:cNvGraphicFramePr/>
          <p:nvPr/>
        </p:nvGraphicFramePr>
        <p:xfrm>
          <a:off x="6042025" y="2455863"/>
          <a:ext cx="11080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5" imgW="766445" imgH="217805" progId="Equation.2">
                  <p:embed/>
                </p:oleObj>
              </mc:Choice>
              <mc:Fallback>
                <p:oleObj name="" r:id="rId5" imgW="766445" imgH="217805" progId="Equation.2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42025" y="2455863"/>
                        <a:ext cx="1108075" cy="307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Object 24"/>
          <p:cNvGraphicFramePr/>
          <p:nvPr/>
        </p:nvGraphicFramePr>
        <p:xfrm>
          <a:off x="6042025" y="2038350"/>
          <a:ext cx="11747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7" imgW="818515" imgH="217805" progId="Equation.2">
                  <p:embed/>
                </p:oleObj>
              </mc:Choice>
              <mc:Fallback>
                <p:oleObj name="" r:id="rId7" imgW="818515" imgH="217805" progId="Equation.2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42025" y="2038350"/>
                        <a:ext cx="11747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7" name="Object 25"/>
          <p:cNvGraphicFramePr/>
          <p:nvPr/>
        </p:nvGraphicFramePr>
        <p:xfrm>
          <a:off x="6037263" y="1633538"/>
          <a:ext cx="12541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9" imgW="879475" imgH="217805" progId="Equation.2">
                  <p:embed/>
                </p:oleObj>
              </mc:Choice>
              <mc:Fallback>
                <p:oleObj name="" r:id="rId9" imgW="879475" imgH="217805" progId="Equation.2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37263" y="1633538"/>
                        <a:ext cx="125412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Freeform 23"/>
          <p:cNvSpPr/>
          <p:nvPr/>
        </p:nvSpPr>
        <p:spPr>
          <a:xfrm>
            <a:off x="1447800" y="2844800"/>
            <a:ext cx="4902200" cy="27178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3088" h="1712">
                <a:moveTo>
                  <a:pt x="3088" y="0"/>
                </a:moveTo>
                <a:lnTo>
                  <a:pt x="3088" y="1712"/>
                </a:lnTo>
                <a:lnTo>
                  <a:pt x="0" y="1712"/>
                </a:lnTo>
                <a:lnTo>
                  <a:pt x="104" y="1504"/>
                </a:lnTo>
                <a:lnTo>
                  <a:pt x="200" y="1376"/>
                </a:lnTo>
                <a:lnTo>
                  <a:pt x="288" y="1240"/>
                </a:lnTo>
                <a:lnTo>
                  <a:pt x="400" y="1104"/>
                </a:lnTo>
                <a:lnTo>
                  <a:pt x="592" y="936"/>
                </a:lnTo>
                <a:lnTo>
                  <a:pt x="776" y="792"/>
                </a:lnTo>
                <a:lnTo>
                  <a:pt x="952" y="672"/>
                </a:lnTo>
                <a:lnTo>
                  <a:pt x="1144" y="568"/>
                </a:lnTo>
                <a:lnTo>
                  <a:pt x="1376" y="432"/>
                </a:lnTo>
                <a:lnTo>
                  <a:pt x="1608" y="344"/>
                </a:lnTo>
                <a:lnTo>
                  <a:pt x="1848" y="248"/>
                </a:lnTo>
                <a:lnTo>
                  <a:pt x="2128" y="168"/>
                </a:lnTo>
                <a:lnTo>
                  <a:pt x="2400" y="96"/>
                </a:lnTo>
                <a:lnTo>
                  <a:pt x="2672" y="48"/>
                </a:lnTo>
                <a:lnTo>
                  <a:pt x="2896" y="8"/>
                </a:lnTo>
                <a:lnTo>
                  <a:pt x="3088" y="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1507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Arc 7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1016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1509" name="Rectangle 8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0" name="Line 9"/>
          <p:cNvSpPr/>
          <p:nvPr/>
        </p:nvSpPr>
        <p:spPr>
          <a:xfrm flipV="1">
            <a:off x="1435100" y="2620963"/>
            <a:ext cx="4522788" cy="23764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11" name="Line 10"/>
          <p:cNvSpPr/>
          <p:nvPr/>
        </p:nvSpPr>
        <p:spPr>
          <a:xfrm flipV="1">
            <a:off x="1435100" y="2173288"/>
            <a:ext cx="4551363" cy="2392362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12" name="Line 11"/>
          <p:cNvSpPr/>
          <p:nvPr/>
        </p:nvSpPr>
        <p:spPr>
          <a:xfrm flipV="1">
            <a:off x="1435100" y="1770063"/>
            <a:ext cx="4522788" cy="2376487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21513" name="Object 12"/>
          <p:cNvGraphicFramePr/>
          <p:nvPr/>
        </p:nvGraphicFramePr>
        <p:xfrm>
          <a:off x="6042025" y="2455863"/>
          <a:ext cx="11080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766445" imgH="217805" progId="Equation.2">
                  <p:embed/>
                </p:oleObj>
              </mc:Choice>
              <mc:Fallback>
                <p:oleObj name="" r:id="rId1" imgW="766445" imgH="217805" progId="Equation.2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42025" y="2455863"/>
                        <a:ext cx="1108075" cy="307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13"/>
          <p:cNvGraphicFramePr/>
          <p:nvPr/>
        </p:nvGraphicFramePr>
        <p:xfrm>
          <a:off x="6042025" y="2038350"/>
          <a:ext cx="11747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818515" imgH="217805" progId="Equation.2">
                  <p:embed/>
                </p:oleObj>
              </mc:Choice>
              <mc:Fallback>
                <p:oleObj name="" r:id="rId3" imgW="818515" imgH="217805" progId="Equation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42025" y="2038350"/>
                        <a:ext cx="11747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Object 14"/>
          <p:cNvGraphicFramePr/>
          <p:nvPr/>
        </p:nvGraphicFramePr>
        <p:xfrm>
          <a:off x="6037263" y="1633538"/>
          <a:ext cx="12541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879475" imgH="217805" progId="Equation.2">
                  <p:embed/>
                </p:oleObj>
              </mc:Choice>
              <mc:Fallback>
                <p:oleObj name="" r:id="rId5" imgW="879475" imgH="217805" progId="Equation.2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37263" y="1633538"/>
                        <a:ext cx="125412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Object 15"/>
          <p:cNvGraphicFramePr/>
          <p:nvPr/>
        </p:nvGraphicFramePr>
        <p:xfrm>
          <a:off x="6453188" y="2979738"/>
          <a:ext cx="231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7" imgW="1593850" imgH="609600" progId="Equation.2">
                  <p:embed/>
                </p:oleObj>
              </mc:Choice>
              <mc:Fallback>
                <p:oleObj name="" r:id="rId7" imgW="1593850" imgH="609600" progId="Equation.2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53188" y="2979738"/>
                        <a:ext cx="23145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Line 16"/>
          <p:cNvSpPr/>
          <p:nvPr/>
        </p:nvSpPr>
        <p:spPr>
          <a:xfrm>
            <a:off x="3403600" y="3535363"/>
            <a:ext cx="0" cy="1990725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1518" name="Line 17"/>
          <p:cNvSpPr/>
          <p:nvPr/>
        </p:nvSpPr>
        <p:spPr>
          <a:xfrm flipH="1">
            <a:off x="1401763" y="3535363"/>
            <a:ext cx="202088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1519" name="Oval 18"/>
          <p:cNvSpPr/>
          <p:nvPr/>
        </p:nvSpPr>
        <p:spPr>
          <a:xfrm>
            <a:off x="3289300" y="34163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20" name="Oval 19"/>
          <p:cNvSpPr/>
          <p:nvPr/>
        </p:nvSpPr>
        <p:spPr>
          <a:xfrm>
            <a:off x="3351213" y="55118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21" name="Oval 20"/>
          <p:cNvSpPr/>
          <p:nvPr/>
        </p:nvSpPr>
        <p:spPr>
          <a:xfrm>
            <a:off x="1370013" y="3463925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1522" name="Object 21"/>
          <p:cNvGraphicFramePr/>
          <p:nvPr/>
        </p:nvGraphicFramePr>
        <p:xfrm>
          <a:off x="3244850" y="5626100"/>
          <a:ext cx="3571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9" imgW="252730" imgH="374650" progId="Equation.2">
                  <p:embed/>
                </p:oleObj>
              </mc:Choice>
              <mc:Fallback>
                <p:oleObj name="" r:id="rId9" imgW="252730" imgH="374650" progId="Equation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FFFF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44850" y="5626100"/>
                        <a:ext cx="357188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3" name="Object 22"/>
          <p:cNvGraphicFramePr/>
          <p:nvPr/>
        </p:nvGraphicFramePr>
        <p:xfrm>
          <a:off x="1027113" y="3197225"/>
          <a:ext cx="3349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1" imgW="243840" imgH="365760" progId="Equation.2">
                  <p:embed/>
                </p:oleObj>
              </mc:Choice>
              <mc:Fallback>
                <p:oleObj name="" r:id="rId11" imgW="243840" imgH="365760" progId="Equation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27113" y="3197225"/>
                        <a:ext cx="334962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4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21525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Freeform 22"/>
          <p:cNvSpPr/>
          <p:nvPr/>
        </p:nvSpPr>
        <p:spPr>
          <a:xfrm>
            <a:off x="1447800" y="2844800"/>
            <a:ext cx="4902200" cy="27178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3088" h="1712">
                <a:moveTo>
                  <a:pt x="3088" y="0"/>
                </a:moveTo>
                <a:lnTo>
                  <a:pt x="3088" y="1712"/>
                </a:lnTo>
                <a:lnTo>
                  <a:pt x="0" y="1712"/>
                </a:lnTo>
                <a:lnTo>
                  <a:pt x="104" y="1504"/>
                </a:lnTo>
                <a:lnTo>
                  <a:pt x="200" y="1376"/>
                </a:lnTo>
                <a:lnTo>
                  <a:pt x="288" y="1240"/>
                </a:lnTo>
                <a:lnTo>
                  <a:pt x="400" y="1104"/>
                </a:lnTo>
                <a:lnTo>
                  <a:pt x="592" y="936"/>
                </a:lnTo>
                <a:lnTo>
                  <a:pt x="776" y="792"/>
                </a:lnTo>
                <a:lnTo>
                  <a:pt x="952" y="672"/>
                </a:lnTo>
                <a:lnTo>
                  <a:pt x="1144" y="568"/>
                </a:lnTo>
                <a:lnTo>
                  <a:pt x="1376" y="432"/>
                </a:lnTo>
                <a:lnTo>
                  <a:pt x="1608" y="344"/>
                </a:lnTo>
                <a:lnTo>
                  <a:pt x="1848" y="248"/>
                </a:lnTo>
                <a:lnTo>
                  <a:pt x="2128" y="168"/>
                </a:lnTo>
                <a:lnTo>
                  <a:pt x="2400" y="96"/>
                </a:lnTo>
                <a:lnTo>
                  <a:pt x="2672" y="48"/>
                </a:lnTo>
                <a:lnTo>
                  <a:pt x="2896" y="8"/>
                </a:lnTo>
                <a:lnTo>
                  <a:pt x="3088" y="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Short-Run Profit-Maximization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22531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22532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2533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Arc 7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1016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2535" name="Rectangle 8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536" name="Object 11"/>
          <p:cNvGraphicFramePr/>
          <p:nvPr/>
        </p:nvGraphicFramePr>
        <p:xfrm>
          <a:off x="6453188" y="2979738"/>
          <a:ext cx="231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593850" imgH="609600" progId="Equation.2">
                  <p:embed/>
                </p:oleObj>
              </mc:Choice>
              <mc:Fallback>
                <p:oleObj name="" r:id="rId1" imgW="1593850" imgH="609600" progId="Equation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53188" y="2979738"/>
                        <a:ext cx="23145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Rectangle 19"/>
          <p:cNvSpPr/>
          <p:nvPr/>
        </p:nvSpPr>
        <p:spPr>
          <a:xfrm>
            <a:off x="1908175" y="1090613"/>
            <a:ext cx="6735763" cy="9461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Given p, w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and                 the short-run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profit-maximizing plan is  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8" name="Line 24"/>
          <p:cNvSpPr/>
          <p:nvPr/>
        </p:nvSpPr>
        <p:spPr>
          <a:xfrm flipV="1">
            <a:off x="1435100" y="2173288"/>
            <a:ext cx="4551363" cy="2392362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22539" name="Object 27"/>
          <p:cNvGraphicFramePr/>
          <p:nvPr/>
        </p:nvGraphicFramePr>
        <p:xfrm>
          <a:off x="6042025" y="2038350"/>
          <a:ext cx="11747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818515" imgH="217805" progId="Equation.2">
                  <p:embed/>
                </p:oleObj>
              </mc:Choice>
              <mc:Fallback>
                <p:oleObj name="" r:id="rId3" imgW="818515" imgH="217805" progId="Equation.2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42025" y="2038350"/>
                        <a:ext cx="11747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Object 30"/>
          <p:cNvGraphicFramePr/>
          <p:nvPr/>
        </p:nvGraphicFramePr>
        <p:xfrm>
          <a:off x="3244850" y="5626100"/>
          <a:ext cx="3571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5" imgW="252730" imgH="374650" progId="Equation.2">
                  <p:embed/>
                </p:oleObj>
              </mc:Choice>
              <mc:Fallback>
                <p:oleObj name="" r:id="rId5" imgW="252730" imgH="374650" progId="Equation.2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FFFF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44850" y="5626100"/>
                        <a:ext cx="357188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1" name="Object 31"/>
          <p:cNvGraphicFramePr/>
          <p:nvPr/>
        </p:nvGraphicFramePr>
        <p:xfrm>
          <a:off x="1027113" y="3197225"/>
          <a:ext cx="3349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7" imgW="243840" imgH="365760" progId="Equation.2">
                  <p:embed/>
                </p:oleObj>
              </mc:Choice>
              <mc:Fallback>
                <p:oleObj name="" r:id="rId7" imgW="243840" imgH="365760" progId="Equation.2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27113" y="3197225"/>
                        <a:ext cx="334962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Line 32"/>
          <p:cNvSpPr/>
          <p:nvPr/>
        </p:nvSpPr>
        <p:spPr>
          <a:xfrm>
            <a:off x="3403600" y="3563938"/>
            <a:ext cx="0" cy="1990725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2543" name="Line 33"/>
          <p:cNvSpPr/>
          <p:nvPr/>
        </p:nvSpPr>
        <p:spPr>
          <a:xfrm flipH="1">
            <a:off x="1401763" y="3535363"/>
            <a:ext cx="202088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2544" name="Oval 34"/>
          <p:cNvSpPr/>
          <p:nvPr/>
        </p:nvSpPr>
        <p:spPr>
          <a:xfrm>
            <a:off x="3351213" y="55118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45" name="Oval 35"/>
          <p:cNvSpPr/>
          <p:nvPr/>
        </p:nvSpPr>
        <p:spPr>
          <a:xfrm>
            <a:off x="1370013" y="3463925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46" name="Oval 29"/>
          <p:cNvSpPr/>
          <p:nvPr/>
        </p:nvSpPr>
        <p:spPr>
          <a:xfrm>
            <a:off x="3289300" y="34163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547" name="Object 36"/>
          <p:cNvGraphicFramePr/>
          <p:nvPr/>
        </p:nvGraphicFramePr>
        <p:xfrm>
          <a:off x="4768850" y="1036638"/>
          <a:ext cx="14446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9" imgW="888365" imgH="287655" progId="Equation.2">
                  <p:embed/>
                </p:oleObj>
              </mc:Choice>
              <mc:Fallback>
                <p:oleObj name="" r:id="rId9" imgW="888365" imgH="287655" progId="Equation.2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68850" y="1036638"/>
                        <a:ext cx="144462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8" name="Object 37"/>
          <p:cNvGraphicFramePr/>
          <p:nvPr/>
        </p:nvGraphicFramePr>
        <p:xfrm>
          <a:off x="6324600" y="1331913"/>
          <a:ext cx="1944688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1" imgW="1202055" imgH="374650" progId="Equation.2">
                  <p:embed/>
                </p:oleObj>
              </mc:Choice>
              <mc:Fallback>
                <p:oleObj name="" r:id="rId11" imgW="1202055" imgH="374650" progId="Equation.2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24600" y="1331913"/>
                        <a:ext cx="1944688" cy="569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Freeform 23"/>
          <p:cNvSpPr/>
          <p:nvPr/>
        </p:nvSpPr>
        <p:spPr>
          <a:xfrm>
            <a:off x="1447800" y="2844800"/>
            <a:ext cx="4902200" cy="27178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3088" h="1712">
                <a:moveTo>
                  <a:pt x="3088" y="0"/>
                </a:moveTo>
                <a:lnTo>
                  <a:pt x="3088" y="1712"/>
                </a:lnTo>
                <a:lnTo>
                  <a:pt x="0" y="1712"/>
                </a:lnTo>
                <a:lnTo>
                  <a:pt x="104" y="1504"/>
                </a:lnTo>
                <a:lnTo>
                  <a:pt x="200" y="1376"/>
                </a:lnTo>
                <a:lnTo>
                  <a:pt x="288" y="1240"/>
                </a:lnTo>
                <a:lnTo>
                  <a:pt x="400" y="1104"/>
                </a:lnTo>
                <a:lnTo>
                  <a:pt x="592" y="936"/>
                </a:lnTo>
                <a:lnTo>
                  <a:pt x="776" y="792"/>
                </a:lnTo>
                <a:lnTo>
                  <a:pt x="952" y="672"/>
                </a:lnTo>
                <a:lnTo>
                  <a:pt x="1144" y="568"/>
                </a:lnTo>
                <a:lnTo>
                  <a:pt x="1376" y="432"/>
                </a:lnTo>
                <a:lnTo>
                  <a:pt x="1608" y="344"/>
                </a:lnTo>
                <a:lnTo>
                  <a:pt x="1848" y="248"/>
                </a:lnTo>
                <a:lnTo>
                  <a:pt x="2128" y="168"/>
                </a:lnTo>
                <a:lnTo>
                  <a:pt x="2400" y="96"/>
                </a:lnTo>
                <a:lnTo>
                  <a:pt x="2672" y="48"/>
                </a:lnTo>
                <a:lnTo>
                  <a:pt x="2896" y="8"/>
                </a:lnTo>
                <a:lnTo>
                  <a:pt x="3088" y="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555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23556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3557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8" name="Arc 7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1016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3559" name="Rectangle 8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3560" name="Object 11"/>
          <p:cNvGraphicFramePr/>
          <p:nvPr/>
        </p:nvGraphicFramePr>
        <p:xfrm>
          <a:off x="6453188" y="2979738"/>
          <a:ext cx="231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593850" imgH="609600" progId="Equation.2">
                  <p:embed/>
                </p:oleObj>
              </mc:Choice>
              <mc:Fallback>
                <p:oleObj name="" r:id="rId1" imgW="1593850" imgH="609600" progId="Equation.2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53188" y="2979738"/>
                        <a:ext cx="23145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Oval 16"/>
          <p:cNvSpPr/>
          <p:nvPr/>
        </p:nvSpPr>
        <p:spPr>
          <a:xfrm>
            <a:off x="1370013" y="34925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2" name="Rectangle 19"/>
          <p:cNvSpPr/>
          <p:nvPr/>
        </p:nvSpPr>
        <p:spPr>
          <a:xfrm>
            <a:off x="1908175" y="966788"/>
            <a:ext cx="6735763" cy="222726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Given p, w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and                 the short-run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profit-maximizing plan is  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And the maximum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possible profit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is 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3563" name="Object 20"/>
          <p:cNvGraphicFramePr/>
          <p:nvPr/>
        </p:nvGraphicFramePr>
        <p:xfrm>
          <a:off x="4768850" y="1036638"/>
          <a:ext cx="14446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888365" imgH="287655" progId="Equation.2">
                  <p:embed/>
                </p:oleObj>
              </mc:Choice>
              <mc:Fallback>
                <p:oleObj name="" r:id="rId3" imgW="888365" imgH="287655" progId="Equation.2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68850" y="1036638"/>
                        <a:ext cx="144462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21"/>
          <p:cNvGraphicFramePr/>
          <p:nvPr/>
        </p:nvGraphicFramePr>
        <p:xfrm>
          <a:off x="6324600" y="1331913"/>
          <a:ext cx="1944688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5" imgW="1202055" imgH="374650" progId="Equation.2">
                  <p:embed/>
                </p:oleObj>
              </mc:Choice>
              <mc:Fallback>
                <p:oleObj name="" r:id="rId5" imgW="1202055" imgH="374650" progId="Equation.2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24600" y="1331913"/>
                        <a:ext cx="1944688" cy="569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22"/>
          <p:cNvGraphicFramePr/>
          <p:nvPr/>
        </p:nvGraphicFramePr>
        <p:xfrm>
          <a:off x="2419350" y="2822575"/>
          <a:ext cx="56038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7" imgW="409575" imgH="217805" progId="Equation.2">
                  <p:embed/>
                </p:oleObj>
              </mc:Choice>
              <mc:Fallback>
                <p:oleObj name="" r:id="rId7" imgW="409575" imgH="217805" progId="Equation.2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9350" y="2822575"/>
                        <a:ext cx="560388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6" name="Line 24"/>
          <p:cNvSpPr/>
          <p:nvPr/>
        </p:nvSpPr>
        <p:spPr>
          <a:xfrm flipV="1">
            <a:off x="1435100" y="2173288"/>
            <a:ext cx="4551363" cy="2392362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23567" name="Object 25"/>
          <p:cNvGraphicFramePr/>
          <p:nvPr/>
        </p:nvGraphicFramePr>
        <p:xfrm>
          <a:off x="6042025" y="2038350"/>
          <a:ext cx="11747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9" imgW="818515" imgH="217805" progId="Equation.2">
                  <p:embed/>
                </p:oleObj>
              </mc:Choice>
              <mc:Fallback>
                <p:oleObj name="" r:id="rId9" imgW="818515" imgH="217805" progId="Equation.2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42025" y="2038350"/>
                        <a:ext cx="11747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8" name="Object 26"/>
          <p:cNvGraphicFramePr/>
          <p:nvPr/>
        </p:nvGraphicFramePr>
        <p:xfrm>
          <a:off x="3244850" y="5626100"/>
          <a:ext cx="3571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1" imgW="252730" imgH="374650" progId="Equation.2">
                  <p:embed/>
                </p:oleObj>
              </mc:Choice>
              <mc:Fallback>
                <p:oleObj name="" r:id="rId11" imgW="252730" imgH="374650" progId="Equation.2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FFFF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44850" y="5626100"/>
                        <a:ext cx="357188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9" name="Object 27"/>
          <p:cNvGraphicFramePr/>
          <p:nvPr/>
        </p:nvGraphicFramePr>
        <p:xfrm>
          <a:off x="1027113" y="3197225"/>
          <a:ext cx="3349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3" imgW="243840" imgH="365760" progId="Equation.2">
                  <p:embed/>
                </p:oleObj>
              </mc:Choice>
              <mc:Fallback>
                <p:oleObj name="" r:id="rId13" imgW="243840" imgH="365760" progId="Equation.2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27113" y="3197225"/>
                        <a:ext cx="334962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0" name="Line 28"/>
          <p:cNvSpPr/>
          <p:nvPr/>
        </p:nvSpPr>
        <p:spPr>
          <a:xfrm>
            <a:off x="3403600" y="3563938"/>
            <a:ext cx="0" cy="1990725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3571" name="Line 29"/>
          <p:cNvSpPr/>
          <p:nvPr/>
        </p:nvSpPr>
        <p:spPr>
          <a:xfrm flipH="1">
            <a:off x="1401763" y="3535363"/>
            <a:ext cx="202088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3572" name="Oval 30"/>
          <p:cNvSpPr/>
          <p:nvPr/>
        </p:nvSpPr>
        <p:spPr>
          <a:xfrm>
            <a:off x="3351213" y="55118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73" name="Oval 31"/>
          <p:cNvSpPr/>
          <p:nvPr/>
        </p:nvSpPr>
        <p:spPr>
          <a:xfrm>
            <a:off x="1370013" y="3463925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74" name="Oval 32"/>
          <p:cNvSpPr/>
          <p:nvPr/>
        </p:nvSpPr>
        <p:spPr>
          <a:xfrm>
            <a:off x="3289300" y="34163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Freeform 20"/>
          <p:cNvSpPr/>
          <p:nvPr/>
        </p:nvSpPr>
        <p:spPr>
          <a:xfrm>
            <a:off x="1447800" y="2844800"/>
            <a:ext cx="4902200" cy="27178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3088" h="1712">
                <a:moveTo>
                  <a:pt x="3088" y="0"/>
                </a:moveTo>
                <a:lnTo>
                  <a:pt x="3088" y="1712"/>
                </a:lnTo>
                <a:lnTo>
                  <a:pt x="0" y="1712"/>
                </a:lnTo>
                <a:lnTo>
                  <a:pt x="104" y="1504"/>
                </a:lnTo>
                <a:lnTo>
                  <a:pt x="200" y="1376"/>
                </a:lnTo>
                <a:lnTo>
                  <a:pt x="288" y="1240"/>
                </a:lnTo>
                <a:lnTo>
                  <a:pt x="400" y="1104"/>
                </a:lnTo>
                <a:lnTo>
                  <a:pt x="592" y="936"/>
                </a:lnTo>
                <a:lnTo>
                  <a:pt x="776" y="792"/>
                </a:lnTo>
                <a:lnTo>
                  <a:pt x="952" y="672"/>
                </a:lnTo>
                <a:lnTo>
                  <a:pt x="1144" y="568"/>
                </a:lnTo>
                <a:lnTo>
                  <a:pt x="1376" y="432"/>
                </a:lnTo>
                <a:lnTo>
                  <a:pt x="1608" y="344"/>
                </a:lnTo>
                <a:lnTo>
                  <a:pt x="1848" y="248"/>
                </a:lnTo>
                <a:lnTo>
                  <a:pt x="2128" y="168"/>
                </a:lnTo>
                <a:lnTo>
                  <a:pt x="2400" y="96"/>
                </a:lnTo>
                <a:lnTo>
                  <a:pt x="2672" y="48"/>
                </a:lnTo>
                <a:lnTo>
                  <a:pt x="2896" y="8"/>
                </a:lnTo>
                <a:lnTo>
                  <a:pt x="3088" y="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4579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24580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4581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2" name="Arc 7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101600" cap="rnd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4583" name="Rectangle 8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4584" name="Object 11"/>
          <p:cNvGraphicFramePr/>
          <p:nvPr/>
        </p:nvGraphicFramePr>
        <p:xfrm>
          <a:off x="6453188" y="2979738"/>
          <a:ext cx="231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593850" imgH="609600" progId="Equation.2">
                  <p:embed/>
                </p:oleObj>
              </mc:Choice>
              <mc:Fallback>
                <p:oleObj name="" r:id="rId1" imgW="1593850" imgH="609600" progId="Equation.2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53188" y="2979738"/>
                        <a:ext cx="23145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Rectangle 19"/>
          <p:cNvSpPr/>
          <p:nvPr/>
        </p:nvSpPr>
        <p:spPr>
          <a:xfrm>
            <a:off x="1550988" y="942975"/>
            <a:ext cx="7426325" cy="22272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At the short-run profit-maximizing plan, the slopes of the short-run production function and the maximal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iso-profit line are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equal.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6" name="Line 23"/>
          <p:cNvSpPr/>
          <p:nvPr/>
        </p:nvSpPr>
        <p:spPr>
          <a:xfrm flipV="1">
            <a:off x="1435100" y="2173288"/>
            <a:ext cx="4551363" cy="2392362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24587" name="Object 24"/>
          <p:cNvGraphicFramePr/>
          <p:nvPr/>
        </p:nvGraphicFramePr>
        <p:xfrm>
          <a:off x="6042025" y="2038350"/>
          <a:ext cx="11747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818515" imgH="217805" progId="Equation.2">
                  <p:embed/>
                </p:oleObj>
              </mc:Choice>
              <mc:Fallback>
                <p:oleObj name="" r:id="rId3" imgW="818515" imgH="217805" progId="Equation.2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42025" y="2038350"/>
                        <a:ext cx="11747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25"/>
          <p:cNvGraphicFramePr/>
          <p:nvPr/>
        </p:nvGraphicFramePr>
        <p:xfrm>
          <a:off x="3244850" y="5626100"/>
          <a:ext cx="3571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5" imgW="252730" imgH="374650" progId="Equation.2">
                  <p:embed/>
                </p:oleObj>
              </mc:Choice>
              <mc:Fallback>
                <p:oleObj name="" r:id="rId5" imgW="252730" imgH="374650" progId="Equation.2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FFFF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44850" y="5626100"/>
                        <a:ext cx="357188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26"/>
          <p:cNvGraphicFramePr/>
          <p:nvPr/>
        </p:nvGraphicFramePr>
        <p:xfrm>
          <a:off x="1027113" y="3197225"/>
          <a:ext cx="3349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7" imgW="243840" imgH="365760" progId="Equation.2">
                  <p:embed/>
                </p:oleObj>
              </mc:Choice>
              <mc:Fallback>
                <p:oleObj name="" r:id="rId7" imgW="243840" imgH="365760" progId="Equation.2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27113" y="3197225"/>
                        <a:ext cx="334962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0" name="Line 27"/>
          <p:cNvSpPr/>
          <p:nvPr/>
        </p:nvSpPr>
        <p:spPr>
          <a:xfrm>
            <a:off x="3403600" y="3563938"/>
            <a:ext cx="0" cy="1990725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4591" name="Line 28"/>
          <p:cNvSpPr/>
          <p:nvPr/>
        </p:nvSpPr>
        <p:spPr>
          <a:xfrm flipH="1">
            <a:off x="1401763" y="3535363"/>
            <a:ext cx="202088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4592" name="Oval 29"/>
          <p:cNvSpPr/>
          <p:nvPr/>
        </p:nvSpPr>
        <p:spPr>
          <a:xfrm>
            <a:off x="3351213" y="55118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93" name="Oval 30"/>
          <p:cNvSpPr/>
          <p:nvPr/>
        </p:nvSpPr>
        <p:spPr>
          <a:xfrm>
            <a:off x="1370013" y="3463925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94" name="Oval 31"/>
          <p:cNvSpPr/>
          <p:nvPr/>
        </p:nvSpPr>
        <p:spPr>
          <a:xfrm>
            <a:off x="3289300" y="34163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Freeform 21"/>
          <p:cNvSpPr/>
          <p:nvPr/>
        </p:nvSpPr>
        <p:spPr>
          <a:xfrm>
            <a:off x="1447800" y="2844800"/>
            <a:ext cx="4902200" cy="27178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3088" h="1712">
                <a:moveTo>
                  <a:pt x="3088" y="0"/>
                </a:moveTo>
                <a:lnTo>
                  <a:pt x="3088" y="1712"/>
                </a:lnTo>
                <a:lnTo>
                  <a:pt x="0" y="1712"/>
                </a:lnTo>
                <a:lnTo>
                  <a:pt x="104" y="1504"/>
                </a:lnTo>
                <a:lnTo>
                  <a:pt x="200" y="1376"/>
                </a:lnTo>
                <a:lnTo>
                  <a:pt x="288" y="1240"/>
                </a:lnTo>
                <a:lnTo>
                  <a:pt x="400" y="1104"/>
                </a:lnTo>
                <a:lnTo>
                  <a:pt x="592" y="936"/>
                </a:lnTo>
                <a:lnTo>
                  <a:pt x="776" y="792"/>
                </a:lnTo>
                <a:lnTo>
                  <a:pt x="952" y="672"/>
                </a:lnTo>
                <a:lnTo>
                  <a:pt x="1144" y="568"/>
                </a:lnTo>
                <a:lnTo>
                  <a:pt x="1376" y="432"/>
                </a:lnTo>
                <a:lnTo>
                  <a:pt x="1608" y="344"/>
                </a:lnTo>
                <a:lnTo>
                  <a:pt x="1848" y="248"/>
                </a:lnTo>
                <a:lnTo>
                  <a:pt x="2128" y="168"/>
                </a:lnTo>
                <a:lnTo>
                  <a:pt x="2400" y="96"/>
                </a:lnTo>
                <a:lnTo>
                  <a:pt x="2672" y="48"/>
                </a:lnTo>
                <a:lnTo>
                  <a:pt x="2896" y="8"/>
                </a:lnTo>
                <a:lnTo>
                  <a:pt x="3088" y="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5603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25604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5605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6" name="Arc 7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101600" cap="rnd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5607" name="Rectangle 8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608" name="Object 11"/>
          <p:cNvGraphicFramePr/>
          <p:nvPr/>
        </p:nvGraphicFramePr>
        <p:xfrm>
          <a:off x="6453188" y="2979738"/>
          <a:ext cx="231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1593850" imgH="609600" progId="Equation.2">
                  <p:embed/>
                </p:oleObj>
              </mc:Choice>
              <mc:Fallback>
                <p:oleObj name="" r:id="rId1" imgW="1593850" imgH="609600" progId="Equation.2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53188" y="2979738"/>
                        <a:ext cx="23145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Rectangle 19"/>
          <p:cNvSpPr/>
          <p:nvPr/>
        </p:nvSpPr>
        <p:spPr>
          <a:xfrm>
            <a:off x="1550988" y="942975"/>
            <a:ext cx="7426325" cy="22272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At the short-run profit-maximizing plan, the slopes of the short-run production function and the maximal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iso-profit line are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equal.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610" name="Object 20"/>
          <p:cNvGraphicFramePr/>
          <p:nvPr/>
        </p:nvGraphicFramePr>
        <p:xfrm>
          <a:off x="3860800" y="3505200"/>
          <a:ext cx="2060575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1428115" imgH="1071245" progId="Equation.2">
                  <p:embed/>
                </p:oleObj>
              </mc:Choice>
              <mc:Fallback>
                <p:oleObj name="" r:id="rId3" imgW="1428115" imgH="1071245" progId="Equation.2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60800" y="3505200"/>
                        <a:ext cx="2060575" cy="1535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1" name="Line 22"/>
          <p:cNvSpPr/>
          <p:nvPr/>
        </p:nvSpPr>
        <p:spPr>
          <a:xfrm flipV="1">
            <a:off x="1435100" y="2173288"/>
            <a:ext cx="4551363" cy="2392362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25612" name="Object 23"/>
          <p:cNvGraphicFramePr/>
          <p:nvPr/>
        </p:nvGraphicFramePr>
        <p:xfrm>
          <a:off x="6042025" y="2038350"/>
          <a:ext cx="11747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5" imgW="818515" imgH="217805" progId="Equation.2">
                  <p:embed/>
                </p:oleObj>
              </mc:Choice>
              <mc:Fallback>
                <p:oleObj name="" r:id="rId5" imgW="818515" imgH="217805" progId="Equation.2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42025" y="2038350"/>
                        <a:ext cx="11747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24"/>
          <p:cNvGraphicFramePr/>
          <p:nvPr/>
        </p:nvGraphicFramePr>
        <p:xfrm>
          <a:off x="3244850" y="5626100"/>
          <a:ext cx="3571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7" imgW="252730" imgH="374650" progId="Equation.2">
                  <p:embed/>
                </p:oleObj>
              </mc:Choice>
              <mc:Fallback>
                <p:oleObj name="" r:id="rId7" imgW="252730" imgH="374650" progId="Equation.2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FFFF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44850" y="5626100"/>
                        <a:ext cx="357188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25"/>
          <p:cNvGraphicFramePr/>
          <p:nvPr/>
        </p:nvGraphicFramePr>
        <p:xfrm>
          <a:off x="1027113" y="3197225"/>
          <a:ext cx="3349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9" imgW="243840" imgH="365760" progId="Equation.2">
                  <p:embed/>
                </p:oleObj>
              </mc:Choice>
              <mc:Fallback>
                <p:oleObj name="" r:id="rId9" imgW="243840" imgH="365760" progId="Equation.2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27113" y="3197225"/>
                        <a:ext cx="334962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5" name="Line 26"/>
          <p:cNvSpPr/>
          <p:nvPr/>
        </p:nvSpPr>
        <p:spPr>
          <a:xfrm>
            <a:off x="3403600" y="3563938"/>
            <a:ext cx="0" cy="1990725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5616" name="Line 27"/>
          <p:cNvSpPr/>
          <p:nvPr/>
        </p:nvSpPr>
        <p:spPr>
          <a:xfrm flipH="1">
            <a:off x="1401763" y="3535363"/>
            <a:ext cx="202088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5617" name="Oval 28"/>
          <p:cNvSpPr/>
          <p:nvPr/>
        </p:nvSpPr>
        <p:spPr>
          <a:xfrm>
            <a:off x="3351213" y="55118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8" name="Oval 29"/>
          <p:cNvSpPr/>
          <p:nvPr/>
        </p:nvSpPr>
        <p:spPr>
          <a:xfrm>
            <a:off x="1370013" y="3463925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9" name="Oval 30"/>
          <p:cNvSpPr/>
          <p:nvPr/>
        </p:nvSpPr>
        <p:spPr>
          <a:xfrm>
            <a:off x="3289300" y="34163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6626" name="Object 3"/>
          <p:cNvGraphicFramePr/>
          <p:nvPr/>
        </p:nvGraphicFramePr>
        <p:xfrm>
          <a:off x="2208213" y="1271588"/>
          <a:ext cx="4691062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3143885" imgH="609600" progId="Equation.2">
                  <p:embed/>
                </p:oleObj>
              </mc:Choice>
              <mc:Fallback>
                <p:oleObj name="" r:id="rId1" imgW="3143885" imgH="609600" progId="Equation.2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08213" y="1271588"/>
                        <a:ext cx="4691062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4"/>
          <p:cNvGraphicFramePr/>
          <p:nvPr/>
        </p:nvGraphicFramePr>
        <p:xfrm>
          <a:off x="455613" y="2565400"/>
          <a:ext cx="11858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3" imgW="801370" imgH="287655" progId="Equation.2">
                  <p:embed/>
                </p:oleObj>
              </mc:Choice>
              <mc:Fallback>
                <p:oleObj name="" r:id="rId3" imgW="801370" imgH="287655" progId="Equation.2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5613" y="2565400"/>
                        <a:ext cx="1185862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Rectangle 5"/>
          <p:cNvSpPr/>
          <p:nvPr/>
        </p:nvSpPr>
        <p:spPr>
          <a:xfrm>
            <a:off x="360363" y="2422525"/>
            <a:ext cx="8783637" cy="3048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            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is the 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marginal revenue product of</a:t>
            </a:r>
            <a:b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input 1</a:t>
            </a: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边际收益产品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MRP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the rate at which revenue increases with the amount used of input 1.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If                      then profit increases with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If                      then profit decreases with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6629" name="Object 6"/>
          <p:cNvGraphicFramePr/>
          <p:nvPr/>
        </p:nvGraphicFramePr>
        <p:xfrm>
          <a:off x="935038" y="4465638"/>
          <a:ext cx="20272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5" imgW="1376045" imgH="287655" progId="Equation.2">
                  <p:embed/>
                </p:oleObj>
              </mc:Choice>
              <mc:Fallback>
                <p:oleObj name="" r:id="rId5" imgW="1376045" imgH="287655" progId="Equation.2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35038" y="4465638"/>
                        <a:ext cx="2027237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7"/>
          <p:cNvGraphicFramePr/>
          <p:nvPr/>
        </p:nvGraphicFramePr>
        <p:xfrm>
          <a:off x="858838" y="5022850"/>
          <a:ext cx="20272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7" imgW="1376045" imgH="287655" progId="Equation.2">
                  <p:embed/>
                </p:oleObj>
              </mc:Choice>
              <mc:Fallback>
                <p:oleObj name="" r:id="rId7" imgW="1376045" imgH="287655" progId="Equation.2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8838" y="5022850"/>
                        <a:ext cx="2027237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Profit-Maximization; A Cobb-Douglas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0" name="Rectangle 3"/>
          <p:cNvSpPr/>
          <p:nvPr/>
        </p:nvSpPr>
        <p:spPr>
          <a:xfrm>
            <a:off x="812800" y="1493838"/>
            <a:ext cx="6764338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Suppose the short-run production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function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651" name="Object 4"/>
          <p:cNvGraphicFramePr/>
          <p:nvPr/>
        </p:nvGraphicFramePr>
        <p:xfrm>
          <a:off x="3090863" y="1947863"/>
          <a:ext cx="22590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" imgW="1341120" imgH="374650" progId="Equation.2">
                  <p:embed/>
                </p:oleObj>
              </mc:Choice>
              <mc:Fallback>
                <p:oleObj name="" r:id="rId1" imgW="1341120" imgH="374650" progId="Equation.2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90863" y="1947863"/>
                        <a:ext cx="2259012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Rectangle 5"/>
          <p:cNvSpPr/>
          <p:nvPr/>
        </p:nvSpPr>
        <p:spPr>
          <a:xfrm>
            <a:off x="860425" y="2684463"/>
            <a:ext cx="720725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marginal product of the variable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input 1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653" name="Object 6"/>
          <p:cNvGraphicFramePr/>
          <p:nvPr/>
        </p:nvGraphicFramePr>
        <p:xfrm>
          <a:off x="2981325" y="3254375"/>
          <a:ext cx="44640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3" imgW="2656205" imgH="626745" progId="Equation.2">
                  <p:embed/>
                </p:oleObj>
              </mc:Choice>
              <mc:Fallback>
                <p:oleObj name="" r:id="rId3" imgW="2656205" imgH="626745" progId="Equation.2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81325" y="3254375"/>
                        <a:ext cx="4464050" cy="1008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Rectangle 7"/>
          <p:cNvSpPr/>
          <p:nvPr/>
        </p:nvSpPr>
        <p:spPr>
          <a:xfrm>
            <a:off x="860425" y="4279900"/>
            <a:ext cx="6799263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profit-maximizing condition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655" name="Object 8"/>
          <p:cNvGraphicFramePr/>
          <p:nvPr/>
        </p:nvGraphicFramePr>
        <p:xfrm>
          <a:off x="971550" y="4827588"/>
          <a:ext cx="68738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5" imgW="4119245" imgH="565785" progId="Equation.2">
                  <p:embed/>
                </p:oleObj>
              </mc:Choice>
              <mc:Fallback>
                <p:oleObj name="" r:id="rId5" imgW="4119245" imgH="565785" progId="Equation.2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4827588"/>
                        <a:ext cx="6873875" cy="869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Profit-Maximization; A Cobb-Douglas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8674" name="Object 3"/>
          <p:cNvGraphicFramePr/>
          <p:nvPr/>
        </p:nvGraphicFramePr>
        <p:xfrm>
          <a:off x="2514600" y="1379538"/>
          <a:ext cx="34988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" imgW="2107565" imgH="565785" progId="Equation.2">
                  <p:embed/>
                </p:oleObj>
              </mc:Choice>
              <mc:Fallback>
                <p:oleObj name="" r:id="rId1" imgW="2107565" imgH="565785" progId="Equation.2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4600" y="1379538"/>
                        <a:ext cx="3498850" cy="869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Rectangle 4"/>
          <p:cNvSpPr/>
          <p:nvPr/>
        </p:nvSpPr>
        <p:spPr>
          <a:xfrm>
            <a:off x="860425" y="1493838"/>
            <a:ext cx="1652588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Solving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Rectangle 5"/>
          <p:cNvSpPr/>
          <p:nvPr/>
        </p:nvSpPr>
        <p:spPr>
          <a:xfrm>
            <a:off x="6051550" y="1493838"/>
            <a:ext cx="23653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gives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8677" name="Object 6"/>
          <p:cNvGraphicFramePr/>
          <p:nvPr/>
        </p:nvGraphicFramePr>
        <p:xfrm>
          <a:off x="2600325" y="2214563"/>
          <a:ext cx="3089275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3" imgW="1863725" imgH="679450" progId="Equation.2">
                  <p:embed/>
                </p:oleObj>
              </mc:Choice>
              <mc:Fallback>
                <p:oleObj name="" r:id="rId3" imgW="1863725" imgH="679450" progId="Equation.2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00325" y="2214563"/>
                        <a:ext cx="3089275" cy="1049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Profit-Maximization; A Cobb-Douglas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9698" name="Object 3"/>
          <p:cNvGraphicFramePr/>
          <p:nvPr/>
        </p:nvGraphicFramePr>
        <p:xfrm>
          <a:off x="2514600" y="1379538"/>
          <a:ext cx="34988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2107565" imgH="565785" progId="Equation.2">
                  <p:embed/>
                </p:oleObj>
              </mc:Choice>
              <mc:Fallback>
                <p:oleObj name="" r:id="rId1" imgW="2107565" imgH="565785" progId="Equation.2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4600" y="1379538"/>
                        <a:ext cx="3498850" cy="869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Rectangle 4"/>
          <p:cNvSpPr/>
          <p:nvPr/>
        </p:nvSpPr>
        <p:spPr>
          <a:xfrm>
            <a:off x="860425" y="1493838"/>
            <a:ext cx="1652588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Solving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Rectangle 5"/>
          <p:cNvSpPr/>
          <p:nvPr/>
        </p:nvSpPr>
        <p:spPr>
          <a:xfrm>
            <a:off x="6051550" y="1493838"/>
            <a:ext cx="23653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gives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9701" name="Object 6"/>
          <p:cNvGraphicFramePr/>
          <p:nvPr/>
        </p:nvGraphicFramePr>
        <p:xfrm>
          <a:off x="2600325" y="2214563"/>
          <a:ext cx="3089275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3" imgW="1863725" imgH="679450" progId="Equation.2">
                  <p:embed/>
                </p:oleObj>
              </mc:Choice>
              <mc:Fallback>
                <p:oleObj name="" r:id="rId3" imgW="1863725" imgH="679450" progId="Equation.2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00325" y="2214563"/>
                        <a:ext cx="3089275" cy="1049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Rectangle 7"/>
          <p:cNvSpPr/>
          <p:nvPr/>
        </p:nvSpPr>
        <p:spPr>
          <a:xfrm>
            <a:off x="884238" y="3375025"/>
            <a:ext cx="16065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That is,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9703" name="Object 8"/>
          <p:cNvGraphicFramePr/>
          <p:nvPr/>
        </p:nvGraphicFramePr>
        <p:xfrm>
          <a:off x="2822575" y="3449638"/>
          <a:ext cx="27400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5" imgW="1654810" imgH="714375" progId="Equation.2">
                  <p:embed/>
                </p:oleObj>
              </mc:Choice>
              <mc:Fallback>
                <p:oleObj name="" r:id="rId5" imgW="1654810" imgH="714375" progId="Equation.2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22575" y="3449638"/>
                        <a:ext cx="2740025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Profit-Maximization; A Cobb-Douglas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0722" name="Object 3"/>
          <p:cNvGraphicFramePr/>
          <p:nvPr/>
        </p:nvGraphicFramePr>
        <p:xfrm>
          <a:off x="2514600" y="1379538"/>
          <a:ext cx="34988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" imgW="2107565" imgH="565785" progId="Equation.2">
                  <p:embed/>
                </p:oleObj>
              </mc:Choice>
              <mc:Fallback>
                <p:oleObj name="" r:id="rId1" imgW="2107565" imgH="565785" progId="Equation.2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4600" y="1379538"/>
                        <a:ext cx="3498850" cy="869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Rectangle 4"/>
          <p:cNvSpPr/>
          <p:nvPr/>
        </p:nvSpPr>
        <p:spPr>
          <a:xfrm>
            <a:off x="860425" y="1493838"/>
            <a:ext cx="1652588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Solving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Rectangle 5"/>
          <p:cNvSpPr/>
          <p:nvPr/>
        </p:nvSpPr>
        <p:spPr>
          <a:xfrm>
            <a:off x="6051550" y="1493838"/>
            <a:ext cx="23653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gives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0725" name="Object 6"/>
          <p:cNvGraphicFramePr/>
          <p:nvPr/>
        </p:nvGraphicFramePr>
        <p:xfrm>
          <a:off x="2600325" y="2214563"/>
          <a:ext cx="3089275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3" imgW="1863725" imgH="679450" progId="Equation.2">
                  <p:embed/>
                </p:oleObj>
              </mc:Choice>
              <mc:Fallback>
                <p:oleObj name="" r:id="rId3" imgW="1863725" imgH="679450" progId="Equation.2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00325" y="2214563"/>
                        <a:ext cx="3089275" cy="1049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Rectangle 7"/>
          <p:cNvSpPr/>
          <p:nvPr/>
        </p:nvSpPr>
        <p:spPr>
          <a:xfrm>
            <a:off x="884238" y="3375025"/>
            <a:ext cx="16065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That is,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0727" name="Object 8"/>
          <p:cNvGraphicFramePr/>
          <p:nvPr/>
        </p:nvGraphicFramePr>
        <p:xfrm>
          <a:off x="2822575" y="3449638"/>
          <a:ext cx="27400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5" imgW="1654810" imgH="714375" progId="Equation.2">
                  <p:embed/>
                </p:oleObj>
              </mc:Choice>
              <mc:Fallback>
                <p:oleObj name="" r:id="rId5" imgW="1654810" imgH="714375" progId="Equation.2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22575" y="3449638"/>
                        <a:ext cx="2740025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Rectangle 9"/>
          <p:cNvSpPr/>
          <p:nvPr/>
        </p:nvSpPr>
        <p:spPr>
          <a:xfrm>
            <a:off x="908050" y="5051425"/>
            <a:ext cx="65722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so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0729" name="Object 10"/>
          <p:cNvGraphicFramePr/>
          <p:nvPr/>
        </p:nvGraphicFramePr>
        <p:xfrm>
          <a:off x="2000250" y="4660900"/>
          <a:ext cx="5792788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7" imgW="3509645" imgH="870585" progId="Equation.2">
                  <p:embed/>
                </p:oleObj>
              </mc:Choice>
              <mc:Fallback>
                <p:oleObj name="" r:id="rId7" imgW="3509645" imgH="870585" progId="Equation.2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00250" y="4660900"/>
                        <a:ext cx="5792788" cy="1330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Profit-Maximization; A Cobb-Douglas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1746" name="Object 3"/>
          <p:cNvGraphicFramePr/>
          <p:nvPr/>
        </p:nvGraphicFramePr>
        <p:xfrm>
          <a:off x="1085850" y="1549400"/>
          <a:ext cx="3278188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" imgW="1994535" imgH="766445" progId="Equation.2">
                  <p:embed/>
                </p:oleObj>
              </mc:Choice>
              <mc:Fallback>
                <p:oleObj name="" r:id="rId1" imgW="1994535" imgH="766445" progId="Equation.2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85850" y="1549400"/>
                        <a:ext cx="3278188" cy="1160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Rectangle 4"/>
          <p:cNvSpPr/>
          <p:nvPr/>
        </p:nvSpPr>
        <p:spPr>
          <a:xfrm>
            <a:off x="4908550" y="1922463"/>
            <a:ext cx="366077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is the firm’s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short-run demand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48" name="Rectangle 5"/>
          <p:cNvSpPr/>
          <p:nvPr/>
        </p:nvSpPr>
        <p:spPr>
          <a:xfrm>
            <a:off x="884238" y="2898775"/>
            <a:ext cx="7545387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input 1 when the level of input 2 is fixed at       units. 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1749" name="Object 6"/>
          <p:cNvGraphicFramePr/>
          <p:nvPr/>
        </p:nvGraphicFramePr>
        <p:xfrm>
          <a:off x="2625725" y="3509963"/>
          <a:ext cx="4365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3" imgW="269875" imgH="287655" progId="Equation.2">
                  <p:embed/>
                </p:oleObj>
              </mc:Choice>
              <mc:Fallback>
                <p:oleObj name="" r:id="rId3" imgW="269875" imgH="287655" progId="Equation.2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25725" y="3509963"/>
                        <a:ext cx="436563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Profit-Maximization; A Cobb-Douglas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2770" name="Object 3"/>
          <p:cNvGraphicFramePr/>
          <p:nvPr/>
        </p:nvGraphicFramePr>
        <p:xfrm>
          <a:off x="1085850" y="1549400"/>
          <a:ext cx="3278188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" imgW="1994535" imgH="766445" progId="Equation.2">
                  <p:embed/>
                </p:oleObj>
              </mc:Choice>
              <mc:Fallback>
                <p:oleObj name="" r:id="rId1" imgW="1994535" imgH="766445" progId="Equation.2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85850" y="1549400"/>
                        <a:ext cx="3278188" cy="1160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Rectangle 4"/>
          <p:cNvSpPr/>
          <p:nvPr/>
        </p:nvSpPr>
        <p:spPr>
          <a:xfrm>
            <a:off x="4908550" y="1922463"/>
            <a:ext cx="366077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is the firm’s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short-run demand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Rectangle 5"/>
          <p:cNvSpPr/>
          <p:nvPr/>
        </p:nvSpPr>
        <p:spPr>
          <a:xfrm>
            <a:off x="884238" y="2898775"/>
            <a:ext cx="7545387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for input 1 when the level of input 2 is fixed at       units. 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2773" name="Object 6"/>
          <p:cNvGraphicFramePr/>
          <p:nvPr/>
        </p:nvGraphicFramePr>
        <p:xfrm>
          <a:off x="2625725" y="3509963"/>
          <a:ext cx="4365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3" imgW="269875" imgH="287655" progId="Equation.2">
                  <p:embed/>
                </p:oleObj>
              </mc:Choice>
              <mc:Fallback>
                <p:oleObj name="" r:id="rId3" imgW="269875" imgH="287655" progId="Equation.2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25725" y="3509963"/>
                        <a:ext cx="436563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Rectangle 7"/>
          <p:cNvSpPr/>
          <p:nvPr/>
        </p:nvSpPr>
        <p:spPr>
          <a:xfrm>
            <a:off x="860425" y="4017963"/>
            <a:ext cx="78613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firm’s short-run output level is thus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2775" name="Object 8"/>
          <p:cNvGraphicFramePr/>
          <p:nvPr/>
        </p:nvGraphicFramePr>
        <p:xfrm>
          <a:off x="989013" y="4576763"/>
          <a:ext cx="5873750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5" imgW="3500755" imgH="766445" progId="Equation.2">
                  <p:embed/>
                </p:oleObj>
              </mc:Choice>
              <mc:Fallback>
                <p:oleObj name="" r:id="rId5" imgW="3500755" imgH="766445" progId="Equation.2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89013" y="4576763"/>
                        <a:ext cx="5873750" cy="1220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r>
              <a:rPr lang="zh-CN" altLang="en-US" dirty="0">
                <a:ea typeface="宋体" panose="02010600030101010101" pitchFamily="2" charset="-122"/>
              </a:rPr>
              <a:t>比较静态分析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379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What happens to the short-run profit-maximizing production plan as the output price p changes</a:t>
            </a:r>
            <a:r>
              <a:rPr lang="zh-CN" altLang="en-US" dirty="0">
                <a:ea typeface="宋体" panose="02010600030101010101" pitchFamily="2" charset="-122"/>
              </a:rPr>
              <a:t>产品价格变化</a:t>
            </a:r>
            <a:r>
              <a:rPr lang="en-US" altLang="zh-CN" dirty="0">
                <a:ea typeface="宋体" panose="02010600030101010101" pitchFamily="2" charset="-122"/>
              </a:rPr>
              <a:t>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4818" name="Object 3"/>
          <p:cNvGraphicFramePr/>
          <p:nvPr/>
        </p:nvGraphicFramePr>
        <p:xfrm>
          <a:off x="1717675" y="2295525"/>
          <a:ext cx="4430713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" imgW="2307590" imgH="609600" progId="Equation.2">
                  <p:embed/>
                </p:oleObj>
              </mc:Choice>
              <mc:Fallback>
                <p:oleObj name="" r:id="rId1" imgW="2307590" imgH="609600" progId="Equation.2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17675" y="2295525"/>
                        <a:ext cx="4430713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Rectangle 4"/>
          <p:cNvSpPr/>
          <p:nvPr/>
        </p:nvSpPr>
        <p:spPr>
          <a:xfrm>
            <a:off x="598488" y="1589088"/>
            <a:ext cx="81375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equation of a short-run iso-profit line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Rectangle 5"/>
          <p:cNvSpPr/>
          <p:nvPr/>
        </p:nvSpPr>
        <p:spPr>
          <a:xfrm>
            <a:off x="693738" y="3684588"/>
            <a:ext cx="7885112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so an increase in p causes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--  a reduction in the slope, and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--  a reduction in the vertical intercept.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Freeform 24"/>
          <p:cNvSpPr/>
          <p:nvPr/>
        </p:nvSpPr>
        <p:spPr>
          <a:xfrm>
            <a:off x="1447800" y="2844800"/>
            <a:ext cx="4902200" cy="27178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3088" h="1712">
                <a:moveTo>
                  <a:pt x="3088" y="0"/>
                </a:moveTo>
                <a:lnTo>
                  <a:pt x="3088" y="1712"/>
                </a:lnTo>
                <a:lnTo>
                  <a:pt x="0" y="1712"/>
                </a:lnTo>
                <a:lnTo>
                  <a:pt x="104" y="1504"/>
                </a:lnTo>
                <a:lnTo>
                  <a:pt x="200" y="1376"/>
                </a:lnTo>
                <a:lnTo>
                  <a:pt x="288" y="1240"/>
                </a:lnTo>
                <a:lnTo>
                  <a:pt x="400" y="1104"/>
                </a:lnTo>
                <a:lnTo>
                  <a:pt x="592" y="936"/>
                </a:lnTo>
                <a:lnTo>
                  <a:pt x="776" y="792"/>
                </a:lnTo>
                <a:lnTo>
                  <a:pt x="952" y="672"/>
                </a:lnTo>
                <a:lnTo>
                  <a:pt x="1144" y="568"/>
                </a:lnTo>
                <a:lnTo>
                  <a:pt x="1376" y="432"/>
                </a:lnTo>
                <a:lnTo>
                  <a:pt x="1608" y="344"/>
                </a:lnTo>
                <a:lnTo>
                  <a:pt x="1848" y="248"/>
                </a:lnTo>
                <a:lnTo>
                  <a:pt x="2128" y="168"/>
                </a:lnTo>
                <a:lnTo>
                  <a:pt x="2400" y="96"/>
                </a:lnTo>
                <a:lnTo>
                  <a:pt x="2672" y="48"/>
                </a:lnTo>
                <a:lnTo>
                  <a:pt x="2896" y="8"/>
                </a:lnTo>
                <a:lnTo>
                  <a:pt x="3088" y="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5843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4" name="Arc 7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1016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5845" name="Line 8"/>
          <p:cNvSpPr/>
          <p:nvPr/>
        </p:nvSpPr>
        <p:spPr>
          <a:xfrm flipV="1">
            <a:off x="1435100" y="2044700"/>
            <a:ext cx="5637213" cy="296227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46" name="Line 9"/>
          <p:cNvSpPr/>
          <p:nvPr/>
        </p:nvSpPr>
        <p:spPr>
          <a:xfrm flipV="1">
            <a:off x="1435100" y="1611313"/>
            <a:ext cx="5637213" cy="2963862"/>
          </a:xfrm>
          <a:prstGeom prst="line">
            <a:avLst/>
          </a:prstGeom>
          <a:ln w="25400" cap="flat" cmpd="sng">
            <a:solidFill>
              <a:srgbClr val="5AFF2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47" name="Line 10"/>
          <p:cNvSpPr/>
          <p:nvPr/>
        </p:nvSpPr>
        <p:spPr>
          <a:xfrm flipV="1">
            <a:off x="1435100" y="1193800"/>
            <a:ext cx="5637213" cy="2962275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35848" name="Object 11"/>
          <p:cNvGraphicFramePr/>
          <p:nvPr/>
        </p:nvGraphicFramePr>
        <p:xfrm>
          <a:off x="7113588" y="1874838"/>
          <a:ext cx="11080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" imgW="766445" imgH="217805" progId="Equation.2">
                  <p:embed/>
                </p:oleObj>
              </mc:Choice>
              <mc:Fallback>
                <p:oleObj name="" r:id="rId1" imgW="766445" imgH="217805" progId="Equation.2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13588" y="1874838"/>
                        <a:ext cx="1108075" cy="307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12"/>
          <p:cNvGraphicFramePr/>
          <p:nvPr/>
        </p:nvGraphicFramePr>
        <p:xfrm>
          <a:off x="7113588" y="1457325"/>
          <a:ext cx="11747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3" imgW="818515" imgH="217805" progId="Equation.2">
                  <p:embed/>
                </p:oleObj>
              </mc:Choice>
              <mc:Fallback>
                <p:oleObj name="" r:id="rId3" imgW="818515" imgH="217805" progId="Equation.2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13588" y="1457325"/>
                        <a:ext cx="11747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3"/>
          <p:cNvGraphicFramePr/>
          <p:nvPr/>
        </p:nvGraphicFramePr>
        <p:xfrm>
          <a:off x="7108825" y="1052513"/>
          <a:ext cx="12541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5" imgW="879475" imgH="217805" progId="Equation.2">
                  <p:embed/>
                </p:oleObj>
              </mc:Choice>
              <mc:Fallback>
                <p:oleObj name="" r:id="rId5" imgW="879475" imgH="217805" progId="Equation.2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08825" y="1052513"/>
                        <a:ext cx="125412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1" name="Object 14"/>
          <p:cNvGraphicFramePr/>
          <p:nvPr/>
        </p:nvGraphicFramePr>
        <p:xfrm>
          <a:off x="3952875" y="3646488"/>
          <a:ext cx="231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7" imgW="1593850" imgH="609600" progId="Equation.2">
                  <p:embed/>
                </p:oleObj>
              </mc:Choice>
              <mc:Fallback>
                <p:oleObj name="" r:id="rId7" imgW="1593850" imgH="609600" progId="Equation.2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75" y="3646488"/>
                        <a:ext cx="23145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2" name="Rectangle 15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5853" name="Object 16"/>
          <p:cNvGraphicFramePr/>
          <p:nvPr/>
        </p:nvGraphicFramePr>
        <p:xfrm>
          <a:off x="6502400" y="2576513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9" imgW="1306195" imgH="287655" progId="Equation.2">
                  <p:embed/>
                </p:oleObj>
              </mc:Choice>
              <mc:Fallback>
                <p:oleObj name="" r:id="rId9" imgW="1306195" imgH="287655" progId="Equation.2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02400" y="2576513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4" name="Line 17"/>
          <p:cNvSpPr/>
          <p:nvPr/>
        </p:nvSpPr>
        <p:spPr>
          <a:xfrm>
            <a:off x="3460750" y="3573463"/>
            <a:ext cx="0" cy="1990725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55" name="Line 18"/>
          <p:cNvSpPr/>
          <p:nvPr/>
        </p:nvSpPr>
        <p:spPr>
          <a:xfrm flipH="1">
            <a:off x="1439863" y="3573463"/>
            <a:ext cx="202088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56" name="Oval 19"/>
          <p:cNvSpPr/>
          <p:nvPr/>
        </p:nvSpPr>
        <p:spPr>
          <a:xfrm>
            <a:off x="3327400" y="3454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7" name="Oval 20"/>
          <p:cNvSpPr/>
          <p:nvPr/>
        </p:nvSpPr>
        <p:spPr>
          <a:xfrm>
            <a:off x="3389313" y="55118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8" name="Oval 21"/>
          <p:cNvSpPr/>
          <p:nvPr/>
        </p:nvSpPr>
        <p:spPr>
          <a:xfrm>
            <a:off x="1370013" y="34925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5859" name="Object 22"/>
          <p:cNvGraphicFramePr/>
          <p:nvPr/>
        </p:nvGraphicFramePr>
        <p:xfrm>
          <a:off x="3282950" y="5626100"/>
          <a:ext cx="3571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1" imgW="252730" imgH="374650" progId="Equation.2">
                  <p:embed/>
                </p:oleObj>
              </mc:Choice>
              <mc:Fallback>
                <p:oleObj name="" r:id="rId11" imgW="252730" imgH="374650" progId="Equation.2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FFFF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82950" y="5626100"/>
                        <a:ext cx="357188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0" name="Object 23"/>
          <p:cNvGraphicFramePr/>
          <p:nvPr/>
        </p:nvGraphicFramePr>
        <p:xfrm>
          <a:off x="1027113" y="3225800"/>
          <a:ext cx="3349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3" imgW="243840" imgH="365760" progId="Equation.2">
                  <p:embed/>
                </p:oleObj>
              </mc:Choice>
              <mc:Fallback>
                <p:oleObj name="" r:id="rId13" imgW="243840" imgH="365760" progId="Equation.2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27113" y="3225800"/>
                        <a:ext cx="334962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1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35862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Freeform 24"/>
          <p:cNvSpPr/>
          <p:nvPr/>
        </p:nvSpPr>
        <p:spPr>
          <a:xfrm>
            <a:off x="1447800" y="2844800"/>
            <a:ext cx="4902200" cy="27178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3088" h="1712">
                <a:moveTo>
                  <a:pt x="3088" y="0"/>
                </a:moveTo>
                <a:lnTo>
                  <a:pt x="3088" y="1712"/>
                </a:lnTo>
                <a:lnTo>
                  <a:pt x="0" y="1712"/>
                </a:lnTo>
                <a:lnTo>
                  <a:pt x="104" y="1504"/>
                </a:lnTo>
                <a:lnTo>
                  <a:pt x="200" y="1376"/>
                </a:lnTo>
                <a:lnTo>
                  <a:pt x="288" y="1240"/>
                </a:lnTo>
                <a:lnTo>
                  <a:pt x="400" y="1104"/>
                </a:lnTo>
                <a:lnTo>
                  <a:pt x="592" y="936"/>
                </a:lnTo>
                <a:lnTo>
                  <a:pt x="776" y="792"/>
                </a:lnTo>
                <a:lnTo>
                  <a:pt x="952" y="672"/>
                </a:lnTo>
                <a:lnTo>
                  <a:pt x="1144" y="568"/>
                </a:lnTo>
                <a:lnTo>
                  <a:pt x="1376" y="432"/>
                </a:lnTo>
                <a:lnTo>
                  <a:pt x="1608" y="344"/>
                </a:lnTo>
                <a:lnTo>
                  <a:pt x="1848" y="248"/>
                </a:lnTo>
                <a:lnTo>
                  <a:pt x="2128" y="168"/>
                </a:lnTo>
                <a:lnTo>
                  <a:pt x="2400" y="96"/>
                </a:lnTo>
                <a:lnTo>
                  <a:pt x="2672" y="48"/>
                </a:lnTo>
                <a:lnTo>
                  <a:pt x="2896" y="8"/>
                </a:lnTo>
                <a:lnTo>
                  <a:pt x="3088" y="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6867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Arc 7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1016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6869" name="Line 8"/>
          <p:cNvSpPr/>
          <p:nvPr/>
        </p:nvSpPr>
        <p:spPr>
          <a:xfrm flipV="1">
            <a:off x="1435100" y="1943100"/>
            <a:ext cx="5878513" cy="23368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36870" name="Object 12"/>
          <p:cNvGraphicFramePr/>
          <p:nvPr/>
        </p:nvGraphicFramePr>
        <p:xfrm>
          <a:off x="3933825" y="4237038"/>
          <a:ext cx="231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1" imgW="1593850" imgH="609600" progId="Equation.2">
                  <p:embed/>
                </p:oleObj>
              </mc:Choice>
              <mc:Fallback>
                <p:oleObj name="" r:id="rId1" imgW="1593850" imgH="609600" progId="Equation.2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33825" y="4237038"/>
                        <a:ext cx="23145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Rectangle 13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6872" name="Object 14"/>
          <p:cNvGraphicFramePr/>
          <p:nvPr/>
        </p:nvGraphicFramePr>
        <p:xfrm>
          <a:off x="6502400" y="2576513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3" imgW="1306195" imgH="287655" progId="Equation.2">
                  <p:embed/>
                </p:oleObj>
              </mc:Choice>
              <mc:Fallback>
                <p:oleObj name="" r:id="rId3" imgW="1306195" imgH="287655" progId="Equation.2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02400" y="2576513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Line 15"/>
          <p:cNvSpPr/>
          <p:nvPr/>
        </p:nvSpPr>
        <p:spPr>
          <a:xfrm flipV="1">
            <a:off x="1435100" y="2359025"/>
            <a:ext cx="5878513" cy="2336800"/>
          </a:xfrm>
          <a:prstGeom prst="line">
            <a:avLst/>
          </a:prstGeom>
          <a:ln w="25400" cap="flat" cmpd="sng">
            <a:solidFill>
              <a:srgbClr val="5AFF2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74" name="Line 16"/>
          <p:cNvSpPr/>
          <p:nvPr/>
        </p:nvSpPr>
        <p:spPr>
          <a:xfrm flipV="1">
            <a:off x="1435100" y="2774950"/>
            <a:ext cx="5878513" cy="23368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75" name="Line 17"/>
          <p:cNvSpPr/>
          <p:nvPr/>
        </p:nvSpPr>
        <p:spPr>
          <a:xfrm>
            <a:off x="3460750" y="3573463"/>
            <a:ext cx="0" cy="1990725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876" name="Line 18"/>
          <p:cNvSpPr/>
          <p:nvPr/>
        </p:nvSpPr>
        <p:spPr>
          <a:xfrm flipH="1">
            <a:off x="1439863" y="3573463"/>
            <a:ext cx="202088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877" name="Oval 19"/>
          <p:cNvSpPr/>
          <p:nvPr/>
        </p:nvSpPr>
        <p:spPr>
          <a:xfrm>
            <a:off x="3327400" y="3454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8" name="Oval 20"/>
          <p:cNvSpPr/>
          <p:nvPr/>
        </p:nvSpPr>
        <p:spPr>
          <a:xfrm>
            <a:off x="3389313" y="55118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9" name="Oval 21"/>
          <p:cNvSpPr/>
          <p:nvPr/>
        </p:nvSpPr>
        <p:spPr>
          <a:xfrm>
            <a:off x="1370013" y="34925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6880" name="Object 22"/>
          <p:cNvGraphicFramePr/>
          <p:nvPr/>
        </p:nvGraphicFramePr>
        <p:xfrm>
          <a:off x="3282950" y="5626100"/>
          <a:ext cx="3571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5" imgW="252730" imgH="374650" progId="Equation.2">
                  <p:embed/>
                </p:oleObj>
              </mc:Choice>
              <mc:Fallback>
                <p:oleObj name="" r:id="rId5" imgW="252730" imgH="374650" progId="Equation.2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FFFF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82950" y="5626100"/>
                        <a:ext cx="357188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1" name="Object 23"/>
          <p:cNvGraphicFramePr/>
          <p:nvPr/>
        </p:nvGraphicFramePr>
        <p:xfrm>
          <a:off x="1027113" y="3225800"/>
          <a:ext cx="3349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7" imgW="243840" imgH="365760" progId="Equation.2">
                  <p:embed/>
                </p:oleObj>
              </mc:Choice>
              <mc:Fallback>
                <p:oleObj name="" r:id="rId7" imgW="243840" imgH="365760" progId="Equation.2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27113" y="3225800"/>
                        <a:ext cx="334962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2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36883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7890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37891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7892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3" name="Freeform 6"/>
          <p:cNvSpPr/>
          <p:nvPr/>
        </p:nvSpPr>
        <p:spPr>
          <a:xfrm>
            <a:off x="1457325" y="2809875"/>
            <a:ext cx="4821238" cy="27733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pathLst>
              <a:path w="3037" h="1747">
                <a:moveTo>
                  <a:pt x="6" y="1722"/>
                </a:moveTo>
                <a:lnTo>
                  <a:pt x="12" y="1698"/>
                </a:lnTo>
                <a:lnTo>
                  <a:pt x="18" y="1674"/>
                </a:lnTo>
                <a:lnTo>
                  <a:pt x="30" y="1656"/>
                </a:lnTo>
                <a:lnTo>
                  <a:pt x="48" y="1632"/>
                </a:lnTo>
                <a:lnTo>
                  <a:pt x="60" y="1608"/>
                </a:lnTo>
                <a:lnTo>
                  <a:pt x="72" y="1590"/>
                </a:lnTo>
                <a:lnTo>
                  <a:pt x="78" y="1572"/>
                </a:lnTo>
                <a:lnTo>
                  <a:pt x="84" y="1554"/>
                </a:lnTo>
                <a:lnTo>
                  <a:pt x="102" y="1530"/>
                </a:lnTo>
                <a:lnTo>
                  <a:pt x="108" y="1512"/>
                </a:lnTo>
                <a:lnTo>
                  <a:pt x="120" y="1494"/>
                </a:lnTo>
                <a:lnTo>
                  <a:pt x="132" y="1476"/>
                </a:lnTo>
                <a:lnTo>
                  <a:pt x="144" y="1458"/>
                </a:lnTo>
                <a:lnTo>
                  <a:pt x="156" y="1440"/>
                </a:lnTo>
                <a:lnTo>
                  <a:pt x="168" y="1422"/>
                </a:lnTo>
                <a:lnTo>
                  <a:pt x="180" y="1404"/>
                </a:lnTo>
                <a:lnTo>
                  <a:pt x="192" y="1380"/>
                </a:lnTo>
                <a:lnTo>
                  <a:pt x="216" y="1356"/>
                </a:lnTo>
                <a:lnTo>
                  <a:pt x="228" y="1338"/>
                </a:lnTo>
                <a:lnTo>
                  <a:pt x="240" y="1320"/>
                </a:lnTo>
                <a:lnTo>
                  <a:pt x="252" y="1302"/>
                </a:lnTo>
                <a:lnTo>
                  <a:pt x="252" y="1284"/>
                </a:lnTo>
                <a:lnTo>
                  <a:pt x="270" y="1272"/>
                </a:lnTo>
                <a:lnTo>
                  <a:pt x="288" y="1260"/>
                </a:lnTo>
                <a:lnTo>
                  <a:pt x="288" y="1242"/>
                </a:lnTo>
                <a:lnTo>
                  <a:pt x="312" y="1224"/>
                </a:lnTo>
                <a:lnTo>
                  <a:pt x="318" y="1206"/>
                </a:lnTo>
                <a:lnTo>
                  <a:pt x="318" y="1188"/>
                </a:lnTo>
                <a:lnTo>
                  <a:pt x="366" y="1182"/>
                </a:lnTo>
                <a:lnTo>
                  <a:pt x="384" y="1182"/>
                </a:lnTo>
                <a:lnTo>
                  <a:pt x="384" y="1164"/>
                </a:lnTo>
                <a:lnTo>
                  <a:pt x="402" y="1140"/>
                </a:lnTo>
                <a:lnTo>
                  <a:pt x="420" y="1128"/>
                </a:lnTo>
                <a:lnTo>
                  <a:pt x="438" y="1116"/>
                </a:lnTo>
                <a:lnTo>
                  <a:pt x="462" y="1104"/>
                </a:lnTo>
                <a:lnTo>
                  <a:pt x="474" y="1086"/>
                </a:lnTo>
                <a:lnTo>
                  <a:pt x="492" y="1068"/>
                </a:lnTo>
                <a:lnTo>
                  <a:pt x="510" y="1056"/>
                </a:lnTo>
                <a:lnTo>
                  <a:pt x="522" y="1032"/>
                </a:lnTo>
                <a:lnTo>
                  <a:pt x="546" y="1014"/>
                </a:lnTo>
                <a:lnTo>
                  <a:pt x="558" y="996"/>
                </a:lnTo>
                <a:lnTo>
                  <a:pt x="576" y="984"/>
                </a:lnTo>
                <a:lnTo>
                  <a:pt x="594" y="960"/>
                </a:lnTo>
                <a:lnTo>
                  <a:pt x="618" y="936"/>
                </a:lnTo>
                <a:lnTo>
                  <a:pt x="636" y="912"/>
                </a:lnTo>
                <a:lnTo>
                  <a:pt x="660" y="900"/>
                </a:lnTo>
                <a:lnTo>
                  <a:pt x="678" y="888"/>
                </a:lnTo>
                <a:lnTo>
                  <a:pt x="696" y="870"/>
                </a:lnTo>
                <a:lnTo>
                  <a:pt x="714" y="858"/>
                </a:lnTo>
                <a:lnTo>
                  <a:pt x="732" y="846"/>
                </a:lnTo>
                <a:lnTo>
                  <a:pt x="750" y="834"/>
                </a:lnTo>
                <a:lnTo>
                  <a:pt x="780" y="816"/>
                </a:lnTo>
                <a:lnTo>
                  <a:pt x="798" y="804"/>
                </a:lnTo>
                <a:lnTo>
                  <a:pt x="816" y="792"/>
                </a:lnTo>
                <a:lnTo>
                  <a:pt x="828" y="774"/>
                </a:lnTo>
                <a:lnTo>
                  <a:pt x="852" y="756"/>
                </a:lnTo>
                <a:lnTo>
                  <a:pt x="870" y="750"/>
                </a:lnTo>
                <a:lnTo>
                  <a:pt x="888" y="732"/>
                </a:lnTo>
                <a:lnTo>
                  <a:pt x="906" y="720"/>
                </a:lnTo>
                <a:lnTo>
                  <a:pt x="924" y="702"/>
                </a:lnTo>
                <a:lnTo>
                  <a:pt x="942" y="690"/>
                </a:lnTo>
                <a:lnTo>
                  <a:pt x="960" y="684"/>
                </a:lnTo>
                <a:lnTo>
                  <a:pt x="978" y="666"/>
                </a:lnTo>
                <a:lnTo>
                  <a:pt x="1002" y="654"/>
                </a:lnTo>
                <a:lnTo>
                  <a:pt x="1026" y="648"/>
                </a:lnTo>
                <a:lnTo>
                  <a:pt x="1044" y="642"/>
                </a:lnTo>
                <a:lnTo>
                  <a:pt x="1062" y="636"/>
                </a:lnTo>
                <a:lnTo>
                  <a:pt x="1092" y="618"/>
                </a:lnTo>
                <a:lnTo>
                  <a:pt x="1110" y="612"/>
                </a:lnTo>
                <a:lnTo>
                  <a:pt x="1128" y="594"/>
                </a:lnTo>
                <a:lnTo>
                  <a:pt x="1152" y="582"/>
                </a:lnTo>
                <a:lnTo>
                  <a:pt x="1170" y="564"/>
                </a:lnTo>
                <a:lnTo>
                  <a:pt x="1194" y="546"/>
                </a:lnTo>
                <a:lnTo>
                  <a:pt x="1212" y="540"/>
                </a:lnTo>
                <a:lnTo>
                  <a:pt x="1224" y="522"/>
                </a:lnTo>
                <a:lnTo>
                  <a:pt x="1242" y="504"/>
                </a:lnTo>
                <a:lnTo>
                  <a:pt x="1254" y="480"/>
                </a:lnTo>
                <a:lnTo>
                  <a:pt x="1278" y="480"/>
                </a:lnTo>
                <a:lnTo>
                  <a:pt x="1314" y="462"/>
                </a:lnTo>
                <a:lnTo>
                  <a:pt x="1350" y="462"/>
                </a:lnTo>
                <a:lnTo>
                  <a:pt x="1368" y="450"/>
                </a:lnTo>
                <a:lnTo>
                  <a:pt x="1404" y="444"/>
                </a:lnTo>
                <a:lnTo>
                  <a:pt x="1446" y="444"/>
                </a:lnTo>
                <a:lnTo>
                  <a:pt x="1470" y="432"/>
                </a:lnTo>
                <a:lnTo>
                  <a:pt x="1494" y="420"/>
                </a:lnTo>
                <a:lnTo>
                  <a:pt x="1512" y="408"/>
                </a:lnTo>
                <a:lnTo>
                  <a:pt x="1542" y="396"/>
                </a:lnTo>
                <a:lnTo>
                  <a:pt x="1560" y="384"/>
                </a:lnTo>
                <a:lnTo>
                  <a:pt x="1578" y="372"/>
                </a:lnTo>
                <a:lnTo>
                  <a:pt x="1596" y="360"/>
                </a:lnTo>
                <a:lnTo>
                  <a:pt x="1620" y="354"/>
                </a:lnTo>
                <a:lnTo>
                  <a:pt x="1650" y="348"/>
                </a:lnTo>
                <a:lnTo>
                  <a:pt x="1668" y="342"/>
                </a:lnTo>
                <a:lnTo>
                  <a:pt x="1686" y="336"/>
                </a:lnTo>
                <a:lnTo>
                  <a:pt x="1710" y="330"/>
                </a:lnTo>
                <a:lnTo>
                  <a:pt x="1734" y="324"/>
                </a:lnTo>
                <a:lnTo>
                  <a:pt x="1752" y="312"/>
                </a:lnTo>
                <a:lnTo>
                  <a:pt x="1770" y="312"/>
                </a:lnTo>
                <a:lnTo>
                  <a:pt x="1794" y="306"/>
                </a:lnTo>
                <a:lnTo>
                  <a:pt x="1818" y="300"/>
                </a:lnTo>
                <a:lnTo>
                  <a:pt x="1872" y="282"/>
                </a:lnTo>
                <a:lnTo>
                  <a:pt x="1902" y="276"/>
                </a:lnTo>
                <a:lnTo>
                  <a:pt x="1938" y="252"/>
                </a:lnTo>
                <a:lnTo>
                  <a:pt x="1962" y="234"/>
                </a:lnTo>
                <a:lnTo>
                  <a:pt x="1980" y="228"/>
                </a:lnTo>
                <a:lnTo>
                  <a:pt x="1998" y="216"/>
                </a:lnTo>
                <a:lnTo>
                  <a:pt x="2034" y="204"/>
                </a:lnTo>
                <a:lnTo>
                  <a:pt x="2058" y="192"/>
                </a:lnTo>
                <a:lnTo>
                  <a:pt x="2076" y="192"/>
                </a:lnTo>
                <a:lnTo>
                  <a:pt x="2124" y="180"/>
                </a:lnTo>
                <a:lnTo>
                  <a:pt x="2148" y="180"/>
                </a:lnTo>
                <a:lnTo>
                  <a:pt x="2166" y="174"/>
                </a:lnTo>
                <a:lnTo>
                  <a:pt x="2184" y="168"/>
                </a:lnTo>
                <a:lnTo>
                  <a:pt x="2214" y="156"/>
                </a:lnTo>
                <a:lnTo>
                  <a:pt x="2232" y="150"/>
                </a:lnTo>
                <a:lnTo>
                  <a:pt x="2262" y="138"/>
                </a:lnTo>
                <a:lnTo>
                  <a:pt x="2304" y="138"/>
                </a:lnTo>
                <a:lnTo>
                  <a:pt x="2340" y="126"/>
                </a:lnTo>
                <a:lnTo>
                  <a:pt x="2370" y="126"/>
                </a:lnTo>
                <a:lnTo>
                  <a:pt x="2388" y="120"/>
                </a:lnTo>
                <a:lnTo>
                  <a:pt x="2406" y="114"/>
                </a:lnTo>
                <a:lnTo>
                  <a:pt x="2430" y="108"/>
                </a:lnTo>
                <a:lnTo>
                  <a:pt x="2454" y="102"/>
                </a:lnTo>
                <a:lnTo>
                  <a:pt x="2484" y="96"/>
                </a:lnTo>
                <a:lnTo>
                  <a:pt x="2514" y="84"/>
                </a:lnTo>
                <a:lnTo>
                  <a:pt x="2544" y="78"/>
                </a:lnTo>
                <a:lnTo>
                  <a:pt x="2562" y="72"/>
                </a:lnTo>
                <a:lnTo>
                  <a:pt x="2586" y="66"/>
                </a:lnTo>
                <a:lnTo>
                  <a:pt x="2610" y="60"/>
                </a:lnTo>
                <a:lnTo>
                  <a:pt x="2634" y="60"/>
                </a:lnTo>
                <a:lnTo>
                  <a:pt x="2652" y="60"/>
                </a:lnTo>
                <a:lnTo>
                  <a:pt x="2670" y="60"/>
                </a:lnTo>
                <a:lnTo>
                  <a:pt x="2706" y="60"/>
                </a:lnTo>
                <a:lnTo>
                  <a:pt x="2730" y="60"/>
                </a:lnTo>
                <a:lnTo>
                  <a:pt x="2766" y="54"/>
                </a:lnTo>
                <a:lnTo>
                  <a:pt x="2802" y="48"/>
                </a:lnTo>
                <a:lnTo>
                  <a:pt x="2826" y="36"/>
                </a:lnTo>
                <a:lnTo>
                  <a:pt x="2844" y="36"/>
                </a:lnTo>
                <a:lnTo>
                  <a:pt x="2862" y="36"/>
                </a:lnTo>
                <a:lnTo>
                  <a:pt x="2892" y="36"/>
                </a:lnTo>
                <a:lnTo>
                  <a:pt x="2910" y="30"/>
                </a:lnTo>
                <a:lnTo>
                  <a:pt x="2940" y="24"/>
                </a:lnTo>
                <a:lnTo>
                  <a:pt x="2958" y="18"/>
                </a:lnTo>
                <a:lnTo>
                  <a:pt x="2988" y="12"/>
                </a:lnTo>
                <a:lnTo>
                  <a:pt x="3018" y="12"/>
                </a:lnTo>
                <a:lnTo>
                  <a:pt x="3036" y="0"/>
                </a:lnTo>
                <a:lnTo>
                  <a:pt x="3036" y="1734"/>
                </a:lnTo>
                <a:lnTo>
                  <a:pt x="0" y="1734"/>
                </a:lnTo>
                <a:lnTo>
                  <a:pt x="0" y="1746"/>
                </a:lnTo>
              </a:path>
            </a:pathLst>
          </a:custGeom>
          <a:solidFill>
            <a:schemeClr val="accent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7894" name="Arc 7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1016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7895" name="Object 12"/>
          <p:cNvGraphicFramePr/>
          <p:nvPr/>
        </p:nvGraphicFramePr>
        <p:xfrm>
          <a:off x="3933825" y="4237038"/>
          <a:ext cx="231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" imgW="1593850" imgH="609600" progId="Equation.2">
                  <p:embed/>
                </p:oleObj>
              </mc:Choice>
              <mc:Fallback>
                <p:oleObj name="" r:id="rId1" imgW="1593850" imgH="609600" progId="Equation.2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33825" y="4237038"/>
                        <a:ext cx="23145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Rectangle 13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7897" name="Object 14"/>
          <p:cNvGraphicFramePr/>
          <p:nvPr/>
        </p:nvGraphicFramePr>
        <p:xfrm>
          <a:off x="6502400" y="2576513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3" imgW="1306195" imgH="287655" progId="Equation.2">
                  <p:embed/>
                </p:oleObj>
              </mc:Choice>
              <mc:Fallback>
                <p:oleObj name="" r:id="rId3" imgW="1306195" imgH="287655" progId="Equation.2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02400" y="2576513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8" name="Line 17"/>
          <p:cNvSpPr/>
          <p:nvPr/>
        </p:nvSpPr>
        <p:spPr>
          <a:xfrm>
            <a:off x="3460750" y="3573463"/>
            <a:ext cx="0" cy="1990725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899" name="Line 18"/>
          <p:cNvSpPr/>
          <p:nvPr/>
        </p:nvSpPr>
        <p:spPr>
          <a:xfrm flipH="1">
            <a:off x="1439863" y="3573463"/>
            <a:ext cx="202088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00" name="Oval 19"/>
          <p:cNvSpPr/>
          <p:nvPr/>
        </p:nvSpPr>
        <p:spPr>
          <a:xfrm>
            <a:off x="3327400" y="3454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1" name="Oval 20"/>
          <p:cNvSpPr/>
          <p:nvPr/>
        </p:nvSpPr>
        <p:spPr>
          <a:xfrm>
            <a:off x="3389313" y="55118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2" name="Oval 21"/>
          <p:cNvSpPr/>
          <p:nvPr/>
        </p:nvSpPr>
        <p:spPr>
          <a:xfrm>
            <a:off x="1370013" y="34925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7903" name="Object 22"/>
          <p:cNvGraphicFramePr/>
          <p:nvPr/>
        </p:nvGraphicFramePr>
        <p:xfrm>
          <a:off x="3925888" y="5626100"/>
          <a:ext cx="35718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5" imgW="252730" imgH="374650" progId="Equation.2">
                  <p:embed/>
                </p:oleObj>
              </mc:Choice>
              <mc:Fallback>
                <p:oleObj name="" r:id="rId5" imgW="252730" imgH="374650" progId="Equation.2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FFFF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25888" y="5626100"/>
                        <a:ext cx="357187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4" name="Object 23"/>
          <p:cNvGraphicFramePr/>
          <p:nvPr/>
        </p:nvGraphicFramePr>
        <p:xfrm>
          <a:off x="1012825" y="2895600"/>
          <a:ext cx="334963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7" imgW="243840" imgH="365760" progId="Equation.2">
                  <p:embed/>
                </p:oleObj>
              </mc:Choice>
              <mc:Fallback>
                <p:oleObj name="" r:id="rId7" imgW="243840" imgH="365760" progId="Equation.2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12825" y="2895600"/>
                        <a:ext cx="334963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5" name="Line 24"/>
          <p:cNvSpPr/>
          <p:nvPr/>
        </p:nvSpPr>
        <p:spPr>
          <a:xfrm>
            <a:off x="4081463" y="3257550"/>
            <a:ext cx="0" cy="2306638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06" name="Line 25"/>
          <p:cNvSpPr/>
          <p:nvPr/>
        </p:nvSpPr>
        <p:spPr>
          <a:xfrm flipH="1">
            <a:off x="1439863" y="3241675"/>
            <a:ext cx="262731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07" name="Oval 26"/>
          <p:cNvSpPr/>
          <p:nvPr/>
        </p:nvSpPr>
        <p:spPr>
          <a:xfrm>
            <a:off x="1370013" y="3175000"/>
            <a:ext cx="128587" cy="128588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8" name="Oval 27"/>
          <p:cNvSpPr/>
          <p:nvPr/>
        </p:nvSpPr>
        <p:spPr>
          <a:xfrm>
            <a:off x="4010025" y="5511800"/>
            <a:ext cx="128588" cy="128588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9" name="Oval 28"/>
          <p:cNvSpPr/>
          <p:nvPr/>
        </p:nvSpPr>
        <p:spPr>
          <a:xfrm>
            <a:off x="3960813" y="3125788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10" name="AutoShape 29"/>
          <p:cNvSpPr/>
          <p:nvPr/>
        </p:nvSpPr>
        <p:spPr>
          <a:xfrm>
            <a:off x="3465513" y="5164138"/>
            <a:ext cx="608012" cy="246062"/>
          </a:xfrm>
          <a:prstGeom prst="rightArrow">
            <a:avLst>
              <a:gd name="adj1" fmla="val 50000"/>
              <a:gd name="adj2" fmla="val 123548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11" name="AutoShape 30"/>
          <p:cNvSpPr/>
          <p:nvPr/>
        </p:nvSpPr>
        <p:spPr>
          <a:xfrm>
            <a:off x="1647825" y="3219450"/>
            <a:ext cx="255588" cy="333375"/>
          </a:xfrm>
          <a:prstGeom prst="upArrow">
            <a:avLst>
              <a:gd name="adj1" fmla="val 50000"/>
              <a:gd name="adj2" fmla="val 65205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12" name="Line 31"/>
          <p:cNvSpPr/>
          <p:nvPr/>
        </p:nvSpPr>
        <p:spPr>
          <a:xfrm flipV="1">
            <a:off x="1435100" y="1943100"/>
            <a:ext cx="5878513" cy="23368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13" name="Line 32"/>
          <p:cNvSpPr/>
          <p:nvPr/>
        </p:nvSpPr>
        <p:spPr>
          <a:xfrm flipV="1">
            <a:off x="1435100" y="2359025"/>
            <a:ext cx="5878513" cy="2336800"/>
          </a:xfrm>
          <a:prstGeom prst="line">
            <a:avLst/>
          </a:prstGeom>
          <a:ln w="25400" cap="flat" cmpd="sng">
            <a:solidFill>
              <a:srgbClr val="5AFF2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14" name="Line 33"/>
          <p:cNvSpPr/>
          <p:nvPr/>
        </p:nvSpPr>
        <p:spPr>
          <a:xfrm flipV="1">
            <a:off x="1435100" y="2774950"/>
            <a:ext cx="5878513" cy="23368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8914" name="Rectangle 3"/>
          <p:cNvSpPr>
            <a:spLocks noGrp="1"/>
          </p:cNvSpPr>
          <p:nvPr>
            <p:ph idx="1"/>
          </p:nvPr>
        </p:nvSpPr>
        <p:spPr>
          <a:xfrm>
            <a:off x="685800" y="1309688"/>
            <a:ext cx="7772400" cy="466725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An increase in p, the price of the firm’s output, causes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an increase in the firm’s output level </a:t>
            </a:r>
            <a:r>
              <a:rPr lang="zh-CN" altLang="en-US" dirty="0">
                <a:ea typeface="宋体" panose="02010600030101010101" pitchFamily="2" charset="-122"/>
              </a:rPr>
              <a:t>产出提高</a:t>
            </a:r>
            <a:r>
              <a:rPr lang="en-US" altLang="zh-CN" dirty="0">
                <a:ea typeface="宋体" panose="02010600030101010101" pitchFamily="2" charset="-122"/>
              </a:rPr>
              <a:t>(the firm’s supply curve slopes upward), and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an increase in the level of the firm’s variable input </a:t>
            </a:r>
            <a:r>
              <a:rPr lang="zh-CN" altLang="en-US" dirty="0">
                <a:ea typeface="宋体" panose="02010600030101010101" pitchFamily="2" charset="-122"/>
              </a:rPr>
              <a:t>要素投入增加</a:t>
            </a:r>
            <a:r>
              <a:rPr lang="en-US" altLang="zh-CN" dirty="0">
                <a:ea typeface="宋体" panose="02010600030101010101" pitchFamily="2" charset="-122"/>
              </a:rPr>
              <a:t>(the firm’s demand curve for its variable input shifts outward).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9938" name="Object 3"/>
          <p:cNvGraphicFramePr/>
          <p:nvPr/>
        </p:nvGraphicFramePr>
        <p:xfrm>
          <a:off x="846138" y="3192463"/>
          <a:ext cx="3224212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" imgW="1976755" imgH="766445" progId="Equation.2">
                  <p:embed/>
                </p:oleObj>
              </mc:Choice>
              <mc:Fallback>
                <p:oleObj name="" r:id="rId1" imgW="1976755" imgH="766445" progId="Equation.2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46138" y="3192463"/>
                        <a:ext cx="3224212" cy="1131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Rectangle 4"/>
          <p:cNvSpPr/>
          <p:nvPr/>
        </p:nvSpPr>
        <p:spPr>
          <a:xfrm>
            <a:off x="741363" y="1541463"/>
            <a:ext cx="71167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Cobb-Douglas example:   When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Rectangle 5"/>
          <p:cNvSpPr/>
          <p:nvPr/>
        </p:nvSpPr>
        <p:spPr>
          <a:xfrm>
            <a:off x="741363" y="2184400"/>
            <a:ext cx="72739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then the firm’s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demand for its variable input 1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9941" name="Object 6"/>
          <p:cNvGraphicFramePr/>
          <p:nvPr/>
        </p:nvGraphicFramePr>
        <p:xfrm>
          <a:off x="741363" y="2081213"/>
          <a:ext cx="21177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3" imgW="1263015" imgH="374650" progId="Equation.2">
                  <p:embed/>
                </p:oleObj>
              </mc:Choice>
              <mc:Fallback>
                <p:oleObj name="" r:id="rId3" imgW="1263015" imgH="374650" progId="Equation.2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1363" y="2081213"/>
                        <a:ext cx="211772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7"/>
          <p:cNvGraphicFramePr/>
          <p:nvPr/>
        </p:nvGraphicFramePr>
        <p:xfrm>
          <a:off x="846138" y="4291013"/>
          <a:ext cx="3424237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5" imgW="2046605" imgH="766445" progId="Equation.2">
                  <p:embed/>
                </p:oleObj>
              </mc:Choice>
              <mc:Fallback>
                <p:oleObj name="" r:id="rId5" imgW="2046605" imgH="766445" progId="Equation.2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46138" y="4291013"/>
                        <a:ext cx="3424237" cy="1211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Rectangle 8"/>
          <p:cNvSpPr/>
          <p:nvPr/>
        </p:nvSpPr>
        <p:spPr>
          <a:xfrm>
            <a:off x="4337050" y="3541713"/>
            <a:ext cx="34131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and its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supply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0962" name="Rectangle 4"/>
          <p:cNvSpPr/>
          <p:nvPr/>
        </p:nvSpPr>
        <p:spPr>
          <a:xfrm>
            <a:off x="741363" y="1541463"/>
            <a:ext cx="71167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Cobb-Douglas example:   When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3" name="Rectangle 5"/>
          <p:cNvSpPr/>
          <p:nvPr/>
        </p:nvSpPr>
        <p:spPr>
          <a:xfrm>
            <a:off x="741363" y="2184400"/>
            <a:ext cx="72739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then the firm’s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demand for its variable input 1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964" name="Object 6"/>
          <p:cNvGraphicFramePr/>
          <p:nvPr/>
        </p:nvGraphicFramePr>
        <p:xfrm>
          <a:off x="741363" y="2081213"/>
          <a:ext cx="21177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1" imgW="1263015" imgH="374650" progId="Equation.2">
                  <p:embed/>
                </p:oleObj>
              </mc:Choice>
              <mc:Fallback>
                <p:oleObj name="" r:id="rId1" imgW="1263015" imgH="374650" progId="Equation.2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1363" y="2081213"/>
                        <a:ext cx="211772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7"/>
          <p:cNvGraphicFramePr/>
          <p:nvPr/>
        </p:nvGraphicFramePr>
        <p:xfrm>
          <a:off x="849313" y="5426075"/>
          <a:ext cx="406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3" imgW="252730" imgH="374650" progId="Equation.2">
                  <p:embed/>
                </p:oleObj>
              </mc:Choice>
              <mc:Fallback>
                <p:oleObj name="" r:id="rId3" imgW="252730" imgH="374650" progId="Equation.2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49313" y="5426075"/>
                        <a:ext cx="4064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Rectangle 8"/>
          <p:cNvSpPr/>
          <p:nvPr/>
        </p:nvSpPr>
        <p:spPr>
          <a:xfrm>
            <a:off x="1303338" y="5422900"/>
            <a:ext cx="507682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increases as p increases.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7" name="Rectangle 10"/>
          <p:cNvSpPr/>
          <p:nvPr/>
        </p:nvSpPr>
        <p:spPr>
          <a:xfrm>
            <a:off x="4337050" y="3541713"/>
            <a:ext cx="34131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and its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supply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968" name="Object 11"/>
          <p:cNvGraphicFramePr/>
          <p:nvPr/>
        </p:nvGraphicFramePr>
        <p:xfrm>
          <a:off x="846138" y="3192463"/>
          <a:ext cx="3224212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5" imgW="1976755" imgH="766445" progId="Equation.2">
                  <p:embed/>
                </p:oleObj>
              </mc:Choice>
              <mc:Fallback>
                <p:oleObj name="" r:id="rId5" imgW="1976755" imgH="766445" progId="Equation.2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46138" y="3192463"/>
                        <a:ext cx="3224212" cy="1131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12"/>
          <p:cNvGraphicFramePr/>
          <p:nvPr/>
        </p:nvGraphicFramePr>
        <p:xfrm>
          <a:off x="846138" y="4291013"/>
          <a:ext cx="3424237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7" imgW="2046605" imgH="766445" progId="Equation.2">
                  <p:embed/>
                </p:oleObj>
              </mc:Choice>
              <mc:Fallback>
                <p:oleObj name="" r:id="rId7" imgW="2046605" imgH="766445" progId="Equation.2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46138" y="4291013"/>
                        <a:ext cx="3424237" cy="1211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1986" name="Rectangle 4"/>
          <p:cNvSpPr/>
          <p:nvPr/>
        </p:nvSpPr>
        <p:spPr>
          <a:xfrm>
            <a:off x="741363" y="1541463"/>
            <a:ext cx="71167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Cobb-Douglas example:   When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87" name="Rectangle 5"/>
          <p:cNvSpPr/>
          <p:nvPr/>
        </p:nvSpPr>
        <p:spPr>
          <a:xfrm>
            <a:off x="741363" y="2184400"/>
            <a:ext cx="72739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then the firm’s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demand for its variable input 1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988" name="Object 6"/>
          <p:cNvGraphicFramePr/>
          <p:nvPr/>
        </p:nvGraphicFramePr>
        <p:xfrm>
          <a:off x="741363" y="2081213"/>
          <a:ext cx="21177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" imgW="1263015" imgH="374650" progId="Equation.2">
                  <p:embed/>
                </p:oleObj>
              </mc:Choice>
              <mc:Fallback>
                <p:oleObj name="" r:id="rId1" imgW="1263015" imgH="374650" progId="Equation.2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1363" y="2081213"/>
                        <a:ext cx="211772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9"/>
          <p:cNvGraphicFramePr/>
          <p:nvPr/>
        </p:nvGraphicFramePr>
        <p:xfrm>
          <a:off x="884238" y="5970588"/>
          <a:ext cx="38258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3" imgW="243840" imgH="365760" progId="Equation.2">
                  <p:embed/>
                </p:oleObj>
              </mc:Choice>
              <mc:Fallback>
                <p:oleObj name="" r:id="rId3" imgW="243840" imgH="365760" progId="Equation.2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84238" y="5970588"/>
                        <a:ext cx="382587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Rectangle 10"/>
          <p:cNvSpPr/>
          <p:nvPr/>
        </p:nvSpPr>
        <p:spPr>
          <a:xfrm>
            <a:off x="1279525" y="5980113"/>
            <a:ext cx="507682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increases as p increases.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91" name="Rectangle 12"/>
          <p:cNvSpPr/>
          <p:nvPr/>
        </p:nvSpPr>
        <p:spPr>
          <a:xfrm>
            <a:off x="4337050" y="3541713"/>
            <a:ext cx="34131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and its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supply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992" name="Object 13"/>
          <p:cNvGraphicFramePr/>
          <p:nvPr/>
        </p:nvGraphicFramePr>
        <p:xfrm>
          <a:off x="849313" y="5426075"/>
          <a:ext cx="406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5" imgW="252730" imgH="374650" progId="Equation.2">
                  <p:embed/>
                </p:oleObj>
              </mc:Choice>
              <mc:Fallback>
                <p:oleObj name="" r:id="rId5" imgW="252730" imgH="374650" progId="Equation.2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49313" y="5426075"/>
                        <a:ext cx="4064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Rectangle 14"/>
          <p:cNvSpPr/>
          <p:nvPr/>
        </p:nvSpPr>
        <p:spPr>
          <a:xfrm>
            <a:off x="1303338" y="5422900"/>
            <a:ext cx="507682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increases as p increases.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994" name="Object 15"/>
          <p:cNvGraphicFramePr/>
          <p:nvPr/>
        </p:nvGraphicFramePr>
        <p:xfrm>
          <a:off x="846138" y="3192463"/>
          <a:ext cx="3224212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7" imgW="1976755" imgH="766445" progId="Equation.2">
                  <p:embed/>
                </p:oleObj>
              </mc:Choice>
              <mc:Fallback>
                <p:oleObj name="" r:id="rId7" imgW="1976755" imgH="766445" progId="Equation.2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46138" y="3192463"/>
                        <a:ext cx="3224212" cy="1131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5" name="Object 16"/>
          <p:cNvGraphicFramePr/>
          <p:nvPr/>
        </p:nvGraphicFramePr>
        <p:xfrm>
          <a:off x="846138" y="4291013"/>
          <a:ext cx="3424237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9" imgW="2046605" imgH="766445" progId="Equation.2">
                  <p:embed/>
                </p:oleObj>
              </mc:Choice>
              <mc:Fallback>
                <p:oleObj name="" r:id="rId9" imgW="2046605" imgH="766445" progId="Equation.2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46138" y="4291013"/>
                        <a:ext cx="3424237" cy="1211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301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What happens to the short-run profit-maximizing production plan as the variable input price 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changes?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4034" name="Object 3"/>
          <p:cNvGraphicFramePr/>
          <p:nvPr/>
        </p:nvGraphicFramePr>
        <p:xfrm>
          <a:off x="1717675" y="2271713"/>
          <a:ext cx="4430713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" imgW="2307590" imgH="609600" progId="Equation.2">
                  <p:embed/>
                </p:oleObj>
              </mc:Choice>
              <mc:Fallback>
                <p:oleObj name="" r:id="rId1" imgW="2307590" imgH="609600" progId="Equation.2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17675" y="2271713"/>
                        <a:ext cx="4430713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" name="Rectangle 4"/>
          <p:cNvSpPr/>
          <p:nvPr/>
        </p:nvSpPr>
        <p:spPr>
          <a:xfrm>
            <a:off x="598488" y="1589088"/>
            <a:ext cx="81375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equation of a short-run iso-profit line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6" name="Rectangle 5"/>
          <p:cNvSpPr/>
          <p:nvPr/>
        </p:nvSpPr>
        <p:spPr>
          <a:xfrm>
            <a:off x="693738" y="3684588"/>
            <a:ext cx="7748587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so an increase in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causes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--  an increase in the slope, and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--  no change to the vertical intercept.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Freeform 24"/>
          <p:cNvSpPr/>
          <p:nvPr/>
        </p:nvSpPr>
        <p:spPr>
          <a:xfrm>
            <a:off x="1419225" y="2809875"/>
            <a:ext cx="4821238" cy="27733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pathLst>
              <a:path w="3037" h="1747">
                <a:moveTo>
                  <a:pt x="6" y="1722"/>
                </a:moveTo>
                <a:lnTo>
                  <a:pt x="12" y="1698"/>
                </a:lnTo>
                <a:lnTo>
                  <a:pt x="18" y="1674"/>
                </a:lnTo>
                <a:lnTo>
                  <a:pt x="30" y="1656"/>
                </a:lnTo>
                <a:lnTo>
                  <a:pt x="48" y="1632"/>
                </a:lnTo>
                <a:lnTo>
                  <a:pt x="60" y="1608"/>
                </a:lnTo>
                <a:lnTo>
                  <a:pt x="72" y="1590"/>
                </a:lnTo>
                <a:lnTo>
                  <a:pt x="78" y="1572"/>
                </a:lnTo>
                <a:lnTo>
                  <a:pt x="84" y="1554"/>
                </a:lnTo>
                <a:lnTo>
                  <a:pt x="102" y="1530"/>
                </a:lnTo>
                <a:lnTo>
                  <a:pt x="108" y="1512"/>
                </a:lnTo>
                <a:lnTo>
                  <a:pt x="120" y="1494"/>
                </a:lnTo>
                <a:lnTo>
                  <a:pt x="132" y="1476"/>
                </a:lnTo>
                <a:lnTo>
                  <a:pt x="144" y="1458"/>
                </a:lnTo>
                <a:lnTo>
                  <a:pt x="156" y="1440"/>
                </a:lnTo>
                <a:lnTo>
                  <a:pt x="168" y="1422"/>
                </a:lnTo>
                <a:lnTo>
                  <a:pt x="180" y="1404"/>
                </a:lnTo>
                <a:lnTo>
                  <a:pt x="192" y="1380"/>
                </a:lnTo>
                <a:lnTo>
                  <a:pt x="216" y="1356"/>
                </a:lnTo>
                <a:lnTo>
                  <a:pt x="228" y="1338"/>
                </a:lnTo>
                <a:lnTo>
                  <a:pt x="240" y="1320"/>
                </a:lnTo>
                <a:lnTo>
                  <a:pt x="252" y="1302"/>
                </a:lnTo>
                <a:lnTo>
                  <a:pt x="252" y="1284"/>
                </a:lnTo>
                <a:lnTo>
                  <a:pt x="270" y="1272"/>
                </a:lnTo>
                <a:lnTo>
                  <a:pt x="288" y="1260"/>
                </a:lnTo>
                <a:lnTo>
                  <a:pt x="288" y="1242"/>
                </a:lnTo>
                <a:lnTo>
                  <a:pt x="312" y="1224"/>
                </a:lnTo>
                <a:lnTo>
                  <a:pt x="318" y="1206"/>
                </a:lnTo>
                <a:lnTo>
                  <a:pt x="318" y="1188"/>
                </a:lnTo>
                <a:lnTo>
                  <a:pt x="366" y="1182"/>
                </a:lnTo>
                <a:lnTo>
                  <a:pt x="384" y="1182"/>
                </a:lnTo>
                <a:lnTo>
                  <a:pt x="384" y="1164"/>
                </a:lnTo>
                <a:lnTo>
                  <a:pt x="402" y="1140"/>
                </a:lnTo>
                <a:lnTo>
                  <a:pt x="420" y="1128"/>
                </a:lnTo>
                <a:lnTo>
                  <a:pt x="438" y="1116"/>
                </a:lnTo>
                <a:lnTo>
                  <a:pt x="462" y="1104"/>
                </a:lnTo>
                <a:lnTo>
                  <a:pt x="474" y="1086"/>
                </a:lnTo>
                <a:lnTo>
                  <a:pt x="492" y="1068"/>
                </a:lnTo>
                <a:lnTo>
                  <a:pt x="510" y="1056"/>
                </a:lnTo>
                <a:lnTo>
                  <a:pt x="522" y="1032"/>
                </a:lnTo>
                <a:lnTo>
                  <a:pt x="546" y="1014"/>
                </a:lnTo>
                <a:lnTo>
                  <a:pt x="558" y="996"/>
                </a:lnTo>
                <a:lnTo>
                  <a:pt x="576" y="984"/>
                </a:lnTo>
                <a:lnTo>
                  <a:pt x="594" y="960"/>
                </a:lnTo>
                <a:lnTo>
                  <a:pt x="618" y="936"/>
                </a:lnTo>
                <a:lnTo>
                  <a:pt x="636" y="912"/>
                </a:lnTo>
                <a:lnTo>
                  <a:pt x="660" y="900"/>
                </a:lnTo>
                <a:lnTo>
                  <a:pt x="678" y="888"/>
                </a:lnTo>
                <a:lnTo>
                  <a:pt x="696" y="870"/>
                </a:lnTo>
                <a:lnTo>
                  <a:pt x="714" y="858"/>
                </a:lnTo>
                <a:lnTo>
                  <a:pt x="732" y="846"/>
                </a:lnTo>
                <a:lnTo>
                  <a:pt x="750" y="834"/>
                </a:lnTo>
                <a:lnTo>
                  <a:pt x="780" y="816"/>
                </a:lnTo>
                <a:lnTo>
                  <a:pt x="798" y="804"/>
                </a:lnTo>
                <a:lnTo>
                  <a:pt x="816" y="792"/>
                </a:lnTo>
                <a:lnTo>
                  <a:pt x="828" y="774"/>
                </a:lnTo>
                <a:lnTo>
                  <a:pt x="852" y="756"/>
                </a:lnTo>
                <a:lnTo>
                  <a:pt x="870" y="750"/>
                </a:lnTo>
                <a:lnTo>
                  <a:pt x="888" y="732"/>
                </a:lnTo>
                <a:lnTo>
                  <a:pt x="906" y="720"/>
                </a:lnTo>
                <a:lnTo>
                  <a:pt x="924" y="702"/>
                </a:lnTo>
                <a:lnTo>
                  <a:pt x="942" y="690"/>
                </a:lnTo>
                <a:lnTo>
                  <a:pt x="960" y="684"/>
                </a:lnTo>
                <a:lnTo>
                  <a:pt x="978" y="666"/>
                </a:lnTo>
                <a:lnTo>
                  <a:pt x="1002" y="654"/>
                </a:lnTo>
                <a:lnTo>
                  <a:pt x="1026" y="648"/>
                </a:lnTo>
                <a:lnTo>
                  <a:pt x="1044" y="642"/>
                </a:lnTo>
                <a:lnTo>
                  <a:pt x="1062" y="636"/>
                </a:lnTo>
                <a:lnTo>
                  <a:pt x="1092" y="618"/>
                </a:lnTo>
                <a:lnTo>
                  <a:pt x="1110" y="612"/>
                </a:lnTo>
                <a:lnTo>
                  <a:pt x="1128" y="594"/>
                </a:lnTo>
                <a:lnTo>
                  <a:pt x="1152" y="582"/>
                </a:lnTo>
                <a:lnTo>
                  <a:pt x="1170" y="564"/>
                </a:lnTo>
                <a:lnTo>
                  <a:pt x="1194" y="546"/>
                </a:lnTo>
                <a:lnTo>
                  <a:pt x="1212" y="540"/>
                </a:lnTo>
                <a:lnTo>
                  <a:pt x="1224" y="522"/>
                </a:lnTo>
                <a:lnTo>
                  <a:pt x="1242" y="504"/>
                </a:lnTo>
                <a:lnTo>
                  <a:pt x="1254" y="480"/>
                </a:lnTo>
                <a:lnTo>
                  <a:pt x="1278" y="480"/>
                </a:lnTo>
                <a:lnTo>
                  <a:pt x="1314" y="462"/>
                </a:lnTo>
                <a:lnTo>
                  <a:pt x="1350" y="462"/>
                </a:lnTo>
                <a:lnTo>
                  <a:pt x="1368" y="450"/>
                </a:lnTo>
                <a:lnTo>
                  <a:pt x="1404" y="444"/>
                </a:lnTo>
                <a:lnTo>
                  <a:pt x="1446" y="444"/>
                </a:lnTo>
                <a:lnTo>
                  <a:pt x="1470" y="432"/>
                </a:lnTo>
                <a:lnTo>
                  <a:pt x="1494" y="420"/>
                </a:lnTo>
                <a:lnTo>
                  <a:pt x="1512" y="408"/>
                </a:lnTo>
                <a:lnTo>
                  <a:pt x="1542" y="396"/>
                </a:lnTo>
                <a:lnTo>
                  <a:pt x="1560" y="384"/>
                </a:lnTo>
                <a:lnTo>
                  <a:pt x="1578" y="372"/>
                </a:lnTo>
                <a:lnTo>
                  <a:pt x="1596" y="360"/>
                </a:lnTo>
                <a:lnTo>
                  <a:pt x="1620" y="354"/>
                </a:lnTo>
                <a:lnTo>
                  <a:pt x="1650" y="348"/>
                </a:lnTo>
                <a:lnTo>
                  <a:pt x="1668" y="342"/>
                </a:lnTo>
                <a:lnTo>
                  <a:pt x="1686" y="336"/>
                </a:lnTo>
                <a:lnTo>
                  <a:pt x="1710" y="330"/>
                </a:lnTo>
                <a:lnTo>
                  <a:pt x="1734" y="324"/>
                </a:lnTo>
                <a:lnTo>
                  <a:pt x="1752" y="312"/>
                </a:lnTo>
                <a:lnTo>
                  <a:pt x="1770" y="312"/>
                </a:lnTo>
                <a:lnTo>
                  <a:pt x="1794" y="306"/>
                </a:lnTo>
                <a:lnTo>
                  <a:pt x="1818" y="300"/>
                </a:lnTo>
                <a:lnTo>
                  <a:pt x="1872" y="282"/>
                </a:lnTo>
                <a:lnTo>
                  <a:pt x="1902" y="276"/>
                </a:lnTo>
                <a:lnTo>
                  <a:pt x="1938" y="252"/>
                </a:lnTo>
                <a:lnTo>
                  <a:pt x="1962" y="234"/>
                </a:lnTo>
                <a:lnTo>
                  <a:pt x="1980" y="228"/>
                </a:lnTo>
                <a:lnTo>
                  <a:pt x="1998" y="216"/>
                </a:lnTo>
                <a:lnTo>
                  <a:pt x="2034" y="204"/>
                </a:lnTo>
                <a:lnTo>
                  <a:pt x="2058" y="192"/>
                </a:lnTo>
                <a:lnTo>
                  <a:pt x="2076" y="192"/>
                </a:lnTo>
                <a:lnTo>
                  <a:pt x="2124" y="180"/>
                </a:lnTo>
                <a:lnTo>
                  <a:pt x="2148" y="180"/>
                </a:lnTo>
                <a:lnTo>
                  <a:pt x="2166" y="174"/>
                </a:lnTo>
                <a:lnTo>
                  <a:pt x="2184" y="168"/>
                </a:lnTo>
                <a:lnTo>
                  <a:pt x="2214" y="156"/>
                </a:lnTo>
                <a:lnTo>
                  <a:pt x="2232" y="150"/>
                </a:lnTo>
                <a:lnTo>
                  <a:pt x="2262" y="138"/>
                </a:lnTo>
                <a:lnTo>
                  <a:pt x="2304" y="138"/>
                </a:lnTo>
                <a:lnTo>
                  <a:pt x="2340" y="126"/>
                </a:lnTo>
                <a:lnTo>
                  <a:pt x="2370" y="126"/>
                </a:lnTo>
                <a:lnTo>
                  <a:pt x="2388" y="120"/>
                </a:lnTo>
                <a:lnTo>
                  <a:pt x="2406" y="114"/>
                </a:lnTo>
                <a:lnTo>
                  <a:pt x="2430" y="108"/>
                </a:lnTo>
                <a:lnTo>
                  <a:pt x="2454" y="102"/>
                </a:lnTo>
                <a:lnTo>
                  <a:pt x="2484" y="96"/>
                </a:lnTo>
                <a:lnTo>
                  <a:pt x="2514" y="84"/>
                </a:lnTo>
                <a:lnTo>
                  <a:pt x="2544" y="78"/>
                </a:lnTo>
                <a:lnTo>
                  <a:pt x="2562" y="72"/>
                </a:lnTo>
                <a:lnTo>
                  <a:pt x="2586" y="66"/>
                </a:lnTo>
                <a:lnTo>
                  <a:pt x="2610" y="60"/>
                </a:lnTo>
                <a:lnTo>
                  <a:pt x="2634" y="60"/>
                </a:lnTo>
                <a:lnTo>
                  <a:pt x="2652" y="60"/>
                </a:lnTo>
                <a:lnTo>
                  <a:pt x="2670" y="60"/>
                </a:lnTo>
                <a:lnTo>
                  <a:pt x="2706" y="60"/>
                </a:lnTo>
                <a:lnTo>
                  <a:pt x="2730" y="60"/>
                </a:lnTo>
                <a:lnTo>
                  <a:pt x="2766" y="54"/>
                </a:lnTo>
                <a:lnTo>
                  <a:pt x="2802" y="48"/>
                </a:lnTo>
                <a:lnTo>
                  <a:pt x="2826" y="36"/>
                </a:lnTo>
                <a:lnTo>
                  <a:pt x="2844" y="36"/>
                </a:lnTo>
                <a:lnTo>
                  <a:pt x="2862" y="36"/>
                </a:lnTo>
                <a:lnTo>
                  <a:pt x="2892" y="36"/>
                </a:lnTo>
                <a:lnTo>
                  <a:pt x="2910" y="30"/>
                </a:lnTo>
                <a:lnTo>
                  <a:pt x="2940" y="24"/>
                </a:lnTo>
                <a:lnTo>
                  <a:pt x="2958" y="18"/>
                </a:lnTo>
                <a:lnTo>
                  <a:pt x="2988" y="12"/>
                </a:lnTo>
                <a:lnTo>
                  <a:pt x="3018" y="12"/>
                </a:lnTo>
                <a:lnTo>
                  <a:pt x="3036" y="0"/>
                </a:lnTo>
                <a:lnTo>
                  <a:pt x="3036" y="1734"/>
                </a:lnTo>
                <a:lnTo>
                  <a:pt x="0" y="1734"/>
                </a:lnTo>
                <a:lnTo>
                  <a:pt x="0" y="1746"/>
                </a:lnTo>
              </a:path>
            </a:pathLst>
          </a:custGeom>
          <a:solidFill>
            <a:schemeClr val="accent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5059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0" name="Arc 7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1016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5061" name="Line 8"/>
          <p:cNvSpPr/>
          <p:nvPr/>
        </p:nvSpPr>
        <p:spPr>
          <a:xfrm flipV="1">
            <a:off x="1435100" y="2035175"/>
            <a:ext cx="5637213" cy="296227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62" name="Line 9"/>
          <p:cNvSpPr/>
          <p:nvPr/>
        </p:nvSpPr>
        <p:spPr>
          <a:xfrm flipV="1">
            <a:off x="1435100" y="1601788"/>
            <a:ext cx="5637213" cy="2963862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63" name="Line 10"/>
          <p:cNvSpPr/>
          <p:nvPr/>
        </p:nvSpPr>
        <p:spPr>
          <a:xfrm flipV="1">
            <a:off x="1435100" y="1184275"/>
            <a:ext cx="5637213" cy="2962275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45064" name="Object 11"/>
          <p:cNvGraphicFramePr/>
          <p:nvPr/>
        </p:nvGraphicFramePr>
        <p:xfrm>
          <a:off x="7113588" y="1865313"/>
          <a:ext cx="11080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1" imgW="766445" imgH="217805" progId="Equation.2">
                  <p:embed/>
                </p:oleObj>
              </mc:Choice>
              <mc:Fallback>
                <p:oleObj name="" r:id="rId1" imgW="766445" imgH="217805" progId="Equation.2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13588" y="1865313"/>
                        <a:ext cx="1108075" cy="307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12"/>
          <p:cNvGraphicFramePr/>
          <p:nvPr/>
        </p:nvGraphicFramePr>
        <p:xfrm>
          <a:off x="7113588" y="1447800"/>
          <a:ext cx="11747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3" imgW="818515" imgH="217805" progId="Equation.2">
                  <p:embed/>
                </p:oleObj>
              </mc:Choice>
              <mc:Fallback>
                <p:oleObj name="" r:id="rId3" imgW="818515" imgH="217805" progId="Equation.2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13588" y="1447800"/>
                        <a:ext cx="11747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6" name="Object 13"/>
          <p:cNvGraphicFramePr/>
          <p:nvPr/>
        </p:nvGraphicFramePr>
        <p:xfrm>
          <a:off x="7108825" y="1042988"/>
          <a:ext cx="12541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5" imgW="879475" imgH="217805" progId="Equation.2">
                  <p:embed/>
                </p:oleObj>
              </mc:Choice>
              <mc:Fallback>
                <p:oleObj name="" r:id="rId5" imgW="879475" imgH="217805" progId="Equation.2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08825" y="1042988"/>
                        <a:ext cx="125412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7" name="Object 14"/>
          <p:cNvGraphicFramePr/>
          <p:nvPr/>
        </p:nvGraphicFramePr>
        <p:xfrm>
          <a:off x="3952875" y="3646488"/>
          <a:ext cx="231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7" imgW="1593850" imgH="609600" progId="Equation.2">
                  <p:embed/>
                </p:oleObj>
              </mc:Choice>
              <mc:Fallback>
                <p:oleObj name="" r:id="rId7" imgW="1593850" imgH="609600" progId="Equation.2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75" y="3646488"/>
                        <a:ext cx="23145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8" name="Rectangle 15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5069" name="Object 16"/>
          <p:cNvGraphicFramePr/>
          <p:nvPr/>
        </p:nvGraphicFramePr>
        <p:xfrm>
          <a:off x="6502400" y="2576513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9" imgW="1306195" imgH="287655" progId="Equation.2">
                  <p:embed/>
                </p:oleObj>
              </mc:Choice>
              <mc:Fallback>
                <p:oleObj name="" r:id="rId9" imgW="1306195" imgH="287655" progId="Equation.2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02400" y="2576513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0" name="Line 17"/>
          <p:cNvSpPr/>
          <p:nvPr/>
        </p:nvSpPr>
        <p:spPr>
          <a:xfrm>
            <a:off x="3460750" y="3573463"/>
            <a:ext cx="0" cy="1990725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45071" name="Line 18"/>
          <p:cNvSpPr/>
          <p:nvPr/>
        </p:nvSpPr>
        <p:spPr>
          <a:xfrm flipH="1">
            <a:off x="1439863" y="3573463"/>
            <a:ext cx="202088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45072" name="Oval 19"/>
          <p:cNvSpPr/>
          <p:nvPr/>
        </p:nvSpPr>
        <p:spPr>
          <a:xfrm>
            <a:off x="3327400" y="3454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73" name="Oval 20"/>
          <p:cNvSpPr/>
          <p:nvPr/>
        </p:nvSpPr>
        <p:spPr>
          <a:xfrm>
            <a:off x="3389313" y="55118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74" name="Oval 21"/>
          <p:cNvSpPr/>
          <p:nvPr/>
        </p:nvSpPr>
        <p:spPr>
          <a:xfrm>
            <a:off x="1370013" y="34925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5075" name="Object 22"/>
          <p:cNvGraphicFramePr/>
          <p:nvPr/>
        </p:nvGraphicFramePr>
        <p:xfrm>
          <a:off x="3282950" y="5626100"/>
          <a:ext cx="3571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11" imgW="252730" imgH="374650" progId="Equation.2">
                  <p:embed/>
                </p:oleObj>
              </mc:Choice>
              <mc:Fallback>
                <p:oleObj name="" r:id="rId11" imgW="252730" imgH="374650" progId="Equation.2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FFFF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82950" y="5626100"/>
                        <a:ext cx="357188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6" name="Object 23"/>
          <p:cNvGraphicFramePr/>
          <p:nvPr/>
        </p:nvGraphicFramePr>
        <p:xfrm>
          <a:off x="1027113" y="3225800"/>
          <a:ext cx="3349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3" imgW="243840" imgH="365760" progId="Equation.2">
                  <p:embed/>
                </p:oleObj>
              </mc:Choice>
              <mc:Fallback>
                <p:oleObj name="" r:id="rId13" imgW="243840" imgH="365760" progId="Equation.2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27113" y="3225800"/>
                        <a:ext cx="334962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7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45078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Freeform 24"/>
          <p:cNvSpPr/>
          <p:nvPr/>
        </p:nvSpPr>
        <p:spPr>
          <a:xfrm>
            <a:off x="1419225" y="2809875"/>
            <a:ext cx="4821238" cy="27733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pathLst>
              <a:path w="3037" h="1747">
                <a:moveTo>
                  <a:pt x="6" y="1722"/>
                </a:moveTo>
                <a:lnTo>
                  <a:pt x="12" y="1698"/>
                </a:lnTo>
                <a:lnTo>
                  <a:pt x="18" y="1674"/>
                </a:lnTo>
                <a:lnTo>
                  <a:pt x="30" y="1656"/>
                </a:lnTo>
                <a:lnTo>
                  <a:pt x="48" y="1632"/>
                </a:lnTo>
                <a:lnTo>
                  <a:pt x="60" y="1608"/>
                </a:lnTo>
                <a:lnTo>
                  <a:pt x="72" y="1590"/>
                </a:lnTo>
                <a:lnTo>
                  <a:pt x="78" y="1572"/>
                </a:lnTo>
                <a:lnTo>
                  <a:pt x="84" y="1554"/>
                </a:lnTo>
                <a:lnTo>
                  <a:pt x="102" y="1530"/>
                </a:lnTo>
                <a:lnTo>
                  <a:pt x="108" y="1512"/>
                </a:lnTo>
                <a:lnTo>
                  <a:pt x="120" y="1494"/>
                </a:lnTo>
                <a:lnTo>
                  <a:pt x="132" y="1476"/>
                </a:lnTo>
                <a:lnTo>
                  <a:pt x="144" y="1458"/>
                </a:lnTo>
                <a:lnTo>
                  <a:pt x="156" y="1440"/>
                </a:lnTo>
                <a:lnTo>
                  <a:pt x="168" y="1422"/>
                </a:lnTo>
                <a:lnTo>
                  <a:pt x="180" y="1404"/>
                </a:lnTo>
                <a:lnTo>
                  <a:pt x="192" y="1380"/>
                </a:lnTo>
                <a:lnTo>
                  <a:pt x="216" y="1356"/>
                </a:lnTo>
                <a:lnTo>
                  <a:pt x="228" y="1338"/>
                </a:lnTo>
                <a:lnTo>
                  <a:pt x="240" y="1320"/>
                </a:lnTo>
                <a:lnTo>
                  <a:pt x="252" y="1302"/>
                </a:lnTo>
                <a:lnTo>
                  <a:pt x="252" y="1284"/>
                </a:lnTo>
                <a:lnTo>
                  <a:pt x="270" y="1272"/>
                </a:lnTo>
                <a:lnTo>
                  <a:pt x="288" y="1260"/>
                </a:lnTo>
                <a:lnTo>
                  <a:pt x="288" y="1242"/>
                </a:lnTo>
                <a:lnTo>
                  <a:pt x="312" y="1224"/>
                </a:lnTo>
                <a:lnTo>
                  <a:pt x="318" y="1206"/>
                </a:lnTo>
                <a:lnTo>
                  <a:pt x="318" y="1188"/>
                </a:lnTo>
                <a:lnTo>
                  <a:pt x="366" y="1182"/>
                </a:lnTo>
                <a:lnTo>
                  <a:pt x="384" y="1182"/>
                </a:lnTo>
                <a:lnTo>
                  <a:pt x="384" y="1164"/>
                </a:lnTo>
                <a:lnTo>
                  <a:pt x="402" y="1140"/>
                </a:lnTo>
                <a:lnTo>
                  <a:pt x="420" y="1128"/>
                </a:lnTo>
                <a:lnTo>
                  <a:pt x="438" y="1116"/>
                </a:lnTo>
                <a:lnTo>
                  <a:pt x="462" y="1104"/>
                </a:lnTo>
                <a:lnTo>
                  <a:pt x="474" y="1086"/>
                </a:lnTo>
                <a:lnTo>
                  <a:pt x="492" y="1068"/>
                </a:lnTo>
                <a:lnTo>
                  <a:pt x="510" y="1056"/>
                </a:lnTo>
                <a:lnTo>
                  <a:pt x="522" y="1032"/>
                </a:lnTo>
                <a:lnTo>
                  <a:pt x="546" y="1014"/>
                </a:lnTo>
                <a:lnTo>
                  <a:pt x="558" y="996"/>
                </a:lnTo>
                <a:lnTo>
                  <a:pt x="576" y="984"/>
                </a:lnTo>
                <a:lnTo>
                  <a:pt x="594" y="960"/>
                </a:lnTo>
                <a:lnTo>
                  <a:pt x="618" y="936"/>
                </a:lnTo>
                <a:lnTo>
                  <a:pt x="636" y="912"/>
                </a:lnTo>
                <a:lnTo>
                  <a:pt x="660" y="900"/>
                </a:lnTo>
                <a:lnTo>
                  <a:pt x="678" y="888"/>
                </a:lnTo>
                <a:lnTo>
                  <a:pt x="696" y="870"/>
                </a:lnTo>
                <a:lnTo>
                  <a:pt x="714" y="858"/>
                </a:lnTo>
                <a:lnTo>
                  <a:pt x="732" y="846"/>
                </a:lnTo>
                <a:lnTo>
                  <a:pt x="750" y="834"/>
                </a:lnTo>
                <a:lnTo>
                  <a:pt x="780" y="816"/>
                </a:lnTo>
                <a:lnTo>
                  <a:pt x="798" y="804"/>
                </a:lnTo>
                <a:lnTo>
                  <a:pt x="816" y="792"/>
                </a:lnTo>
                <a:lnTo>
                  <a:pt x="828" y="774"/>
                </a:lnTo>
                <a:lnTo>
                  <a:pt x="852" y="756"/>
                </a:lnTo>
                <a:lnTo>
                  <a:pt x="870" y="750"/>
                </a:lnTo>
                <a:lnTo>
                  <a:pt x="888" y="732"/>
                </a:lnTo>
                <a:lnTo>
                  <a:pt x="906" y="720"/>
                </a:lnTo>
                <a:lnTo>
                  <a:pt x="924" y="702"/>
                </a:lnTo>
                <a:lnTo>
                  <a:pt x="942" y="690"/>
                </a:lnTo>
                <a:lnTo>
                  <a:pt x="960" y="684"/>
                </a:lnTo>
                <a:lnTo>
                  <a:pt x="978" y="666"/>
                </a:lnTo>
                <a:lnTo>
                  <a:pt x="1002" y="654"/>
                </a:lnTo>
                <a:lnTo>
                  <a:pt x="1026" y="648"/>
                </a:lnTo>
                <a:lnTo>
                  <a:pt x="1044" y="642"/>
                </a:lnTo>
                <a:lnTo>
                  <a:pt x="1062" y="636"/>
                </a:lnTo>
                <a:lnTo>
                  <a:pt x="1092" y="618"/>
                </a:lnTo>
                <a:lnTo>
                  <a:pt x="1110" y="612"/>
                </a:lnTo>
                <a:lnTo>
                  <a:pt x="1128" y="594"/>
                </a:lnTo>
                <a:lnTo>
                  <a:pt x="1152" y="582"/>
                </a:lnTo>
                <a:lnTo>
                  <a:pt x="1170" y="564"/>
                </a:lnTo>
                <a:lnTo>
                  <a:pt x="1194" y="546"/>
                </a:lnTo>
                <a:lnTo>
                  <a:pt x="1212" y="540"/>
                </a:lnTo>
                <a:lnTo>
                  <a:pt x="1224" y="522"/>
                </a:lnTo>
                <a:lnTo>
                  <a:pt x="1242" y="504"/>
                </a:lnTo>
                <a:lnTo>
                  <a:pt x="1254" y="480"/>
                </a:lnTo>
                <a:lnTo>
                  <a:pt x="1278" y="480"/>
                </a:lnTo>
                <a:lnTo>
                  <a:pt x="1314" y="462"/>
                </a:lnTo>
                <a:lnTo>
                  <a:pt x="1350" y="462"/>
                </a:lnTo>
                <a:lnTo>
                  <a:pt x="1368" y="450"/>
                </a:lnTo>
                <a:lnTo>
                  <a:pt x="1404" y="444"/>
                </a:lnTo>
                <a:lnTo>
                  <a:pt x="1446" y="444"/>
                </a:lnTo>
                <a:lnTo>
                  <a:pt x="1470" y="432"/>
                </a:lnTo>
                <a:lnTo>
                  <a:pt x="1494" y="420"/>
                </a:lnTo>
                <a:lnTo>
                  <a:pt x="1512" y="408"/>
                </a:lnTo>
                <a:lnTo>
                  <a:pt x="1542" y="396"/>
                </a:lnTo>
                <a:lnTo>
                  <a:pt x="1560" y="384"/>
                </a:lnTo>
                <a:lnTo>
                  <a:pt x="1578" y="372"/>
                </a:lnTo>
                <a:lnTo>
                  <a:pt x="1596" y="360"/>
                </a:lnTo>
                <a:lnTo>
                  <a:pt x="1620" y="354"/>
                </a:lnTo>
                <a:lnTo>
                  <a:pt x="1650" y="348"/>
                </a:lnTo>
                <a:lnTo>
                  <a:pt x="1668" y="342"/>
                </a:lnTo>
                <a:lnTo>
                  <a:pt x="1686" y="336"/>
                </a:lnTo>
                <a:lnTo>
                  <a:pt x="1710" y="330"/>
                </a:lnTo>
                <a:lnTo>
                  <a:pt x="1734" y="324"/>
                </a:lnTo>
                <a:lnTo>
                  <a:pt x="1752" y="312"/>
                </a:lnTo>
                <a:lnTo>
                  <a:pt x="1770" y="312"/>
                </a:lnTo>
                <a:lnTo>
                  <a:pt x="1794" y="306"/>
                </a:lnTo>
                <a:lnTo>
                  <a:pt x="1818" y="300"/>
                </a:lnTo>
                <a:lnTo>
                  <a:pt x="1872" y="282"/>
                </a:lnTo>
                <a:lnTo>
                  <a:pt x="1902" y="276"/>
                </a:lnTo>
                <a:lnTo>
                  <a:pt x="1938" y="252"/>
                </a:lnTo>
                <a:lnTo>
                  <a:pt x="1962" y="234"/>
                </a:lnTo>
                <a:lnTo>
                  <a:pt x="1980" y="228"/>
                </a:lnTo>
                <a:lnTo>
                  <a:pt x="1998" y="216"/>
                </a:lnTo>
                <a:lnTo>
                  <a:pt x="2034" y="204"/>
                </a:lnTo>
                <a:lnTo>
                  <a:pt x="2058" y="192"/>
                </a:lnTo>
                <a:lnTo>
                  <a:pt x="2076" y="192"/>
                </a:lnTo>
                <a:lnTo>
                  <a:pt x="2124" y="180"/>
                </a:lnTo>
                <a:lnTo>
                  <a:pt x="2148" y="180"/>
                </a:lnTo>
                <a:lnTo>
                  <a:pt x="2166" y="174"/>
                </a:lnTo>
                <a:lnTo>
                  <a:pt x="2184" y="168"/>
                </a:lnTo>
                <a:lnTo>
                  <a:pt x="2214" y="156"/>
                </a:lnTo>
                <a:lnTo>
                  <a:pt x="2232" y="150"/>
                </a:lnTo>
                <a:lnTo>
                  <a:pt x="2262" y="138"/>
                </a:lnTo>
                <a:lnTo>
                  <a:pt x="2304" y="138"/>
                </a:lnTo>
                <a:lnTo>
                  <a:pt x="2340" y="126"/>
                </a:lnTo>
                <a:lnTo>
                  <a:pt x="2370" y="126"/>
                </a:lnTo>
                <a:lnTo>
                  <a:pt x="2388" y="120"/>
                </a:lnTo>
                <a:lnTo>
                  <a:pt x="2406" y="114"/>
                </a:lnTo>
                <a:lnTo>
                  <a:pt x="2430" y="108"/>
                </a:lnTo>
                <a:lnTo>
                  <a:pt x="2454" y="102"/>
                </a:lnTo>
                <a:lnTo>
                  <a:pt x="2484" y="96"/>
                </a:lnTo>
                <a:lnTo>
                  <a:pt x="2514" y="84"/>
                </a:lnTo>
                <a:lnTo>
                  <a:pt x="2544" y="78"/>
                </a:lnTo>
                <a:lnTo>
                  <a:pt x="2562" y="72"/>
                </a:lnTo>
                <a:lnTo>
                  <a:pt x="2586" y="66"/>
                </a:lnTo>
                <a:lnTo>
                  <a:pt x="2610" y="60"/>
                </a:lnTo>
                <a:lnTo>
                  <a:pt x="2634" y="60"/>
                </a:lnTo>
                <a:lnTo>
                  <a:pt x="2652" y="60"/>
                </a:lnTo>
                <a:lnTo>
                  <a:pt x="2670" y="60"/>
                </a:lnTo>
                <a:lnTo>
                  <a:pt x="2706" y="60"/>
                </a:lnTo>
                <a:lnTo>
                  <a:pt x="2730" y="60"/>
                </a:lnTo>
                <a:lnTo>
                  <a:pt x="2766" y="54"/>
                </a:lnTo>
                <a:lnTo>
                  <a:pt x="2802" y="48"/>
                </a:lnTo>
                <a:lnTo>
                  <a:pt x="2826" y="36"/>
                </a:lnTo>
                <a:lnTo>
                  <a:pt x="2844" y="36"/>
                </a:lnTo>
                <a:lnTo>
                  <a:pt x="2862" y="36"/>
                </a:lnTo>
                <a:lnTo>
                  <a:pt x="2892" y="36"/>
                </a:lnTo>
                <a:lnTo>
                  <a:pt x="2910" y="30"/>
                </a:lnTo>
                <a:lnTo>
                  <a:pt x="2940" y="24"/>
                </a:lnTo>
                <a:lnTo>
                  <a:pt x="2958" y="18"/>
                </a:lnTo>
                <a:lnTo>
                  <a:pt x="2988" y="12"/>
                </a:lnTo>
                <a:lnTo>
                  <a:pt x="3018" y="12"/>
                </a:lnTo>
                <a:lnTo>
                  <a:pt x="3036" y="0"/>
                </a:lnTo>
                <a:lnTo>
                  <a:pt x="3036" y="1734"/>
                </a:lnTo>
                <a:lnTo>
                  <a:pt x="0" y="1734"/>
                </a:lnTo>
                <a:lnTo>
                  <a:pt x="0" y="1746"/>
                </a:lnTo>
              </a:path>
            </a:pathLst>
          </a:custGeom>
          <a:solidFill>
            <a:schemeClr val="accent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6083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84" name="Arc 7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1016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46085" name="Object 8"/>
          <p:cNvGraphicFramePr/>
          <p:nvPr/>
        </p:nvGraphicFramePr>
        <p:xfrm>
          <a:off x="3952875" y="3646488"/>
          <a:ext cx="231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1" imgW="1593850" imgH="609600" progId="Equation.2">
                  <p:embed/>
                </p:oleObj>
              </mc:Choice>
              <mc:Fallback>
                <p:oleObj name="" r:id="rId1" imgW="1593850" imgH="609600" progId="Equation.2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75" y="3646488"/>
                        <a:ext cx="23145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Rectangle 9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6087" name="Object 10"/>
          <p:cNvGraphicFramePr/>
          <p:nvPr/>
        </p:nvGraphicFramePr>
        <p:xfrm>
          <a:off x="6502400" y="2576513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3" imgW="1306195" imgH="287655" progId="Equation.2">
                  <p:embed/>
                </p:oleObj>
              </mc:Choice>
              <mc:Fallback>
                <p:oleObj name="" r:id="rId3" imgW="1306195" imgH="287655" progId="Equation.2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02400" y="2576513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8" name="Line 11"/>
          <p:cNvSpPr/>
          <p:nvPr/>
        </p:nvSpPr>
        <p:spPr>
          <a:xfrm>
            <a:off x="3460750" y="3573463"/>
            <a:ext cx="0" cy="1990725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46089" name="Line 12"/>
          <p:cNvSpPr/>
          <p:nvPr/>
        </p:nvSpPr>
        <p:spPr>
          <a:xfrm flipH="1">
            <a:off x="1439863" y="3573463"/>
            <a:ext cx="202088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46090" name="Oval 13"/>
          <p:cNvSpPr/>
          <p:nvPr/>
        </p:nvSpPr>
        <p:spPr>
          <a:xfrm>
            <a:off x="3327400" y="3454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91" name="Oval 14"/>
          <p:cNvSpPr/>
          <p:nvPr/>
        </p:nvSpPr>
        <p:spPr>
          <a:xfrm>
            <a:off x="3389313" y="55118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92" name="Oval 15"/>
          <p:cNvSpPr/>
          <p:nvPr/>
        </p:nvSpPr>
        <p:spPr>
          <a:xfrm>
            <a:off x="1370013" y="34925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6093" name="Object 16"/>
          <p:cNvGraphicFramePr/>
          <p:nvPr/>
        </p:nvGraphicFramePr>
        <p:xfrm>
          <a:off x="3282950" y="5626100"/>
          <a:ext cx="3571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5" imgW="252730" imgH="374650" progId="Equation.2">
                  <p:embed/>
                </p:oleObj>
              </mc:Choice>
              <mc:Fallback>
                <p:oleObj name="" r:id="rId5" imgW="252730" imgH="374650" progId="Equation.2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FFFF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82950" y="5626100"/>
                        <a:ext cx="357188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4" name="Object 17"/>
          <p:cNvGraphicFramePr/>
          <p:nvPr/>
        </p:nvGraphicFramePr>
        <p:xfrm>
          <a:off x="1027113" y="3225800"/>
          <a:ext cx="3349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7" imgW="243840" imgH="365760" progId="Equation.2">
                  <p:embed/>
                </p:oleObj>
              </mc:Choice>
              <mc:Fallback>
                <p:oleObj name="" r:id="rId7" imgW="243840" imgH="365760" progId="Equation.2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27113" y="3225800"/>
                        <a:ext cx="334962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5" name="Line 18"/>
          <p:cNvSpPr/>
          <p:nvPr/>
        </p:nvSpPr>
        <p:spPr>
          <a:xfrm flipV="1">
            <a:off x="1435100" y="2193925"/>
            <a:ext cx="3203575" cy="28321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46096" name="Object 19"/>
          <p:cNvGraphicFramePr/>
          <p:nvPr/>
        </p:nvGraphicFramePr>
        <p:xfrm>
          <a:off x="4676775" y="2022475"/>
          <a:ext cx="11080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9" imgW="766445" imgH="217805" progId="Equation.2">
                  <p:embed/>
                </p:oleObj>
              </mc:Choice>
              <mc:Fallback>
                <p:oleObj name="" r:id="rId9" imgW="766445" imgH="217805" progId="Equation.2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76775" y="2022475"/>
                        <a:ext cx="1108075" cy="307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7" name="Object 20"/>
          <p:cNvGraphicFramePr/>
          <p:nvPr/>
        </p:nvGraphicFramePr>
        <p:xfrm>
          <a:off x="4676775" y="1604963"/>
          <a:ext cx="11747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11" imgW="818515" imgH="217805" progId="Equation.2">
                  <p:embed/>
                </p:oleObj>
              </mc:Choice>
              <mc:Fallback>
                <p:oleObj name="" r:id="rId11" imgW="818515" imgH="217805" progId="Equation.2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76775" y="1604963"/>
                        <a:ext cx="11747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8" name="Object 21"/>
          <p:cNvGraphicFramePr/>
          <p:nvPr/>
        </p:nvGraphicFramePr>
        <p:xfrm>
          <a:off x="4672013" y="1200150"/>
          <a:ext cx="12541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3" imgW="879475" imgH="217805" progId="Equation.2">
                  <p:embed/>
                </p:oleObj>
              </mc:Choice>
              <mc:Fallback>
                <p:oleObj name="" r:id="rId13" imgW="879475" imgH="217805" progId="Equation.2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72013" y="1200150"/>
                        <a:ext cx="125412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9" name="Line 22"/>
          <p:cNvSpPr/>
          <p:nvPr/>
        </p:nvSpPr>
        <p:spPr>
          <a:xfrm flipV="1">
            <a:off x="1435100" y="1746250"/>
            <a:ext cx="3190875" cy="2820988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00" name="Line 23"/>
          <p:cNvSpPr/>
          <p:nvPr/>
        </p:nvSpPr>
        <p:spPr>
          <a:xfrm flipV="1">
            <a:off x="1435100" y="1339850"/>
            <a:ext cx="3179763" cy="28114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01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46102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Freeform 31"/>
          <p:cNvSpPr/>
          <p:nvPr/>
        </p:nvSpPr>
        <p:spPr>
          <a:xfrm>
            <a:off x="1419225" y="2809875"/>
            <a:ext cx="4821238" cy="27733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pathLst>
              <a:path w="3037" h="1747">
                <a:moveTo>
                  <a:pt x="6" y="1722"/>
                </a:moveTo>
                <a:lnTo>
                  <a:pt x="12" y="1698"/>
                </a:lnTo>
                <a:lnTo>
                  <a:pt x="18" y="1674"/>
                </a:lnTo>
                <a:lnTo>
                  <a:pt x="30" y="1656"/>
                </a:lnTo>
                <a:lnTo>
                  <a:pt x="48" y="1632"/>
                </a:lnTo>
                <a:lnTo>
                  <a:pt x="60" y="1608"/>
                </a:lnTo>
                <a:lnTo>
                  <a:pt x="72" y="1590"/>
                </a:lnTo>
                <a:lnTo>
                  <a:pt x="78" y="1572"/>
                </a:lnTo>
                <a:lnTo>
                  <a:pt x="84" y="1554"/>
                </a:lnTo>
                <a:lnTo>
                  <a:pt x="102" y="1530"/>
                </a:lnTo>
                <a:lnTo>
                  <a:pt x="108" y="1512"/>
                </a:lnTo>
                <a:lnTo>
                  <a:pt x="120" y="1494"/>
                </a:lnTo>
                <a:lnTo>
                  <a:pt x="132" y="1476"/>
                </a:lnTo>
                <a:lnTo>
                  <a:pt x="144" y="1458"/>
                </a:lnTo>
                <a:lnTo>
                  <a:pt x="156" y="1440"/>
                </a:lnTo>
                <a:lnTo>
                  <a:pt x="168" y="1422"/>
                </a:lnTo>
                <a:lnTo>
                  <a:pt x="180" y="1404"/>
                </a:lnTo>
                <a:lnTo>
                  <a:pt x="192" y="1380"/>
                </a:lnTo>
                <a:lnTo>
                  <a:pt x="216" y="1356"/>
                </a:lnTo>
                <a:lnTo>
                  <a:pt x="228" y="1338"/>
                </a:lnTo>
                <a:lnTo>
                  <a:pt x="240" y="1320"/>
                </a:lnTo>
                <a:lnTo>
                  <a:pt x="252" y="1302"/>
                </a:lnTo>
                <a:lnTo>
                  <a:pt x="252" y="1284"/>
                </a:lnTo>
                <a:lnTo>
                  <a:pt x="270" y="1272"/>
                </a:lnTo>
                <a:lnTo>
                  <a:pt x="288" y="1260"/>
                </a:lnTo>
                <a:lnTo>
                  <a:pt x="288" y="1242"/>
                </a:lnTo>
                <a:lnTo>
                  <a:pt x="312" y="1224"/>
                </a:lnTo>
                <a:lnTo>
                  <a:pt x="318" y="1206"/>
                </a:lnTo>
                <a:lnTo>
                  <a:pt x="318" y="1188"/>
                </a:lnTo>
                <a:lnTo>
                  <a:pt x="366" y="1182"/>
                </a:lnTo>
                <a:lnTo>
                  <a:pt x="384" y="1182"/>
                </a:lnTo>
                <a:lnTo>
                  <a:pt x="384" y="1164"/>
                </a:lnTo>
                <a:lnTo>
                  <a:pt x="402" y="1140"/>
                </a:lnTo>
                <a:lnTo>
                  <a:pt x="420" y="1128"/>
                </a:lnTo>
                <a:lnTo>
                  <a:pt x="438" y="1116"/>
                </a:lnTo>
                <a:lnTo>
                  <a:pt x="462" y="1104"/>
                </a:lnTo>
                <a:lnTo>
                  <a:pt x="474" y="1086"/>
                </a:lnTo>
                <a:lnTo>
                  <a:pt x="492" y="1068"/>
                </a:lnTo>
                <a:lnTo>
                  <a:pt x="510" y="1056"/>
                </a:lnTo>
                <a:lnTo>
                  <a:pt x="522" y="1032"/>
                </a:lnTo>
                <a:lnTo>
                  <a:pt x="546" y="1014"/>
                </a:lnTo>
                <a:lnTo>
                  <a:pt x="558" y="996"/>
                </a:lnTo>
                <a:lnTo>
                  <a:pt x="576" y="984"/>
                </a:lnTo>
                <a:lnTo>
                  <a:pt x="594" y="960"/>
                </a:lnTo>
                <a:lnTo>
                  <a:pt x="618" y="936"/>
                </a:lnTo>
                <a:lnTo>
                  <a:pt x="636" y="912"/>
                </a:lnTo>
                <a:lnTo>
                  <a:pt x="660" y="900"/>
                </a:lnTo>
                <a:lnTo>
                  <a:pt x="678" y="888"/>
                </a:lnTo>
                <a:lnTo>
                  <a:pt x="696" y="870"/>
                </a:lnTo>
                <a:lnTo>
                  <a:pt x="714" y="858"/>
                </a:lnTo>
                <a:lnTo>
                  <a:pt x="732" y="846"/>
                </a:lnTo>
                <a:lnTo>
                  <a:pt x="750" y="834"/>
                </a:lnTo>
                <a:lnTo>
                  <a:pt x="780" y="816"/>
                </a:lnTo>
                <a:lnTo>
                  <a:pt x="798" y="804"/>
                </a:lnTo>
                <a:lnTo>
                  <a:pt x="816" y="792"/>
                </a:lnTo>
                <a:lnTo>
                  <a:pt x="828" y="774"/>
                </a:lnTo>
                <a:lnTo>
                  <a:pt x="852" y="756"/>
                </a:lnTo>
                <a:lnTo>
                  <a:pt x="870" y="750"/>
                </a:lnTo>
                <a:lnTo>
                  <a:pt x="888" y="732"/>
                </a:lnTo>
                <a:lnTo>
                  <a:pt x="906" y="720"/>
                </a:lnTo>
                <a:lnTo>
                  <a:pt x="924" y="702"/>
                </a:lnTo>
                <a:lnTo>
                  <a:pt x="942" y="690"/>
                </a:lnTo>
                <a:lnTo>
                  <a:pt x="960" y="684"/>
                </a:lnTo>
                <a:lnTo>
                  <a:pt x="978" y="666"/>
                </a:lnTo>
                <a:lnTo>
                  <a:pt x="1002" y="654"/>
                </a:lnTo>
                <a:lnTo>
                  <a:pt x="1026" y="648"/>
                </a:lnTo>
                <a:lnTo>
                  <a:pt x="1044" y="642"/>
                </a:lnTo>
                <a:lnTo>
                  <a:pt x="1062" y="636"/>
                </a:lnTo>
                <a:lnTo>
                  <a:pt x="1092" y="618"/>
                </a:lnTo>
                <a:lnTo>
                  <a:pt x="1110" y="612"/>
                </a:lnTo>
                <a:lnTo>
                  <a:pt x="1128" y="594"/>
                </a:lnTo>
                <a:lnTo>
                  <a:pt x="1152" y="582"/>
                </a:lnTo>
                <a:lnTo>
                  <a:pt x="1170" y="564"/>
                </a:lnTo>
                <a:lnTo>
                  <a:pt x="1194" y="546"/>
                </a:lnTo>
                <a:lnTo>
                  <a:pt x="1212" y="540"/>
                </a:lnTo>
                <a:lnTo>
                  <a:pt x="1224" y="522"/>
                </a:lnTo>
                <a:lnTo>
                  <a:pt x="1242" y="504"/>
                </a:lnTo>
                <a:lnTo>
                  <a:pt x="1254" y="480"/>
                </a:lnTo>
                <a:lnTo>
                  <a:pt x="1278" y="480"/>
                </a:lnTo>
                <a:lnTo>
                  <a:pt x="1314" y="462"/>
                </a:lnTo>
                <a:lnTo>
                  <a:pt x="1350" y="462"/>
                </a:lnTo>
                <a:lnTo>
                  <a:pt x="1368" y="450"/>
                </a:lnTo>
                <a:lnTo>
                  <a:pt x="1404" y="444"/>
                </a:lnTo>
                <a:lnTo>
                  <a:pt x="1446" y="444"/>
                </a:lnTo>
                <a:lnTo>
                  <a:pt x="1470" y="432"/>
                </a:lnTo>
                <a:lnTo>
                  <a:pt x="1494" y="420"/>
                </a:lnTo>
                <a:lnTo>
                  <a:pt x="1512" y="408"/>
                </a:lnTo>
                <a:lnTo>
                  <a:pt x="1542" y="396"/>
                </a:lnTo>
                <a:lnTo>
                  <a:pt x="1560" y="384"/>
                </a:lnTo>
                <a:lnTo>
                  <a:pt x="1578" y="372"/>
                </a:lnTo>
                <a:lnTo>
                  <a:pt x="1596" y="360"/>
                </a:lnTo>
                <a:lnTo>
                  <a:pt x="1620" y="354"/>
                </a:lnTo>
                <a:lnTo>
                  <a:pt x="1650" y="348"/>
                </a:lnTo>
                <a:lnTo>
                  <a:pt x="1668" y="342"/>
                </a:lnTo>
                <a:lnTo>
                  <a:pt x="1686" y="336"/>
                </a:lnTo>
                <a:lnTo>
                  <a:pt x="1710" y="330"/>
                </a:lnTo>
                <a:lnTo>
                  <a:pt x="1734" y="324"/>
                </a:lnTo>
                <a:lnTo>
                  <a:pt x="1752" y="312"/>
                </a:lnTo>
                <a:lnTo>
                  <a:pt x="1770" y="312"/>
                </a:lnTo>
                <a:lnTo>
                  <a:pt x="1794" y="306"/>
                </a:lnTo>
                <a:lnTo>
                  <a:pt x="1818" y="300"/>
                </a:lnTo>
                <a:lnTo>
                  <a:pt x="1872" y="282"/>
                </a:lnTo>
                <a:lnTo>
                  <a:pt x="1902" y="276"/>
                </a:lnTo>
                <a:lnTo>
                  <a:pt x="1938" y="252"/>
                </a:lnTo>
                <a:lnTo>
                  <a:pt x="1962" y="234"/>
                </a:lnTo>
                <a:lnTo>
                  <a:pt x="1980" y="228"/>
                </a:lnTo>
                <a:lnTo>
                  <a:pt x="1998" y="216"/>
                </a:lnTo>
                <a:lnTo>
                  <a:pt x="2034" y="204"/>
                </a:lnTo>
                <a:lnTo>
                  <a:pt x="2058" y="192"/>
                </a:lnTo>
                <a:lnTo>
                  <a:pt x="2076" y="192"/>
                </a:lnTo>
                <a:lnTo>
                  <a:pt x="2124" y="180"/>
                </a:lnTo>
                <a:lnTo>
                  <a:pt x="2148" y="180"/>
                </a:lnTo>
                <a:lnTo>
                  <a:pt x="2166" y="174"/>
                </a:lnTo>
                <a:lnTo>
                  <a:pt x="2184" y="168"/>
                </a:lnTo>
                <a:lnTo>
                  <a:pt x="2214" y="156"/>
                </a:lnTo>
                <a:lnTo>
                  <a:pt x="2232" y="150"/>
                </a:lnTo>
                <a:lnTo>
                  <a:pt x="2262" y="138"/>
                </a:lnTo>
                <a:lnTo>
                  <a:pt x="2304" y="138"/>
                </a:lnTo>
                <a:lnTo>
                  <a:pt x="2340" y="126"/>
                </a:lnTo>
                <a:lnTo>
                  <a:pt x="2370" y="126"/>
                </a:lnTo>
                <a:lnTo>
                  <a:pt x="2388" y="120"/>
                </a:lnTo>
                <a:lnTo>
                  <a:pt x="2406" y="114"/>
                </a:lnTo>
                <a:lnTo>
                  <a:pt x="2430" y="108"/>
                </a:lnTo>
                <a:lnTo>
                  <a:pt x="2454" y="102"/>
                </a:lnTo>
                <a:lnTo>
                  <a:pt x="2484" y="96"/>
                </a:lnTo>
                <a:lnTo>
                  <a:pt x="2514" y="84"/>
                </a:lnTo>
                <a:lnTo>
                  <a:pt x="2544" y="78"/>
                </a:lnTo>
                <a:lnTo>
                  <a:pt x="2562" y="72"/>
                </a:lnTo>
                <a:lnTo>
                  <a:pt x="2586" y="66"/>
                </a:lnTo>
                <a:lnTo>
                  <a:pt x="2610" y="60"/>
                </a:lnTo>
                <a:lnTo>
                  <a:pt x="2634" y="60"/>
                </a:lnTo>
                <a:lnTo>
                  <a:pt x="2652" y="60"/>
                </a:lnTo>
                <a:lnTo>
                  <a:pt x="2670" y="60"/>
                </a:lnTo>
                <a:lnTo>
                  <a:pt x="2706" y="60"/>
                </a:lnTo>
                <a:lnTo>
                  <a:pt x="2730" y="60"/>
                </a:lnTo>
                <a:lnTo>
                  <a:pt x="2766" y="54"/>
                </a:lnTo>
                <a:lnTo>
                  <a:pt x="2802" y="48"/>
                </a:lnTo>
                <a:lnTo>
                  <a:pt x="2826" y="36"/>
                </a:lnTo>
                <a:lnTo>
                  <a:pt x="2844" y="36"/>
                </a:lnTo>
                <a:lnTo>
                  <a:pt x="2862" y="36"/>
                </a:lnTo>
                <a:lnTo>
                  <a:pt x="2892" y="36"/>
                </a:lnTo>
                <a:lnTo>
                  <a:pt x="2910" y="30"/>
                </a:lnTo>
                <a:lnTo>
                  <a:pt x="2940" y="24"/>
                </a:lnTo>
                <a:lnTo>
                  <a:pt x="2958" y="18"/>
                </a:lnTo>
                <a:lnTo>
                  <a:pt x="2988" y="12"/>
                </a:lnTo>
                <a:lnTo>
                  <a:pt x="3018" y="12"/>
                </a:lnTo>
                <a:lnTo>
                  <a:pt x="3036" y="0"/>
                </a:lnTo>
                <a:lnTo>
                  <a:pt x="3036" y="1734"/>
                </a:lnTo>
                <a:lnTo>
                  <a:pt x="0" y="1734"/>
                </a:lnTo>
                <a:lnTo>
                  <a:pt x="0" y="1746"/>
                </a:lnTo>
              </a:path>
            </a:pathLst>
          </a:custGeom>
          <a:solidFill>
            <a:schemeClr val="accent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7107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47108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47109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10" name="Arc 7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1016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47111" name="Object 8"/>
          <p:cNvGraphicFramePr/>
          <p:nvPr/>
        </p:nvGraphicFramePr>
        <p:xfrm>
          <a:off x="3952875" y="3646488"/>
          <a:ext cx="231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1" imgW="1593850" imgH="609600" progId="Equation.2">
                  <p:embed/>
                </p:oleObj>
              </mc:Choice>
              <mc:Fallback>
                <p:oleObj name="" r:id="rId1" imgW="1593850" imgH="609600" progId="Equation.2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75" y="3646488"/>
                        <a:ext cx="231457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2" name="Rectangle 9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7113" name="Object 10"/>
          <p:cNvGraphicFramePr/>
          <p:nvPr/>
        </p:nvGraphicFramePr>
        <p:xfrm>
          <a:off x="6502400" y="2576513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3" imgW="1306195" imgH="287655" progId="Equation.2">
                  <p:embed/>
                </p:oleObj>
              </mc:Choice>
              <mc:Fallback>
                <p:oleObj name="" r:id="rId3" imgW="1306195" imgH="287655" progId="Equation.2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02400" y="2576513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4" name="Object 11"/>
          <p:cNvGraphicFramePr/>
          <p:nvPr/>
        </p:nvGraphicFramePr>
        <p:xfrm>
          <a:off x="2168525" y="5626100"/>
          <a:ext cx="3571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5" imgW="252730" imgH="374650" progId="Equation.2">
                  <p:embed/>
                </p:oleObj>
              </mc:Choice>
              <mc:Fallback>
                <p:oleObj name="" r:id="rId5" imgW="252730" imgH="374650" progId="Equation.2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68525" y="5626100"/>
                        <a:ext cx="357188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5" name="Object 12"/>
          <p:cNvGraphicFramePr/>
          <p:nvPr/>
        </p:nvGraphicFramePr>
        <p:xfrm>
          <a:off x="1027113" y="3968750"/>
          <a:ext cx="3349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7" imgW="243840" imgH="365760" progId="Equation.2">
                  <p:embed/>
                </p:oleObj>
              </mc:Choice>
              <mc:Fallback>
                <p:oleObj name="" r:id="rId7" imgW="243840" imgH="365760" progId="Equation.2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27113" y="3968750"/>
                        <a:ext cx="334962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6" name="Line 13"/>
          <p:cNvSpPr/>
          <p:nvPr/>
        </p:nvSpPr>
        <p:spPr>
          <a:xfrm>
            <a:off x="2295525" y="4294188"/>
            <a:ext cx="0" cy="127000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47117" name="Line 14"/>
          <p:cNvSpPr/>
          <p:nvPr/>
        </p:nvSpPr>
        <p:spPr>
          <a:xfrm flipH="1">
            <a:off x="1454150" y="4302125"/>
            <a:ext cx="8382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47118" name="Oval 15"/>
          <p:cNvSpPr/>
          <p:nvPr/>
        </p:nvSpPr>
        <p:spPr>
          <a:xfrm>
            <a:off x="1370013" y="4237038"/>
            <a:ext cx="128587" cy="128587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19" name="Oval 16"/>
          <p:cNvSpPr/>
          <p:nvPr/>
        </p:nvSpPr>
        <p:spPr>
          <a:xfrm>
            <a:off x="2224088" y="5511800"/>
            <a:ext cx="128587" cy="128588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20" name="Line 17"/>
          <p:cNvSpPr/>
          <p:nvPr/>
        </p:nvSpPr>
        <p:spPr>
          <a:xfrm>
            <a:off x="3460750" y="3573463"/>
            <a:ext cx="0" cy="1990725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47121" name="Line 18"/>
          <p:cNvSpPr/>
          <p:nvPr/>
        </p:nvSpPr>
        <p:spPr>
          <a:xfrm flipH="1">
            <a:off x="1439863" y="3573463"/>
            <a:ext cx="202088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47122" name="Oval 19"/>
          <p:cNvSpPr/>
          <p:nvPr/>
        </p:nvSpPr>
        <p:spPr>
          <a:xfrm>
            <a:off x="3327400" y="3454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23" name="Oval 20"/>
          <p:cNvSpPr/>
          <p:nvPr/>
        </p:nvSpPr>
        <p:spPr>
          <a:xfrm>
            <a:off x="3389313" y="55118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24" name="Oval 21"/>
          <p:cNvSpPr/>
          <p:nvPr/>
        </p:nvSpPr>
        <p:spPr>
          <a:xfrm>
            <a:off x="1370013" y="3492500"/>
            <a:ext cx="128587" cy="128588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25" name="AutoShape 22"/>
          <p:cNvSpPr/>
          <p:nvPr/>
        </p:nvSpPr>
        <p:spPr>
          <a:xfrm>
            <a:off x="2298700" y="5160963"/>
            <a:ext cx="1160463" cy="266700"/>
          </a:xfrm>
          <a:prstGeom prst="leftArrow">
            <a:avLst>
              <a:gd name="adj1" fmla="val 50000"/>
              <a:gd name="adj2" fmla="val 217519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26" name="Oval 30"/>
          <p:cNvSpPr/>
          <p:nvPr/>
        </p:nvSpPr>
        <p:spPr>
          <a:xfrm>
            <a:off x="2176463" y="4173538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27" name="Line 32"/>
          <p:cNvSpPr/>
          <p:nvPr/>
        </p:nvSpPr>
        <p:spPr>
          <a:xfrm flipV="1">
            <a:off x="1435100" y="2193925"/>
            <a:ext cx="3203575" cy="28321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47128" name="Object 33"/>
          <p:cNvGraphicFramePr/>
          <p:nvPr/>
        </p:nvGraphicFramePr>
        <p:xfrm>
          <a:off x="4676775" y="2022475"/>
          <a:ext cx="11080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9" imgW="766445" imgH="217805" progId="Equation.2">
                  <p:embed/>
                </p:oleObj>
              </mc:Choice>
              <mc:Fallback>
                <p:oleObj name="" r:id="rId9" imgW="766445" imgH="217805" progId="Equation.2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76775" y="2022475"/>
                        <a:ext cx="1108075" cy="307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9" name="Object 34"/>
          <p:cNvGraphicFramePr/>
          <p:nvPr/>
        </p:nvGraphicFramePr>
        <p:xfrm>
          <a:off x="4676775" y="1604963"/>
          <a:ext cx="11747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11" imgW="818515" imgH="217805" progId="Equation.2">
                  <p:embed/>
                </p:oleObj>
              </mc:Choice>
              <mc:Fallback>
                <p:oleObj name="" r:id="rId11" imgW="818515" imgH="217805" progId="Equation.2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76775" y="1604963"/>
                        <a:ext cx="117475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0" name="Object 35"/>
          <p:cNvGraphicFramePr/>
          <p:nvPr/>
        </p:nvGraphicFramePr>
        <p:xfrm>
          <a:off x="4672013" y="1200150"/>
          <a:ext cx="12541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3" imgW="879475" imgH="217805" progId="Equation.2">
                  <p:embed/>
                </p:oleObj>
              </mc:Choice>
              <mc:Fallback>
                <p:oleObj name="" r:id="rId13" imgW="879475" imgH="217805" progId="Equation.2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72013" y="1200150"/>
                        <a:ext cx="125412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1" name="Line 36"/>
          <p:cNvSpPr/>
          <p:nvPr/>
        </p:nvSpPr>
        <p:spPr>
          <a:xfrm flipV="1">
            <a:off x="1435100" y="1746250"/>
            <a:ext cx="3190875" cy="2820988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32" name="Line 37"/>
          <p:cNvSpPr/>
          <p:nvPr/>
        </p:nvSpPr>
        <p:spPr>
          <a:xfrm flipV="1">
            <a:off x="1435100" y="1339850"/>
            <a:ext cx="3179763" cy="28114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33" name="AutoShape 29"/>
          <p:cNvSpPr/>
          <p:nvPr/>
        </p:nvSpPr>
        <p:spPr>
          <a:xfrm>
            <a:off x="1647825" y="3565525"/>
            <a:ext cx="320675" cy="736600"/>
          </a:xfrm>
          <a:prstGeom prst="downArrow">
            <a:avLst>
              <a:gd name="adj1" fmla="val 50000"/>
              <a:gd name="adj2" fmla="val 114851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8130" name="Rectangle 3"/>
          <p:cNvSpPr>
            <a:spLocks noGrp="1"/>
          </p:cNvSpPr>
          <p:nvPr>
            <p:ph idx="1"/>
          </p:nvPr>
        </p:nvSpPr>
        <p:spPr>
          <a:xfrm>
            <a:off x="685800" y="1309688"/>
            <a:ext cx="7772400" cy="466725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An increase in 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the price of the firm’s variable input, causes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decrease in the firm’s output level </a:t>
            </a:r>
            <a:r>
              <a:rPr lang="zh-CN" altLang="en-US" dirty="0">
                <a:ea typeface="宋体" panose="02010600030101010101" pitchFamily="2" charset="-122"/>
              </a:rPr>
              <a:t>产出减少</a:t>
            </a:r>
            <a:r>
              <a:rPr lang="en-US" altLang="zh-CN" dirty="0">
                <a:ea typeface="宋体" panose="02010600030101010101" pitchFamily="2" charset="-122"/>
              </a:rPr>
              <a:t>(the firm’s supply curve shifts inward), and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decrease in the level of the firm’s variable input</a:t>
            </a:r>
            <a:r>
              <a:rPr lang="zh-CN" altLang="en-US" dirty="0">
                <a:ea typeface="宋体" panose="02010600030101010101" pitchFamily="2" charset="-122"/>
              </a:rPr>
              <a:t>要素投入减少</a:t>
            </a:r>
            <a:r>
              <a:rPr lang="en-US" altLang="zh-CN" dirty="0">
                <a:ea typeface="宋体" panose="02010600030101010101" pitchFamily="2" charset="-122"/>
              </a:rPr>
              <a:t> (the firm’s demand curve for its variable input slopes downward).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9154" name="Object 3"/>
          <p:cNvGraphicFramePr/>
          <p:nvPr/>
        </p:nvGraphicFramePr>
        <p:xfrm>
          <a:off x="866775" y="3192463"/>
          <a:ext cx="3224213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1" imgW="1976755" imgH="766445" progId="Equation.2">
                  <p:embed/>
                </p:oleObj>
              </mc:Choice>
              <mc:Fallback>
                <p:oleObj name="" r:id="rId1" imgW="1976755" imgH="766445" progId="Equation.2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66775" y="3192463"/>
                        <a:ext cx="3224213" cy="1131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5" name="Rectangle 4"/>
          <p:cNvSpPr/>
          <p:nvPr/>
        </p:nvSpPr>
        <p:spPr>
          <a:xfrm>
            <a:off x="741363" y="1541463"/>
            <a:ext cx="71167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Cobb-Douglas example:   When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6" name="Rectangle 5"/>
          <p:cNvSpPr/>
          <p:nvPr/>
        </p:nvSpPr>
        <p:spPr>
          <a:xfrm>
            <a:off x="741363" y="2127250"/>
            <a:ext cx="726281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then the firm’s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demand for its variable input 1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9157" name="Object 6"/>
          <p:cNvGraphicFramePr/>
          <p:nvPr/>
        </p:nvGraphicFramePr>
        <p:xfrm>
          <a:off x="741363" y="2081213"/>
          <a:ext cx="21177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3" imgW="1263015" imgH="374650" progId="Equation.2">
                  <p:embed/>
                </p:oleObj>
              </mc:Choice>
              <mc:Fallback>
                <p:oleObj name="" r:id="rId3" imgW="1263015" imgH="374650" progId="Equation.2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1363" y="2081213"/>
                        <a:ext cx="211772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7"/>
          <p:cNvGraphicFramePr/>
          <p:nvPr/>
        </p:nvGraphicFramePr>
        <p:xfrm>
          <a:off x="865188" y="4291013"/>
          <a:ext cx="3424237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5" imgW="2046605" imgH="766445" progId="Equation.2">
                  <p:embed/>
                </p:oleObj>
              </mc:Choice>
              <mc:Fallback>
                <p:oleObj name="" r:id="rId5" imgW="2046605" imgH="766445" progId="Equation.2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65188" y="4291013"/>
                        <a:ext cx="3424237" cy="1211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Rectangle 8"/>
          <p:cNvSpPr/>
          <p:nvPr/>
        </p:nvSpPr>
        <p:spPr>
          <a:xfrm>
            <a:off x="4337050" y="3541713"/>
            <a:ext cx="34131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and its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supply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50178" name="Object 3"/>
          <p:cNvGraphicFramePr/>
          <p:nvPr/>
        </p:nvGraphicFramePr>
        <p:xfrm>
          <a:off x="866775" y="3192463"/>
          <a:ext cx="3224213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1" imgW="1976755" imgH="766445" progId="Equation.2">
                  <p:embed/>
                </p:oleObj>
              </mc:Choice>
              <mc:Fallback>
                <p:oleObj name="" r:id="rId1" imgW="1976755" imgH="766445" progId="Equation.2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66775" y="3192463"/>
                        <a:ext cx="3224213" cy="1131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9" name="Rectangle 4"/>
          <p:cNvSpPr/>
          <p:nvPr/>
        </p:nvSpPr>
        <p:spPr>
          <a:xfrm>
            <a:off x="741363" y="1541463"/>
            <a:ext cx="71167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Cobb-Douglas example:   When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0" name="Rectangle 5"/>
          <p:cNvSpPr/>
          <p:nvPr/>
        </p:nvSpPr>
        <p:spPr>
          <a:xfrm>
            <a:off x="741363" y="2127250"/>
            <a:ext cx="726281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then the firm’s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demand for its variable input 1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0181" name="Object 6"/>
          <p:cNvGraphicFramePr/>
          <p:nvPr/>
        </p:nvGraphicFramePr>
        <p:xfrm>
          <a:off x="741363" y="2081213"/>
          <a:ext cx="21177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3" imgW="1263015" imgH="374650" progId="Equation.2">
                  <p:embed/>
                </p:oleObj>
              </mc:Choice>
              <mc:Fallback>
                <p:oleObj name="" r:id="rId3" imgW="1263015" imgH="374650" progId="Equation.2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1363" y="2081213"/>
                        <a:ext cx="211772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7"/>
          <p:cNvGraphicFramePr/>
          <p:nvPr/>
        </p:nvGraphicFramePr>
        <p:xfrm>
          <a:off x="849313" y="5426075"/>
          <a:ext cx="406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5" imgW="252730" imgH="374650" progId="Equation.2">
                  <p:embed/>
                </p:oleObj>
              </mc:Choice>
              <mc:Fallback>
                <p:oleObj name="" r:id="rId5" imgW="252730" imgH="374650" progId="Equation.2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49313" y="5426075"/>
                        <a:ext cx="4064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Rectangle 8"/>
          <p:cNvSpPr/>
          <p:nvPr/>
        </p:nvSpPr>
        <p:spPr>
          <a:xfrm>
            <a:off x="1303338" y="5422900"/>
            <a:ext cx="540543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decreases as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increases.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0184" name="Object 9"/>
          <p:cNvGraphicFramePr/>
          <p:nvPr/>
        </p:nvGraphicFramePr>
        <p:xfrm>
          <a:off x="865188" y="4291013"/>
          <a:ext cx="3424237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7" imgW="2046605" imgH="766445" progId="Equation.2">
                  <p:embed/>
                </p:oleObj>
              </mc:Choice>
              <mc:Fallback>
                <p:oleObj name="" r:id="rId7" imgW="2046605" imgH="766445" progId="Equation.2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65188" y="4291013"/>
                        <a:ext cx="3424237" cy="1211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5" name="Rectangle 10"/>
          <p:cNvSpPr/>
          <p:nvPr/>
        </p:nvSpPr>
        <p:spPr>
          <a:xfrm>
            <a:off x="4337050" y="3541713"/>
            <a:ext cx="34131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and its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supply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Comparative Statics of Short-Run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51202" name="Object 3"/>
          <p:cNvGraphicFramePr/>
          <p:nvPr/>
        </p:nvGraphicFramePr>
        <p:xfrm>
          <a:off x="866775" y="3192463"/>
          <a:ext cx="3224213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1" imgW="1976755" imgH="766445" progId="Equation.2">
                  <p:embed/>
                </p:oleObj>
              </mc:Choice>
              <mc:Fallback>
                <p:oleObj name="" r:id="rId1" imgW="1976755" imgH="766445" progId="Equation.2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66775" y="3192463"/>
                        <a:ext cx="3224213" cy="1131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3" name="Rectangle 4"/>
          <p:cNvSpPr/>
          <p:nvPr/>
        </p:nvSpPr>
        <p:spPr>
          <a:xfrm>
            <a:off x="741363" y="1541463"/>
            <a:ext cx="71167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Cobb-Douglas example:   When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4" name="Rectangle 5"/>
          <p:cNvSpPr/>
          <p:nvPr/>
        </p:nvSpPr>
        <p:spPr>
          <a:xfrm>
            <a:off x="741363" y="2127250"/>
            <a:ext cx="726281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then the firm’s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demand for its variable input 1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1205" name="Object 6"/>
          <p:cNvGraphicFramePr/>
          <p:nvPr/>
        </p:nvGraphicFramePr>
        <p:xfrm>
          <a:off x="741363" y="2081213"/>
          <a:ext cx="21177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3" imgW="1263015" imgH="374650" progId="Equation.2">
                  <p:embed/>
                </p:oleObj>
              </mc:Choice>
              <mc:Fallback>
                <p:oleObj name="" r:id="rId3" imgW="1263015" imgH="374650" progId="Equation.2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1363" y="2081213"/>
                        <a:ext cx="211772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7"/>
          <p:cNvGraphicFramePr/>
          <p:nvPr/>
        </p:nvGraphicFramePr>
        <p:xfrm>
          <a:off x="849313" y="5426075"/>
          <a:ext cx="406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5" imgW="252730" imgH="374650" progId="Equation.2">
                  <p:embed/>
                </p:oleObj>
              </mc:Choice>
              <mc:Fallback>
                <p:oleObj name="" r:id="rId5" imgW="252730" imgH="374650" progId="Equation.2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49313" y="5426075"/>
                        <a:ext cx="4064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7" name="Rectangle 8"/>
          <p:cNvSpPr/>
          <p:nvPr/>
        </p:nvSpPr>
        <p:spPr>
          <a:xfrm>
            <a:off x="1303338" y="5422900"/>
            <a:ext cx="540543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decreases as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increases.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1208" name="Object 9"/>
          <p:cNvGraphicFramePr/>
          <p:nvPr/>
        </p:nvGraphicFramePr>
        <p:xfrm>
          <a:off x="903288" y="5989638"/>
          <a:ext cx="38258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7" imgW="243840" imgH="365760" progId="Equation.2">
                  <p:embed/>
                </p:oleObj>
              </mc:Choice>
              <mc:Fallback>
                <p:oleObj name="" r:id="rId7" imgW="243840" imgH="365760" progId="Equation.2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3288" y="5989638"/>
                        <a:ext cx="382587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Rectangle 10"/>
          <p:cNvSpPr/>
          <p:nvPr/>
        </p:nvSpPr>
        <p:spPr>
          <a:xfrm>
            <a:off x="1279525" y="6018213"/>
            <a:ext cx="5405438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decreases as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increases.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1210" name="Object 11"/>
          <p:cNvGraphicFramePr/>
          <p:nvPr/>
        </p:nvGraphicFramePr>
        <p:xfrm>
          <a:off x="865188" y="4291013"/>
          <a:ext cx="3424237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9" imgW="2046605" imgH="766445" progId="Equation.2">
                  <p:embed/>
                </p:oleObj>
              </mc:Choice>
              <mc:Fallback>
                <p:oleObj name="" r:id="rId9" imgW="2046605" imgH="766445" progId="Equation.2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65188" y="4291013"/>
                        <a:ext cx="3424237" cy="1211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1" name="Rectangle 12"/>
          <p:cNvSpPr/>
          <p:nvPr/>
        </p:nvSpPr>
        <p:spPr>
          <a:xfrm>
            <a:off x="4337050" y="3541713"/>
            <a:ext cx="34131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and its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supply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长期利润最大化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2226" name="Rectangle 3"/>
          <p:cNvSpPr>
            <a:spLocks noGrp="1"/>
          </p:cNvSpPr>
          <p:nvPr>
            <p:ph idx="1"/>
          </p:nvPr>
        </p:nvSpPr>
        <p:spPr>
          <a:xfrm>
            <a:off x="685800" y="1643063"/>
            <a:ext cx="7772400" cy="41529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Now allow the firm to vary both input levels</a:t>
            </a:r>
            <a:r>
              <a:rPr lang="zh-CN" altLang="en-US" dirty="0">
                <a:ea typeface="宋体" panose="02010600030101010101" pitchFamily="2" charset="-122"/>
              </a:rPr>
              <a:t>两个要素都可变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Since no input level is fixed, there are no fixed costs.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5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Both x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and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are variable.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Think of the firm as choosing the production plan that maximizes profits for a given value of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, and then varying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to find the largest possible profit level.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54274" name="Object 3"/>
          <p:cNvGraphicFramePr/>
          <p:nvPr/>
        </p:nvGraphicFramePr>
        <p:xfrm>
          <a:off x="1717675" y="2271713"/>
          <a:ext cx="4430713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1" imgW="2307590" imgH="609600" progId="Equation.2">
                  <p:embed/>
                </p:oleObj>
              </mc:Choice>
              <mc:Fallback>
                <p:oleObj name="" r:id="rId1" imgW="2307590" imgH="609600" progId="Equation.2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17675" y="2271713"/>
                        <a:ext cx="4430713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5" name="Rectangle 4"/>
          <p:cNvSpPr/>
          <p:nvPr/>
        </p:nvSpPr>
        <p:spPr>
          <a:xfrm>
            <a:off x="598488" y="1589088"/>
            <a:ext cx="797877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equation of a long-run iso-profit line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76" name="Rectangle 5"/>
          <p:cNvSpPr/>
          <p:nvPr/>
        </p:nvSpPr>
        <p:spPr>
          <a:xfrm>
            <a:off x="693738" y="3684588"/>
            <a:ext cx="8450262" cy="206216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so an increase in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causes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--  no change to the slope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斜率不变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and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--  an increase in the vertical intercept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纵截距增加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5298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55299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55300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01" name="Rectangle 7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5302" name="Object 9"/>
          <p:cNvGraphicFramePr/>
          <p:nvPr/>
        </p:nvGraphicFramePr>
        <p:xfrm>
          <a:off x="6526213" y="3576638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1" imgW="1306195" imgH="287655" progId="Equation.2">
                  <p:embed/>
                </p:oleObj>
              </mc:Choice>
              <mc:Fallback>
                <p:oleObj name="" r:id="rId1" imgW="1306195" imgH="287655" progId="Equation.2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26213" y="3576638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Arc 10"/>
          <p:cNvSpPr/>
          <p:nvPr/>
        </p:nvSpPr>
        <p:spPr>
          <a:xfrm rot="10500000">
            <a:off x="1428750" y="3949700"/>
            <a:ext cx="5380038" cy="191928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0741" h="21561" fill="none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</a:path>
              <a:path w="20741" h="21561" stroke="0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  <a:lnTo>
                  <a:pt x="0" y="0"/>
                </a:lnTo>
                <a:lnTo>
                  <a:pt x="20741" y="6030"/>
                </a:lnTo>
                <a:close/>
              </a:path>
            </a:pathLst>
          </a:custGeom>
          <a:noFill/>
          <a:ln w="508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6322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56323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56324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25" name="Rectangle 6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6326" name="Object 7"/>
          <p:cNvGraphicFramePr/>
          <p:nvPr/>
        </p:nvGraphicFramePr>
        <p:xfrm>
          <a:off x="6532563" y="2590800"/>
          <a:ext cx="22431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1" imgW="1419225" imgH="287655" progId="Equation.2">
                  <p:embed/>
                </p:oleObj>
              </mc:Choice>
              <mc:Fallback>
                <p:oleObj name="" r:id="rId1" imgW="1419225" imgH="287655" progId="Equation.2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32563" y="2590800"/>
                        <a:ext cx="2243137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8"/>
          <p:cNvGraphicFramePr/>
          <p:nvPr/>
        </p:nvGraphicFramePr>
        <p:xfrm>
          <a:off x="6526213" y="3576638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3" imgW="1306195" imgH="287655" progId="Equation.2">
                  <p:embed/>
                </p:oleObj>
              </mc:Choice>
              <mc:Fallback>
                <p:oleObj name="" r:id="rId3" imgW="1306195" imgH="287655" progId="Equation.2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26213" y="3576638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9"/>
          <p:cNvGraphicFramePr/>
          <p:nvPr/>
        </p:nvGraphicFramePr>
        <p:xfrm>
          <a:off x="6538913" y="2124075"/>
          <a:ext cx="23050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5" imgW="1471930" imgH="287655" progId="Equation.2">
                  <p:embed/>
                </p:oleObj>
              </mc:Choice>
              <mc:Fallback>
                <p:oleObj name="" r:id="rId5" imgW="1471930" imgH="287655" progId="Equation.2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38913" y="2124075"/>
                        <a:ext cx="230505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9" name="Rectangle 10"/>
          <p:cNvSpPr/>
          <p:nvPr/>
        </p:nvSpPr>
        <p:spPr>
          <a:xfrm>
            <a:off x="431800" y="5732463"/>
            <a:ext cx="711835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Larger levels of input 2 increase the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productivity of input 1.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30" name="Line 11"/>
          <p:cNvSpPr/>
          <p:nvPr/>
        </p:nvSpPr>
        <p:spPr>
          <a:xfrm flipV="1">
            <a:off x="2928938" y="2428875"/>
            <a:ext cx="0" cy="31432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6331" name="Line 12"/>
          <p:cNvSpPr/>
          <p:nvPr/>
        </p:nvSpPr>
        <p:spPr>
          <a:xfrm flipV="1">
            <a:off x="4595813" y="2095500"/>
            <a:ext cx="0" cy="34766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6332" name="Line 13"/>
          <p:cNvSpPr/>
          <p:nvPr/>
        </p:nvSpPr>
        <p:spPr>
          <a:xfrm rot="62753" flipV="1">
            <a:off x="2479675" y="4332288"/>
            <a:ext cx="850900" cy="390525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33" name="Line 14"/>
          <p:cNvSpPr/>
          <p:nvPr/>
        </p:nvSpPr>
        <p:spPr>
          <a:xfrm flipV="1">
            <a:off x="2465388" y="3298825"/>
            <a:ext cx="836612" cy="649288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34" name="Line 15"/>
          <p:cNvSpPr/>
          <p:nvPr/>
        </p:nvSpPr>
        <p:spPr>
          <a:xfrm rot="-77561" flipV="1">
            <a:off x="4152900" y="3895725"/>
            <a:ext cx="866775" cy="187325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35" name="Line 16"/>
          <p:cNvSpPr/>
          <p:nvPr/>
        </p:nvSpPr>
        <p:spPr>
          <a:xfrm flipV="1">
            <a:off x="4124325" y="2540000"/>
            <a:ext cx="881063" cy="315913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36" name="Arc 17"/>
          <p:cNvSpPr/>
          <p:nvPr/>
        </p:nvSpPr>
        <p:spPr>
          <a:xfrm rot="10500000">
            <a:off x="1428750" y="3949700"/>
            <a:ext cx="5380038" cy="191928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0741" h="21561" fill="none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</a:path>
              <a:path w="20741" h="21561" stroke="0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  <a:lnTo>
                  <a:pt x="0" y="0"/>
                </a:lnTo>
                <a:lnTo>
                  <a:pt x="20741" y="6030"/>
                </a:lnTo>
                <a:close/>
              </a:path>
            </a:pathLst>
          </a:custGeom>
          <a:noFill/>
          <a:ln w="508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6337" name="Arc 18"/>
          <p:cNvSpPr/>
          <p:nvPr/>
        </p:nvSpPr>
        <p:spPr>
          <a:xfrm rot="10500000">
            <a:off x="1398588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508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6338" name="Arc 19"/>
          <p:cNvSpPr/>
          <p:nvPr/>
        </p:nvSpPr>
        <p:spPr>
          <a:xfrm rot="10500000">
            <a:off x="1387475" y="2559050"/>
            <a:ext cx="5276850" cy="40687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0470" h="21600" fill="none">
                <a:moveTo>
                  <a:pt x="20469" y="6894"/>
                </a:moveTo>
                <a:cubicBezTo>
                  <a:pt x="17520" y="15650"/>
                  <a:pt x="9330" y="21560"/>
                  <a:pt x="91" y="21599"/>
                </a:cubicBezTo>
              </a:path>
              <a:path w="20470" h="21600" stroke="0">
                <a:moveTo>
                  <a:pt x="20469" y="6894"/>
                </a:moveTo>
                <a:cubicBezTo>
                  <a:pt x="17520" y="15650"/>
                  <a:pt x="9330" y="21560"/>
                  <a:pt x="91" y="21599"/>
                </a:cubicBezTo>
                <a:lnTo>
                  <a:pt x="0" y="0"/>
                </a:lnTo>
                <a:lnTo>
                  <a:pt x="20469" y="6894"/>
                </a:lnTo>
                <a:close/>
              </a:path>
            </a:pathLst>
          </a:custGeom>
          <a:noFill/>
          <a:ln w="50800" cap="rnd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7346" name="Line 3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57347" name="Rectangle 4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48" name="Rectangle 5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7349" name="Object 6"/>
          <p:cNvGraphicFramePr/>
          <p:nvPr/>
        </p:nvGraphicFramePr>
        <p:xfrm>
          <a:off x="6532563" y="2590800"/>
          <a:ext cx="22431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1" imgW="1419225" imgH="287655" progId="Equation.2">
                  <p:embed/>
                </p:oleObj>
              </mc:Choice>
              <mc:Fallback>
                <p:oleObj name="" r:id="rId1" imgW="1419225" imgH="287655" progId="Equation.2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32563" y="2590800"/>
                        <a:ext cx="2243137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7"/>
          <p:cNvGraphicFramePr/>
          <p:nvPr/>
        </p:nvGraphicFramePr>
        <p:xfrm>
          <a:off x="6526213" y="3576638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3" imgW="1306195" imgH="287655" progId="Equation.2">
                  <p:embed/>
                </p:oleObj>
              </mc:Choice>
              <mc:Fallback>
                <p:oleObj name="" r:id="rId3" imgW="1306195" imgH="287655" progId="Equation.2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26213" y="3576638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8"/>
          <p:cNvGraphicFramePr/>
          <p:nvPr/>
        </p:nvGraphicFramePr>
        <p:xfrm>
          <a:off x="6538913" y="2124075"/>
          <a:ext cx="23050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5" imgW="1471930" imgH="287655" progId="Equation.2">
                  <p:embed/>
                </p:oleObj>
              </mc:Choice>
              <mc:Fallback>
                <p:oleObj name="" r:id="rId5" imgW="1471930" imgH="287655" progId="Equation.2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38913" y="2124075"/>
                        <a:ext cx="230505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2" name="Rectangle 9"/>
          <p:cNvSpPr/>
          <p:nvPr/>
        </p:nvSpPr>
        <p:spPr>
          <a:xfrm>
            <a:off x="431800" y="5732463"/>
            <a:ext cx="711835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Larger levels of input 2 increase the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productivity of input 1.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53" name="Line 10"/>
          <p:cNvSpPr/>
          <p:nvPr/>
        </p:nvSpPr>
        <p:spPr>
          <a:xfrm flipV="1">
            <a:off x="2928938" y="2428875"/>
            <a:ext cx="0" cy="31432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7354" name="Line 11"/>
          <p:cNvSpPr/>
          <p:nvPr/>
        </p:nvSpPr>
        <p:spPr>
          <a:xfrm flipV="1">
            <a:off x="4595813" y="2095500"/>
            <a:ext cx="0" cy="34766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7355" name="Rectangle 12"/>
          <p:cNvSpPr/>
          <p:nvPr/>
        </p:nvSpPr>
        <p:spPr>
          <a:xfrm>
            <a:off x="4718050" y="4065588"/>
            <a:ext cx="4338638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marginal product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of input 2 is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diminishing.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56" name="Arc 13"/>
          <p:cNvSpPr/>
          <p:nvPr/>
        </p:nvSpPr>
        <p:spPr>
          <a:xfrm rot="10500000">
            <a:off x="1428750" y="3949700"/>
            <a:ext cx="5380038" cy="191928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0741" h="21561" fill="none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</a:path>
              <a:path w="20741" h="21561" stroke="0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  <a:lnTo>
                  <a:pt x="0" y="0"/>
                </a:lnTo>
                <a:lnTo>
                  <a:pt x="20741" y="6030"/>
                </a:lnTo>
                <a:close/>
              </a:path>
            </a:pathLst>
          </a:custGeom>
          <a:noFill/>
          <a:ln w="508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7357" name="Arc 14"/>
          <p:cNvSpPr/>
          <p:nvPr/>
        </p:nvSpPr>
        <p:spPr>
          <a:xfrm rot="10500000">
            <a:off x="1398588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508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7358" name="Arc 15"/>
          <p:cNvSpPr/>
          <p:nvPr/>
        </p:nvSpPr>
        <p:spPr>
          <a:xfrm rot="10500000">
            <a:off x="1387475" y="2559050"/>
            <a:ext cx="5276850" cy="40687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0470" h="21600" fill="none">
                <a:moveTo>
                  <a:pt x="20469" y="6894"/>
                </a:moveTo>
                <a:cubicBezTo>
                  <a:pt x="17520" y="15650"/>
                  <a:pt x="9330" y="21560"/>
                  <a:pt x="91" y="21599"/>
                </a:cubicBezTo>
              </a:path>
              <a:path w="20470" h="21600" stroke="0">
                <a:moveTo>
                  <a:pt x="20469" y="6894"/>
                </a:moveTo>
                <a:cubicBezTo>
                  <a:pt x="17520" y="15650"/>
                  <a:pt x="9330" y="21560"/>
                  <a:pt x="91" y="21599"/>
                </a:cubicBezTo>
                <a:lnTo>
                  <a:pt x="0" y="0"/>
                </a:lnTo>
                <a:lnTo>
                  <a:pt x="20469" y="6894"/>
                </a:lnTo>
                <a:close/>
              </a:path>
            </a:pathLst>
          </a:custGeom>
          <a:noFill/>
          <a:ln w="50800" cap="rnd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7359" name="Line 20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57360" name="AutoShape 22"/>
          <p:cNvSpPr/>
          <p:nvPr/>
        </p:nvSpPr>
        <p:spPr>
          <a:xfrm>
            <a:off x="4476750" y="2743200"/>
            <a:ext cx="261938" cy="390525"/>
          </a:xfrm>
          <a:prstGeom prst="upArrow">
            <a:avLst>
              <a:gd name="adj1" fmla="val 50000"/>
              <a:gd name="adj2" fmla="val 74531"/>
            </a:avLst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61" name="AutoShape 24"/>
          <p:cNvSpPr/>
          <p:nvPr/>
        </p:nvSpPr>
        <p:spPr>
          <a:xfrm>
            <a:off x="2803525" y="3636963"/>
            <a:ext cx="261938" cy="276225"/>
          </a:xfrm>
          <a:prstGeom prst="upArrow">
            <a:avLst>
              <a:gd name="adj1" fmla="val 50000"/>
              <a:gd name="adj2" fmla="val 52717"/>
            </a:avLst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62" name="Line 25"/>
          <p:cNvSpPr/>
          <p:nvPr/>
        </p:nvSpPr>
        <p:spPr>
          <a:xfrm rot="62753" flipV="1">
            <a:off x="2479675" y="4332288"/>
            <a:ext cx="850900" cy="390525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63" name="Line 26"/>
          <p:cNvSpPr/>
          <p:nvPr/>
        </p:nvSpPr>
        <p:spPr>
          <a:xfrm flipV="1">
            <a:off x="2465388" y="3298825"/>
            <a:ext cx="836612" cy="649288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64" name="Line 27"/>
          <p:cNvSpPr/>
          <p:nvPr/>
        </p:nvSpPr>
        <p:spPr>
          <a:xfrm rot="-77561" flipV="1">
            <a:off x="4152900" y="3895725"/>
            <a:ext cx="866775" cy="187325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65" name="Line 28"/>
          <p:cNvSpPr/>
          <p:nvPr/>
        </p:nvSpPr>
        <p:spPr>
          <a:xfrm flipV="1">
            <a:off x="4124325" y="2540000"/>
            <a:ext cx="881063" cy="315913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66" name="AutoShape 21"/>
          <p:cNvSpPr/>
          <p:nvPr/>
        </p:nvSpPr>
        <p:spPr>
          <a:xfrm>
            <a:off x="4462463" y="3175000"/>
            <a:ext cx="276225" cy="882650"/>
          </a:xfrm>
          <a:prstGeom prst="upArrow">
            <a:avLst>
              <a:gd name="adj1" fmla="val 50000"/>
              <a:gd name="adj2" fmla="val 159740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67" name="AutoShape 23"/>
          <p:cNvSpPr/>
          <p:nvPr/>
        </p:nvSpPr>
        <p:spPr>
          <a:xfrm>
            <a:off x="2803525" y="3925888"/>
            <a:ext cx="261938" cy="650875"/>
          </a:xfrm>
          <a:prstGeom prst="upArrow">
            <a:avLst>
              <a:gd name="adj1" fmla="val 50000"/>
              <a:gd name="adj2" fmla="val 124219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8370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58371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58372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73" name="Rectangle 6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8374" name="Object 7"/>
          <p:cNvGraphicFramePr/>
          <p:nvPr/>
        </p:nvGraphicFramePr>
        <p:xfrm>
          <a:off x="6532563" y="2590800"/>
          <a:ext cx="22431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1" imgW="1419225" imgH="287655" progId="Equation.2">
                  <p:embed/>
                </p:oleObj>
              </mc:Choice>
              <mc:Fallback>
                <p:oleObj name="" r:id="rId1" imgW="1419225" imgH="287655" progId="Equation.2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32563" y="2590800"/>
                        <a:ext cx="2243137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5" name="Object 8"/>
          <p:cNvGraphicFramePr/>
          <p:nvPr/>
        </p:nvGraphicFramePr>
        <p:xfrm>
          <a:off x="6526213" y="3576638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3" imgW="1306195" imgH="287655" progId="Equation.2">
                  <p:embed/>
                </p:oleObj>
              </mc:Choice>
              <mc:Fallback>
                <p:oleObj name="" r:id="rId3" imgW="1306195" imgH="287655" progId="Equation.2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26213" y="3576638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6" name="Object 9"/>
          <p:cNvGraphicFramePr/>
          <p:nvPr/>
        </p:nvGraphicFramePr>
        <p:xfrm>
          <a:off x="6538913" y="2124075"/>
          <a:ext cx="23050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5" imgW="1471930" imgH="287655" progId="Equation.2">
                  <p:embed/>
                </p:oleObj>
              </mc:Choice>
              <mc:Fallback>
                <p:oleObj name="" r:id="rId5" imgW="1471930" imgH="287655" progId="Equation.2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38913" y="2124075"/>
                        <a:ext cx="230505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Rectangle 10"/>
          <p:cNvSpPr/>
          <p:nvPr/>
        </p:nvSpPr>
        <p:spPr>
          <a:xfrm>
            <a:off x="431800" y="5732463"/>
            <a:ext cx="711835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Larger levels of input 2 increase the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productivity of input 1.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78" name="Rectangle 11"/>
          <p:cNvSpPr/>
          <p:nvPr/>
        </p:nvSpPr>
        <p:spPr>
          <a:xfrm>
            <a:off x="4718050" y="4065588"/>
            <a:ext cx="4338638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marginal product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of input 2 is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diminishing.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79" name="Arc 12"/>
          <p:cNvSpPr/>
          <p:nvPr/>
        </p:nvSpPr>
        <p:spPr>
          <a:xfrm rot="10500000">
            <a:off x="1428750" y="3949700"/>
            <a:ext cx="5380038" cy="191928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0741" h="21561" fill="none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</a:path>
              <a:path w="20741" h="21561" stroke="0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  <a:lnTo>
                  <a:pt x="0" y="0"/>
                </a:lnTo>
                <a:lnTo>
                  <a:pt x="20741" y="6030"/>
                </a:lnTo>
                <a:close/>
              </a:path>
            </a:pathLst>
          </a:custGeom>
          <a:noFill/>
          <a:ln w="508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8380" name="Arc 13"/>
          <p:cNvSpPr/>
          <p:nvPr/>
        </p:nvSpPr>
        <p:spPr>
          <a:xfrm rot="10500000">
            <a:off x="1398588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508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8381" name="Arc 14"/>
          <p:cNvSpPr/>
          <p:nvPr/>
        </p:nvSpPr>
        <p:spPr>
          <a:xfrm rot="10500000">
            <a:off x="1387475" y="2559050"/>
            <a:ext cx="5276850" cy="40687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0470" h="21600" fill="none">
                <a:moveTo>
                  <a:pt x="20469" y="6894"/>
                </a:moveTo>
                <a:cubicBezTo>
                  <a:pt x="17520" y="15650"/>
                  <a:pt x="9330" y="21560"/>
                  <a:pt x="91" y="21599"/>
                </a:cubicBezTo>
              </a:path>
              <a:path w="20470" h="21600" stroke="0">
                <a:moveTo>
                  <a:pt x="20469" y="6894"/>
                </a:moveTo>
                <a:cubicBezTo>
                  <a:pt x="17520" y="15650"/>
                  <a:pt x="9330" y="21560"/>
                  <a:pt x="91" y="21599"/>
                </a:cubicBezTo>
                <a:lnTo>
                  <a:pt x="0" y="0"/>
                </a:lnTo>
                <a:lnTo>
                  <a:pt x="20469" y="6894"/>
                </a:lnTo>
                <a:close/>
              </a:path>
            </a:pathLst>
          </a:custGeom>
          <a:noFill/>
          <a:ln w="50800" cap="rnd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Long-Run Profit-Maximization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59394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59395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59396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397" name="Rectangle 6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9398" name="Object 7"/>
          <p:cNvGraphicFramePr/>
          <p:nvPr/>
        </p:nvGraphicFramePr>
        <p:xfrm>
          <a:off x="6532563" y="2590800"/>
          <a:ext cx="22431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1" imgW="1419225" imgH="287655" progId="Equation.2">
                  <p:embed/>
                </p:oleObj>
              </mc:Choice>
              <mc:Fallback>
                <p:oleObj name="" r:id="rId1" imgW="1419225" imgH="287655" progId="Equation.2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32563" y="2590800"/>
                        <a:ext cx="2243137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8"/>
          <p:cNvGraphicFramePr/>
          <p:nvPr/>
        </p:nvGraphicFramePr>
        <p:xfrm>
          <a:off x="6526213" y="3576638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3" imgW="1306195" imgH="287655" progId="Equation.2">
                  <p:embed/>
                </p:oleObj>
              </mc:Choice>
              <mc:Fallback>
                <p:oleObj name="" r:id="rId3" imgW="1306195" imgH="287655" progId="Equation.2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26213" y="3576638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0" name="Object 9"/>
          <p:cNvGraphicFramePr/>
          <p:nvPr/>
        </p:nvGraphicFramePr>
        <p:xfrm>
          <a:off x="6538913" y="2124075"/>
          <a:ext cx="23050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5" imgW="1471930" imgH="287655" progId="Equation.2">
                  <p:embed/>
                </p:oleObj>
              </mc:Choice>
              <mc:Fallback>
                <p:oleObj name="" r:id="rId5" imgW="1471930" imgH="287655" progId="Equation.2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38913" y="2124075"/>
                        <a:ext cx="230505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1" name="Arc 10"/>
          <p:cNvSpPr/>
          <p:nvPr/>
        </p:nvSpPr>
        <p:spPr>
          <a:xfrm rot="10500000">
            <a:off x="1428750" y="3949700"/>
            <a:ext cx="5380038" cy="191928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0741" h="21561" fill="none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</a:path>
              <a:path w="20741" h="21561" stroke="0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  <a:lnTo>
                  <a:pt x="0" y="0"/>
                </a:lnTo>
                <a:lnTo>
                  <a:pt x="20741" y="6030"/>
                </a:lnTo>
                <a:close/>
              </a:path>
            </a:pathLst>
          </a:custGeom>
          <a:noFill/>
          <a:ln w="508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9402" name="Arc 11"/>
          <p:cNvSpPr/>
          <p:nvPr/>
        </p:nvSpPr>
        <p:spPr>
          <a:xfrm rot="10500000">
            <a:off x="1398588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508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9403" name="Arc 12"/>
          <p:cNvSpPr/>
          <p:nvPr/>
        </p:nvSpPr>
        <p:spPr>
          <a:xfrm rot="10500000">
            <a:off x="1387475" y="2559050"/>
            <a:ext cx="5276850" cy="40687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0470" h="21600" fill="none">
                <a:moveTo>
                  <a:pt x="20469" y="6894"/>
                </a:moveTo>
                <a:cubicBezTo>
                  <a:pt x="17520" y="15650"/>
                  <a:pt x="9330" y="21560"/>
                  <a:pt x="91" y="21599"/>
                </a:cubicBezTo>
              </a:path>
              <a:path w="20470" h="21600" stroke="0">
                <a:moveTo>
                  <a:pt x="20469" y="6894"/>
                </a:moveTo>
                <a:cubicBezTo>
                  <a:pt x="17520" y="15650"/>
                  <a:pt x="9330" y="21560"/>
                  <a:pt x="91" y="21599"/>
                </a:cubicBezTo>
                <a:lnTo>
                  <a:pt x="0" y="0"/>
                </a:lnTo>
                <a:lnTo>
                  <a:pt x="20469" y="6894"/>
                </a:lnTo>
                <a:close/>
              </a:path>
            </a:pathLst>
          </a:custGeom>
          <a:noFill/>
          <a:ln w="50800" cap="rnd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9404" name="Line 13"/>
          <p:cNvSpPr/>
          <p:nvPr/>
        </p:nvSpPr>
        <p:spPr>
          <a:xfrm flipV="1">
            <a:off x="1435100" y="2930525"/>
            <a:ext cx="4522788" cy="2376488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05" name="Line 14"/>
          <p:cNvSpPr/>
          <p:nvPr/>
        </p:nvSpPr>
        <p:spPr>
          <a:xfrm flipV="1">
            <a:off x="1435100" y="2225675"/>
            <a:ext cx="4551363" cy="2392363"/>
          </a:xfrm>
          <a:prstGeom prst="line">
            <a:avLst/>
          </a:prstGeom>
          <a:ln w="25400" cap="flat" cmpd="sng">
            <a:solidFill>
              <a:srgbClr val="5AFF2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06" name="Line 15"/>
          <p:cNvSpPr/>
          <p:nvPr/>
        </p:nvSpPr>
        <p:spPr>
          <a:xfrm flipV="1">
            <a:off x="1435100" y="1908175"/>
            <a:ext cx="4522788" cy="237648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07" name="Line 16"/>
          <p:cNvSpPr/>
          <p:nvPr/>
        </p:nvSpPr>
        <p:spPr>
          <a:xfrm>
            <a:off x="2490788" y="4737100"/>
            <a:ext cx="0" cy="8255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9408" name="Line 17"/>
          <p:cNvSpPr/>
          <p:nvPr/>
        </p:nvSpPr>
        <p:spPr>
          <a:xfrm flipH="1">
            <a:off x="1447800" y="4737100"/>
            <a:ext cx="10287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9409" name="Line 18"/>
          <p:cNvSpPr/>
          <p:nvPr/>
        </p:nvSpPr>
        <p:spPr>
          <a:xfrm>
            <a:off x="3403600" y="3606800"/>
            <a:ext cx="0" cy="25082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9410" name="Line 19"/>
          <p:cNvSpPr/>
          <p:nvPr/>
        </p:nvSpPr>
        <p:spPr>
          <a:xfrm flipH="1">
            <a:off x="1460500" y="3619500"/>
            <a:ext cx="1981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9411" name="Line 20"/>
          <p:cNvSpPr/>
          <p:nvPr/>
        </p:nvSpPr>
        <p:spPr>
          <a:xfrm>
            <a:off x="3771900" y="3086100"/>
            <a:ext cx="0" cy="24765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9412" name="Line 21"/>
          <p:cNvSpPr/>
          <p:nvPr/>
        </p:nvSpPr>
        <p:spPr>
          <a:xfrm flipH="1">
            <a:off x="1447800" y="3086100"/>
            <a:ext cx="23241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9413" name="Oval 22"/>
          <p:cNvSpPr/>
          <p:nvPr/>
        </p:nvSpPr>
        <p:spPr>
          <a:xfrm>
            <a:off x="2349500" y="4597400"/>
            <a:ext cx="266700" cy="266700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14" name="Oval 23"/>
          <p:cNvSpPr/>
          <p:nvPr/>
        </p:nvSpPr>
        <p:spPr>
          <a:xfrm>
            <a:off x="3644900" y="2946400"/>
            <a:ext cx="266700" cy="266700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15" name="Oval 24"/>
          <p:cNvSpPr/>
          <p:nvPr/>
        </p:nvSpPr>
        <p:spPr>
          <a:xfrm>
            <a:off x="3276600" y="3467100"/>
            <a:ext cx="266700" cy="266700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16" name="Oval 25"/>
          <p:cNvSpPr/>
          <p:nvPr/>
        </p:nvSpPr>
        <p:spPr>
          <a:xfrm>
            <a:off x="2400300" y="5473700"/>
            <a:ext cx="165100" cy="16510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17" name="Oval 26"/>
          <p:cNvSpPr/>
          <p:nvPr/>
        </p:nvSpPr>
        <p:spPr>
          <a:xfrm>
            <a:off x="1371600" y="4648200"/>
            <a:ext cx="165100" cy="16510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18" name="Oval 27"/>
          <p:cNvSpPr/>
          <p:nvPr/>
        </p:nvSpPr>
        <p:spPr>
          <a:xfrm>
            <a:off x="3333750" y="5473700"/>
            <a:ext cx="165100" cy="165100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19" name="Oval 28"/>
          <p:cNvSpPr/>
          <p:nvPr/>
        </p:nvSpPr>
        <p:spPr>
          <a:xfrm>
            <a:off x="3683000" y="5473700"/>
            <a:ext cx="165100" cy="1651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20" name="Oval 29"/>
          <p:cNvSpPr/>
          <p:nvPr/>
        </p:nvSpPr>
        <p:spPr>
          <a:xfrm>
            <a:off x="1358900" y="2997200"/>
            <a:ext cx="165100" cy="1651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21" name="Oval 30"/>
          <p:cNvSpPr/>
          <p:nvPr/>
        </p:nvSpPr>
        <p:spPr>
          <a:xfrm>
            <a:off x="1358900" y="3517900"/>
            <a:ext cx="165100" cy="165100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9422" name="Object 31"/>
          <p:cNvGraphicFramePr/>
          <p:nvPr/>
        </p:nvGraphicFramePr>
        <p:xfrm>
          <a:off x="247650" y="4406900"/>
          <a:ext cx="10858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7" imgW="731520" imgH="374650" progId="Equation.2">
                  <p:embed/>
                </p:oleObj>
              </mc:Choice>
              <mc:Fallback>
                <p:oleObj name="" r:id="rId7" imgW="731520" imgH="374650" progId="Equation.2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7650" y="4406900"/>
                        <a:ext cx="1085850" cy="531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3" name="Object 32"/>
          <p:cNvGraphicFramePr/>
          <p:nvPr/>
        </p:nvGraphicFramePr>
        <p:xfrm>
          <a:off x="1873250" y="5618163"/>
          <a:ext cx="10525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9" imgW="731520" imgH="374650" progId="Equation.2">
                  <p:embed/>
                </p:oleObj>
              </mc:Choice>
              <mc:Fallback>
                <p:oleObj name="" r:id="rId9" imgW="731520" imgH="374650" progId="Equation.2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73250" y="5618163"/>
                        <a:ext cx="1052513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4" name="Object 33"/>
          <p:cNvGraphicFramePr/>
          <p:nvPr/>
        </p:nvGraphicFramePr>
        <p:xfrm>
          <a:off x="2751138" y="6027738"/>
          <a:ext cx="12303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11" imgW="862330" imgH="374650" progId="Equation.2">
                  <p:embed/>
                </p:oleObj>
              </mc:Choice>
              <mc:Fallback>
                <p:oleObj name="" r:id="rId11" imgW="862330" imgH="374650" progId="Equation.2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51138" y="6027738"/>
                        <a:ext cx="1230312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5" name="Object 34"/>
          <p:cNvGraphicFramePr/>
          <p:nvPr/>
        </p:nvGraphicFramePr>
        <p:xfrm>
          <a:off x="3570288" y="5627688"/>
          <a:ext cx="12303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13" imgW="862330" imgH="374650" progId="Equation.2">
                  <p:embed/>
                </p:oleObj>
              </mc:Choice>
              <mc:Fallback>
                <p:oleObj name="" r:id="rId13" imgW="862330" imgH="374650" progId="Equation.2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70288" y="5627688"/>
                        <a:ext cx="1230312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6" name="Object 35"/>
          <p:cNvGraphicFramePr/>
          <p:nvPr/>
        </p:nvGraphicFramePr>
        <p:xfrm>
          <a:off x="80963" y="3282950"/>
          <a:ext cx="12573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15" imgW="853440" imgH="374650" progId="Equation.2">
                  <p:embed/>
                </p:oleObj>
              </mc:Choice>
              <mc:Fallback>
                <p:oleObj name="" r:id="rId15" imgW="853440" imgH="374650" progId="Equation.2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0963" y="3282950"/>
                        <a:ext cx="12573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7" name="Object 36"/>
          <p:cNvGraphicFramePr/>
          <p:nvPr/>
        </p:nvGraphicFramePr>
        <p:xfrm>
          <a:off x="80963" y="2749550"/>
          <a:ext cx="12573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17" imgW="853440" imgH="374650" progId="Equation.2">
                  <p:embed/>
                </p:oleObj>
              </mc:Choice>
              <mc:Fallback>
                <p:oleObj name="" r:id="rId17" imgW="853440" imgH="374650" progId="Equation.2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0963" y="2749550"/>
                        <a:ext cx="12573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8" name="Object 37"/>
          <p:cNvGraphicFramePr/>
          <p:nvPr/>
        </p:nvGraphicFramePr>
        <p:xfrm>
          <a:off x="1889125" y="1276350"/>
          <a:ext cx="29194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19" imgW="1767840" imgH="287655" progId="Equation.2">
                  <p:embed/>
                </p:oleObj>
              </mc:Choice>
              <mc:Fallback>
                <p:oleObj name="" r:id="rId19" imgW="1767840" imgH="287655" progId="Equation.2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89125" y="1276350"/>
                        <a:ext cx="2919413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29" name="Rectangle 38"/>
          <p:cNvSpPr/>
          <p:nvPr/>
        </p:nvSpPr>
        <p:spPr>
          <a:xfrm>
            <a:off x="1860550" y="1236663"/>
            <a:ext cx="7283450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for each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production plan.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Long-Run Profit-Maximization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60418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0419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0420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21" name="Rectangle 6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0422" name="Object 7"/>
          <p:cNvGraphicFramePr/>
          <p:nvPr/>
        </p:nvGraphicFramePr>
        <p:xfrm>
          <a:off x="6532563" y="2590800"/>
          <a:ext cx="22431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1" imgW="1419225" imgH="287655" progId="Equation.2">
                  <p:embed/>
                </p:oleObj>
              </mc:Choice>
              <mc:Fallback>
                <p:oleObj name="" r:id="rId1" imgW="1419225" imgH="287655" progId="Equation.2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32563" y="2590800"/>
                        <a:ext cx="2243137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8"/>
          <p:cNvGraphicFramePr/>
          <p:nvPr/>
        </p:nvGraphicFramePr>
        <p:xfrm>
          <a:off x="6526213" y="3576638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" r:id="rId3" imgW="1306195" imgH="287655" progId="Equation.2">
                  <p:embed/>
                </p:oleObj>
              </mc:Choice>
              <mc:Fallback>
                <p:oleObj name="" r:id="rId3" imgW="1306195" imgH="287655" progId="Equation.2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26213" y="3576638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9"/>
          <p:cNvGraphicFramePr/>
          <p:nvPr/>
        </p:nvGraphicFramePr>
        <p:xfrm>
          <a:off x="6538913" y="2124075"/>
          <a:ext cx="23050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5" imgW="1471930" imgH="287655" progId="Equation.2">
                  <p:embed/>
                </p:oleObj>
              </mc:Choice>
              <mc:Fallback>
                <p:oleObj name="" r:id="rId5" imgW="1471930" imgH="287655" progId="Equation.2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38913" y="2124075"/>
                        <a:ext cx="230505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5" name="Rectangle 10"/>
          <p:cNvSpPr/>
          <p:nvPr/>
        </p:nvSpPr>
        <p:spPr>
          <a:xfrm>
            <a:off x="4718050" y="4065588"/>
            <a:ext cx="4338638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marginal product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of input 2 is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diminishing so ...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26" name="Arc 11"/>
          <p:cNvSpPr/>
          <p:nvPr/>
        </p:nvSpPr>
        <p:spPr>
          <a:xfrm rot="10500000">
            <a:off x="1428750" y="3949700"/>
            <a:ext cx="5380038" cy="191928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0741" h="21561" fill="none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</a:path>
              <a:path w="20741" h="21561" stroke="0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  <a:lnTo>
                  <a:pt x="0" y="0"/>
                </a:lnTo>
                <a:lnTo>
                  <a:pt x="20741" y="6030"/>
                </a:lnTo>
                <a:close/>
              </a:path>
            </a:pathLst>
          </a:custGeom>
          <a:noFill/>
          <a:ln w="508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0427" name="Arc 12"/>
          <p:cNvSpPr/>
          <p:nvPr/>
        </p:nvSpPr>
        <p:spPr>
          <a:xfrm rot="10500000">
            <a:off x="1398588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508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0428" name="Arc 13"/>
          <p:cNvSpPr/>
          <p:nvPr/>
        </p:nvSpPr>
        <p:spPr>
          <a:xfrm rot="10500000">
            <a:off x="1387475" y="2559050"/>
            <a:ext cx="5276850" cy="40687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0470" h="21600" fill="none">
                <a:moveTo>
                  <a:pt x="20469" y="6894"/>
                </a:moveTo>
                <a:cubicBezTo>
                  <a:pt x="17520" y="15650"/>
                  <a:pt x="9330" y="21560"/>
                  <a:pt x="91" y="21599"/>
                </a:cubicBezTo>
              </a:path>
              <a:path w="20470" h="21600" stroke="0">
                <a:moveTo>
                  <a:pt x="20469" y="6894"/>
                </a:moveTo>
                <a:cubicBezTo>
                  <a:pt x="17520" y="15650"/>
                  <a:pt x="9330" y="21560"/>
                  <a:pt x="91" y="21599"/>
                </a:cubicBezTo>
                <a:lnTo>
                  <a:pt x="0" y="0"/>
                </a:lnTo>
                <a:lnTo>
                  <a:pt x="20469" y="6894"/>
                </a:lnTo>
                <a:close/>
              </a:path>
            </a:pathLst>
          </a:custGeom>
          <a:noFill/>
          <a:ln w="50800" cap="rnd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0429" name="Line 14"/>
          <p:cNvSpPr/>
          <p:nvPr/>
        </p:nvSpPr>
        <p:spPr>
          <a:xfrm flipV="1">
            <a:off x="1435100" y="2930525"/>
            <a:ext cx="4522788" cy="2376488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30" name="Line 15"/>
          <p:cNvSpPr/>
          <p:nvPr/>
        </p:nvSpPr>
        <p:spPr>
          <a:xfrm flipV="1">
            <a:off x="1435100" y="2225675"/>
            <a:ext cx="4551363" cy="2392363"/>
          </a:xfrm>
          <a:prstGeom prst="line">
            <a:avLst/>
          </a:prstGeom>
          <a:ln w="25400" cap="flat" cmpd="sng">
            <a:solidFill>
              <a:srgbClr val="5AFF2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31" name="Line 16"/>
          <p:cNvSpPr/>
          <p:nvPr/>
        </p:nvSpPr>
        <p:spPr>
          <a:xfrm flipV="1">
            <a:off x="1435100" y="1908175"/>
            <a:ext cx="4522788" cy="237648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32" name="Line 17"/>
          <p:cNvSpPr/>
          <p:nvPr/>
        </p:nvSpPr>
        <p:spPr>
          <a:xfrm>
            <a:off x="2490788" y="4737100"/>
            <a:ext cx="0" cy="8255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0433" name="Line 18"/>
          <p:cNvSpPr/>
          <p:nvPr/>
        </p:nvSpPr>
        <p:spPr>
          <a:xfrm flipH="1">
            <a:off x="1447800" y="4737100"/>
            <a:ext cx="10287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0434" name="Line 19"/>
          <p:cNvSpPr/>
          <p:nvPr/>
        </p:nvSpPr>
        <p:spPr>
          <a:xfrm>
            <a:off x="3403600" y="3606800"/>
            <a:ext cx="0" cy="25082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0435" name="Line 20"/>
          <p:cNvSpPr/>
          <p:nvPr/>
        </p:nvSpPr>
        <p:spPr>
          <a:xfrm flipH="1">
            <a:off x="1460500" y="3619500"/>
            <a:ext cx="1981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0436" name="Line 21"/>
          <p:cNvSpPr/>
          <p:nvPr/>
        </p:nvSpPr>
        <p:spPr>
          <a:xfrm>
            <a:off x="3771900" y="3086100"/>
            <a:ext cx="0" cy="24765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0437" name="Line 22"/>
          <p:cNvSpPr/>
          <p:nvPr/>
        </p:nvSpPr>
        <p:spPr>
          <a:xfrm flipH="1">
            <a:off x="1447800" y="3086100"/>
            <a:ext cx="23241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0438" name="Oval 23"/>
          <p:cNvSpPr/>
          <p:nvPr/>
        </p:nvSpPr>
        <p:spPr>
          <a:xfrm>
            <a:off x="2349500" y="4597400"/>
            <a:ext cx="266700" cy="266700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39" name="Oval 24"/>
          <p:cNvSpPr/>
          <p:nvPr/>
        </p:nvSpPr>
        <p:spPr>
          <a:xfrm>
            <a:off x="3644900" y="2946400"/>
            <a:ext cx="266700" cy="266700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0" name="Oval 25"/>
          <p:cNvSpPr/>
          <p:nvPr/>
        </p:nvSpPr>
        <p:spPr>
          <a:xfrm>
            <a:off x="3276600" y="3467100"/>
            <a:ext cx="266700" cy="266700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1" name="Oval 26"/>
          <p:cNvSpPr/>
          <p:nvPr/>
        </p:nvSpPr>
        <p:spPr>
          <a:xfrm>
            <a:off x="2400300" y="5473700"/>
            <a:ext cx="165100" cy="16510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2" name="Oval 27"/>
          <p:cNvSpPr/>
          <p:nvPr/>
        </p:nvSpPr>
        <p:spPr>
          <a:xfrm>
            <a:off x="1371600" y="4648200"/>
            <a:ext cx="165100" cy="16510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3" name="Oval 28"/>
          <p:cNvSpPr/>
          <p:nvPr/>
        </p:nvSpPr>
        <p:spPr>
          <a:xfrm>
            <a:off x="3333750" y="5473700"/>
            <a:ext cx="165100" cy="165100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4" name="Oval 29"/>
          <p:cNvSpPr/>
          <p:nvPr/>
        </p:nvSpPr>
        <p:spPr>
          <a:xfrm>
            <a:off x="3683000" y="5473700"/>
            <a:ext cx="165100" cy="1651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5" name="Oval 30"/>
          <p:cNvSpPr/>
          <p:nvPr/>
        </p:nvSpPr>
        <p:spPr>
          <a:xfrm>
            <a:off x="1358900" y="2997200"/>
            <a:ext cx="165100" cy="1651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6" name="Oval 31"/>
          <p:cNvSpPr/>
          <p:nvPr/>
        </p:nvSpPr>
        <p:spPr>
          <a:xfrm>
            <a:off x="1358900" y="3517900"/>
            <a:ext cx="165100" cy="165100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0447" name="Object 32"/>
          <p:cNvGraphicFramePr/>
          <p:nvPr/>
        </p:nvGraphicFramePr>
        <p:xfrm>
          <a:off x="247650" y="4406900"/>
          <a:ext cx="10858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7" imgW="731520" imgH="374650" progId="Equation.2">
                  <p:embed/>
                </p:oleObj>
              </mc:Choice>
              <mc:Fallback>
                <p:oleObj name="" r:id="rId7" imgW="731520" imgH="374650" progId="Equation.2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7650" y="4406900"/>
                        <a:ext cx="1085850" cy="531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8" name="Object 33"/>
          <p:cNvGraphicFramePr/>
          <p:nvPr/>
        </p:nvGraphicFramePr>
        <p:xfrm>
          <a:off x="1873250" y="5618163"/>
          <a:ext cx="10525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9" imgW="731520" imgH="374650" progId="Equation.2">
                  <p:embed/>
                </p:oleObj>
              </mc:Choice>
              <mc:Fallback>
                <p:oleObj name="" r:id="rId9" imgW="731520" imgH="374650" progId="Equation.2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73250" y="5618163"/>
                        <a:ext cx="1052513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9" name="Object 34"/>
          <p:cNvGraphicFramePr/>
          <p:nvPr/>
        </p:nvGraphicFramePr>
        <p:xfrm>
          <a:off x="2751138" y="6027738"/>
          <a:ext cx="12303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1" imgW="862330" imgH="374650" progId="Equation.2">
                  <p:embed/>
                </p:oleObj>
              </mc:Choice>
              <mc:Fallback>
                <p:oleObj name="" r:id="rId11" imgW="862330" imgH="374650" progId="Equation.2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51138" y="6027738"/>
                        <a:ext cx="1230312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50" name="Object 35"/>
          <p:cNvGraphicFramePr/>
          <p:nvPr/>
        </p:nvGraphicFramePr>
        <p:xfrm>
          <a:off x="3570288" y="5627688"/>
          <a:ext cx="12303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13" imgW="862330" imgH="374650" progId="Equation.2">
                  <p:embed/>
                </p:oleObj>
              </mc:Choice>
              <mc:Fallback>
                <p:oleObj name="" r:id="rId13" imgW="862330" imgH="374650" progId="Equation.2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70288" y="5627688"/>
                        <a:ext cx="1230312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51" name="Object 36"/>
          <p:cNvGraphicFramePr/>
          <p:nvPr/>
        </p:nvGraphicFramePr>
        <p:xfrm>
          <a:off x="80963" y="3282950"/>
          <a:ext cx="12573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15" imgW="853440" imgH="374650" progId="Equation.2">
                  <p:embed/>
                </p:oleObj>
              </mc:Choice>
              <mc:Fallback>
                <p:oleObj name="" r:id="rId15" imgW="853440" imgH="374650" progId="Equation.2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0963" y="3282950"/>
                        <a:ext cx="12573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52" name="Object 37"/>
          <p:cNvGraphicFramePr/>
          <p:nvPr/>
        </p:nvGraphicFramePr>
        <p:xfrm>
          <a:off x="80963" y="2749550"/>
          <a:ext cx="12573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17" imgW="853440" imgH="374650" progId="Equation.2">
                  <p:embed/>
                </p:oleObj>
              </mc:Choice>
              <mc:Fallback>
                <p:oleObj name="" r:id="rId17" imgW="853440" imgH="374650" progId="Equation.2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0963" y="2749550"/>
                        <a:ext cx="12573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53" name="Rectangle 38"/>
          <p:cNvSpPr/>
          <p:nvPr/>
        </p:nvSpPr>
        <p:spPr>
          <a:xfrm>
            <a:off x="1860550" y="1084263"/>
            <a:ext cx="7283450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for each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production plan.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0454" name="Object 39"/>
          <p:cNvGraphicFramePr/>
          <p:nvPr/>
        </p:nvGraphicFramePr>
        <p:xfrm>
          <a:off x="1879600" y="1162050"/>
          <a:ext cx="29194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19" imgW="1767840" imgH="287655" progId="Equation.2">
                  <p:embed/>
                </p:oleObj>
              </mc:Choice>
              <mc:Fallback>
                <p:oleObj name="" r:id="rId19" imgW="1767840" imgH="287655" progId="Equation.2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79600" y="1162050"/>
                        <a:ext cx="2919413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Long-Run Profit-Maximization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61442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1443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1444" name="Rectangle 5"/>
          <p:cNvSpPr/>
          <p:nvPr/>
        </p:nvSpPr>
        <p:spPr>
          <a:xfrm>
            <a:off x="7756525" y="557688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45" name="Rectangle 6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1446" name="Object 7"/>
          <p:cNvGraphicFramePr/>
          <p:nvPr/>
        </p:nvGraphicFramePr>
        <p:xfrm>
          <a:off x="6532563" y="2590800"/>
          <a:ext cx="22431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1" imgW="1419225" imgH="287655" progId="Equation.2">
                  <p:embed/>
                </p:oleObj>
              </mc:Choice>
              <mc:Fallback>
                <p:oleObj name="" r:id="rId1" imgW="1419225" imgH="287655" progId="Equation.2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32563" y="2590800"/>
                        <a:ext cx="2243137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8"/>
          <p:cNvGraphicFramePr/>
          <p:nvPr/>
        </p:nvGraphicFramePr>
        <p:xfrm>
          <a:off x="6526213" y="3576638"/>
          <a:ext cx="2073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3" imgW="1306195" imgH="287655" progId="Equation.2">
                  <p:embed/>
                </p:oleObj>
              </mc:Choice>
              <mc:Fallback>
                <p:oleObj name="" r:id="rId3" imgW="1306195" imgH="287655" progId="Equation.2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26213" y="3576638"/>
                        <a:ext cx="20732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8" name="Object 9"/>
          <p:cNvGraphicFramePr/>
          <p:nvPr/>
        </p:nvGraphicFramePr>
        <p:xfrm>
          <a:off x="6538913" y="2124075"/>
          <a:ext cx="23050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5" imgW="1471930" imgH="287655" progId="Equation.2">
                  <p:embed/>
                </p:oleObj>
              </mc:Choice>
              <mc:Fallback>
                <p:oleObj name="" r:id="rId5" imgW="1471930" imgH="287655" progId="Equation.2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38913" y="2124075"/>
                        <a:ext cx="230505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9" name="Rectangle 10"/>
          <p:cNvSpPr/>
          <p:nvPr/>
        </p:nvSpPr>
        <p:spPr>
          <a:xfrm>
            <a:off x="4718050" y="4065588"/>
            <a:ext cx="3751263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marginal profit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of input 2 is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diminishing.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50" name="Arc 11"/>
          <p:cNvSpPr/>
          <p:nvPr/>
        </p:nvSpPr>
        <p:spPr>
          <a:xfrm rot="10500000">
            <a:off x="1428750" y="3949700"/>
            <a:ext cx="5380038" cy="191928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0741" h="21561" fill="none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</a:path>
              <a:path w="20741" h="21561" stroke="0">
                <a:moveTo>
                  <a:pt x="20741" y="6030"/>
                </a:moveTo>
                <a:cubicBezTo>
                  <a:pt x="18192" y="14797"/>
                  <a:pt x="10406" y="21015"/>
                  <a:pt x="1292" y="21561"/>
                </a:cubicBezTo>
                <a:lnTo>
                  <a:pt x="0" y="0"/>
                </a:lnTo>
                <a:lnTo>
                  <a:pt x="20741" y="6030"/>
                </a:lnTo>
                <a:close/>
              </a:path>
            </a:pathLst>
          </a:custGeom>
          <a:noFill/>
          <a:ln w="508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1451" name="Arc 12"/>
          <p:cNvSpPr/>
          <p:nvPr/>
        </p:nvSpPr>
        <p:spPr>
          <a:xfrm rot="10500000">
            <a:off x="1398588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508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1452" name="Arc 13"/>
          <p:cNvSpPr/>
          <p:nvPr/>
        </p:nvSpPr>
        <p:spPr>
          <a:xfrm rot="10500000">
            <a:off x="1387475" y="2559050"/>
            <a:ext cx="5276850" cy="40687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20470" h="21600" fill="none">
                <a:moveTo>
                  <a:pt x="20469" y="6894"/>
                </a:moveTo>
                <a:cubicBezTo>
                  <a:pt x="17520" y="15650"/>
                  <a:pt x="9330" y="21560"/>
                  <a:pt x="91" y="21599"/>
                </a:cubicBezTo>
              </a:path>
              <a:path w="20470" h="21600" stroke="0">
                <a:moveTo>
                  <a:pt x="20469" y="6894"/>
                </a:moveTo>
                <a:cubicBezTo>
                  <a:pt x="17520" y="15650"/>
                  <a:pt x="9330" y="21560"/>
                  <a:pt x="91" y="21599"/>
                </a:cubicBezTo>
                <a:lnTo>
                  <a:pt x="0" y="0"/>
                </a:lnTo>
                <a:lnTo>
                  <a:pt x="20469" y="6894"/>
                </a:lnTo>
                <a:close/>
              </a:path>
            </a:pathLst>
          </a:custGeom>
          <a:noFill/>
          <a:ln w="50800" cap="rnd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1453" name="Line 14"/>
          <p:cNvSpPr/>
          <p:nvPr/>
        </p:nvSpPr>
        <p:spPr>
          <a:xfrm flipV="1">
            <a:off x="1435100" y="2930525"/>
            <a:ext cx="4522788" cy="2376488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454" name="Line 15"/>
          <p:cNvSpPr/>
          <p:nvPr/>
        </p:nvSpPr>
        <p:spPr>
          <a:xfrm flipV="1">
            <a:off x="1435100" y="2225675"/>
            <a:ext cx="4551363" cy="2392363"/>
          </a:xfrm>
          <a:prstGeom prst="line">
            <a:avLst/>
          </a:prstGeom>
          <a:ln w="25400" cap="flat" cmpd="sng">
            <a:solidFill>
              <a:srgbClr val="5AFF2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455" name="Line 16"/>
          <p:cNvSpPr/>
          <p:nvPr/>
        </p:nvSpPr>
        <p:spPr>
          <a:xfrm flipV="1">
            <a:off x="1435100" y="1908175"/>
            <a:ext cx="4522788" cy="237648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456" name="Line 17"/>
          <p:cNvSpPr/>
          <p:nvPr/>
        </p:nvSpPr>
        <p:spPr>
          <a:xfrm>
            <a:off x="2490788" y="4737100"/>
            <a:ext cx="0" cy="8255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1457" name="Line 18"/>
          <p:cNvSpPr/>
          <p:nvPr/>
        </p:nvSpPr>
        <p:spPr>
          <a:xfrm flipH="1">
            <a:off x="1447800" y="4737100"/>
            <a:ext cx="10287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1458" name="Line 19"/>
          <p:cNvSpPr/>
          <p:nvPr/>
        </p:nvSpPr>
        <p:spPr>
          <a:xfrm>
            <a:off x="3403600" y="3606800"/>
            <a:ext cx="0" cy="25082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1459" name="Line 20"/>
          <p:cNvSpPr/>
          <p:nvPr/>
        </p:nvSpPr>
        <p:spPr>
          <a:xfrm flipH="1">
            <a:off x="1460500" y="3619500"/>
            <a:ext cx="1981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1460" name="Line 21"/>
          <p:cNvSpPr/>
          <p:nvPr/>
        </p:nvSpPr>
        <p:spPr>
          <a:xfrm>
            <a:off x="3771900" y="3086100"/>
            <a:ext cx="0" cy="24765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1461" name="Line 22"/>
          <p:cNvSpPr/>
          <p:nvPr/>
        </p:nvSpPr>
        <p:spPr>
          <a:xfrm flipH="1">
            <a:off x="1447800" y="3086100"/>
            <a:ext cx="23241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1462" name="Oval 23"/>
          <p:cNvSpPr/>
          <p:nvPr/>
        </p:nvSpPr>
        <p:spPr>
          <a:xfrm>
            <a:off x="2349500" y="4597400"/>
            <a:ext cx="266700" cy="266700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3" name="Oval 24"/>
          <p:cNvSpPr/>
          <p:nvPr/>
        </p:nvSpPr>
        <p:spPr>
          <a:xfrm>
            <a:off x="3644900" y="2946400"/>
            <a:ext cx="266700" cy="266700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4" name="Oval 25"/>
          <p:cNvSpPr/>
          <p:nvPr/>
        </p:nvSpPr>
        <p:spPr>
          <a:xfrm>
            <a:off x="3276600" y="3467100"/>
            <a:ext cx="266700" cy="266700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5" name="Oval 26"/>
          <p:cNvSpPr/>
          <p:nvPr/>
        </p:nvSpPr>
        <p:spPr>
          <a:xfrm>
            <a:off x="2400300" y="5473700"/>
            <a:ext cx="165100" cy="16510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6" name="Oval 27"/>
          <p:cNvSpPr/>
          <p:nvPr/>
        </p:nvSpPr>
        <p:spPr>
          <a:xfrm>
            <a:off x="1371600" y="4648200"/>
            <a:ext cx="165100" cy="16510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7" name="Oval 28"/>
          <p:cNvSpPr/>
          <p:nvPr/>
        </p:nvSpPr>
        <p:spPr>
          <a:xfrm>
            <a:off x="3333750" y="5473700"/>
            <a:ext cx="165100" cy="165100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8" name="Oval 29"/>
          <p:cNvSpPr/>
          <p:nvPr/>
        </p:nvSpPr>
        <p:spPr>
          <a:xfrm>
            <a:off x="3683000" y="5473700"/>
            <a:ext cx="165100" cy="1651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9" name="Oval 30"/>
          <p:cNvSpPr/>
          <p:nvPr/>
        </p:nvSpPr>
        <p:spPr>
          <a:xfrm>
            <a:off x="1358900" y="2997200"/>
            <a:ext cx="165100" cy="16510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70" name="Oval 31"/>
          <p:cNvSpPr/>
          <p:nvPr/>
        </p:nvSpPr>
        <p:spPr>
          <a:xfrm>
            <a:off x="1358900" y="3517900"/>
            <a:ext cx="165100" cy="165100"/>
          </a:xfrm>
          <a:prstGeom prst="ellipse">
            <a:avLst/>
          </a:prstGeom>
          <a:solidFill>
            <a:srgbClr val="5AFF24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1471" name="Object 32"/>
          <p:cNvGraphicFramePr/>
          <p:nvPr/>
        </p:nvGraphicFramePr>
        <p:xfrm>
          <a:off x="247650" y="4406900"/>
          <a:ext cx="10858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" name="" r:id="rId7" imgW="731520" imgH="374650" progId="Equation.2">
                  <p:embed/>
                </p:oleObj>
              </mc:Choice>
              <mc:Fallback>
                <p:oleObj name="" r:id="rId7" imgW="731520" imgH="374650" progId="Equation.2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7650" y="4406900"/>
                        <a:ext cx="1085850" cy="531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2" name="Object 33"/>
          <p:cNvGraphicFramePr/>
          <p:nvPr/>
        </p:nvGraphicFramePr>
        <p:xfrm>
          <a:off x="1873250" y="5618163"/>
          <a:ext cx="10525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" r:id="rId9" imgW="731520" imgH="374650" progId="Equation.2">
                  <p:embed/>
                </p:oleObj>
              </mc:Choice>
              <mc:Fallback>
                <p:oleObj name="" r:id="rId9" imgW="731520" imgH="374650" progId="Equation.2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73250" y="5618163"/>
                        <a:ext cx="1052513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3" name="Object 34"/>
          <p:cNvGraphicFramePr/>
          <p:nvPr/>
        </p:nvGraphicFramePr>
        <p:xfrm>
          <a:off x="2751138" y="6027738"/>
          <a:ext cx="12303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" r:id="rId11" imgW="862330" imgH="374650" progId="Equation.2">
                  <p:embed/>
                </p:oleObj>
              </mc:Choice>
              <mc:Fallback>
                <p:oleObj name="" r:id="rId11" imgW="862330" imgH="374650" progId="Equation.2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51138" y="6027738"/>
                        <a:ext cx="1230312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4" name="Object 35"/>
          <p:cNvGraphicFramePr/>
          <p:nvPr/>
        </p:nvGraphicFramePr>
        <p:xfrm>
          <a:off x="3570288" y="5627688"/>
          <a:ext cx="12303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" r:id="rId13" imgW="862330" imgH="374650" progId="Equation.2">
                  <p:embed/>
                </p:oleObj>
              </mc:Choice>
              <mc:Fallback>
                <p:oleObj name="" r:id="rId13" imgW="862330" imgH="374650" progId="Equation.2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70288" y="5627688"/>
                        <a:ext cx="1230312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5" name="Object 36"/>
          <p:cNvGraphicFramePr/>
          <p:nvPr/>
        </p:nvGraphicFramePr>
        <p:xfrm>
          <a:off x="80963" y="3282950"/>
          <a:ext cx="12573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15" imgW="853440" imgH="374650" progId="Equation.2">
                  <p:embed/>
                </p:oleObj>
              </mc:Choice>
              <mc:Fallback>
                <p:oleObj name="" r:id="rId15" imgW="853440" imgH="374650" progId="Equation.2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5AFF24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0963" y="3282950"/>
                        <a:ext cx="12573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6" name="Object 37"/>
          <p:cNvGraphicFramePr/>
          <p:nvPr/>
        </p:nvGraphicFramePr>
        <p:xfrm>
          <a:off x="80963" y="2749550"/>
          <a:ext cx="12573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" r:id="rId17" imgW="853440" imgH="374650" progId="Equation.2">
                  <p:embed/>
                </p:oleObj>
              </mc:Choice>
              <mc:Fallback>
                <p:oleObj name="" r:id="rId17" imgW="853440" imgH="374650" progId="Equation.2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0963" y="2749550"/>
                        <a:ext cx="12573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7" name="Line 38"/>
          <p:cNvSpPr/>
          <p:nvPr/>
        </p:nvSpPr>
        <p:spPr>
          <a:xfrm flipV="1">
            <a:off x="5062538" y="2708275"/>
            <a:ext cx="0" cy="677863"/>
          </a:xfrm>
          <a:prstGeom prst="line">
            <a:avLst/>
          </a:prstGeom>
          <a:ln w="76200" cap="flat" cmpd="sng">
            <a:solidFill>
              <a:srgbClr val="FF3300"/>
            </a:solidFill>
            <a:prstDash val="solid"/>
            <a:round/>
            <a:headEnd type="none" w="sm" len="sm"/>
            <a:tailEnd type="stealth" w="med" len="med"/>
          </a:ln>
        </p:spPr>
      </p:sp>
      <p:sp>
        <p:nvSpPr>
          <p:cNvPr id="61478" name="Line 39"/>
          <p:cNvSpPr/>
          <p:nvPr/>
        </p:nvSpPr>
        <p:spPr>
          <a:xfrm flipV="1">
            <a:off x="5048250" y="2362200"/>
            <a:ext cx="0" cy="352425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sp>
      <p:sp>
        <p:nvSpPr>
          <p:cNvPr id="61479" name="Rectangle 40"/>
          <p:cNvSpPr/>
          <p:nvPr/>
        </p:nvSpPr>
        <p:spPr>
          <a:xfrm>
            <a:off x="1789113" y="1017588"/>
            <a:ext cx="7283450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for each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production plan.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1480" name="Object 41"/>
          <p:cNvGraphicFramePr/>
          <p:nvPr/>
        </p:nvGraphicFramePr>
        <p:xfrm>
          <a:off x="1879600" y="1123950"/>
          <a:ext cx="29194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19" imgW="1767840" imgH="287655" progId="Equation.2">
                  <p:embed/>
                </p:oleObj>
              </mc:Choice>
              <mc:Fallback>
                <p:oleObj name="" r:id="rId19" imgW="1767840" imgH="287655" progId="Equation.2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79600" y="1123950"/>
                        <a:ext cx="2919413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2466" name="Rectangle 3"/>
          <p:cNvSpPr>
            <a:spLocks noGrp="1"/>
          </p:cNvSpPr>
          <p:nvPr>
            <p:ph idx="1"/>
          </p:nvPr>
        </p:nvSpPr>
        <p:spPr>
          <a:xfrm>
            <a:off x="685800" y="1357313"/>
            <a:ext cx="7772400" cy="41529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Profit will increase as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increases so long as the marginal profit of input 2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profit-maximizing level of input 2 therefore satisfies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62467" name="Object 4"/>
          <p:cNvGraphicFramePr/>
          <p:nvPr/>
        </p:nvGraphicFramePr>
        <p:xfrm>
          <a:off x="2941638" y="2466975"/>
          <a:ext cx="29495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1" imgW="1854835" imgH="287655" progId="Equation.2">
                  <p:embed/>
                </p:oleObj>
              </mc:Choice>
              <mc:Fallback>
                <p:oleObj name="" r:id="rId1" imgW="1854835" imgH="287655" progId="Equation.2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41638" y="2466975"/>
                        <a:ext cx="294957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" name="Object 5"/>
          <p:cNvGraphicFramePr/>
          <p:nvPr/>
        </p:nvGraphicFramePr>
        <p:xfrm>
          <a:off x="2935288" y="3990975"/>
          <a:ext cx="29527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3" imgW="1863725" imgH="287655" progId="Equation.2">
                  <p:embed/>
                </p:oleObj>
              </mc:Choice>
              <mc:Fallback>
                <p:oleObj name="" r:id="rId3" imgW="1863725" imgH="287655" progId="Equation.2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35288" y="3990975"/>
                        <a:ext cx="2952750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3490" name="Rectangle 3"/>
          <p:cNvSpPr>
            <a:spLocks noGrp="1"/>
          </p:cNvSpPr>
          <p:nvPr>
            <p:ph idx="1"/>
          </p:nvPr>
        </p:nvSpPr>
        <p:spPr>
          <a:xfrm>
            <a:off x="685800" y="1357313"/>
            <a:ext cx="7772400" cy="41529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Profit will increase as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increases so long as the marginal profit of input 2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profit-maximizing level of input 2 therefore satisfies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And                            is satisfied in any short-run, so ...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63491" name="Object 4"/>
          <p:cNvGraphicFramePr/>
          <p:nvPr/>
        </p:nvGraphicFramePr>
        <p:xfrm>
          <a:off x="2105025" y="4586288"/>
          <a:ext cx="27924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" name="" r:id="rId1" imgW="1767840" imgH="287655" progId="Equation.2">
                  <p:embed/>
                </p:oleObj>
              </mc:Choice>
              <mc:Fallback>
                <p:oleObj name="" r:id="rId1" imgW="1767840" imgH="287655" progId="Equation.2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05025" y="4586288"/>
                        <a:ext cx="2792413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2" name="Object 5"/>
          <p:cNvGraphicFramePr/>
          <p:nvPr/>
        </p:nvGraphicFramePr>
        <p:xfrm>
          <a:off x="2941638" y="2466975"/>
          <a:ext cx="29495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3" imgW="1854835" imgH="287655" progId="Equation.2">
                  <p:embed/>
                </p:oleObj>
              </mc:Choice>
              <mc:Fallback>
                <p:oleObj name="" r:id="rId3" imgW="1854835" imgH="287655" progId="Equation.2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41638" y="2466975"/>
                        <a:ext cx="294957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6"/>
          <p:cNvGraphicFramePr/>
          <p:nvPr/>
        </p:nvGraphicFramePr>
        <p:xfrm>
          <a:off x="2935288" y="3990975"/>
          <a:ext cx="29527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5" imgW="1863725" imgH="287655" progId="Equation.2">
                  <p:embed/>
                </p:oleObj>
              </mc:Choice>
              <mc:Fallback>
                <p:oleObj name="" r:id="rId5" imgW="1863725" imgH="287655" progId="Equation.2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35288" y="3990975"/>
                        <a:ext cx="2952750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451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input levels of the long-run profit-maximizing plan satisfy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That is,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marginal revenue equals marginal cost for all inputs</a:t>
            </a:r>
            <a:r>
              <a:rPr lang="en-US" altLang="zh-CN" dirty="0">
                <a:ea typeface="宋体" panose="02010600030101010101" pitchFamily="2" charset="-122"/>
              </a:rPr>
              <a:t>. 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64515" name="Object 4"/>
          <p:cNvGraphicFramePr/>
          <p:nvPr/>
        </p:nvGraphicFramePr>
        <p:xfrm>
          <a:off x="5126038" y="3033713"/>
          <a:ext cx="29527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" name="" r:id="rId1" imgW="1863725" imgH="287655" progId="Equation.2">
                  <p:embed/>
                </p:oleObj>
              </mc:Choice>
              <mc:Fallback>
                <p:oleObj name="" r:id="rId1" imgW="1863725" imgH="287655" progId="Equation.2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26038" y="3033713"/>
                        <a:ext cx="2952750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5"/>
          <p:cNvGraphicFramePr/>
          <p:nvPr/>
        </p:nvGraphicFramePr>
        <p:xfrm>
          <a:off x="1128713" y="3038475"/>
          <a:ext cx="27924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3" imgW="1767840" imgH="287655" progId="Equation.2">
                  <p:embed/>
                </p:oleObj>
              </mc:Choice>
              <mc:Fallback>
                <p:oleObj name="" r:id="rId3" imgW="1767840" imgH="287655" progId="Equation.2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28713" y="3038475"/>
                        <a:ext cx="2792412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7" name="Rectangle 6"/>
          <p:cNvSpPr/>
          <p:nvPr/>
        </p:nvSpPr>
        <p:spPr>
          <a:xfrm>
            <a:off x="4075113" y="2903538"/>
            <a:ext cx="9048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and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65538" name="Object 3"/>
          <p:cNvGraphicFramePr/>
          <p:nvPr/>
        </p:nvGraphicFramePr>
        <p:xfrm>
          <a:off x="850900" y="3192463"/>
          <a:ext cx="3224213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" r:id="rId1" imgW="1976755" imgH="766445" progId="Equation.2">
                  <p:embed/>
                </p:oleObj>
              </mc:Choice>
              <mc:Fallback>
                <p:oleObj name="" r:id="rId1" imgW="1976755" imgH="766445" progId="Equation.2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0900" y="3192463"/>
                        <a:ext cx="3224213" cy="1131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9" name="Rectangle 4"/>
          <p:cNvSpPr/>
          <p:nvPr/>
        </p:nvSpPr>
        <p:spPr>
          <a:xfrm>
            <a:off x="741363" y="1541463"/>
            <a:ext cx="71167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Cobb-Douglas example:   When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0" name="Rectangle 5"/>
          <p:cNvSpPr/>
          <p:nvPr/>
        </p:nvSpPr>
        <p:spPr>
          <a:xfrm>
            <a:off x="741363" y="2184400"/>
            <a:ext cx="72739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then the firm’s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demand for its variable input 1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5541" name="Object 6"/>
          <p:cNvGraphicFramePr/>
          <p:nvPr/>
        </p:nvGraphicFramePr>
        <p:xfrm>
          <a:off x="850900" y="2081213"/>
          <a:ext cx="21177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" r:id="rId3" imgW="1263015" imgH="374650" progId="Equation.2">
                  <p:embed/>
                </p:oleObj>
              </mc:Choice>
              <mc:Fallback>
                <p:oleObj name="" r:id="rId3" imgW="1263015" imgH="374650" progId="Equation.2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0900" y="2081213"/>
                        <a:ext cx="211772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2" name="Object 7"/>
          <p:cNvGraphicFramePr/>
          <p:nvPr/>
        </p:nvGraphicFramePr>
        <p:xfrm>
          <a:off x="850900" y="4291013"/>
          <a:ext cx="3424238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" r:id="rId5" imgW="2046605" imgH="766445" progId="Equation.2">
                  <p:embed/>
                </p:oleObj>
              </mc:Choice>
              <mc:Fallback>
                <p:oleObj name="" r:id="rId5" imgW="2046605" imgH="766445" progId="Equation.2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0900" y="4291013"/>
                        <a:ext cx="3424238" cy="1211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3" name="Rectangle 8"/>
          <p:cNvSpPr/>
          <p:nvPr/>
        </p:nvSpPr>
        <p:spPr>
          <a:xfrm>
            <a:off x="4337050" y="3541713"/>
            <a:ext cx="34131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and its short-run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supply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4" name="Rectangle 9"/>
          <p:cNvSpPr/>
          <p:nvPr/>
        </p:nvSpPr>
        <p:spPr>
          <a:xfrm>
            <a:off x="717550" y="5470525"/>
            <a:ext cx="60325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Short-run profit is therefore …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66562" name="Object 3"/>
          <p:cNvGraphicFramePr/>
          <p:nvPr/>
        </p:nvGraphicFramePr>
        <p:xfrm>
          <a:off x="520700" y="1381125"/>
          <a:ext cx="7945438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" r:id="rId1" imgW="4928870" imgH="1219200" progId="Equation.2">
                  <p:embed/>
                </p:oleObj>
              </mc:Choice>
              <mc:Fallback>
                <p:oleObj name="" r:id="rId1" imgW="4928870" imgH="1219200" progId="Equation.2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0700" y="1381125"/>
                        <a:ext cx="7945438" cy="171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67586" name="Object 3"/>
          <p:cNvGraphicFramePr/>
          <p:nvPr/>
        </p:nvGraphicFramePr>
        <p:xfrm>
          <a:off x="584200" y="1393825"/>
          <a:ext cx="8001000" cy="291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" name="" r:id="rId1" imgW="4963795" imgH="2063750" progId="Equation.2">
                  <p:embed/>
                </p:oleObj>
              </mc:Choice>
              <mc:Fallback>
                <p:oleObj name="" r:id="rId1" imgW="4963795" imgH="2063750" progId="Equation.2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4200" y="1393825"/>
                        <a:ext cx="8001000" cy="2913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68610" name="Object 3"/>
          <p:cNvGraphicFramePr/>
          <p:nvPr/>
        </p:nvGraphicFramePr>
        <p:xfrm>
          <a:off x="593725" y="1252538"/>
          <a:ext cx="8029575" cy="410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1" imgW="4981575" imgH="2908935" progId="Equation.2">
                  <p:embed/>
                </p:oleObj>
              </mc:Choice>
              <mc:Fallback>
                <p:oleObj name="" r:id="rId1" imgW="4981575" imgH="2908935" progId="Equation.2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3725" y="1252538"/>
                        <a:ext cx="8029575" cy="410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69634" name="Object 3"/>
          <p:cNvGraphicFramePr/>
          <p:nvPr/>
        </p:nvGraphicFramePr>
        <p:xfrm>
          <a:off x="593725" y="1200150"/>
          <a:ext cx="8039100" cy="546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name="" r:id="rId1" imgW="4981575" imgH="3857625" progId="Equation.2">
                  <p:embed/>
                </p:oleObj>
              </mc:Choice>
              <mc:Fallback>
                <p:oleObj name="" r:id="rId1" imgW="4981575" imgH="3857625" progId="Equation.2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3725" y="1200150"/>
                        <a:ext cx="8039100" cy="5462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70658" name="Object 3"/>
          <p:cNvGraphicFramePr/>
          <p:nvPr/>
        </p:nvGraphicFramePr>
        <p:xfrm>
          <a:off x="2163763" y="1276350"/>
          <a:ext cx="4754562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1" imgW="2952115" imgH="870585" progId="Equation.2">
                  <p:embed/>
                </p:oleObj>
              </mc:Choice>
              <mc:Fallback>
                <p:oleObj name="" r:id="rId1" imgW="2952115" imgH="870585" progId="Equation.2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63763" y="1276350"/>
                        <a:ext cx="4754562" cy="1223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59" name="Rectangle 4"/>
          <p:cNvSpPr/>
          <p:nvPr/>
        </p:nvSpPr>
        <p:spPr>
          <a:xfrm>
            <a:off x="931863" y="2517775"/>
            <a:ext cx="761206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What is the long-run profit-maximizing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level of input 2?  Solve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0660" name="Object 5"/>
          <p:cNvGraphicFramePr/>
          <p:nvPr/>
        </p:nvGraphicFramePr>
        <p:xfrm>
          <a:off x="1809750" y="3490913"/>
          <a:ext cx="5718175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3" imgW="3561715" imgH="870585" progId="Equation.2">
                  <p:embed/>
                </p:oleObj>
              </mc:Choice>
              <mc:Fallback>
                <p:oleObj name="" r:id="rId3" imgW="3561715" imgH="870585" progId="Equation.2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09750" y="3490913"/>
                        <a:ext cx="5718175" cy="1204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1" name="Rectangle 6"/>
          <p:cNvSpPr/>
          <p:nvPr/>
        </p:nvSpPr>
        <p:spPr>
          <a:xfrm>
            <a:off x="836613" y="4779963"/>
            <a:ext cx="12906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to get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0662" name="Object 7"/>
          <p:cNvGraphicFramePr/>
          <p:nvPr/>
        </p:nvGraphicFramePr>
        <p:xfrm>
          <a:off x="2482850" y="4778375"/>
          <a:ext cx="3305175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" r:id="rId5" imgW="2072640" imgH="766445" progId="Equation.2">
                  <p:embed/>
                </p:oleObj>
              </mc:Choice>
              <mc:Fallback>
                <p:oleObj name="" r:id="rId5" imgW="2072640" imgH="766445" progId="Equation.2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2850" y="4778375"/>
                        <a:ext cx="3305175" cy="1039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682" name="Rectangle 3"/>
          <p:cNvSpPr/>
          <p:nvPr/>
        </p:nvSpPr>
        <p:spPr>
          <a:xfrm>
            <a:off x="884238" y="1350963"/>
            <a:ext cx="761206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What is the long-run profit-maximizing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input 1 level?  Substitute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1683" name="Object 4"/>
          <p:cNvGraphicFramePr/>
          <p:nvPr/>
        </p:nvGraphicFramePr>
        <p:xfrm>
          <a:off x="4986338" y="2311400"/>
          <a:ext cx="3224212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" r:id="rId1" imgW="1976755" imgH="766445" progId="Equation.2">
                  <p:embed/>
                </p:oleObj>
              </mc:Choice>
              <mc:Fallback>
                <p:oleObj name="" r:id="rId1" imgW="1976755" imgH="766445" progId="Equation.2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86338" y="2311400"/>
                        <a:ext cx="3224212" cy="1131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4" name="Object 5"/>
          <p:cNvGraphicFramePr/>
          <p:nvPr/>
        </p:nvGraphicFramePr>
        <p:xfrm>
          <a:off x="944563" y="2414588"/>
          <a:ext cx="231457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" r:id="rId3" imgW="1463040" imgH="766445" progId="Equation.2">
                  <p:embed/>
                </p:oleObj>
              </mc:Choice>
              <mc:Fallback>
                <p:oleObj name="" r:id="rId3" imgW="1463040" imgH="766445" progId="Equation.2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44563" y="2414588"/>
                        <a:ext cx="2314575" cy="1020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Rectangle 6"/>
          <p:cNvSpPr/>
          <p:nvPr/>
        </p:nvSpPr>
        <p:spPr>
          <a:xfrm>
            <a:off x="3789363" y="2597150"/>
            <a:ext cx="9271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into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86" name="Oval 7"/>
          <p:cNvSpPr/>
          <p:nvPr/>
        </p:nvSpPr>
        <p:spPr>
          <a:xfrm>
            <a:off x="811213" y="2525713"/>
            <a:ext cx="758825" cy="758825"/>
          </a:xfrm>
          <a:prstGeom prst="ellipse">
            <a:avLst/>
          </a:prstGeom>
          <a:noFill/>
          <a:ln w="508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87" name="Arc 8"/>
          <p:cNvSpPr/>
          <p:nvPr/>
        </p:nvSpPr>
        <p:spPr>
          <a:xfrm rot="1440000">
            <a:off x="1716088" y="725488"/>
            <a:ext cx="5672137" cy="3903662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06" h="21600" fill="none">
                <a:moveTo>
                  <a:pt x="20705" y="6149"/>
                </a:moveTo>
                <a:cubicBezTo>
                  <a:pt x="17983" y="15314"/>
                  <a:pt x="9560" y="21599"/>
                  <a:pt x="0" y="21600"/>
                </a:cubicBezTo>
              </a:path>
              <a:path w="20706" h="21600" stroke="0">
                <a:moveTo>
                  <a:pt x="20705" y="6149"/>
                </a:moveTo>
                <a:cubicBezTo>
                  <a:pt x="17983" y="15314"/>
                  <a:pt x="9560" y="21599"/>
                  <a:pt x="0" y="21600"/>
                </a:cubicBezTo>
                <a:lnTo>
                  <a:pt x="0" y="0"/>
                </a:lnTo>
                <a:lnTo>
                  <a:pt x="20705" y="6149"/>
                </a:lnTo>
                <a:close/>
              </a:path>
            </a:pathLst>
          </a:custGeom>
          <a:noFill/>
          <a:ln w="25400" cap="rnd" cmpd="sng">
            <a:solidFill>
              <a:srgbClr val="FF3300"/>
            </a:solidFill>
            <a:prstDash val="solid"/>
            <a:round/>
            <a:headEnd type="stealth" w="med" len="lg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1688" name="Rectangle 9"/>
          <p:cNvSpPr/>
          <p:nvPr/>
        </p:nvSpPr>
        <p:spPr>
          <a:xfrm>
            <a:off x="860425" y="3660775"/>
            <a:ext cx="1290638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to get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2706" name="Rectangle 3"/>
          <p:cNvSpPr/>
          <p:nvPr/>
        </p:nvSpPr>
        <p:spPr>
          <a:xfrm>
            <a:off x="884238" y="1350963"/>
            <a:ext cx="761206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What is the long-run profit-maximizing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input 1 level?  Substitute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2707" name="Object 4"/>
          <p:cNvGraphicFramePr/>
          <p:nvPr/>
        </p:nvGraphicFramePr>
        <p:xfrm>
          <a:off x="4986338" y="2311400"/>
          <a:ext cx="3224212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1" imgW="1976755" imgH="766445" progId="Equation.2">
                  <p:embed/>
                </p:oleObj>
              </mc:Choice>
              <mc:Fallback>
                <p:oleObj name="" r:id="rId1" imgW="1976755" imgH="766445" progId="Equation.2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86338" y="2311400"/>
                        <a:ext cx="3224212" cy="1131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5"/>
          <p:cNvGraphicFramePr/>
          <p:nvPr/>
        </p:nvGraphicFramePr>
        <p:xfrm>
          <a:off x="944563" y="2414588"/>
          <a:ext cx="231457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" name="" r:id="rId3" imgW="1463040" imgH="766445" progId="Equation.2">
                  <p:embed/>
                </p:oleObj>
              </mc:Choice>
              <mc:Fallback>
                <p:oleObj name="" r:id="rId3" imgW="1463040" imgH="766445" progId="Equation.2">
                  <p:embed/>
                  <p:pic>
                    <p:nvPicPr>
                      <p:cNvPr id="0" name="图片 326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44563" y="2414588"/>
                        <a:ext cx="2314575" cy="1020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9" name="Rectangle 6"/>
          <p:cNvSpPr/>
          <p:nvPr/>
        </p:nvSpPr>
        <p:spPr>
          <a:xfrm>
            <a:off x="3789363" y="2597150"/>
            <a:ext cx="9271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into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10" name="Oval 7"/>
          <p:cNvSpPr/>
          <p:nvPr/>
        </p:nvSpPr>
        <p:spPr>
          <a:xfrm>
            <a:off x="811213" y="2525713"/>
            <a:ext cx="758825" cy="758825"/>
          </a:xfrm>
          <a:prstGeom prst="ellipse">
            <a:avLst/>
          </a:prstGeom>
          <a:noFill/>
          <a:ln w="508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11" name="Arc 8"/>
          <p:cNvSpPr/>
          <p:nvPr/>
        </p:nvSpPr>
        <p:spPr>
          <a:xfrm rot="1440000">
            <a:off x="1716088" y="725488"/>
            <a:ext cx="5672137" cy="3903662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06" h="21600" fill="none">
                <a:moveTo>
                  <a:pt x="20705" y="6149"/>
                </a:moveTo>
                <a:cubicBezTo>
                  <a:pt x="17983" y="15314"/>
                  <a:pt x="9560" y="21599"/>
                  <a:pt x="0" y="21600"/>
                </a:cubicBezTo>
              </a:path>
              <a:path w="20706" h="21600" stroke="0">
                <a:moveTo>
                  <a:pt x="20705" y="6149"/>
                </a:moveTo>
                <a:cubicBezTo>
                  <a:pt x="17983" y="15314"/>
                  <a:pt x="9560" y="21599"/>
                  <a:pt x="0" y="21600"/>
                </a:cubicBezTo>
                <a:lnTo>
                  <a:pt x="0" y="0"/>
                </a:lnTo>
                <a:lnTo>
                  <a:pt x="20705" y="6149"/>
                </a:lnTo>
                <a:close/>
              </a:path>
            </a:pathLst>
          </a:custGeom>
          <a:noFill/>
          <a:ln w="25400" cap="rnd" cmpd="sng">
            <a:solidFill>
              <a:srgbClr val="FF3300"/>
            </a:solidFill>
            <a:prstDash val="solid"/>
            <a:round/>
            <a:headEnd type="stealth" w="med" len="lg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2712" name="Rectangle 9"/>
          <p:cNvSpPr/>
          <p:nvPr/>
        </p:nvSpPr>
        <p:spPr>
          <a:xfrm>
            <a:off x="860425" y="3660775"/>
            <a:ext cx="1290638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to get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2713" name="Object 10"/>
          <p:cNvGraphicFramePr/>
          <p:nvPr/>
        </p:nvGraphicFramePr>
        <p:xfrm>
          <a:off x="977900" y="4306888"/>
          <a:ext cx="6937375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" name="" r:id="rId5" imgW="4267200" imgH="870585" progId="Equation.2">
                  <p:embed/>
                </p:oleObj>
              </mc:Choice>
              <mc:Fallback>
                <p:oleObj name="" r:id="rId5" imgW="4267200" imgH="870585" progId="Equation.2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7900" y="4306888"/>
                        <a:ext cx="6937375" cy="1266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3730" name="Rectangle 3"/>
          <p:cNvSpPr/>
          <p:nvPr/>
        </p:nvSpPr>
        <p:spPr>
          <a:xfrm>
            <a:off x="884238" y="1350963"/>
            <a:ext cx="761206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What is the long-run profit-maximizing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output level?  Substitute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3731" name="Object 4"/>
          <p:cNvGraphicFramePr/>
          <p:nvPr/>
        </p:nvGraphicFramePr>
        <p:xfrm>
          <a:off x="944563" y="2414588"/>
          <a:ext cx="231457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" name="" r:id="rId1" imgW="1463040" imgH="766445" progId="Equation.2">
                  <p:embed/>
                </p:oleObj>
              </mc:Choice>
              <mc:Fallback>
                <p:oleObj name="" r:id="rId1" imgW="1463040" imgH="766445" progId="Equation.2">
                  <p:embed/>
                  <p:pic>
                    <p:nvPicPr>
                      <p:cNvPr id="0" name="图片 326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44563" y="2414588"/>
                        <a:ext cx="2314575" cy="1020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2" name="Rectangle 5"/>
          <p:cNvSpPr/>
          <p:nvPr/>
        </p:nvSpPr>
        <p:spPr>
          <a:xfrm>
            <a:off x="3789363" y="2597150"/>
            <a:ext cx="9271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into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33" name="Oval 6"/>
          <p:cNvSpPr/>
          <p:nvPr/>
        </p:nvSpPr>
        <p:spPr>
          <a:xfrm>
            <a:off x="811213" y="2525713"/>
            <a:ext cx="758825" cy="758825"/>
          </a:xfrm>
          <a:prstGeom prst="ellipse">
            <a:avLst/>
          </a:prstGeom>
          <a:noFill/>
          <a:ln w="508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34" name="Arc 7"/>
          <p:cNvSpPr/>
          <p:nvPr/>
        </p:nvSpPr>
        <p:spPr>
          <a:xfrm rot="1440000">
            <a:off x="1716088" y="725488"/>
            <a:ext cx="5672137" cy="3903662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06" h="21600" fill="none">
                <a:moveTo>
                  <a:pt x="20705" y="6149"/>
                </a:moveTo>
                <a:cubicBezTo>
                  <a:pt x="17983" y="15314"/>
                  <a:pt x="9560" y="21599"/>
                  <a:pt x="0" y="21600"/>
                </a:cubicBezTo>
              </a:path>
              <a:path w="20706" h="21600" stroke="0">
                <a:moveTo>
                  <a:pt x="20705" y="6149"/>
                </a:moveTo>
                <a:cubicBezTo>
                  <a:pt x="17983" y="15314"/>
                  <a:pt x="9560" y="21599"/>
                  <a:pt x="0" y="21600"/>
                </a:cubicBezTo>
                <a:lnTo>
                  <a:pt x="0" y="0"/>
                </a:lnTo>
                <a:lnTo>
                  <a:pt x="20705" y="6149"/>
                </a:lnTo>
                <a:close/>
              </a:path>
            </a:pathLst>
          </a:custGeom>
          <a:noFill/>
          <a:ln w="25400" cap="rnd" cmpd="sng">
            <a:solidFill>
              <a:srgbClr val="FF3300"/>
            </a:solidFill>
            <a:prstDash val="solid"/>
            <a:round/>
            <a:headEnd type="stealth" w="med" len="lg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3735" name="Rectangle 8"/>
          <p:cNvSpPr/>
          <p:nvPr/>
        </p:nvSpPr>
        <p:spPr>
          <a:xfrm>
            <a:off x="860425" y="3660775"/>
            <a:ext cx="1290638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to get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3736" name="Object 9"/>
          <p:cNvGraphicFramePr/>
          <p:nvPr/>
        </p:nvGraphicFramePr>
        <p:xfrm>
          <a:off x="4940300" y="2266950"/>
          <a:ext cx="3282950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" r:id="rId3" imgW="1967865" imgH="766445" progId="Equation.2">
                  <p:embed/>
                </p:oleObj>
              </mc:Choice>
              <mc:Fallback>
                <p:oleObj name="" r:id="rId3" imgW="1967865" imgH="766445" progId="Equation.2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40300" y="2266950"/>
                        <a:ext cx="3282950" cy="1201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4754" name="Rectangle 3"/>
          <p:cNvSpPr/>
          <p:nvPr/>
        </p:nvSpPr>
        <p:spPr>
          <a:xfrm>
            <a:off x="884238" y="1350963"/>
            <a:ext cx="761206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What is the long-run profit-maximizing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output level?  Substitute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4755" name="Object 4"/>
          <p:cNvGraphicFramePr/>
          <p:nvPr/>
        </p:nvGraphicFramePr>
        <p:xfrm>
          <a:off x="944563" y="2414588"/>
          <a:ext cx="231457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" r:id="rId1" imgW="1463040" imgH="766445" progId="Equation.2">
                  <p:embed/>
                </p:oleObj>
              </mc:Choice>
              <mc:Fallback>
                <p:oleObj name="" r:id="rId1" imgW="1463040" imgH="766445" progId="Equation.2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44563" y="2414588"/>
                        <a:ext cx="2314575" cy="1020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Rectangle 5"/>
          <p:cNvSpPr/>
          <p:nvPr/>
        </p:nvSpPr>
        <p:spPr>
          <a:xfrm>
            <a:off x="3789363" y="2597150"/>
            <a:ext cx="9271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into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7" name="Oval 6"/>
          <p:cNvSpPr/>
          <p:nvPr/>
        </p:nvSpPr>
        <p:spPr>
          <a:xfrm>
            <a:off x="811213" y="2525713"/>
            <a:ext cx="758825" cy="758825"/>
          </a:xfrm>
          <a:prstGeom prst="ellipse">
            <a:avLst/>
          </a:prstGeom>
          <a:noFill/>
          <a:ln w="508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8" name="Arc 7"/>
          <p:cNvSpPr/>
          <p:nvPr/>
        </p:nvSpPr>
        <p:spPr>
          <a:xfrm rot="1440000">
            <a:off x="1716088" y="725488"/>
            <a:ext cx="5672137" cy="3903662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06" h="21600" fill="none">
                <a:moveTo>
                  <a:pt x="20705" y="6149"/>
                </a:moveTo>
                <a:cubicBezTo>
                  <a:pt x="17983" y="15314"/>
                  <a:pt x="9560" y="21599"/>
                  <a:pt x="0" y="21600"/>
                </a:cubicBezTo>
              </a:path>
              <a:path w="20706" h="21600" stroke="0">
                <a:moveTo>
                  <a:pt x="20705" y="6149"/>
                </a:moveTo>
                <a:cubicBezTo>
                  <a:pt x="17983" y="15314"/>
                  <a:pt x="9560" y="21599"/>
                  <a:pt x="0" y="21600"/>
                </a:cubicBezTo>
                <a:lnTo>
                  <a:pt x="0" y="0"/>
                </a:lnTo>
                <a:lnTo>
                  <a:pt x="20705" y="6149"/>
                </a:lnTo>
                <a:close/>
              </a:path>
            </a:pathLst>
          </a:custGeom>
          <a:noFill/>
          <a:ln w="25400" cap="rnd" cmpd="sng">
            <a:solidFill>
              <a:srgbClr val="FF3300"/>
            </a:solidFill>
            <a:prstDash val="solid"/>
            <a:round/>
            <a:headEnd type="stealth" w="med" len="lg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4759" name="Rectangle 8"/>
          <p:cNvSpPr/>
          <p:nvPr/>
        </p:nvSpPr>
        <p:spPr>
          <a:xfrm>
            <a:off x="860425" y="3660775"/>
            <a:ext cx="1290638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to get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4760" name="Object 9"/>
          <p:cNvGraphicFramePr/>
          <p:nvPr/>
        </p:nvGraphicFramePr>
        <p:xfrm>
          <a:off x="1111250" y="4306888"/>
          <a:ext cx="664845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" r:id="rId3" imgW="4101465" imgH="870585" progId="Equation.2">
                  <p:embed/>
                </p:oleObj>
              </mc:Choice>
              <mc:Fallback>
                <p:oleObj name="" r:id="rId3" imgW="4101465" imgH="870585" progId="Equation.2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1250" y="4306888"/>
                        <a:ext cx="6648450" cy="1247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1" name="Object 10"/>
          <p:cNvGraphicFramePr/>
          <p:nvPr/>
        </p:nvGraphicFramePr>
        <p:xfrm>
          <a:off x="4940300" y="2266950"/>
          <a:ext cx="3282950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" name="" r:id="rId5" imgW="1967865" imgH="766445" progId="Equation.2">
                  <p:embed/>
                </p:oleObj>
              </mc:Choice>
              <mc:Fallback>
                <p:oleObj name="" r:id="rId5" imgW="1967865" imgH="766445" progId="Equation.2">
                  <p:embed/>
                  <p:pic>
                    <p:nvPicPr>
                      <p:cNvPr id="0" name="图片 326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40300" y="2266950"/>
                        <a:ext cx="3282950" cy="1201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5778" name="Rectangle 3"/>
          <p:cNvSpPr/>
          <p:nvPr/>
        </p:nvSpPr>
        <p:spPr>
          <a:xfrm>
            <a:off x="407988" y="1279525"/>
            <a:ext cx="732155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So given the prices p,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and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and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production function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5779" name="Object 4"/>
          <p:cNvGraphicFramePr/>
          <p:nvPr/>
        </p:nvGraphicFramePr>
        <p:xfrm>
          <a:off x="5384800" y="1866900"/>
          <a:ext cx="21177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" r:id="rId1" imgW="1263015" imgH="374650" progId="Equation.2">
                  <p:embed/>
                </p:oleObj>
              </mc:Choice>
              <mc:Fallback>
                <p:oleObj name="" r:id="rId1" imgW="1263015" imgH="374650" progId="Equation.2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84800" y="1866900"/>
                        <a:ext cx="211772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Rectangle 5"/>
          <p:cNvSpPr/>
          <p:nvPr/>
        </p:nvSpPr>
        <p:spPr>
          <a:xfrm>
            <a:off x="407988" y="2779713"/>
            <a:ext cx="8288337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long-run profit-maximizing production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plan is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5781" name="Object 6"/>
          <p:cNvGraphicFramePr/>
          <p:nvPr/>
        </p:nvGraphicFramePr>
        <p:xfrm>
          <a:off x="442913" y="3940175"/>
          <a:ext cx="7358062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" r:id="rId3" imgW="4545965" imgH="783590" progId="Equation.2">
                  <p:embed/>
                </p:oleObj>
              </mc:Choice>
              <mc:Fallback>
                <p:oleObj name="" r:id="rId3" imgW="4545965" imgH="783590" progId="Equation.2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913" y="3940175"/>
                        <a:ext cx="7358062" cy="1112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Returns-to-Scale and Profit-Maximization</a:t>
            </a:r>
            <a:r>
              <a:rPr lang="zh-CN" altLang="en-US" sz="4000" dirty="0">
                <a:ea typeface="宋体" panose="02010600030101010101" pitchFamily="2" charset="-122"/>
              </a:rPr>
              <a:t>规模报酬和利润最大化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7680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If a competitive firm’s technology exhibits decreasing returns-to-scale then the firm has a single long-run profit-maximizing production plan.</a:t>
            </a:r>
            <a:r>
              <a:rPr lang="zh-CN" altLang="en-US" dirty="0">
                <a:ea typeface="宋体" panose="02010600030101010101" pitchFamily="2" charset="-122"/>
              </a:rPr>
              <a:t>规模报酬递增的企业有唯一的利润最大化的产量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Returns-to Scale and Profit-Maximization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77826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77827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77828" name="Rectangle 5"/>
          <p:cNvSpPr/>
          <p:nvPr/>
        </p:nvSpPr>
        <p:spPr>
          <a:xfrm>
            <a:off x="7756525" y="55768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29" name="Arc 6"/>
          <p:cNvSpPr/>
          <p:nvPr/>
        </p:nvSpPr>
        <p:spPr>
          <a:xfrm rot="10500000">
            <a:off x="1374775" y="3009900"/>
            <a:ext cx="5140325" cy="31734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738" h="21600" fill="none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</a:path>
              <a:path w="20738" h="21600" stroke="0">
                <a:moveTo>
                  <a:pt x="20738" y="6041"/>
                </a:moveTo>
                <a:cubicBezTo>
                  <a:pt x="18052" y="15260"/>
                  <a:pt x="9602" y="21599"/>
                  <a:pt x="0" y="21600"/>
                </a:cubicBezTo>
                <a:lnTo>
                  <a:pt x="0" y="0"/>
                </a:lnTo>
                <a:lnTo>
                  <a:pt x="20738" y="6041"/>
                </a:lnTo>
                <a:close/>
              </a:path>
            </a:pathLst>
          </a:custGeom>
          <a:noFill/>
          <a:ln w="508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7830" name="Rectangle 7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7831" name="Object 8"/>
          <p:cNvGraphicFramePr/>
          <p:nvPr/>
        </p:nvGraphicFramePr>
        <p:xfrm>
          <a:off x="6581775" y="2590800"/>
          <a:ext cx="133191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" name="" r:id="rId1" imgW="844550" imgH="269875" progId="Equation.2">
                  <p:embed/>
                </p:oleObj>
              </mc:Choice>
              <mc:Fallback>
                <p:oleObj name="" r:id="rId1" imgW="844550" imgH="269875" progId="Equation.2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81775" y="2590800"/>
                        <a:ext cx="1331913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2" name="Line 9"/>
          <p:cNvSpPr/>
          <p:nvPr/>
        </p:nvSpPr>
        <p:spPr>
          <a:xfrm flipV="1">
            <a:off x="1439863" y="2476500"/>
            <a:ext cx="4632325" cy="184626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833" name="Line 10"/>
          <p:cNvSpPr/>
          <p:nvPr/>
        </p:nvSpPr>
        <p:spPr>
          <a:xfrm>
            <a:off x="4008438" y="3298825"/>
            <a:ext cx="0" cy="226536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7834" name="Line 11"/>
          <p:cNvSpPr/>
          <p:nvPr/>
        </p:nvSpPr>
        <p:spPr>
          <a:xfrm flipH="1">
            <a:off x="1439863" y="3298825"/>
            <a:ext cx="25685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7835" name="Oval 12"/>
          <p:cNvSpPr/>
          <p:nvPr/>
        </p:nvSpPr>
        <p:spPr>
          <a:xfrm>
            <a:off x="3906838" y="3182938"/>
            <a:ext cx="215900" cy="2159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6" name="Rectangle 13"/>
          <p:cNvSpPr/>
          <p:nvPr/>
        </p:nvSpPr>
        <p:spPr>
          <a:xfrm>
            <a:off x="927100" y="3017838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7" name="Rectangle 14"/>
          <p:cNvSpPr/>
          <p:nvPr/>
        </p:nvSpPr>
        <p:spPr>
          <a:xfrm>
            <a:off x="3813175" y="5543550"/>
            <a:ext cx="5207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x*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8" name="Rectangle 15"/>
          <p:cNvSpPr/>
          <p:nvPr/>
        </p:nvSpPr>
        <p:spPr>
          <a:xfrm>
            <a:off x="5670550" y="3827463"/>
            <a:ext cx="3255963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Decreasing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returns-to-scale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Returns-to-Scale and Profit-Maximization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7885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If a competitive firm’s technology exhibits exhibits increasing returns-to-scale then the firm does not have a profit-maximizing plan.</a:t>
            </a:r>
            <a:r>
              <a:rPr lang="zh-CN" altLang="en-US" dirty="0">
                <a:ea typeface="宋体" panose="02010600030101010101" pitchFamily="2" charset="-122"/>
              </a:rPr>
              <a:t>规模报酬递增的企业没有利润最大化的产量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Rectangle 5"/>
          <p:cNvSpPr/>
          <p:nvPr/>
        </p:nvSpPr>
        <p:spPr>
          <a:xfrm>
            <a:off x="7756525" y="55768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74" name="Arc 6"/>
          <p:cNvSpPr/>
          <p:nvPr/>
        </p:nvSpPr>
        <p:spPr>
          <a:xfrm rot="10500000">
            <a:off x="1327150" y="2178050"/>
            <a:ext cx="5140325" cy="3173413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20736" h="21600" fill="none">
                <a:moveTo>
                  <a:pt x="0" y="15551"/>
                </a:moveTo>
                <a:cubicBezTo>
                  <a:pt x="2687" y="6337"/>
                  <a:pt x="11132" y="2"/>
                  <a:pt x="20730" y="0"/>
                </a:cubicBezTo>
              </a:path>
              <a:path w="20736" h="21600" stroke="0">
                <a:moveTo>
                  <a:pt x="0" y="15551"/>
                </a:moveTo>
                <a:cubicBezTo>
                  <a:pt x="2687" y="6337"/>
                  <a:pt x="11132" y="2"/>
                  <a:pt x="20730" y="0"/>
                </a:cubicBezTo>
                <a:lnTo>
                  <a:pt x="20736" y="21600"/>
                </a:lnTo>
                <a:lnTo>
                  <a:pt x="0" y="15551"/>
                </a:lnTo>
                <a:close/>
              </a:path>
            </a:pathLst>
          </a:custGeom>
          <a:noFill/>
          <a:ln w="50800" cap="rnd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9875" name="Rectangle 7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9876" name="Object 8"/>
          <p:cNvGraphicFramePr/>
          <p:nvPr/>
        </p:nvGraphicFramePr>
        <p:xfrm>
          <a:off x="6581775" y="2590800"/>
          <a:ext cx="133191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" r:id="rId1" imgW="844550" imgH="269875" progId="Equation.2">
                  <p:embed/>
                </p:oleObj>
              </mc:Choice>
              <mc:Fallback>
                <p:oleObj name="" r:id="rId1" imgW="844550" imgH="269875" progId="Equation.2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81775" y="2590800"/>
                        <a:ext cx="1331913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7" name="Line 9"/>
          <p:cNvSpPr/>
          <p:nvPr/>
        </p:nvSpPr>
        <p:spPr>
          <a:xfrm flipV="1">
            <a:off x="1439863" y="4048125"/>
            <a:ext cx="5037137" cy="12271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878" name="Line 10"/>
          <p:cNvSpPr/>
          <p:nvPr/>
        </p:nvSpPr>
        <p:spPr>
          <a:xfrm>
            <a:off x="5884863" y="3587750"/>
            <a:ext cx="0" cy="1976438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9879" name="Line 11"/>
          <p:cNvSpPr/>
          <p:nvPr/>
        </p:nvSpPr>
        <p:spPr>
          <a:xfrm flipH="1">
            <a:off x="1439863" y="3602038"/>
            <a:ext cx="4445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9880" name="Rectangle 12"/>
          <p:cNvSpPr/>
          <p:nvPr/>
        </p:nvSpPr>
        <p:spPr>
          <a:xfrm>
            <a:off x="927100" y="3289300"/>
            <a:ext cx="5603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y”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1" name="Rectangle 13"/>
          <p:cNvSpPr/>
          <p:nvPr/>
        </p:nvSpPr>
        <p:spPr>
          <a:xfrm>
            <a:off x="4756150" y="5543550"/>
            <a:ext cx="4810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x’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2" name="Rectangle 14"/>
          <p:cNvSpPr/>
          <p:nvPr/>
        </p:nvSpPr>
        <p:spPr>
          <a:xfrm>
            <a:off x="5857875" y="4240213"/>
            <a:ext cx="3273425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Increasing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returns-to-scale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3" name="Line 15"/>
          <p:cNvSpPr/>
          <p:nvPr/>
        </p:nvSpPr>
        <p:spPr>
          <a:xfrm flipV="1">
            <a:off x="1463675" y="3452813"/>
            <a:ext cx="5037138" cy="122713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884" name="Oval 16"/>
          <p:cNvSpPr/>
          <p:nvPr/>
        </p:nvSpPr>
        <p:spPr>
          <a:xfrm>
            <a:off x="5781675" y="3486150"/>
            <a:ext cx="215900" cy="2159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5" name="Line 17"/>
          <p:cNvSpPr/>
          <p:nvPr/>
        </p:nvSpPr>
        <p:spPr>
          <a:xfrm>
            <a:off x="4960938" y="4438650"/>
            <a:ext cx="0" cy="1125538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9886" name="Line 18"/>
          <p:cNvSpPr/>
          <p:nvPr/>
        </p:nvSpPr>
        <p:spPr>
          <a:xfrm flipH="1">
            <a:off x="1439863" y="4424363"/>
            <a:ext cx="35369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9887" name="Oval 19"/>
          <p:cNvSpPr/>
          <p:nvPr/>
        </p:nvSpPr>
        <p:spPr>
          <a:xfrm>
            <a:off x="4859338" y="4308475"/>
            <a:ext cx="215900" cy="2159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8" name="Rectangle 20"/>
          <p:cNvSpPr/>
          <p:nvPr/>
        </p:nvSpPr>
        <p:spPr>
          <a:xfrm>
            <a:off x="998538" y="4132263"/>
            <a:ext cx="4810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y’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9" name="Rectangle 21"/>
          <p:cNvSpPr/>
          <p:nvPr/>
        </p:nvSpPr>
        <p:spPr>
          <a:xfrm>
            <a:off x="5686425" y="5541963"/>
            <a:ext cx="5603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x”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90" name="AutoShape 22"/>
          <p:cNvSpPr/>
          <p:nvPr/>
        </p:nvSpPr>
        <p:spPr>
          <a:xfrm rot="-840000">
            <a:off x="3657600" y="3109913"/>
            <a:ext cx="315913" cy="2089150"/>
          </a:xfrm>
          <a:prstGeom prst="upArrow">
            <a:avLst>
              <a:gd name="adj1" fmla="val 50000"/>
              <a:gd name="adj2" fmla="val 330591"/>
            </a:avLst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91" name="Rectangle 23"/>
          <p:cNvSpPr/>
          <p:nvPr/>
        </p:nvSpPr>
        <p:spPr>
          <a:xfrm rot="-900000">
            <a:off x="2427288" y="2270125"/>
            <a:ext cx="1962150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Increasing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   profit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92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79893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798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Returns-to-Scale and Profit-Maximization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So an increasing returns-to-scale technology is inconsistent with firms being perfectly competitive.</a:t>
            </a:r>
            <a:r>
              <a:rPr lang="zh-CN" altLang="en-US" dirty="0">
                <a:ea typeface="宋体" panose="02010600030101010101" pitchFamily="2" charset="-122"/>
              </a:rPr>
              <a:t>完全竞争市场中不存在规模报酬递增的技术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08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Returns-to-Scale and Profit-Maximization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What if the competitive firm’s technology exhibits constant returns-to-scale?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Returns-to-Scale and Profit-Maximization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82946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82947" name="Rectangle 5"/>
          <p:cNvSpPr/>
          <p:nvPr/>
        </p:nvSpPr>
        <p:spPr>
          <a:xfrm>
            <a:off x="7756525" y="55768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48" name="Rectangle 6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2949" name="Object 7"/>
          <p:cNvGraphicFramePr/>
          <p:nvPr/>
        </p:nvGraphicFramePr>
        <p:xfrm>
          <a:off x="6438900" y="2490788"/>
          <a:ext cx="133191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" r:id="rId1" imgW="844550" imgH="269875" progId="Equation.2">
                  <p:embed/>
                </p:oleObj>
              </mc:Choice>
              <mc:Fallback>
                <p:oleObj name="" r:id="rId1" imgW="844550" imgH="269875" progId="Equation.2">
                  <p:embed/>
                  <p:pic>
                    <p:nvPicPr>
                      <p:cNvPr id="0" name="图片 327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38900" y="2490788"/>
                        <a:ext cx="1331913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0" name="Line 8"/>
          <p:cNvSpPr/>
          <p:nvPr/>
        </p:nvSpPr>
        <p:spPr>
          <a:xfrm flipV="1">
            <a:off x="1439863" y="4048125"/>
            <a:ext cx="5037137" cy="12271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951" name="Line 9"/>
          <p:cNvSpPr/>
          <p:nvPr/>
        </p:nvSpPr>
        <p:spPr>
          <a:xfrm>
            <a:off x="4013200" y="4064000"/>
            <a:ext cx="0" cy="1500188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2952" name="Line 10"/>
          <p:cNvSpPr/>
          <p:nvPr/>
        </p:nvSpPr>
        <p:spPr>
          <a:xfrm flipH="1">
            <a:off x="1439863" y="4059238"/>
            <a:ext cx="25685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2953" name="Rectangle 11"/>
          <p:cNvSpPr/>
          <p:nvPr/>
        </p:nvSpPr>
        <p:spPr>
          <a:xfrm>
            <a:off x="927100" y="3775075"/>
            <a:ext cx="5603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y”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4" name="Rectangle 12"/>
          <p:cNvSpPr/>
          <p:nvPr/>
        </p:nvSpPr>
        <p:spPr>
          <a:xfrm>
            <a:off x="2098675" y="5543550"/>
            <a:ext cx="4810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x’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5" name="Rectangle 13"/>
          <p:cNvSpPr/>
          <p:nvPr/>
        </p:nvSpPr>
        <p:spPr>
          <a:xfrm>
            <a:off x="5857875" y="4240213"/>
            <a:ext cx="3273425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Constant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returns-to-scale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6" name="Line 14"/>
          <p:cNvSpPr/>
          <p:nvPr/>
        </p:nvSpPr>
        <p:spPr>
          <a:xfrm flipV="1">
            <a:off x="1463675" y="3452813"/>
            <a:ext cx="5037138" cy="122713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957" name="Line 15"/>
          <p:cNvSpPr/>
          <p:nvPr/>
        </p:nvSpPr>
        <p:spPr>
          <a:xfrm>
            <a:off x="2289175" y="5059363"/>
            <a:ext cx="0" cy="5048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2958" name="Line 16"/>
          <p:cNvSpPr/>
          <p:nvPr/>
        </p:nvSpPr>
        <p:spPr>
          <a:xfrm flipH="1">
            <a:off x="1439863" y="5053013"/>
            <a:ext cx="85248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2959" name="Rectangle 17"/>
          <p:cNvSpPr/>
          <p:nvPr/>
        </p:nvSpPr>
        <p:spPr>
          <a:xfrm>
            <a:off x="998538" y="4775200"/>
            <a:ext cx="481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y’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60" name="Rectangle 18"/>
          <p:cNvSpPr/>
          <p:nvPr/>
        </p:nvSpPr>
        <p:spPr>
          <a:xfrm>
            <a:off x="3829050" y="5541963"/>
            <a:ext cx="5603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x”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61" name="AutoShape 19"/>
          <p:cNvSpPr/>
          <p:nvPr/>
        </p:nvSpPr>
        <p:spPr>
          <a:xfrm rot="-840000">
            <a:off x="4479925" y="2806700"/>
            <a:ext cx="315913" cy="2089150"/>
          </a:xfrm>
          <a:prstGeom prst="upArrow">
            <a:avLst>
              <a:gd name="adj1" fmla="val 50000"/>
              <a:gd name="adj2" fmla="val 330591"/>
            </a:avLst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62" name="Rectangle 20"/>
          <p:cNvSpPr/>
          <p:nvPr/>
        </p:nvSpPr>
        <p:spPr>
          <a:xfrm rot="-900000">
            <a:off x="3276600" y="1909763"/>
            <a:ext cx="1962150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Increasing</a:t>
            </a:r>
            <a:b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   profit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63" name="Line 21"/>
          <p:cNvSpPr/>
          <p:nvPr/>
        </p:nvSpPr>
        <p:spPr>
          <a:xfrm flipV="1">
            <a:off x="1439863" y="2708275"/>
            <a:ext cx="4892675" cy="2855913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964" name="Oval 22"/>
          <p:cNvSpPr/>
          <p:nvPr/>
        </p:nvSpPr>
        <p:spPr>
          <a:xfrm>
            <a:off x="3905250" y="3948113"/>
            <a:ext cx="215900" cy="2159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65" name="Oval 23"/>
          <p:cNvSpPr/>
          <p:nvPr/>
        </p:nvSpPr>
        <p:spPr>
          <a:xfrm>
            <a:off x="2189163" y="4943475"/>
            <a:ext cx="215900" cy="2159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Returns-to-Scale and Profit-Maximization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Rectangle 3"/>
          <p:cNvSpPr>
            <a:spLocks noGrp="1"/>
          </p:cNvSpPr>
          <p:nvPr>
            <p:ph idx="1"/>
          </p:nvPr>
        </p:nvSpPr>
        <p:spPr>
          <a:xfrm>
            <a:off x="685800" y="1714500"/>
            <a:ext cx="7886700" cy="41529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So if any production plan earns a positive profit, the firm can double up all inputs to produce twice the original output and earn twice the original profit.</a:t>
            </a:r>
            <a:r>
              <a:rPr lang="zh-CN" altLang="en-US" dirty="0">
                <a:ea typeface="宋体" panose="02010600030101010101" pitchFamily="2" charset="-122"/>
              </a:rPr>
              <a:t>规模报酬不变的企业投入翻倍可以实现产出和利润的翻倍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39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Returns-to-Scale and Profit-Maximization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Therefore, when a firm’s technology exhibits constant returns-to-scale, earning a positive economic profit is inconsistent with firms being perfectly competitive.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Hence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constant returns-to-scale requires that competitive firms earn economic profits of zero.</a:t>
            </a:r>
            <a:endParaRPr lang="en-US" altLang="zh-CN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849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Returns-to-Scale and Profit-Maximization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7" name="Line 3"/>
          <p:cNvSpPr/>
          <p:nvPr/>
        </p:nvSpPr>
        <p:spPr>
          <a:xfrm>
            <a:off x="1447800" y="1309688"/>
            <a:ext cx="0" cy="4252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86018" name="Line 4"/>
          <p:cNvSpPr/>
          <p:nvPr/>
        </p:nvSpPr>
        <p:spPr>
          <a:xfrm>
            <a:off x="1447800" y="5562600"/>
            <a:ext cx="6324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86019" name="Rectangle 5"/>
          <p:cNvSpPr/>
          <p:nvPr/>
        </p:nvSpPr>
        <p:spPr>
          <a:xfrm>
            <a:off x="7756525" y="5576888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20" name="Rectangle 6"/>
          <p:cNvSpPr/>
          <p:nvPr/>
        </p:nvSpPr>
        <p:spPr>
          <a:xfrm>
            <a:off x="955675" y="12287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6021" name="Object 7"/>
          <p:cNvGraphicFramePr/>
          <p:nvPr/>
        </p:nvGraphicFramePr>
        <p:xfrm>
          <a:off x="6438900" y="2490788"/>
          <a:ext cx="133191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" r:id="rId1" imgW="844550" imgH="269875" progId="Equation.2">
                  <p:embed/>
                </p:oleObj>
              </mc:Choice>
              <mc:Fallback>
                <p:oleObj name="" r:id="rId1" imgW="844550" imgH="269875" progId="Equation.2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38900" y="2490788"/>
                        <a:ext cx="1331913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2" name="Line 8"/>
          <p:cNvSpPr/>
          <p:nvPr/>
        </p:nvSpPr>
        <p:spPr>
          <a:xfrm>
            <a:off x="4013200" y="4064000"/>
            <a:ext cx="0" cy="1500188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6023" name="Line 9"/>
          <p:cNvSpPr/>
          <p:nvPr/>
        </p:nvSpPr>
        <p:spPr>
          <a:xfrm flipH="1">
            <a:off x="1439863" y="4059238"/>
            <a:ext cx="25685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6024" name="Rectangle 10"/>
          <p:cNvSpPr/>
          <p:nvPr/>
        </p:nvSpPr>
        <p:spPr>
          <a:xfrm>
            <a:off x="927100" y="3775075"/>
            <a:ext cx="5603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y”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25" name="Rectangle 11"/>
          <p:cNvSpPr/>
          <p:nvPr/>
        </p:nvSpPr>
        <p:spPr>
          <a:xfrm>
            <a:off x="2098675" y="5543550"/>
            <a:ext cx="4810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x’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26" name="Rectangle 12"/>
          <p:cNvSpPr/>
          <p:nvPr/>
        </p:nvSpPr>
        <p:spPr>
          <a:xfrm>
            <a:off x="5857875" y="4240213"/>
            <a:ext cx="3273425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Constant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returns-to-scale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27" name="Line 13"/>
          <p:cNvSpPr/>
          <p:nvPr/>
        </p:nvSpPr>
        <p:spPr>
          <a:xfrm flipV="1">
            <a:off x="1439863" y="2938463"/>
            <a:ext cx="4503737" cy="2611437"/>
          </a:xfrm>
          <a:prstGeom prst="line">
            <a:avLst/>
          </a:prstGeom>
          <a:ln w="1016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6028" name="Line 14"/>
          <p:cNvSpPr/>
          <p:nvPr/>
        </p:nvSpPr>
        <p:spPr>
          <a:xfrm>
            <a:off x="2289175" y="5059363"/>
            <a:ext cx="0" cy="5048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6029" name="Line 15"/>
          <p:cNvSpPr/>
          <p:nvPr/>
        </p:nvSpPr>
        <p:spPr>
          <a:xfrm flipH="1">
            <a:off x="1439863" y="5053013"/>
            <a:ext cx="85248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6030" name="Rectangle 16"/>
          <p:cNvSpPr/>
          <p:nvPr/>
        </p:nvSpPr>
        <p:spPr>
          <a:xfrm>
            <a:off x="998538" y="4775200"/>
            <a:ext cx="4810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y’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31" name="Rectangle 17"/>
          <p:cNvSpPr/>
          <p:nvPr/>
        </p:nvSpPr>
        <p:spPr>
          <a:xfrm>
            <a:off x="3829050" y="5541963"/>
            <a:ext cx="5603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x”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32" name="Line 18"/>
          <p:cNvSpPr/>
          <p:nvPr/>
        </p:nvSpPr>
        <p:spPr>
          <a:xfrm flipV="1">
            <a:off x="1439863" y="2708275"/>
            <a:ext cx="4892675" cy="2855913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033" name="Oval 19"/>
          <p:cNvSpPr/>
          <p:nvPr/>
        </p:nvSpPr>
        <p:spPr>
          <a:xfrm>
            <a:off x="3905250" y="3948113"/>
            <a:ext cx="215900" cy="2159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34" name="Oval 20"/>
          <p:cNvSpPr/>
          <p:nvPr/>
        </p:nvSpPr>
        <p:spPr>
          <a:xfrm>
            <a:off x="2189163" y="4943475"/>
            <a:ext cx="215900" cy="215900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35" name="Rectangle 21"/>
          <p:cNvSpPr/>
          <p:nvPr/>
        </p:nvSpPr>
        <p:spPr>
          <a:xfrm>
            <a:off x="5230813" y="3248025"/>
            <a:ext cx="11858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0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3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sz="4000" dirty="0">
                <a:ea typeface="宋体" panose="02010600030101010101" pitchFamily="2" charset="-122"/>
              </a:rPr>
              <a:t>Returns-to-Scale and Profit-Maximization</a:t>
            </a:r>
            <a:r>
              <a:rPr lang="zh-CN" altLang="en-US" sz="4000" dirty="0">
                <a:ea typeface="宋体" panose="02010600030101010101" pitchFamily="2" charset="-122"/>
              </a:rPr>
              <a:t>规模报酬和利润最大化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es On Blue">
  <a:themeElements>
    <a:clrScheme name="Lines On Blue 1">
      <a:dk1>
        <a:srgbClr val="000000"/>
      </a:dk1>
      <a:lt1>
        <a:srgbClr val="FFFFFF"/>
      </a:lt1>
      <a:dk2>
        <a:srgbClr val="000000"/>
      </a:dk2>
      <a:lt2>
        <a:srgbClr val="FFFF00"/>
      </a:lt2>
      <a:accent1>
        <a:srgbClr val="FF9933"/>
      </a:accent1>
      <a:accent2>
        <a:srgbClr val="0000FF"/>
      </a:accent2>
      <a:accent3>
        <a:srgbClr val="AAAAAA"/>
      </a:accent3>
      <a:accent4>
        <a:srgbClr val="DADADA"/>
      </a:accent4>
      <a:accent5>
        <a:srgbClr val="FFCAAD"/>
      </a:accent5>
      <a:accent6>
        <a:srgbClr val="0000E7"/>
      </a:accent6>
      <a:hlink>
        <a:srgbClr val="FF33CC"/>
      </a:hlink>
      <a:folHlink>
        <a:srgbClr val="000080"/>
      </a:folHlink>
    </a:clrScheme>
    <a:fontScheme name="Lines On Blu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ines On Blue 1">
        <a:dk1>
          <a:srgbClr val="000000"/>
        </a:dk1>
        <a:lt1>
          <a:srgbClr val="FFFFFF"/>
        </a:lt1>
        <a:dk2>
          <a:srgbClr val="000000"/>
        </a:dk2>
        <a:lt2>
          <a:srgbClr val="FFFF00"/>
        </a:lt2>
        <a:accent1>
          <a:srgbClr val="FF9933"/>
        </a:accent1>
        <a:accent2>
          <a:srgbClr val="0000FF"/>
        </a:accent2>
        <a:accent3>
          <a:srgbClr val="AAAAAA"/>
        </a:accent3>
        <a:accent4>
          <a:srgbClr val="DADADA"/>
        </a:accent4>
        <a:accent5>
          <a:srgbClr val="FFCAAD"/>
        </a:accent5>
        <a:accent6>
          <a:srgbClr val="0000E7"/>
        </a:accent6>
        <a:hlink>
          <a:srgbClr val="FF33CC"/>
        </a:hlink>
        <a:folHlink>
          <a:srgbClr val="000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2">
        <a:dk1>
          <a:srgbClr val="000000"/>
        </a:dk1>
        <a:lt1>
          <a:srgbClr val="CCCCFF"/>
        </a:lt1>
        <a:dk2>
          <a:srgbClr val="660066"/>
        </a:dk2>
        <a:lt2>
          <a:srgbClr val="99CCFF"/>
        </a:lt2>
        <a:accent1>
          <a:srgbClr val="33CCFF"/>
        </a:accent1>
        <a:accent2>
          <a:srgbClr val="6699FF"/>
        </a:accent2>
        <a:accent3>
          <a:srgbClr val="E2E2FF"/>
        </a:accent3>
        <a:accent4>
          <a:srgbClr val="000000"/>
        </a:accent4>
        <a:accent5>
          <a:srgbClr val="ADE2FF"/>
        </a:accent5>
        <a:accent6>
          <a:srgbClr val="5C8AE7"/>
        </a:accent6>
        <a:hlink>
          <a:srgbClr val="6666FF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4">
        <a:dk1>
          <a:srgbClr val="000066"/>
        </a:dk1>
        <a:lt1>
          <a:srgbClr val="EAEAEA"/>
        </a:lt1>
        <a:dk2>
          <a:srgbClr val="660066"/>
        </a:dk2>
        <a:lt2>
          <a:srgbClr val="CBCBCB"/>
        </a:lt2>
        <a:accent1>
          <a:srgbClr val="330099"/>
        </a:accent1>
        <a:accent2>
          <a:srgbClr val="FF7C80"/>
        </a:accent2>
        <a:accent3>
          <a:srgbClr val="B8AAB8"/>
        </a:accent3>
        <a:accent4>
          <a:srgbClr val="C8C8C8"/>
        </a:accent4>
        <a:accent5>
          <a:srgbClr val="ADAACA"/>
        </a:accent5>
        <a:accent6>
          <a:srgbClr val="E77073"/>
        </a:accent6>
        <a:hlink>
          <a:srgbClr val="6666FF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5">
        <a:dk1>
          <a:srgbClr val="000080"/>
        </a:dk1>
        <a:lt1>
          <a:srgbClr val="EAEAEA"/>
        </a:lt1>
        <a:dk2>
          <a:srgbClr val="9933FF"/>
        </a:dk2>
        <a:lt2>
          <a:srgbClr val="CBCBCB"/>
        </a:lt2>
        <a:accent1>
          <a:srgbClr val="00CC99"/>
        </a:accent1>
        <a:accent2>
          <a:srgbClr val="00CCFF"/>
        </a:accent2>
        <a:accent3>
          <a:srgbClr val="CAADFF"/>
        </a:accent3>
        <a:accent4>
          <a:srgbClr val="C8C8C8"/>
        </a:accent4>
        <a:accent5>
          <a:srgbClr val="AAE2CA"/>
        </a:accent5>
        <a:accent6>
          <a:srgbClr val="00B9E7"/>
        </a:accent6>
        <a:hlink>
          <a:srgbClr val="6666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6">
        <a:dk1>
          <a:srgbClr val="000000"/>
        </a:dk1>
        <a:lt1>
          <a:srgbClr val="FFFFCC"/>
        </a:lt1>
        <a:dk2>
          <a:srgbClr val="660066"/>
        </a:dk2>
        <a:lt2>
          <a:srgbClr val="FFFFFF"/>
        </a:lt2>
        <a:accent1>
          <a:srgbClr val="99CCFF"/>
        </a:accent1>
        <a:accent2>
          <a:srgbClr val="FFCC99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E7B98A"/>
        </a:accent6>
        <a:hlink>
          <a:srgbClr val="CCCCFF"/>
        </a:hlink>
        <a:folHlink>
          <a:srgbClr val="FF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Lines On Blue 1">
    <a:dk1>
      <a:srgbClr val="000000"/>
    </a:dk1>
    <a:lt1>
      <a:srgbClr val="FFFFFF"/>
    </a:lt1>
    <a:dk2>
      <a:srgbClr val="000000"/>
    </a:dk2>
    <a:lt2>
      <a:srgbClr val="FFFF00"/>
    </a:lt2>
    <a:accent1>
      <a:srgbClr val="FF9933"/>
    </a:accent1>
    <a:accent2>
      <a:srgbClr val="0000FF"/>
    </a:accent2>
    <a:accent3>
      <a:srgbClr val="AAAAAA"/>
    </a:accent3>
    <a:accent4>
      <a:srgbClr val="DADADA"/>
    </a:accent4>
    <a:accent5>
      <a:srgbClr val="FFCAAD"/>
    </a:accent5>
    <a:accent6>
      <a:srgbClr val="0000E7"/>
    </a:accent6>
    <a:hlink>
      <a:srgbClr val="FF33CC"/>
    </a:hlink>
    <a:folHlink>
      <a:srgbClr val="0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Designs\Lines On Blue.pot</Template>
  <TotalTime>0</TotalTime>
  <Words>11390</Words>
  <Application>WPS 演示</Application>
  <PresentationFormat>全屏显示(4:3)</PresentationFormat>
  <Paragraphs>574</Paragraphs>
  <Slides>81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211</vt:i4>
      </vt:variant>
      <vt:variant>
        <vt:lpstr>幻灯片标题</vt:lpstr>
      </vt:variant>
      <vt:variant>
        <vt:i4>81</vt:i4>
      </vt:variant>
    </vt:vector>
  </HeadingPairs>
  <TitlesOfParts>
    <vt:vector size="302" baseType="lpstr">
      <vt:lpstr>Arial</vt:lpstr>
      <vt:lpstr>宋体</vt:lpstr>
      <vt:lpstr>Wingdings</vt:lpstr>
      <vt:lpstr>Times New Roman</vt:lpstr>
      <vt:lpstr>Monotype Sorts</vt:lpstr>
      <vt:lpstr>Wingdings</vt:lpstr>
      <vt:lpstr>Symbol</vt:lpstr>
      <vt:lpstr>Times New Roman</vt:lpstr>
      <vt:lpstr>Arial Unicode MS</vt:lpstr>
      <vt:lpstr>Lines On Blue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Eighteen</dc:title>
  <dc:creator>LSA Media Services, PC-69</dc:creator>
  <cp:lastModifiedBy>蒋士成</cp:lastModifiedBy>
  <cp:revision>61</cp:revision>
  <dcterms:created xsi:type="dcterms:W3CDTF">1997-01-28T15:25:40Z</dcterms:created>
  <dcterms:modified xsi:type="dcterms:W3CDTF">2023-12-29T07:11:04Z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2D704B407F0947F584DA6E095330398A_13</vt:lpwstr>
  </property>
</Properties>
</file>
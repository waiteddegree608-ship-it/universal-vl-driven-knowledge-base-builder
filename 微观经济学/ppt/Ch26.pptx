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22" r:id="rId3"/>
    <p:sldId id="323" r:id="rId4"/>
    <p:sldId id="324" r:id="rId5"/>
    <p:sldId id="320" r:id="rId6"/>
    <p:sldId id="321" r:id="rId7"/>
    <p:sldId id="261" r:id="rId8"/>
    <p:sldId id="262" r:id="rId9"/>
    <p:sldId id="265" r:id="rId10"/>
    <p:sldId id="266" r:id="rId11"/>
    <p:sldId id="267" r:id="rId12"/>
    <p:sldId id="269" r:id="rId13"/>
    <p:sldId id="312" r:id="rId14"/>
    <p:sldId id="271" r:id="rId15"/>
    <p:sldId id="272" r:id="rId16"/>
    <p:sldId id="273" r:id="rId17"/>
    <p:sldId id="275" r:id="rId18"/>
    <p:sldId id="276" r:id="rId19"/>
    <p:sldId id="283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6" r:id="rId28"/>
    <p:sldId id="287" r:id="rId29"/>
    <p:sldId id="285" r:id="rId30"/>
    <p:sldId id="288" r:id="rId31"/>
    <p:sldId id="290" r:id="rId32"/>
    <p:sldId id="289" r:id="rId33"/>
    <p:sldId id="314" r:id="rId34"/>
    <p:sldId id="319" r:id="rId35"/>
    <p:sldId id="318" r:id="rId36"/>
    <p:sldId id="315" r:id="rId38"/>
    <p:sldId id="316" r:id="rId39"/>
    <p:sldId id="291" r:id="rId40"/>
    <p:sldId id="292" r:id="rId41"/>
    <p:sldId id="293" r:id="rId42"/>
    <p:sldId id="311" r:id="rId43"/>
    <p:sldId id="295" r:id="rId44"/>
    <p:sldId id="296" r:id="rId45"/>
    <p:sldId id="297" r:id="rId46"/>
    <p:sldId id="298" r:id="rId47"/>
    <p:sldId id="299" r:id="rId48"/>
    <p:sldId id="301" r:id="rId49"/>
    <p:sldId id="302" r:id="rId50"/>
    <p:sldId id="308" r:id="rId51"/>
    <p:sldId id="309" r:id="rId52"/>
    <p:sldId id="310" r:id="rId53"/>
    <p:sldId id="306" r:id="rId54"/>
    <p:sldId id="307" r:id="rId5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58" userDrawn="1">
          <p15:clr>
            <a:srgbClr val="A4A3A4"/>
          </p15:clr>
        </p15:guide>
        <p15:guide id="2" pos="34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CC00"/>
    <a:srgbClr val="FB231E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500" y="56"/>
      </p:cViewPr>
      <p:guideLst>
        <p:guide orient="horz" pos="3358"/>
        <p:guide pos="34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emf"/><Relationship Id="rId8" Type="http://schemas.openxmlformats.org/officeDocument/2006/relationships/image" Target="../media/image16.emf"/><Relationship Id="rId7" Type="http://schemas.openxmlformats.org/officeDocument/2006/relationships/image" Target="../media/image15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2" Type="http://schemas.openxmlformats.org/officeDocument/2006/relationships/image" Target="../media/image20.emf"/><Relationship Id="rId11" Type="http://schemas.openxmlformats.org/officeDocument/2006/relationships/image" Target="../media/image19.emf"/><Relationship Id="rId10" Type="http://schemas.openxmlformats.org/officeDocument/2006/relationships/image" Target="../media/image18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9.emf"/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9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6" name="Group 17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058" name="Rectangle 2"/>
              <p:cNvSpPr/>
              <p:nvPr/>
            </p:nvSpPr>
            <p:spPr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>
                  <a:buNone/>
                </a:pP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059" name="Group 16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60" name="Freeform 3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1" name="Freeform 4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2" name="Freeform 5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3" name="Freeform 6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4" name="Freeform 7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5" name="Freeform 8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6" name="Freeform 9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7" name="Freeform 10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8" name="Freeform 11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9" name="Freeform 12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0" name="Freeform 13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1" name="Freeform 14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2" name="Freeform 15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2057" name="Freeform 18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41" name="Rectangle 2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A8E984-3099-4554-8253-E5D4153EA21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32" name="Rectangle 2"/>
            <p:cNvSpPr/>
            <p:nvPr/>
          </p:nvSpPr>
          <p:spPr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33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34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5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6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7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8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9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0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1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2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3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4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5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6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27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19"/>
          <p:cNvSpPr>
            <a:spLocks noGrp="1"/>
          </p:cNvSpPr>
          <p:nvPr>
            <p:ph type="body" idx="1"/>
          </p:nvPr>
        </p:nvSpPr>
        <p:spPr>
          <a:xfrm>
            <a:off x="685800" y="1485900"/>
            <a:ext cx="7772400" cy="43815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1D33C5-9EA4-4D72-B918-A5EFBC1F13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6.xml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2.e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emf"/><Relationship Id="rId3" Type="http://schemas.openxmlformats.org/officeDocument/2006/relationships/oleObject" Target="../embeddings/oleObject10.bin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6.xml"/><Relationship Id="rId24" Type="http://schemas.openxmlformats.org/officeDocument/2006/relationships/image" Target="../media/image20.emf"/><Relationship Id="rId23" Type="http://schemas.openxmlformats.org/officeDocument/2006/relationships/oleObject" Target="../embeddings/oleObject20.bin"/><Relationship Id="rId22" Type="http://schemas.openxmlformats.org/officeDocument/2006/relationships/image" Target="../media/image19.emf"/><Relationship Id="rId21" Type="http://schemas.openxmlformats.org/officeDocument/2006/relationships/oleObject" Target="../embeddings/oleObject19.bin"/><Relationship Id="rId20" Type="http://schemas.openxmlformats.org/officeDocument/2006/relationships/image" Target="../media/image18.emf"/><Relationship Id="rId2" Type="http://schemas.openxmlformats.org/officeDocument/2006/relationships/image" Target="../media/image9.emf"/><Relationship Id="rId19" Type="http://schemas.openxmlformats.org/officeDocument/2006/relationships/oleObject" Target="../embeddings/oleObject18.bin"/><Relationship Id="rId18" Type="http://schemas.openxmlformats.org/officeDocument/2006/relationships/image" Target="../media/image17.emf"/><Relationship Id="rId17" Type="http://schemas.openxmlformats.org/officeDocument/2006/relationships/oleObject" Target="../embeddings/oleObject17.bin"/><Relationship Id="rId16" Type="http://schemas.openxmlformats.org/officeDocument/2006/relationships/image" Target="../media/image16.e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5.e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4.e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3.emf"/><Relationship Id="rId1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emf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27.e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5.emf"/><Relationship Id="rId1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emf"/><Relationship Id="rId1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9.emf"/><Relationship Id="rId1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emf"/><Relationship Id="rId1" Type="http://schemas.openxmlformats.org/officeDocument/2006/relationships/oleObject" Target="../embeddings/oleObject30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1.emf"/><Relationship Id="rId1" Type="http://schemas.openxmlformats.org/officeDocument/2006/relationships/oleObject" Target="../embeddings/oleObject3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3.emf"/><Relationship Id="rId1" Type="http://schemas.openxmlformats.org/officeDocument/2006/relationships/oleObject" Target="../embeddings/oleObject3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9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6.e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36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emf"/><Relationship Id="rId1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1.emf"/><Relationship Id="rId1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4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e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emf"/><Relationship Id="rId1" Type="http://schemas.openxmlformats.org/officeDocument/2006/relationships/oleObject" Target="../embeddings/oleObject4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5.emf"/><Relationship Id="rId1" Type="http://schemas.openxmlformats.org/officeDocument/2006/relationships/oleObject" Target="../embeddings/oleObject45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8.emf"/><Relationship Id="rId1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0.e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9.emf"/><Relationship Id="rId1" Type="http://schemas.openxmlformats.org/officeDocument/2006/relationships/oleObject" Target="../embeddings/oleObject4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e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2.emf"/><Relationship Id="rId1" Type="http://schemas.openxmlformats.org/officeDocument/2006/relationships/oleObject" Target="../embeddings/oleObject5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5.emf"/><Relationship Id="rId1" Type="http://schemas.openxmlformats.org/officeDocument/2006/relationships/oleObject" Target="../embeddings/oleObject55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9.e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58.emf"/><Relationship Id="rId1" Type="http://schemas.openxmlformats.org/officeDocument/2006/relationships/oleObject" Target="../embeddings/oleObject58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1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60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3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2.emf"/><Relationship Id="rId1" Type="http://schemas.openxmlformats.org/officeDocument/2006/relationships/oleObject" Target="../embeddings/oleObject62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5.e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4.emf"/><Relationship Id="rId1" Type="http://schemas.openxmlformats.org/officeDocument/2006/relationships/oleObject" Target="../embeddings/oleObject64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7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6.emf"/><Relationship Id="rId1" Type="http://schemas.openxmlformats.org/officeDocument/2006/relationships/oleObject" Target="../embeddings/oleObject66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9.e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8.emf"/><Relationship Id="rId1" Type="http://schemas.openxmlformats.org/officeDocument/2006/relationships/oleObject" Target="../embeddings/oleObject68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1.e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0.emf"/><Relationship Id="rId1" Type="http://schemas.openxmlformats.org/officeDocument/2006/relationships/oleObject" Target="../embeddings/oleObject70.bin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3.e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72.emf"/><Relationship Id="rId1" Type="http://schemas.openxmlformats.org/officeDocument/2006/relationships/oleObject" Target="../embeddings/oleObject72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5.e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4.emf"/><Relationship Id="rId1" Type="http://schemas.openxmlformats.org/officeDocument/2006/relationships/oleObject" Target="../embeddings/oleObject74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7.e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6.emf"/><Relationship Id="rId1" Type="http://schemas.openxmlformats.org/officeDocument/2006/relationships/oleObject" Target="../embeddings/oleObject7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Twenty-Five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sz="quarter" idx="1"/>
          </p:nvPr>
        </p:nvSpPr>
        <p:spPr>
          <a:ln/>
        </p:spPr>
        <p:txBody>
          <a:bodyPr vert="horz" wrap="square" lIns="92075" tIns="46038" rIns="92075" bIns="46038" anchor="t" anchorCtr="0"/>
          <a:p>
            <a:pPr>
              <a:buSzPct val="75000"/>
            </a:pPr>
            <a:r>
              <a:rPr lang="en-US" altLang="zh-CN" sz="4000" dirty="0">
                <a:latin typeface="+mn-lt"/>
                <a:ea typeface="宋体" panose="02010600030101010101" pitchFamily="2" charset="-122"/>
                <a:cs typeface="+mn-cs"/>
              </a:rPr>
              <a:t>Monopoly Behavior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buSzPct val="75000"/>
            </a:pPr>
            <a:r>
              <a:rPr lang="zh-CN" altLang="en-US" sz="4000" dirty="0">
                <a:latin typeface="+mn-lt"/>
                <a:ea typeface="宋体" panose="02010600030101010101" pitchFamily="2" charset="-122"/>
                <a:cs typeface="+mn-cs"/>
              </a:rPr>
              <a:t>垄断行为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How Should a Monopoly Price?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之前介绍的垄断企业都按统一的价格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uniform pricing</a:t>
            </a:r>
            <a:r>
              <a:rPr lang="zh-CN" altLang="en-US" dirty="0">
                <a:ea typeface="宋体" panose="02010600030101010101" pitchFamily="2" charset="-122"/>
              </a:rPr>
              <a:t>销售商品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价格歧视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price-discrimination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能否给垄断企业带来更多的收益？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Types of Price Discrimination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价格歧视的类型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一级价格歧视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1st-degree</a:t>
            </a:r>
            <a:r>
              <a:rPr lang="en-US" altLang="zh-CN" dirty="0">
                <a:ea typeface="宋体" panose="02010600030101010101" pitchFamily="2" charset="-122"/>
              </a:rPr>
              <a:t>:  </a:t>
            </a:r>
            <a:r>
              <a:rPr lang="zh-CN" altLang="en-US" dirty="0">
                <a:ea typeface="宋体" panose="02010600030101010101" pitchFamily="2" charset="-122"/>
              </a:rPr>
              <a:t>每一单位的产量都按照不同的价格售出，价格对不同消费者可能不同。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二级价格歧视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2nd-degree</a:t>
            </a:r>
            <a:r>
              <a:rPr lang="en-US" altLang="zh-CN" dirty="0">
                <a:ea typeface="宋体" panose="02010600030101010101" pitchFamily="2" charset="-122"/>
              </a:rPr>
              <a:t>:  </a:t>
            </a:r>
            <a:r>
              <a:rPr lang="zh-CN" altLang="en-US" dirty="0">
                <a:ea typeface="宋体" panose="02010600030101010101" pitchFamily="2" charset="-122"/>
              </a:rPr>
              <a:t>价格根据买方的需求量而变化，但是所有的消费者都面对相同的价格表。例如量大购买时的折扣。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Types of Price Discrimination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三级价格歧视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3rd-degree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一个群体中的消费者都按照相同的价格购买商品；而不同群体中的消费者购买的价格不同。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zh-CN" altLang="en-US" dirty="0">
                <a:ea typeface="宋体" panose="02010600030101010101" pitchFamily="2" charset="-122"/>
              </a:rPr>
              <a:t>老人优惠，学生票，不同地区的差别定价。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First-degree Price Discrimination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8243888" cy="4381500"/>
          </a:xfrm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每一单位的产量都按照不同的价格售出，价格对不同消费者可能不同。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这要求垄断者能够发现每个消费者的愿意支付的最高价格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5" name="Line 3"/>
          <p:cNvSpPr/>
          <p:nvPr/>
        </p:nvSpPr>
        <p:spPr>
          <a:xfrm>
            <a:off x="1447800" y="1752600"/>
            <a:ext cx="0" cy="3276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8196" name="Line 4"/>
          <p:cNvSpPr/>
          <p:nvPr/>
        </p:nvSpPr>
        <p:spPr>
          <a:xfrm>
            <a:off x="1447800" y="5029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8197" name="Line 5"/>
          <p:cNvSpPr/>
          <p:nvPr/>
        </p:nvSpPr>
        <p:spPr>
          <a:xfrm>
            <a:off x="1447800" y="2514600"/>
            <a:ext cx="4419600" cy="2514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98" name="Rectangle 6"/>
          <p:cNvSpPr/>
          <p:nvPr/>
        </p:nvSpPr>
        <p:spPr>
          <a:xfrm>
            <a:off x="5775325" y="44338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8199" name="Rectangle 7"/>
          <p:cNvSpPr/>
          <p:nvPr/>
        </p:nvSpPr>
        <p:spPr>
          <a:xfrm>
            <a:off x="6537325" y="51196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8200" name="Rectangle 8"/>
          <p:cNvSpPr/>
          <p:nvPr/>
        </p:nvSpPr>
        <p:spPr>
          <a:xfrm>
            <a:off x="212725" y="13096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8201" name="Line 9"/>
          <p:cNvSpPr/>
          <p:nvPr/>
        </p:nvSpPr>
        <p:spPr>
          <a:xfrm flipV="1">
            <a:off x="1447800" y="3657600"/>
            <a:ext cx="4114800" cy="91440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02" name="Rectangle 10"/>
          <p:cNvSpPr/>
          <p:nvPr/>
        </p:nvSpPr>
        <p:spPr>
          <a:xfrm>
            <a:off x="5622925" y="34432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8203" name="Line 11"/>
          <p:cNvSpPr/>
          <p:nvPr/>
        </p:nvSpPr>
        <p:spPr>
          <a:xfrm>
            <a:off x="1828800" y="2743200"/>
            <a:ext cx="0" cy="2286000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04" name="Line 12"/>
          <p:cNvSpPr/>
          <p:nvPr/>
        </p:nvSpPr>
        <p:spPr>
          <a:xfrm>
            <a:off x="2819400" y="3313113"/>
            <a:ext cx="0" cy="1716087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05" name="Line 13"/>
          <p:cNvSpPr/>
          <p:nvPr/>
        </p:nvSpPr>
        <p:spPr>
          <a:xfrm flipH="1">
            <a:off x="1439863" y="2751138"/>
            <a:ext cx="3905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8206" name="Line 14"/>
          <p:cNvSpPr/>
          <p:nvPr/>
        </p:nvSpPr>
        <p:spPr>
          <a:xfrm flipH="1">
            <a:off x="1439863" y="3313113"/>
            <a:ext cx="13858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8207" name="Object 15"/>
          <p:cNvGraphicFramePr/>
          <p:nvPr/>
        </p:nvGraphicFramePr>
        <p:xfrm>
          <a:off x="1730375" y="5084763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30375" y="5084763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/>
          <p:cNvGraphicFramePr/>
          <p:nvPr/>
        </p:nvGraphicFramePr>
        <p:xfrm>
          <a:off x="625475" y="2546350"/>
          <a:ext cx="7921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565785" imgH="269875" progId="Equation.2">
                  <p:embed/>
                </p:oleObj>
              </mc:Choice>
              <mc:Fallback>
                <p:oleObj name="" r:id="rId3" imgW="565785" imgH="26987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2546350"/>
                        <a:ext cx="792163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17"/>
          <p:cNvGraphicFramePr/>
          <p:nvPr/>
        </p:nvGraphicFramePr>
        <p:xfrm>
          <a:off x="2703513" y="5084763"/>
          <a:ext cx="3984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287655" imgH="269875" progId="Equation.2">
                  <p:embed/>
                </p:oleObj>
              </mc:Choice>
              <mc:Fallback>
                <p:oleObj name="" r:id="rId5" imgW="287655" imgH="269875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3513" y="5084763"/>
                        <a:ext cx="398462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18"/>
          <p:cNvGraphicFramePr/>
          <p:nvPr/>
        </p:nvGraphicFramePr>
        <p:xfrm>
          <a:off x="546100" y="3094038"/>
          <a:ext cx="8556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618490" imgH="269875" progId="Equation.2">
                  <p:embed/>
                </p:oleObj>
              </mc:Choice>
              <mc:Fallback>
                <p:oleObj name="" r:id="rId7" imgW="618490" imgH="269875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100" y="3094038"/>
                        <a:ext cx="855663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9"/>
          <p:cNvSpPr/>
          <p:nvPr/>
        </p:nvSpPr>
        <p:spPr>
          <a:xfrm>
            <a:off x="1868488" y="1711325"/>
            <a:ext cx="70485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Sell the    th unit for $          Later 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sell the     th unit for $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212" name="Object 20"/>
          <p:cNvGraphicFramePr/>
          <p:nvPr/>
        </p:nvGraphicFramePr>
        <p:xfrm>
          <a:off x="3490913" y="1803400"/>
          <a:ext cx="3619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9" imgW="226695" imgH="269875" progId="Equation.2">
                  <p:embed/>
                </p:oleObj>
              </mc:Choice>
              <mc:Fallback>
                <p:oleObj name="" r:id="rId9" imgW="226695" imgH="26987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0913" y="1803400"/>
                        <a:ext cx="36195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3" name="Object 21"/>
          <p:cNvGraphicFramePr/>
          <p:nvPr/>
        </p:nvGraphicFramePr>
        <p:xfrm>
          <a:off x="6091238" y="1803400"/>
          <a:ext cx="9540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609600" imgH="269875" progId="Equation.2">
                  <p:embed/>
                </p:oleObj>
              </mc:Choice>
              <mc:Fallback>
                <p:oleObj name="" r:id="rId11" imgW="609600" imgH="269875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1238" y="1803400"/>
                        <a:ext cx="954087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4" name="Object 22"/>
          <p:cNvGraphicFramePr/>
          <p:nvPr/>
        </p:nvGraphicFramePr>
        <p:xfrm>
          <a:off x="3467100" y="2303463"/>
          <a:ext cx="4492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3" imgW="287655" imgH="269875" progId="Equation.2">
                  <p:embed/>
                </p:oleObj>
              </mc:Choice>
              <mc:Fallback>
                <p:oleObj name="" r:id="rId13" imgW="287655" imgH="269875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67100" y="2303463"/>
                        <a:ext cx="449263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23"/>
          <p:cNvGraphicFramePr/>
          <p:nvPr/>
        </p:nvGraphicFramePr>
        <p:xfrm>
          <a:off x="6162675" y="2303463"/>
          <a:ext cx="10398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5" imgW="670560" imgH="269875" progId="Equation.2">
                  <p:embed/>
                </p:oleObj>
              </mc:Choice>
              <mc:Fallback>
                <p:oleObj name="" r:id="rId15" imgW="670560" imgH="26987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62675" y="2303463"/>
                        <a:ext cx="103981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9" name="Line 3"/>
          <p:cNvSpPr/>
          <p:nvPr/>
        </p:nvSpPr>
        <p:spPr>
          <a:xfrm>
            <a:off x="1447800" y="1752600"/>
            <a:ext cx="0" cy="3276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9220" name="Line 4"/>
          <p:cNvSpPr/>
          <p:nvPr/>
        </p:nvSpPr>
        <p:spPr>
          <a:xfrm>
            <a:off x="1447800" y="5029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9221" name="Line 5"/>
          <p:cNvSpPr/>
          <p:nvPr/>
        </p:nvSpPr>
        <p:spPr>
          <a:xfrm>
            <a:off x="1447800" y="2514600"/>
            <a:ext cx="4419600" cy="2514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2" name="Rectangle 6"/>
          <p:cNvSpPr/>
          <p:nvPr/>
        </p:nvSpPr>
        <p:spPr>
          <a:xfrm>
            <a:off x="5775325" y="44338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9223" name="Rectangle 7"/>
          <p:cNvSpPr/>
          <p:nvPr/>
        </p:nvSpPr>
        <p:spPr>
          <a:xfrm>
            <a:off x="6537325" y="51196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4" name="Rectangle 8"/>
          <p:cNvSpPr/>
          <p:nvPr/>
        </p:nvSpPr>
        <p:spPr>
          <a:xfrm>
            <a:off x="212725" y="13096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5" name="Line 9"/>
          <p:cNvSpPr/>
          <p:nvPr/>
        </p:nvSpPr>
        <p:spPr>
          <a:xfrm flipV="1">
            <a:off x="1447800" y="3657600"/>
            <a:ext cx="4114800" cy="91440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6" name="Rectangle 10"/>
          <p:cNvSpPr/>
          <p:nvPr/>
        </p:nvSpPr>
        <p:spPr>
          <a:xfrm>
            <a:off x="5622925" y="34432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9227" name="Line 11"/>
          <p:cNvSpPr/>
          <p:nvPr/>
        </p:nvSpPr>
        <p:spPr>
          <a:xfrm>
            <a:off x="1828800" y="2743200"/>
            <a:ext cx="0" cy="2286000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8" name="Line 12"/>
          <p:cNvSpPr/>
          <p:nvPr/>
        </p:nvSpPr>
        <p:spPr>
          <a:xfrm>
            <a:off x="2819400" y="3313113"/>
            <a:ext cx="0" cy="1716087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9" name="Line 13"/>
          <p:cNvSpPr/>
          <p:nvPr/>
        </p:nvSpPr>
        <p:spPr>
          <a:xfrm>
            <a:off x="4038600" y="3990975"/>
            <a:ext cx="0" cy="1038225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30" name="Line 14"/>
          <p:cNvSpPr/>
          <p:nvPr/>
        </p:nvSpPr>
        <p:spPr>
          <a:xfrm flipH="1">
            <a:off x="1439863" y="2751138"/>
            <a:ext cx="3905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9231" name="Line 15"/>
          <p:cNvSpPr/>
          <p:nvPr/>
        </p:nvSpPr>
        <p:spPr>
          <a:xfrm flipH="1">
            <a:off x="1439863" y="3313113"/>
            <a:ext cx="13858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9232" name="Line 16"/>
          <p:cNvSpPr/>
          <p:nvPr/>
        </p:nvSpPr>
        <p:spPr>
          <a:xfrm flipH="1">
            <a:off x="1439863" y="3990975"/>
            <a:ext cx="2598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9233" name="Object 17"/>
          <p:cNvGraphicFramePr/>
          <p:nvPr/>
        </p:nvGraphicFramePr>
        <p:xfrm>
          <a:off x="1730375" y="5084763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30375" y="5084763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8"/>
          <p:cNvGraphicFramePr/>
          <p:nvPr/>
        </p:nvGraphicFramePr>
        <p:xfrm>
          <a:off x="625475" y="2546350"/>
          <a:ext cx="7921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565785" imgH="269875" progId="Equation.2">
                  <p:embed/>
                </p:oleObj>
              </mc:Choice>
              <mc:Fallback>
                <p:oleObj name="" r:id="rId3" imgW="565785" imgH="269875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2546350"/>
                        <a:ext cx="792163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/>
          <p:cNvGraphicFramePr/>
          <p:nvPr/>
        </p:nvGraphicFramePr>
        <p:xfrm>
          <a:off x="2703513" y="5084763"/>
          <a:ext cx="3984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287655" imgH="269875" progId="Equation.2">
                  <p:embed/>
                </p:oleObj>
              </mc:Choice>
              <mc:Fallback>
                <p:oleObj name="" r:id="rId5" imgW="287655" imgH="269875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3513" y="5084763"/>
                        <a:ext cx="398462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/>
          <p:cNvGraphicFramePr/>
          <p:nvPr/>
        </p:nvGraphicFramePr>
        <p:xfrm>
          <a:off x="3941763" y="5084763"/>
          <a:ext cx="4603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339725" imgH="269875" progId="Equation.2">
                  <p:embed/>
                </p:oleObj>
              </mc:Choice>
              <mc:Fallback>
                <p:oleObj name="" r:id="rId7" imgW="339725" imgH="269875" progId="Equation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1763" y="5084763"/>
                        <a:ext cx="4603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/>
          <p:cNvGraphicFramePr/>
          <p:nvPr/>
        </p:nvGraphicFramePr>
        <p:xfrm>
          <a:off x="546100" y="3094038"/>
          <a:ext cx="8556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618490" imgH="269875" progId="Equation.2">
                  <p:embed/>
                </p:oleObj>
              </mc:Choice>
              <mc:Fallback>
                <p:oleObj name="" r:id="rId9" imgW="618490" imgH="269875" progId="Equation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100" y="3094038"/>
                        <a:ext cx="855663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2"/>
          <p:cNvGraphicFramePr/>
          <p:nvPr/>
        </p:nvGraphicFramePr>
        <p:xfrm>
          <a:off x="476250" y="3786188"/>
          <a:ext cx="930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1" imgW="679450" imgH="269875" progId="Equation.2">
                  <p:embed/>
                </p:oleObj>
              </mc:Choice>
              <mc:Fallback>
                <p:oleObj name="" r:id="rId11" imgW="679450" imgH="269875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250" y="3786188"/>
                        <a:ext cx="9302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23"/>
          <p:cNvSpPr/>
          <p:nvPr/>
        </p:nvSpPr>
        <p:spPr>
          <a:xfrm>
            <a:off x="1868488" y="1711325"/>
            <a:ext cx="7048500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Sell the    th unit for $          Later 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sell the     th unit for $           Finally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 sell the      th unit for marginal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                                    cost, $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9240" name="Object 24"/>
          <p:cNvGraphicFramePr/>
          <p:nvPr/>
        </p:nvGraphicFramePr>
        <p:xfrm>
          <a:off x="3490913" y="1803400"/>
          <a:ext cx="3619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3" imgW="226695" imgH="269875" progId="Equation.2">
                  <p:embed/>
                </p:oleObj>
              </mc:Choice>
              <mc:Fallback>
                <p:oleObj name="" r:id="rId13" imgW="226695" imgH="269875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0913" y="1803400"/>
                        <a:ext cx="36195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5"/>
          <p:cNvGraphicFramePr/>
          <p:nvPr/>
        </p:nvGraphicFramePr>
        <p:xfrm>
          <a:off x="6091238" y="1803400"/>
          <a:ext cx="9540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5" imgW="609600" imgH="269875" progId="Equation.2">
                  <p:embed/>
                </p:oleObj>
              </mc:Choice>
              <mc:Fallback>
                <p:oleObj name="" r:id="rId15" imgW="609600" imgH="269875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1238" y="1803400"/>
                        <a:ext cx="954087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6"/>
          <p:cNvGraphicFramePr/>
          <p:nvPr/>
        </p:nvGraphicFramePr>
        <p:xfrm>
          <a:off x="3467100" y="2303463"/>
          <a:ext cx="4492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7" imgW="287655" imgH="269875" progId="Equation.2">
                  <p:embed/>
                </p:oleObj>
              </mc:Choice>
              <mc:Fallback>
                <p:oleObj name="" r:id="rId17" imgW="287655" imgH="269875" progId="Equation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67100" y="2303463"/>
                        <a:ext cx="449263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Object 27"/>
          <p:cNvGraphicFramePr/>
          <p:nvPr/>
        </p:nvGraphicFramePr>
        <p:xfrm>
          <a:off x="6162675" y="2303463"/>
          <a:ext cx="10398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9" imgW="670560" imgH="269875" progId="Equation.2">
                  <p:embed/>
                </p:oleObj>
              </mc:Choice>
              <mc:Fallback>
                <p:oleObj name="" r:id="rId19" imgW="670560" imgH="269875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62675" y="2303463"/>
                        <a:ext cx="103981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8"/>
          <p:cNvGraphicFramePr/>
          <p:nvPr/>
        </p:nvGraphicFramePr>
        <p:xfrm>
          <a:off x="4283075" y="2779713"/>
          <a:ext cx="5222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1" imgW="339725" imgH="269875" progId="Equation.2">
                  <p:embed/>
                </p:oleObj>
              </mc:Choice>
              <mc:Fallback>
                <p:oleObj name="" r:id="rId21" imgW="339725" imgH="269875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3075" y="2779713"/>
                        <a:ext cx="5222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5" name="Object 29"/>
          <p:cNvGraphicFramePr/>
          <p:nvPr/>
        </p:nvGraphicFramePr>
        <p:xfrm>
          <a:off x="8015288" y="3279775"/>
          <a:ext cx="11112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3" imgW="722630" imgH="269875" progId="Equation.2">
                  <p:embed/>
                </p:oleObj>
              </mc:Choice>
              <mc:Fallback>
                <p:oleObj name="" r:id="rId23" imgW="722630" imgH="269875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15288" y="3279775"/>
                        <a:ext cx="111125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3" name="Line 3"/>
          <p:cNvSpPr/>
          <p:nvPr/>
        </p:nvSpPr>
        <p:spPr>
          <a:xfrm>
            <a:off x="1447800" y="1752600"/>
            <a:ext cx="0" cy="3276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0244" name="Line 4"/>
          <p:cNvSpPr/>
          <p:nvPr/>
        </p:nvSpPr>
        <p:spPr>
          <a:xfrm>
            <a:off x="1447800" y="5029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45" name="Line 5"/>
          <p:cNvSpPr/>
          <p:nvPr/>
        </p:nvSpPr>
        <p:spPr>
          <a:xfrm>
            <a:off x="1447800" y="2514600"/>
            <a:ext cx="4419600" cy="2514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46" name="Rectangle 6"/>
          <p:cNvSpPr/>
          <p:nvPr/>
        </p:nvSpPr>
        <p:spPr>
          <a:xfrm>
            <a:off x="5775325" y="44338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0247" name="Rectangle 7"/>
          <p:cNvSpPr/>
          <p:nvPr/>
        </p:nvSpPr>
        <p:spPr>
          <a:xfrm>
            <a:off x="6537325" y="51196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48" name="Rectangle 8"/>
          <p:cNvSpPr/>
          <p:nvPr/>
        </p:nvSpPr>
        <p:spPr>
          <a:xfrm>
            <a:off x="212725" y="13096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49" name="Line 9"/>
          <p:cNvSpPr/>
          <p:nvPr/>
        </p:nvSpPr>
        <p:spPr>
          <a:xfrm flipV="1">
            <a:off x="1447800" y="3657600"/>
            <a:ext cx="4114800" cy="91440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0" name="Rectangle 10"/>
          <p:cNvSpPr/>
          <p:nvPr/>
        </p:nvSpPr>
        <p:spPr>
          <a:xfrm>
            <a:off x="5622925" y="34432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10251" name="Line 11"/>
          <p:cNvSpPr/>
          <p:nvPr/>
        </p:nvSpPr>
        <p:spPr>
          <a:xfrm>
            <a:off x="1828800" y="2743200"/>
            <a:ext cx="0" cy="2286000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2" name="Line 12"/>
          <p:cNvSpPr/>
          <p:nvPr/>
        </p:nvSpPr>
        <p:spPr>
          <a:xfrm>
            <a:off x="2819400" y="3313113"/>
            <a:ext cx="0" cy="1716087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3" name="Line 13"/>
          <p:cNvSpPr/>
          <p:nvPr/>
        </p:nvSpPr>
        <p:spPr>
          <a:xfrm>
            <a:off x="4038600" y="3990975"/>
            <a:ext cx="0" cy="1038225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4" name="Line 14"/>
          <p:cNvSpPr/>
          <p:nvPr/>
        </p:nvSpPr>
        <p:spPr>
          <a:xfrm flipH="1">
            <a:off x="1439863" y="2751138"/>
            <a:ext cx="3905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55" name="Line 15"/>
          <p:cNvSpPr/>
          <p:nvPr/>
        </p:nvSpPr>
        <p:spPr>
          <a:xfrm flipH="1">
            <a:off x="1439863" y="3313113"/>
            <a:ext cx="13858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56" name="Line 16"/>
          <p:cNvSpPr/>
          <p:nvPr/>
        </p:nvSpPr>
        <p:spPr>
          <a:xfrm flipH="1">
            <a:off x="1439863" y="3990975"/>
            <a:ext cx="2598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10257" name="Object 17"/>
          <p:cNvGraphicFramePr/>
          <p:nvPr/>
        </p:nvGraphicFramePr>
        <p:xfrm>
          <a:off x="1730375" y="5084763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30375" y="5084763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/>
          <p:cNvGraphicFramePr/>
          <p:nvPr/>
        </p:nvGraphicFramePr>
        <p:xfrm>
          <a:off x="625475" y="2546350"/>
          <a:ext cx="7921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565785" imgH="269875" progId="Equation.2">
                  <p:embed/>
                </p:oleObj>
              </mc:Choice>
              <mc:Fallback>
                <p:oleObj name="" r:id="rId3" imgW="565785" imgH="269875" progId="Equation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2546350"/>
                        <a:ext cx="792163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/>
          <p:cNvGraphicFramePr/>
          <p:nvPr/>
        </p:nvGraphicFramePr>
        <p:xfrm>
          <a:off x="2703513" y="5084763"/>
          <a:ext cx="3984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287655" imgH="269875" progId="Equation.2">
                  <p:embed/>
                </p:oleObj>
              </mc:Choice>
              <mc:Fallback>
                <p:oleObj name="" r:id="rId5" imgW="287655" imgH="269875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3513" y="5084763"/>
                        <a:ext cx="398462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20"/>
          <p:cNvGraphicFramePr/>
          <p:nvPr/>
        </p:nvGraphicFramePr>
        <p:xfrm>
          <a:off x="3941763" y="5084763"/>
          <a:ext cx="4603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339725" imgH="269875" progId="Equation.2">
                  <p:embed/>
                </p:oleObj>
              </mc:Choice>
              <mc:Fallback>
                <p:oleObj name="" r:id="rId7" imgW="339725" imgH="269875" progId="Equation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1763" y="5084763"/>
                        <a:ext cx="4603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/>
          <p:cNvGraphicFramePr/>
          <p:nvPr/>
        </p:nvGraphicFramePr>
        <p:xfrm>
          <a:off x="546100" y="3094038"/>
          <a:ext cx="8556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618490" imgH="269875" progId="Equation.2">
                  <p:embed/>
                </p:oleObj>
              </mc:Choice>
              <mc:Fallback>
                <p:oleObj name="" r:id="rId9" imgW="618490" imgH="269875" progId="Equation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100" y="3094038"/>
                        <a:ext cx="855663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/>
          <p:cNvGraphicFramePr/>
          <p:nvPr/>
        </p:nvGraphicFramePr>
        <p:xfrm>
          <a:off x="476250" y="3786188"/>
          <a:ext cx="930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679450" imgH="269875" progId="Equation.2">
                  <p:embed/>
                </p:oleObj>
              </mc:Choice>
              <mc:Fallback>
                <p:oleObj name="" r:id="rId11" imgW="679450" imgH="269875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250" y="3786188"/>
                        <a:ext cx="9302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3" name="Rectangle 23"/>
          <p:cNvSpPr/>
          <p:nvPr/>
        </p:nvSpPr>
        <p:spPr>
          <a:xfrm>
            <a:off x="3289300" y="1112838"/>
            <a:ext cx="5602288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gains to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on these trades are: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and zero.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64" name="Rectangle 24"/>
          <p:cNvSpPr/>
          <p:nvPr/>
        </p:nvSpPr>
        <p:spPr>
          <a:xfrm>
            <a:off x="1816100" y="2746375"/>
            <a:ext cx="41275" cy="1730375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10265" name="Rectangle 25"/>
          <p:cNvSpPr/>
          <p:nvPr/>
        </p:nvSpPr>
        <p:spPr>
          <a:xfrm>
            <a:off x="2801938" y="3314700"/>
            <a:ext cx="46037" cy="9525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graphicFrame>
        <p:nvGraphicFramePr>
          <p:cNvPr id="10266" name="Object 26"/>
          <p:cNvGraphicFramePr/>
          <p:nvPr/>
        </p:nvGraphicFramePr>
        <p:xfrm>
          <a:off x="3376613" y="2149475"/>
          <a:ext cx="55213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3" imgW="3335655" imgH="278765" progId="Equation.2">
                  <p:embed/>
                </p:oleObj>
              </mc:Choice>
              <mc:Fallback>
                <p:oleObj name="" r:id="rId13" imgW="3335655" imgH="278765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76613" y="2149475"/>
                        <a:ext cx="5521325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7" name="Rectangle 27"/>
          <p:cNvSpPr/>
          <p:nvPr/>
        </p:nvSpPr>
        <p:spPr>
          <a:xfrm>
            <a:off x="2765425" y="5518150"/>
            <a:ext cx="62595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consumers’ gains are zero.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Freeform 14"/>
          <p:cNvSpPr/>
          <p:nvPr/>
        </p:nvSpPr>
        <p:spPr>
          <a:xfrm>
            <a:off x="1457325" y="2524125"/>
            <a:ext cx="2592388" cy="2049463"/>
          </a:xfrm>
          <a:custGeom>
            <a:avLst/>
            <a:gdLst>
              <a:gd name="txL" fmla="*/ 0 w 1633"/>
              <a:gd name="txT" fmla="*/ 0 h 1291"/>
              <a:gd name="txR" fmla="*/ 1633 w 1633"/>
              <a:gd name="txB" fmla="*/ 1291 h 1291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633" h="1291">
                <a:moveTo>
                  <a:pt x="0" y="0"/>
                </a:moveTo>
                <a:lnTo>
                  <a:pt x="0" y="1290"/>
                </a:lnTo>
                <a:lnTo>
                  <a:pt x="1632" y="924"/>
                </a:lnTo>
                <a:lnTo>
                  <a:pt x="0" y="0"/>
                </a:lnTo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68" name="Line 3"/>
          <p:cNvSpPr/>
          <p:nvPr/>
        </p:nvSpPr>
        <p:spPr>
          <a:xfrm>
            <a:off x="1447800" y="1752600"/>
            <a:ext cx="0" cy="3276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1269" name="Line 4"/>
          <p:cNvSpPr/>
          <p:nvPr/>
        </p:nvSpPr>
        <p:spPr>
          <a:xfrm>
            <a:off x="1447800" y="5029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70" name="Line 5"/>
          <p:cNvSpPr/>
          <p:nvPr/>
        </p:nvSpPr>
        <p:spPr>
          <a:xfrm>
            <a:off x="1447800" y="2514600"/>
            <a:ext cx="4419600" cy="2514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71" name="Rectangle 6"/>
          <p:cNvSpPr/>
          <p:nvPr/>
        </p:nvSpPr>
        <p:spPr>
          <a:xfrm>
            <a:off x="5775325" y="44338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1272" name="Rectangle 7"/>
          <p:cNvSpPr/>
          <p:nvPr/>
        </p:nvSpPr>
        <p:spPr>
          <a:xfrm>
            <a:off x="6537325" y="51196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3" name="Rectangle 8"/>
          <p:cNvSpPr/>
          <p:nvPr/>
        </p:nvSpPr>
        <p:spPr>
          <a:xfrm>
            <a:off x="212725" y="13096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4" name="Line 9"/>
          <p:cNvSpPr/>
          <p:nvPr/>
        </p:nvSpPr>
        <p:spPr>
          <a:xfrm flipV="1">
            <a:off x="1447800" y="3657600"/>
            <a:ext cx="4114800" cy="91440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75" name="Rectangle 10"/>
          <p:cNvSpPr/>
          <p:nvPr/>
        </p:nvSpPr>
        <p:spPr>
          <a:xfrm>
            <a:off x="5622925" y="34432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11276" name="Line 11"/>
          <p:cNvSpPr/>
          <p:nvPr/>
        </p:nvSpPr>
        <p:spPr>
          <a:xfrm>
            <a:off x="4038600" y="3990975"/>
            <a:ext cx="0" cy="1038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11277" name="Object 12"/>
          <p:cNvGraphicFramePr/>
          <p:nvPr/>
        </p:nvGraphicFramePr>
        <p:xfrm>
          <a:off x="3941763" y="5084763"/>
          <a:ext cx="4603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339725" imgH="269875" progId="Equation.2">
                  <p:embed/>
                </p:oleObj>
              </mc:Choice>
              <mc:Fallback>
                <p:oleObj name="" r:id="rId1" imgW="339725" imgH="269875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1763" y="5084763"/>
                        <a:ext cx="4603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3"/>
          <p:cNvSpPr/>
          <p:nvPr/>
        </p:nvSpPr>
        <p:spPr>
          <a:xfrm>
            <a:off x="3289300" y="1112838"/>
            <a:ext cx="5738813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So the sum of the gains to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monopolist on all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trades is the maximum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possible total gains-to-trade.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79" name="Rectangle 15"/>
          <p:cNvSpPr/>
          <p:nvPr/>
        </p:nvSpPr>
        <p:spPr>
          <a:xfrm>
            <a:off x="1698625" y="3408363"/>
            <a:ext cx="7270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PS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Freeform 14"/>
          <p:cNvSpPr/>
          <p:nvPr/>
        </p:nvSpPr>
        <p:spPr>
          <a:xfrm>
            <a:off x="1457325" y="2524125"/>
            <a:ext cx="2592388" cy="2049463"/>
          </a:xfrm>
          <a:custGeom>
            <a:avLst/>
            <a:gdLst>
              <a:gd name="txL" fmla="*/ 0 w 1633"/>
              <a:gd name="txT" fmla="*/ 0 h 1291"/>
              <a:gd name="txR" fmla="*/ 1633 w 1633"/>
              <a:gd name="txB" fmla="*/ 1291 h 1291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633" h="1291">
                <a:moveTo>
                  <a:pt x="0" y="0"/>
                </a:moveTo>
                <a:lnTo>
                  <a:pt x="0" y="1290"/>
                </a:lnTo>
                <a:lnTo>
                  <a:pt x="1632" y="924"/>
                </a:lnTo>
                <a:lnTo>
                  <a:pt x="0" y="0"/>
                </a:lnTo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2" name="Line 3"/>
          <p:cNvSpPr/>
          <p:nvPr/>
        </p:nvSpPr>
        <p:spPr>
          <a:xfrm>
            <a:off x="1447800" y="1752600"/>
            <a:ext cx="0" cy="3276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2293" name="Line 4"/>
          <p:cNvSpPr/>
          <p:nvPr/>
        </p:nvSpPr>
        <p:spPr>
          <a:xfrm>
            <a:off x="1447800" y="5029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294" name="Line 5"/>
          <p:cNvSpPr/>
          <p:nvPr/>
        </p:nvSpPr>
        <p:spPr>
          <a:xfrm>
            <a:off x="1447800" y="2514600"/>
            <a:ext cx="4419600" cy="2514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95" name="Rectangle 6"/>
          <p:cNvSpPr/>
          <p:nvPr/>
        </p:nvSpPr>
        <p:spPr>
          <a:xfrm>
            <a:off x="5775325" y="44338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2296" name="Rectangle 7"/>
          <p:cNvSpPr/>
          <p:nvPr/>
        </p:nvSpPr>
        <p:spPr>
          <a:xfrm>
            <a:off x="6537325" y="51196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297" name="Rectangle 8"/>
          <p:cNvSpPr/>
          <p:nvPr/>
        </p:nvSpPr>
        <p:spPr>
          <a:xfrm>
            <a:off x="212725" y="13096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298" name="Line 9"/>
          <p:cNvSpPr/>
          <p:nvPr/>
        </p:nvSpPr>
        <p:spPr>
          <a:xfrm flipV="1">
            <a:off x="1447800" y="3657600"/>
            <a:ext cx="4114800" cy="91440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99" name="Rectangle 10"/>
          <p:cNvSpPr/>
          <p:nvPr/>
        </p:nvSpPr>
        <p:spPr>
          <a:xfrm>
            <a:off x="5622925" y="34432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12300" name="Line 11"/>
          <p:cNvSpPr/>
          <p:nvPr/>
        </p:nvSpPr>
        <p:spPr>
          <a:xfrm>
            <a:off x="4038600" y="3990975"/>
            <a:ext cx="0" cy="1038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12301" name="Object 12"/>
          <p:cNvGraphicFramePr/>
          <p:nvPr/>
        </p:nvGraphicFramePr>
        <p:xfrm>
          <a:off x="3941763" y="5084763"/>
          <a:ext cx="4603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339725" imgH="269875" progId="Equation.2">
                  <p:embed/>
                </p:oleObj>
              </mc:Choice>
              <mc:Fallback>
                <p:oleObj name="" r:id="rId1" imgW="339725" imgH="269875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1763" y="5084763"/>
                        <a:ext cx="4603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Rectangle 13"/>
          <p:cNvSpPr/>
          <p:nvPr/>
        </p:nvSpPr>
        <p:spPr>
          <a:xfrm>
            <a:off x="3289300" y="1112838"/>
            <a:ext cx="4672013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monopolist gets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maximum possible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gains from trade.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303" name="Rectangle 15"/>
          <p:cNvSpPr/>
          <p:nvPr/>
        </p:nvSpPr>
        <p:spPr>
          <a:xfrm>
            <a:off x="1698625" y="3408363"/>
            <a:ext cx="7270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PS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304" name="Rectangle 16"/>
          <p:cNvSpPr/>
          <p:nvPr/>
        </p:nvSpPr>
        <p:spPr>
          <a:xfrm>
            <a:off x="503238" y="5541963"/>
            <a:ext cx="6561137" cy="10779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First-degree price discrimination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is Pareto-efficient</a:t>
            </a:r>
            <a:r>
              <a:rPr lang="zh-CN" altLang="en-US" dirty="0">
                <a:ea typeface="宋体" panose="02010600030101010101" pitchFamily="2" charset="-122"/>
              </a:rPr>
              <a:t>帕累托有效的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一级价格歧视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垄断厂商获得全部的剩余，而消费者得到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剩余，产出水平是有效率的。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Second-degree Price Discrimination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二级价格歧视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二级价格歧视</a:t>
            </a:r>
            <a:r>
              <a:rPr lang="zh-CN" altLang="en-US" dirty="0">
                <a:ea typeface="宋体" panose="02010600030101010101" pitchFamily="2" charset="-122"/>
              </a:rPr>
              <a:t>：价格根据买方的需求量而变化，但是所有的消费者都面对相同的价格表。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例如量大购买时的折扣、优惠券、团购等、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Third-degree Price Discrimination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一个群体中的消费者都按照相同的价格购买商品；而不同群体中的消费者购买的价格不同。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E.g., </a:t>
            </a:r>
            <a:r>
              <a:rPr lang="zh-CN" altLang="en-US" dirty="0">
                <a:ea typeface="宋体" panose="02010600030101010101" pitchFamily="2" charset="-122"/>
              </a:rPr>
              <a:t>老人优惠，学生票，不同地区的差别定价。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7981950" cy="4381500"/>
          </a:xfrm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垄断厂商通过改变对不同群体市场的销售量来改变该市场价格。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每个市场的供给量应该是多少才能最大化利润？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8001000" cy="4381500"/>
          </a:xfrm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两个市场</a:t>
            </a:r>
            <a:r>
              <a:rPr lang="en-US" altLang="zh-CN" dirty="0">
                <a:ea typeface="宋体" panose="02010600030101010101" pitchFamily="2" charset="-122"/>
              </a:rPr>
              <a:t>, 1 and 2.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是市场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的供应量，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zh-CN" altLang="en-US" dirty="0">
                <a:ea typeface="宋体" panose="02010600030101010101" pitchFamily="2" charset="-122"/>
              </a:rPr>
              <a:t>是该市场的反需求函数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市场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的供应量，该市场的反需求函数是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厂商选择</a:t>
            </a: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zh-CN" altLang="en-US" baseline="-25000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以最大化如下利润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zh-CN" altLang="en-US" baseline="-25000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如何取值才能最大化利润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8436" name="Object 4"/>
          <p:cNvGraphicFramePr/>
          <p:nvPr/>
        </p:nvGraphicFramePr>
        <p:xfrm>
          <a:off x="617538" y="2438400"/>
          <a:ext cx="7832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4789805" imgH="287655" progId="Equation.2">
                  <p:embed/>
                </p:oleObj>
              </mc:Choice>
              <mc:Fallback>
                <p:oleObj name="" r:id="rId1" imgW="4789805" imgH="287655" progId="Equation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538" y="2438400"/>
                        <a:ext cx="78327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9459" name="Object 3"/>
          <p:cNvGraphicFramePr/>
          <p:nvPr/>
        </p:nvGraphicFramePr>
        <p:xfrm>
          <a:off x="617538" y="1304925"/>
          <a:ext cx="7832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4789805" imgH="287655" progId="Equation.2">
                  <p:embed/>
                </p:oleObj>
              </mc:Choice>
              <mc:Fallback>
                <p:oleObj name="" r:id="rId1" imgW="4789805" imgH="287655" progId="Equation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538" y="1304925"/>
                        <a:ext cx="78327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4"/>
          <p:cNvSpPr/>
          <p:nvPr/>
        </p:nvSpPr>
        <p:spPr>
          <a:xfrm>
            <a:off x="574675" y="2017713"/>
            <a:ext cx="3481388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利润最大化条件是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9461" name="Object 5"/>
          <p:cNvGraphicFramePr/>
          <p:nvPr/>
        </p:nvGraphicFramePr>
        <p:xfrm>
          <a:off x="361950" y="2741613"/>
          <a:ext cx="8469313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5190490" imgH="940435" progId="Equation.2">
                  <p:embed/>
                </p:oleObj>
              </mc:Choice>
              <mc:Fallback>
                <p:oleObj name="" r:id="rId3" imgW="5190490" imgH="940435" progId="Equation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1950" y="2741613"/>
                        <a:ext cx="8469313" cy="1471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0483" name="Object 3"/>
          <p:cNvGraphicFramePr/>
          <p:nvPr/>
        </p:nvGraphicFramePr>
        <p:xfrm>
          <a:off x="617538" y="1304925"/>
          <a:ext cx="7832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4789805" imgH="287655" progId="Equation.2">
                  <p:embed/>
                </p:oleObj>
              </mc:Choice>
              <mc:Fallback>
                <p:oleObj name="" r:id="rId1" imgW="4789805" imgH="287655" progId="Equation.2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538" y="1304925"/>
                        <a:ext cx="78327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4"/>
          <p:cNvSpPr/>
          <p:nvPr/>
        </p:nvSpPr>
        <p:spPr>
          <a:xfrm>
            <a:off x="574675" y="2017713"/>
            <a:ext cx="3481388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利润最大化条件是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0485" name="Object 5"/>
          <p:cNvGraphicFramePr/>
          <p:nvPr/>
        </p:nvGraphicFramePr>
        <p:xfrm>
          <a:off x="361950" y="2741613"/>
          <a:ext cx="8469313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5190490" imgH="940435" progId="Equation.2">
                  <p:embed/>
                </p:oleObj>
              </mc:Choice>
              <mc:Fallback>
                <p:oleObj name="" r:id="rId3" imgW="5190490" imgH="940435" progId="Equation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1950" y="2741613"/>
                        <a:ext cx="8469313" cy="1471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/>
          <p:nvPr/>
        </p:nvGraphicFramePr>
        <p:xfrm>
          <a:off x="284163" y="4408488"/>
          <a:ext cx="861695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5286375" imgH="940435" progId="Equation.2">
                  <p:embed/>
                </p:oleObj>
              </mc:Choice>
              <mc:Fallback>
                <p:oleObj name="" r:id="rId5" imgW="5286375" imgH="940435" progId="Equation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163" y="4408488"/>
                        <a:ext cx="8616950" cy="1462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1507" name="Object 3"/>
          <p:cNvGraphicFramePr/>
          <p:nvPr/>
        </p:nvGraphicFramePr>
        <p:xfrm>
          <a:off x="923925" y="1271588"/>
          <a:ext cx="24780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524000" imgH="626745" progId="Equation.2">
                  <p:embed/>
                </p:oleObj>
              </mc:Choice>
              <mc:Fallback>
                <p:oleObj name="" r:id="rId1" imgW="1524000" imgH="626745" progId="Equation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3925" y="1271588"/>
                        <a:ext cx="247808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/>
          <p:nvPr/>
        </p:nvGraphicFramePr>
        <p:xfrm>
          <a:off x="4567238" y="1271588"/>
          <a:ext cx="247808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1524000" imgH="626745" progId="Equation.2">
                  <p:embed/>
                </p:oleObj>
              </mc:Choice>
              <mc:Fallback>
                <p:oleObj name="" r:id="rId3" imgW="1524000" imgH="626745" progId="Equation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67238" y="1271588"/>
                        <a:ext cx="2478087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5"/>
          <p:cNvSpPr/>
          <p:nvPr/>
        </p:nvSpPr>
        <p:spPr>
          <a:xfrm>
            <a:off x="3551238" y="1446213"/>
            <a:ext cx="9064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10" name="Rectangle 6"/>
          <p:cNvSpPr/>
          <p:nvPr/>
        </p:nvSpPr>
        <p:spPr>
          <a:xfrm>
            <a:off x="7265988" y="1446213"/>
            <a:ext cx="6588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so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11" name="Rectangle 7"/>
          <p:cNvSpPr/>
          <p:nvPr/>
        </p:nvSpPr>
        <p:spPr>
          <a:xfrm>
            <a:off x="788988" y="2351088"/>
            <a:ext cx="348138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利润最大化条件是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1512" name="Object 8"/>
          <p:cNvGraphicFramePr/>
          <p:nvPr/>
        </p:nvGraphicFramePr>
        <p:xfrm>
          <a:off x="2038350" y="3143250"/>
          <a:ext cx="51069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5" imgW="3134995" imgH="626745" progId="Equation.2">
                  <p:embed/>
                </p:oleObj>
              </mc:Choice>
              <mc:Fallback>
                <p:oleObj name="" r:id="rId5" imgW="3134995" imgH="626745" progId="Equation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38350" y="3143250"/>
                        <a:ext cx="510698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9"/>
          <p:cNvSpPr/>
          <p:nvPr/>
        </p:nvSpPr>
        <p:spPr>
          <a:xfrm>
            <a:off x="860425" y="4056063"/>
            <a:ext cx="9048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1514" name="Object 10"/>
          <p:cNvGraphicFramePr/>
          <p:nvPr/>
        </p:nvGraphicFramePr>
        <p:xfrm>
          <a:off x="1958975" y="4310063"/>
          <a:ext cx="53530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3291840" imgH="626745" progId="Equation.2">
                  <p:embed/>
                </p:oleObj>
              </mc:Choice>
              <mc:Fallback>
                <p:oleObj name="" r:id="rId7" imgW="3291840" imgH="626745" progId="Equation.2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58975" y="4310063"/>
                        <a:ext cx="535305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2531" name="Object 3"/>
          <p:cNvGraphicFramePr/>
          <p:nvPr/>
        </p:nvGraphicFramePr>
        <p:xfrm>
          <a:off x="454025" y="1200150"/>
          <a:ext cx="82184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050790" imgH="626745" progId="Equation.2">
                  <p:embed/>
                </p:oleObj>
              </mc:Choice>
              <mc:Fallback>
                <p:oleObj name="" r:id="rId1" imgW="5050790" imgH="626745" progId="Equation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4025" y="1200150"/>
                        <a:ext cx="8218488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3555" name="Object 3"/>
          <p:cNvGraphicFramePr/>
          <p:nvPr/>
        </p:nvGraphicFramePr>
        <p:xfrm>
          <a:off x="454025" y="1200150"/>
          <a:ext cx="82184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5050790" imgH="626745" progId="Equation.2">
                  <p:embed/>
                </p:oleObj>
              </mc:Choice>
              <mc:Fallback>
                <p:oleObj name="" r:id="rId1" imgW="5050790" imgH="626745" progId="Equation.2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4025" y="1200150"/>
                        <a:ext cx="8218488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7"/>
          <p:cNvSpPr/>
          <p:nvPr/>
        </p:nvSpPr>
        <p:spPr>
          <a:xfrm>
            <a:off x="336550" y="2684463"/>
            <a:ext cx="8674100" cy="20621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MR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 = MR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zh-CN" altLang="en-US" dirty="0">
                <a:ea typeface="宋体" panose="02010600030101010101" pitchFamily="2" charset="-122"/>
              </a:rPr>
              <a:t>的条件能够最大化总收入，否则，如果</a:t>
            </a:r>
            <a:r>
              <a:rPr lang="en-US" altLang="zh-CN" dirty="0">
                <a:ea typeface="宋体" panose="02010600030101010101" pitchFamily="2" charset="-122"/>
              </a:rPr>
              <a:t>MR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 &gt; MR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zh-CN" altLang="en-US" dirty="0">
                <a:ea typeface="宋体" panose="02010600030101010101" pitchFamily="2" charset="-122"/>
              </a:rPr>
              <a:t>，厂商通过增加市场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的产量并减少市场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的产量就可以提高总收入。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3557" name="Group 10"/>
          <p:cNvGrpSpPr/>
          <p:nvPr/>
        </p:nvGrpSpPr>
        <p:grpSpPr>
          <a:xfrm>
            <a:off x="344488" y="2260600"/>
            <a:ext cx="5745162" cy="463550"/>
            <a:chOff x="217" y="1424"/>
            <a:chExt cx="3619" cy="292"/>
          </a:xfrm>
        </p:grpSpPr>
        <p:sp>
          <p:nvSpPr>
            <p:cNvPr id="23558" name="Rectangle 4"/>
            <p:cNvSpPr/>
            <p:nvPr/>
          </p:nvSpPr>
          <p:spPr>
            <a:xfrm rot="5400000">
              <a:off x="3451" y="1331"/>
              <a:ext cx="290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3200" b="1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v"/>
                <a:defRPr sz="3200" b="1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400" b="0" dirty="0">
                  <a:latin typeface="Symbol" panose="05050102010706020507" pitchFamily="18" charset="2"/>
                  <a:ea typeface="宋体" panose="02010600030101010101" pitchFamily="2" charset="-122"/>
                </a:rPr>
                <a:t>ü</a:t>
              </a:r>
              <a:endParaRPr lang="en-US" altLang="zh-CN" sz="4400" b="0" dirty="0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3559" name="Rectangle 5"/>
            <p:cNvSpPr/>
            <p:nvPr/>
          </p:nvSpPr>
          <p:spPr>
            <a:xfrm rot="5400000">
              <a:off x="1847" y="1329"/>
              <a:ext cx="290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3200" b="1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v"/>
                <a:defRPr sz="3200" b="1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400" b="0" dirty="0">
                  <a:latin typeface="Symbol" panose="05050102010706020507" pitchFamily="18" charset="2"/>
                  <a:ea typeface="宋体" panose="02010600030101010101" pitchFamily="2" charset="-122"/>
                </a:rPr>
                <a:t>ý</a:t>
              </a:r>
              <a:endParaRPr lang="en-US" altLang="zh-CN" sz="4400" b="0" dirty="0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3560" name="Rectangle 6"/>
            <p:cNvSpPr/>
            <p:nvPr/>
          </p:nvSpPr>
          <p:spPr>
            <a:xfrm rot="5400000">
              <a:off x="312" y="1329"/>
              <a:ext cx="290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u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3200" b="1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v"/>
                <a:defRPr sz="3200" b="1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400" b="0" dirty="0">
                  <a:latin typeface="Symbol" panose="05050102010706020507" pitchFamily="18" charset="2"/>
                  <a:ea typeface="宋体" panose="02010600030101010101" pitchFamily="2" charset="-122"/>
                </a:rPr>
                <a:t>þ</a:t>
              </a:r>
              <a:endParaRPr lang="en-US" altLang="zh-CN" sz="4400" b="0" dirty="0"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3561" name="Line 8"/>
            <p:cNvSpPr/>
            <p:nvPr/>
          </p:nvSpPr>
          <p:spPr>
            <a:xfrm>
              <a:off x="2184" y="1572"/>
              <a:ext cx="12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62" name="Line 9"/>
            <p:cNvSpPr/>
            <p:nvPr/>
          </p:nvSpPr>
          <p:spPr>
            <a:xfrm>
              <a:off x="588" y="1572"/>
              <a:ext cx="12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4579" name="Object 3"/>
          <p:cNvGraphicFramePr/>
          <p:nvPr/>
        </p:nvGraphicFramePr>
        <p:xfrm>
          <a:off x="454025" y="1200150"/>
          <a:ext cx="82184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5050790" imgH="626745" progId="Equation.2">
                  <p:embed/>
                </p:oleObj>
              </mc:Choice>
              <mc:Fallback>
                <p:oleObj name="" r:id="rId1" imgW="5050790" imgH="626745" progId="Equation.2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4025" y="1200150"/>
                        <a:ext cx="8218488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4"/>
          <p:cNvSpPr/>
          <p:nvPr/>
        </p:nvSpPr>
        <p:spPr>
          <a:xfrm rot="5400000">
            <a:off x="8051800" y="2085975"/>
            <a:ext cx="460375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latin typeface="Symbol" panose="05050102010706020507" pitchFamily="18" charset="2"/>
                <a:ea typeface="宋体" panose="02010600030101010101" pitchFamily="2" charset="-122"/>
              </a:rPr>
              <a:t>ü</a:t>
            </a:r>
            <a:endParaRPr lang="en-US" altLang="zh-CN" sz="4400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4581" name="Rectangle 5"/>
          <p:cNvSpPr/>
          <p:nvPr/>
        </p:nvSpPr>
        <p:spPr>
          <a:xfrm rot="5400000">
            <a:off x="4217988" y="2070100"/>
            <a:ext cx="460375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latin typeface="Symbol" panose="05050102010706020507" pitchFamily="18" charset="2"/>
                <a:ea typeface="宋体" panose="02010600030101010101" pitchFamily="2" charset="-122"/>
              </a:rPr>
              <a:t>ý</a:t>
            </a:r>
            <a:endParaRPr lang="en-US" altLang="zh-CN" sz="4400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4582" name="Rectangle 6"/>
          <p:cNvSpPr/>
          <p:nvPr/>
        </p:nvSpPr>
        <p:spPr>
          <a:xfrm rot="5400000">
            <a:off x="479425" y="2071688"/>
            <a:ext cx="460375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latin typeface="Symbol" panose="05050102010706020507" pitchFamily="18" charset="2"/>
                <a:ea typeface="宋体" panose="02010600030101010101" pitchFamily="2" charset="-122"/>
              </a:rPr>
              <a:t>þ</a:t>
            </a:r>
            <a:endParaRPr lang="en-US" altLang="zh-CN" sz="4400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24583" name="Rectangle 7"/>
          <p:cNvSpPr/>
          <p:nvPr/>
        </p:nvSpPr>
        <p:spPr>
          <a:xfrm>
            <a:off x="336550" y="2684463"/>
            <a:ext cx="8626475" cy="10779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利润最大化时，两个市场的边际收益等于企业的边际成本。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4" name="Line 8"/>
          <p:cNvSpPr/>
          <p:nvPr/>
        </p:nvSpPr>
        <p:spPr>
          <a:xfrm>
            <a:off x="4733925" y="2447925"/>
            <a:ext cx="33861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585" name="Line 9"/>
          <p:cNvSpPr/>
          <p:nvPr/>
        </p:nvSpPr>
        <p:spPr>
          <a:xfrm>
            <a:off x="1009650" y="2447925"/>
            <a:ext cx="3276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3" name="Line 3"/>
          <p:cNvSpPr/>
          <p:nvPr/>
        </p:nvSpPr>
        <p:spPr>
          <a:xfrm>
            <a:off x="1457325" y="1476375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5604" name="Line 4"/>
          <p:cNvSpPr/>
          <p:nvPr/>
        </p:nvSpPr>
        <p:spPr>
          <a:xfrm>
            <a:off x="1457325" y="4714875"/>
            <a:ext cx="29289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5605" name="Line 5"/>
          <p:cNvSpPr/>
          <p:nvPr/>
        </p:nvSpPr>
        <p:spPr>
          <a:xfrm>
            <a:off x="5148263" y="1476375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5606" name="Line 6"/>
          <p:cNvSpPr/>
          <p:nvPr/>
        </p:nvSpPr>
        <p:spPr>
          <a:xfrm>
            <a:off x="5148263" y="4714875"/>
            <a:ext cx="29289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5607" name="Line 7"/>
          <p:cNvSpPr/>
          <p:nvPr/>
        </p:nvSpPr>
        <p:spPr>
          <a:xfrm>
            <a:off x="1455738" y="2303463"/>
            <a:ext cx="2568575" cy="24098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08" name="Line 8"/>
          <p:cNvSpPr/>
          <p:nvPr/>
        </p:nvSpPr>
        <p:spPr>
          <a:xfrm>
            <a:off x="5149850" y="2663825"/>
            <a:ext cx="1385888" cy="2049463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09" name="Line 9"/>
          <p:cNvSpPr/>
          <p:nvPr/>
        </p:nvSpPr>
        <p:spPr>
          <a:xfrm>
            <a:off x="1455738" y="2317750"/>
            <a:ext cx="1616075" cy="30019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0" name="Line 10"/>
          <p:cNvSpPr/>
          <p:nvPr/>
        </p:nvSpPr>
        <p:spPr>
          <a:xfrm>
            <a:off x="5164138" y="2678113"/>
            <a:ext cx="881062" cy="26416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1" name="Line 11"/>
          <p:cNvSpPr/>
          <p:nvPr/>
        </p:nvSpPr>
        <p:spPr>
          <a:xfrm>
            <a:off x="1455738" y="4106863"/>
            <a:ext cx="2411412" cy="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2" name="Line 12"/>
          <p:cNvSpPr/>
          <p:nvPr/>
        </p:nvSpPr>
        <p:spPr>
          <a:xfrm>
            <a:off x="5143500" y="4106863"/>
            <a:ext cx="1565275" cy="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3" name="Line 13"/>
          <p:cNvSpPr/>
          <p:nvPr/>
        </p:nvSpPr>
        <p:spPr>
          <a:xfrm flipV="1">
            <a:off x="2379663" y="3168650"/>
            <a:ext cx="0" cy="15446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4" name="Line 14"/>
          <p:cNvSpPr/>
          <p:nvPr/>
        </p:nvSpPr>
        <p:spPr>
          <a:xfrm flipV="1">
            <a:off x="5626100" y="340042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5" name="Line 15"/>
          <p:cNvSpPr/>
          <p:nvPr/>
        </p:nvSpPr>
        <p:spPr>
          <a:xfrm flipH="1">
            <a:off x="1455738" y="3182938"/>
            <a:ext cx="9239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6" name="Line 16"/>
          <p:cNvSpPr/>
          <p:nvPr/>
        </p:nvSpPr>
        <p:spPr>
          <a:xfrm flipH="1">
            <a:off x="5149850" y="3386138"/>
            <a:ext cx="4762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7" name="Oval 17"/>
          <p:cNvSpPr/>
          <p:nvPr/>
        </p:nvSpPr>
        <p:spPr>
          <a:xfrm>
            <a:off x="2306638" y="4021138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18" name="Oval 18"/>
          <p:cNvSpPr/>
          <p:nvPr/>
        </p:nvSpPr>
        <p:spPr>
          <a:xfrm>
            <a:off x="5534025" y="4006850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19" name="Oval 19"/>
          <p:cNvSpPr/>
          <p:nvPr/>
        </p:nvSpPr>
        <p:spPr>
          <a:xfrm>
            <a:off x="1363663" y="309721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20" name="Oval 20"/>
          <p:cNvSpPr/>
          <p:nvPr/>
        </p:nvSpPr>
        <p:spPr>
          <a:xfrm>
            <a:off x="2305050" y="462756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21" name="Oval 21"/>
          <p:cNvSpPr/>
          <p:nvPr/>
        </p:nvSpPr>
        <p:spPr>
          <a:xfrm>
            <a:off x="5076825" y="330041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22" name="Oval 22"/>
          <p:cNvSpPr/>
          <p:nvPr/>
        </p:nvSpPr>
        <p:spPr>
          <a:xfrm>
            <a:off x="5551488" y="462756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5623" name="Rectangle 23"/>
          <p:cNvSpPr/>
          <p:nvPr/>
        </p:nvSpPr>
        <p:spPr>
          <a:xfrm>
            <a:off x="2781300" y="5295900"/>
            <a:ext cx="144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MR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5624" name="Rectangle 24"/>
          <p:cNvSpPr/>
          <p:nvPr/>
        </p:nvSpPr>
        <p:spPr>
          <a:xfrm>
            <a:off x="5738813" y="5295900"/>
            <a:ext cx="144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MR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5625" name="Rectangle 25"/>
          <p:cNvSpPr/>
          <p:nvPr/>
        </p:nvSpPr>
        <p:spPr>
          <a:xfrm>
            <a:off x="4164013" y="4705350"/>
            <a:ext cx="5572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5626" name="Rectangle 26"/>
          <p:cNvSpPr/>
          <p:nvPr/>
        </p:nvSpPr>
        <p:spPr>
          <a:xfrm>
            <a:off x="7864475" y="4705350"/>
            <a:ext cx="5572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5627" name="Rectangle 27"/>
          <p:cNvSpPr/>
          <p:nvPr/>
        </p:nvSpPr>
        <p:spPr>
          <a:xfrm>
            <a:off x="2112963" y="4708525"/>
            <a:ext cx="7159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28" name="Rectangle 28"/>
          <p:cNvSpPr/>
          <p:nvPr/>
        </p:nvSpPr>
        <p:spPr>
          <a:xfrm>
            <a:off x="5216525" y="4708525"/>
            <a:ext cx="7159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29" name="Rectangle 29"/>
          <p:cNvSpPr/>
          <p:nvPr/>
        </p:nvSpPr>
        <p:spPr>
          <a:xfrm>
            <a:off x="131763" y="2908300"/>
            <a:ext cx="1244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*)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30" name="Rectangle 30"/>
          <p:cNvSpPr/>
          <p:nvPr/>
        </p:nvSpPr>
        <p:spPr>
          <a:xfrm>
            <a:off x="3865563" y="3117850"/>
            <a:ext cx="1244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31" name="Rectangle 31"/>
          <p:cNvSpPr/>
          <p:nvPr/>
        </p:nvSpPr>
        <p:spPr>
          <a:xfrm>
            <a:off x="3832225" y="3881438"/>
            <a:ext cx="7366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25632" name="Rectangle 32"/>
          <p:cNvSpPr/>
          <p:nvPr/>
        </p:nvSpPr>
        <p:spPr>
          <a:xfrm>
            <a:off x="6689725" y="3881438"/>
            <a:ext cx="7366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25633" name="Rectangle 33"/>
          <p:cNvSpPr/>
          <p:nvPr/>
        </p:nvSpPr>
        <p:spPr>
          <a:xfrm>
            <a:off x="1812925" y="2185988"/>
            <a:ext cx="11064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5634" name="Rectangle 34"/>
          <p:cNvSpPr/>
          <p:nvPr/>
        </p:nvSpPr>
        <p:spPr>
          <a:xfrm>
            <a:off x="5356225" y="2547938"/>
            <a:ext cx="11064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5635" name="Rectangle 35"/>
          <p:cNvSpPr/>
          <p:nvPr/>
        </p:nvSpPr>
        <p:spPr>
          <a:xfrm>
            <a:off x="1860550" y="1252538"/>
            <a:ext cx="16271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Market 1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36" name="Rectangle 36"/>
          <p:cNvSpPr/>
          <p:nvPr/>
        </p:nvSpPr>
        <p:spPr>
          <a:xfrm>
            <a:off x="5503863" y="1252538"/>
            <a:ext cx="16271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Market 2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37" name="Rectangle 37"/>
          <p:cNvSpPr/>
          <p:nvPr/>
        </p:nvSpPr>
        <p:spPr>
          <a:xfrm>
            <a:off x="217488" y="5875338"/>
            <a:ext cx="49085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MR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*) = MR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*) = MC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27" name="Line 3"/>
          <p:cNvSpPr/>
          <p:nvPr/>
        </p:nvSpPr>
        <p:spPr>
          <a:xfrm>
            <a:off x="1457325" y="1476375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6628" name="Line 4"/>
          <p:cNvSpPr/>
          <p:nvPr/>
        </p:nvSpPr>
        <p:spPr>
          <a:xfrm>
            <a:off x="1457325" y="4714875"/>
            <a:ext cx="29289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6629" name="Line 5"/>
          <p:cNvSpPr/>
          <p:nvPr/>
        </p:nvSpPr>
        <p:spPr>
          <a:xfrm>
            <a:off x="5148263" y="1476375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6630" name="Line 6"/>
          <p:cNvSpPr/>
          <p:nvPr/>
        </p:nvSpPr>
        <p:spPr>
          <a:xfrm>
            <a:off x="5148263" y="4714875"/>
            <a:ext cx="29289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6631" name="Line 7"/>
          <p:cNvSpPr/>
          <p:nvPr/>
        </p:nvSpPr>
        <p:spPr>
          <a:xfrm>
            <a:off x="1455738" y="2303463"/>
            <a:ext cx="2568575" cy="24098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2" name="Line 8"/>
          <p:cNvSpPr/>
          <p:nvPr/>
        </p:nvSpPr>
        <p:spPr>
          <a:xfrm>
            <a:off x="5149850" y="2663825"/>
            <a:ext cx="1385888" cy="2049463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3" name="Line 9"/>
          <p:cNvSpPr/>
          <p:nvPr/>
        </p:nvSpPr>
        <p:spPr>
          <a:xfrm>
            <a:off x="1455738" y="2317750"/>
            <a:ext cx="1616075" cy="30019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4" name="Line 10"/>
          <p:cNvSpPr/>
          <p:nvPr/>
        </p:nvSpPr>
        <p:spPr>
          <a:xfrm>
            <a:off x="5164138" y="2678113"/>
            <a:ext cx="881062" cy="26416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5" name="Line 11"/>
          <p:cNvSpPr/>
          <p:nvPr/>
        </p:nvSpPr>
        <p:spPr>
          <a:xfrm>
            <a:off x="1455738" y="4106863"/>
            <a:ext cx="2411412" cy="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6" name="Line 12"/>
          <p:cNvSpPr/>
          <p:nvPr/>
        </p:nvSpPr>
        <p:spPr>
          <a:xfrm>
            <a:off x="5143500" y="4106863"/>
            <a:ext cx="1565275" cy="0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7" name="Line 13"/>
          <p:cNvSpPr/>
          <p:nvPr/>
        </p:nvSpPr>
        <p:spPr>
          <a:xfrm flipV="1">
            <a:off x="2379663" y="3168650"/>
            <a:ext cx="0" cy="15446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8" name="Line 14"/>
          <p:cNvSpPr/>
          <p:nvPr/>
        </p:nvSpPr>
        <p:spPr>
          <a:xfrm flipV="1">
            <a:off x="5626100" y="340042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9" name="Line 15"/>
          <p:cNvSpPr/>
          <p:nvPr/>
        </p:nvSpPr>
        <p:spPr>
          <a:xfrm flipH="1">
            <a:off x="1455738" y="3182938"/>
            <a:ext cx="9239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40" name="Line 16"/>
          <p:cNvSpPr/>
          <p:nvPr/>
        </p:nvSpPr>
        <p:spPr>
          <a:xfrm flipH="1">
            <a:off x="5149850" y="3386138"/>
            <a:ext cx="4762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41" name="Oval 17"/>
          <p:cNvSpPr/>
          <p:nvPr/>
        </p:nvSpPr>
        <p:spPr>
          <a:xfrm>
            <a:off x="2306638" y="4021138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2" name="Oval 18"/>
          <p:cNvSpPr/>
          <p:nvPr/>
        </p:nvSpPr>
        <p:spPr>
          <a:xfrm>
            <a:off x="5534025" y="4006850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3" name="Oval 19"/>
          <p:cNvSpPr/>
          <p:nvPr/>
        </p:nvSpPr>
        <p:spPr>
          <a:xfrm>
            <a:off x="1363663" y="309721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4" name="Oval 20"/>
          <p:cNvSpPr/>
          <p:nvPr/>
        </p:nvSpPr>
        <p:spPr>
          <a:xfrm>
            <a:off x="2305050" y="462756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5" name="Oval 21"/>
          <p:cNvSpPr/>
          <p:nvPr/>
        </p:nvSpPr>
        <p:spPr>
          <a:xfrm>
            <a:off x="5076825" y="330041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6" name="Oval 22"/>
          <p:cNvSpPr/>
          <p:nvPr/>
        </p:nvSpPr>
        <p:spPr>
          <a:xfrm>
            <a:off x="5551488" y="4627563"/>
            <a:ext cx="158750" cy="15875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26647" name="Rectangle 23"/>
          <p:cNvSpPr/>
          <p:nvPr/>
        </p:nvSpPr>
        <p:spPr>
          <a:xfrm>
            <a:off x="2781300" y="5295900"/>
            <a:ext cx="144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MR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6648" name="Rectangle 24"/>
          <p:cNvSpPr/>
          <p:nvPr/>
        </p:nvSpPr>
        <p:spPr>
          <a:xfrm>
            <a:off x="5738813" y="5295900"/>
            <a:ext cx="144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MR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6649" name="Rectangle 25"/>
          <p:cNvSpPr/>
          <p:nvPr/>
        </p:nvSpPr>
        <p:spPr>
          <a:xfrm>
            <a:off x="4164013" y="4705350"/>
            <a:ext cx="55721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50" name="Rectangle 26"/>
          <p:cNvSpPr/>
          <p:nvPr/>
        </p:nvSpPr>
        <p:spPr>
          <a:xfrm>
            <a:off x="7864475" y="4705350"/>
            <a:ext cx="55721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51" name="Rectangle 27"/>
          <p:cNvSpPr/>
          <p:nvPr/>
        </p:nvSpPr>
        <p:spPr>
          <a:xfrm>
            <a:off x="2112963" y="4708525"/>
            <a:ext cx="7159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52" name="Rectangle 28"/>
          <p:cNvSpPr/>
          <p:nvPr/>
        </p:nvSpPr>
        <p:spPr>
          <a:xfrm>
            <a:off x="5216525" y="4708525"/>
            <a:ext cx="7159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53" name="Rectangle 29"/>
          <p:cNvSpPr/>
          <p:nvPr/>
        </p:nvSpPr>
        <p:spPr>
          <a:xfrm>
            <a:off x="131763" y="2908300"/>
            <a:ext cx="1244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*)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54" name="Rectangle 30"/>
          <p:cNvSpPr/>
          <p:nvPr/>
        </p:nvSpPr>
        <p:spPr>
          <a:xfrm>
            <a:off x="3865563" y="3117850"/>
            <a:ext cx="1244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55" name="Rectangle 31"/>
          <p:cNvSpPr/>
          <p:nvPr/>
        </p:nvSpPr>
        <p:spPr>
          <a:xfrm>
            <a:off x="3832225" y="3881438"/>
            <a:ext cx="7366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26656" name="Rectangle 32"/>
          <p:cNvSpPr/>
          <p:nvPr/>
        </p:nvSpPr>
        <p:spPr>
          <a:xfrm>
            <a:off x="6689725" y="3881438"/>
            <a:ext cx="7366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26657" name="Rectangle 33"/>
          <p:cNvSpPr/>
          <p:nvPr/>
        </p:nvSpPr>
        <p:spPr>
          <a:xfrm>
            <a:off x="1812925" y="2185988"/>
            <a:ext cx="11064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6658" name="Rectangle 34"/>
          <p:cNvSpPr/>
          <p:nvPr/>
        </p:nvSpPr>
        <p:spPr>
          <a:xfrm>
            <a:off x="5356225" y="2547938"/>
            <a:ext cx="11064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(y</a:t>
            </a:r>
            <a:r>
              <a:rPr lang="en-US" altLang="zh-CN" sz="2800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6659" name="Rectangle 35"/>
          <p:cNvSpPr/>
          <p:nvPr/>
        </p:nvSpPr>
        <p:spPr>
          <a:xfrm>
            <a:off x="1860550" y="1252538"/>
            <a:ext cx="16271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Market 1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60" name="Rectangle 36"/>
          <p:cNvSpPr/>
          <p:nvPr/>
        </p:nvSpPr>
        <p:spPr>
          <a:xfrm>
            <a:off x="5503863" y="1252538"/>
            <a:ext cx="163036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Market 2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61" name="Rectangle 37"/>
          <p:cNvSpPr/>
          <p:nvPr/>
        </p:nvSpPr>
        <p:spPr>
          <a:xfrm>
            <a:off x="217488" y="5875338"/>
            <a:ext cx="88185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MR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*) = MR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*) = MC and 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¹</a:t>
            </a:r>
            <a:r>
              <a:rPr lang="en-US" altLang="zh-CN" dirty="0">
                <a:ea typeface="宋体" panose="02010600030101010101" pitchFamily="2" charset="-122"/>
              </a:rPr>
              <a:t>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那个市场的价格更高呢？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那个市场的价格更高呢？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回忆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8676" name="Object 4"/>
          <p:cNvGraphicFramePr/>
          <p:nvPr/>
        </p:nvGraphicFramePr>
        <p:xfrm>
          <a:off x="2462213" y="2851150"/>
          <a:ext cx="438308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699385" imgH="679450" progId="Equation.2">
                  <p:embed/>
                </p:oleObj>
              </mc:Choice>
              <mc:Fallback>
                <p:oleObj name="" r:id="rId1" imgW="2699385" imgH="679450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62213" y="2851150"/>
                        <a:ext cx="4383087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/>
          <p:nvPr/>
        </p:nvGraphicFramePr>
        <p:xfrm>
          <a:off x="2408238" y="4017963"/>
          <a:ext cx="46164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856230" imgH="679450" progId="Equation.2">
                  <p:embed/>
                </p:oleObj>
              </mc:Choice>
              <mc:Fallback>
                <p:oleObj name="" r:id="rId3" imgW="2856230" imgH="67945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08238" y="4017963"/>
                        <a:ext cx="4616450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6"/>
          <p:cNvSpPr/>
          <p:nvPr/>
        </p:nvSpPr>
        <p:spPr>
          <a:xfrm>
            <a:off x="1241425" y="3684588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and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那个市场的价格更高呢？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回忆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But,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9700" name="Object 4"/>
          <p:cNvGraphicFramePr/>
          <p:nvPr/>
        </p:nvGraphicFramePr>
        <p:xfrm>
          <a:off x="2462213" y="2851150"/>
          <a:ext cx="438308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699385" imgH="679450" progId="Equation.2">
                  <p:embed/>
                </p:oleObj>
              </mc:Choice>
              <mc:Fallback>
                <p:oleObj name="" r:id="rId1" imgW="2699385" imgH="679450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62213" y="2851150"/>
                        <a:ext cx="4383087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/>
          <p:nvPr/>
        </p:nvGraphicFramePr>
        <p:xfrm>
          <a:off x="2408238" y="4017963"/>
          <a:ext cx="46164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856230" imgH="679450" progId="Equation.2">
                  <p:embed/>
                </p:oleObj>
              </mc:Choice>
              <mc:Fallback>
                <p:oleObj name="" r:id="rId3" imgW="2856230" imgH="679450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08238" y="4017963"/>
                        <a:ext cx="4616450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6"/>
          <p:cNvSpPr/>
          <p:nvPr/>
        </p:nvSpPr>
        <p:spPr>
          <a:xfrm>
            <a:off x="1241425" y="3684588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9703" name="Object 7"/>
          <p:cNvGraphicFramePr/>
          <p:nvPr/>
        </p:nvGraphicFramePr>
        <p:xfrm>
          <a:off x="2157413" y="5102225"/>
          <a:ext cx="60055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3727450" imgH="374650" progId="Equation.2">
                  <p:embed/>
                </p:oleObj>
              </mc:Choice>
              <mc:Fallback>
                <p:oleObj name="" r:id="rId5" imgW="3727450" imgH="374650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57413" y="5102225"/>
                        <a:ext cx="6005512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723" name="Object 3"/>
          <p:cNvGraphicFramePr/>
          <p:nvPr/>
        </p:nvGraphicFramePr>
        <p:xfrm>
          <a:off x="1841500" y="1017588"/>
          <a:ext cx="55197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404870" imgH="679450" progId="Equation.2">
                  <p:embed/>
                </p:oleObj>
              </mc:Choice>
              <mc:Fallback>
                <p:oleObj name="" r:id="rId1" imgW="3404870" imgH="679450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41500" y="1017588"/>
                        <a:ext cx="5519738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/>
          <p:cNvSpPr/>
          <p:nvPr/>
        </p:nvSpPr>
        <p:spPr>
          <a:xfrm>
            <a:off x="622300" y="1208088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So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1747" name="Object 3"/>
          <p:cNvGraphicFramePr/>
          <p:nvPr/>
        </p:nvGraphicFramePr>
        <p:xfrm>
          <a:off x="1841500" y="1017588"/>
          <a:ext cx="55197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404870" imgH="679450" progId="Equation.2">
                  <p:embed/>
                </p:oleObj>
              </mc:Choice>
              <mc:Fallback>
                <p:oleObj name="" r:id="rId1" imgW="3404870" imgH="679450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41500" y="1017588"/>
                        <a:ext cx="5519738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Rectangle 4"/>
          <p:cNvSpPr/>
          <p:nvPr/>
        </p:nvSpPr>
        <p:spPr>
          <a:xfrm>
            <a:off x="622300" y="1208088"/>
            <a:ext cx="100965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所以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9" name="Rectangle 5"/>
          <p:cNvSpPr/>
          <p:nvPr/>
        </p:nvSpPr>
        <p:spPr>
          <a:xfrm>
            <a:off x="622300" y="2422525"/>
            <a:ext cx="5248275" cy="5857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因此</a:t>
            </a:r>
            <a:r>
              <a:rPr lang="en-US" altLang="zh-CN" dirty="0">
                <a:ea typeface="宋体" panose="02010600030101010101" pitchFamily="2" charset="-122"/>
              </a:rPr>
              <a:t>,                             </a:t>
            </a:r>
            <a:r>
              <a:rPr lang="zh-CN" altLang="en-US" dirty="0">
                <a:ea typeface="宋体" panose="02010600030101010101" pitchFamily="2" charset="-122"/>
              </a:rPr>
              <a:t>仅当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1750" name="Object 6"/>
          <p:cNvGraphicFramePr/>
          <p:nvPr/>
        </p:nvGraphicFramePr>
        <p:xfrm>
          <a:off x="1951038" y="2405063"/>
          <a:ext cx="27289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689735" imgH="374650" progId="Equation.2">
                  <p:embed/>
                </p:oleObj>
              </mc:Choice>
              <mc:Fallback>
                <p:oleObj name="" r:id="rId3" imgW="1689735" imgH="374650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51038" y="2405063"/>
                        <a:ext cx="2728912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/>
          <p:nvPr/>
        </p:nvGraphicFramePr>
        <p:xfrm>
          <a:off x="1993900" y="3270250"/>
          <a:ext cx="23764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1480185" imgH="626745" progId="Equation.2">
                  <p:embed/>
                </p:oleObj>
              </mc:Choice>
              <mc:Fallback>
                <p:oleObj name="" r:id="rId5" imgW="1480185" imgH="626745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3270250"/>
                        <a:ext cx="2376488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2771" name="Object 3"/>
          <p:cNvGraphicFramePr/>
          <p:nvPr/>
        </p:nvGraphicFramePr>
        <p:xfrm>
          <a:off x="1841500" y="1017588"/>
          <a:ext cx="55197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404870" imgH="679450" progId="Equation.2">
                  <p:embed/>
                </p:oleObj>
              </mc:Choice>
              <mc:Fallback>
                <p:oleObj name="" r:id="rId1" imgW="3404870" imgH="679450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41500" y="1017588"/>
                        <a:ext cx="5519738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/>
          <p:nvPr/>
        </p:nvSpPr>
        <p:spPr>
          <a:xfrm>
            <a:off x="622300" y="1208088"/>
            <a:ext cx="100965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所以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3" name="Rectangle 5"/>
          <p:cNvSpPr/>
          <p:nvPr/>
        </p:nvSpPr>
        <p:spPr>
          <a:xfrm>
            <a:off x="622300" y="2422525"/>
            <a:ext cx="5248275" cy="5857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因此</a:t>
            </a:r>
            <a:r>
              <a:rPr lang="en-US" altLang="zh-CN" dirty="0">
                <a:ea typeface="宋体" panose="02010600030101010101" pitchFamily="2" charset="-122"/>
              </a:rPr>
              <a:t>,                             </a:t>
            </a:r>
            <a:r>
              <a:rPr lang="zh-CN" altLang="en-US" dirty="0">
                <a:ea typeface="宋体" panose="02010600030101010101" pitchFamily="2" charset="-122"/>
              </a:rPr>
              <a:t>仅当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2774" name="Object 6"/>
          <p:cNvGraphicFramePr/>
          <p:nvPr/>
        </p:nvGraphicFramePr>
        <p:xfrm>
          <a:off x="1865313" y="2471738"/>
          <a:ext cx="27289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1689735" imgH="374650" progId="Equation.2">
                  <p:embed/>
                </p:oleObj>
              </mc:Choice>
              <mc:Fallback>
                <p:oleObj name="" r:id="rId3" imgW="1689735" imgH="374650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5313" y="2471738"/>
                        <a:ext cx="2728912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/>
          <p:nvPr/>
        </p:nvGraphicFramePr>
        <p:xfrm>
          <a:off x="2011363" y="3270250"/>
          <a:ext cx="48275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995930" imgH="626745" progId="Equation.2">
                  <p:embed/>
                </p:oleObj>
              </mc:Choice>
              <mc:Fallback>
                <p:oleObj name="" r:id="rId5" imgW="2995930" imgH="626745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11363" y="3270250"/>
                        <a:ext cx="4827587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三级价格歧视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3795" name="Object 3"/>
          <p:cNvGraphicFramePr/>
          <p:nvPr/>
        </p:nvGraphicFramePr>
        <p:xfrm>
          <a:off x="1841500" y="1017588"/>
          <a:ext cx="55197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404870" imgH="679450" progId="Equation.2">
                  <p:embed/>
                </p:oleObj>
              </mc:Choice>
              <mc:Fallback>
                <p:oleObj name="" r:id="rId1" imgW="3404870" imgH="679450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41500" y="1017588"/>
                        <a:ext cx="5519738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4"/>
          <p:cNvSpPr/>
          <p:nvPr/>
        </p:nvSpPr>
        <p:spPr>
          <a:xfrm>
            <a:off x="622300" y="1208088"/>
            <a:ext cx="1009650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所以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7" name="Rectangle 5"/>
          <p:cNvSpPr/>
          <p:nvPr/>
        </p:nvSpPr>
        <p:spPr>
          <a:xfrm>
            <a:off x="622300" y="2422525"/>
            <a:ext cx="5248275" cy="5857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因此</a:t>
            </a:r>
            <a:r>
              <a:rPr lang="en-US" altLang="zh-CN" dirty="0">
                <a:ea typeface="宋体" panose="02010600030101010101" pitchFamily="2" charset="-122"/>
              </a:rPr>
              <a:t>,                             </a:t>
            </a:r>
            <a:r>
              <a:rPr lang="zh-CN" altLang="en-US" dirty="0">
                <a:ea typeface="宋体" panose="02010600030101010101" pitchFamily="2" charset="-122"/>
              </a:rPr>
              <a:t>仅当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3798" name="Object 6"/>
          <p:cNvGraphicFramePr/>
          <p:nvPr/>
        </p:nvGraphicFramePr>
        <p:xfrm>
          <a:off x="1865313" y="2424113"/>
          <a:ext cx="27289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689735" imgH="374650" progId="Equation.2">
                  <p:embed/>
                </p:oleObj>
              </mc:Choice>
              <mc:Fallback>
                <p:oleObj name="" r:id="rId3" imgW="1689735" imgH="374650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5313" y="2424113"/>
                        <a:ext cx="2728912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/>
          <p:nvPr/>
        </p:nvGraphicFramePr>
        <p:xfrm>
          <a:off x="2011363" y="3270250"/>
          <a:ext cx="48275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2995930" imgH="626745" progId="Equation.2">
                  <p:embed/>
                </p:oleObj>
              </mc:Choice>
              <mc:Fallback>
                <p:oleObj name="" r:id="rId5" imgW="2995930" imgH="626745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11363" y="3270250"/>
                        <a:ext cx="4827587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Rectangle 8"/>
          <p:cNvSpPr/>
          <p:nvPr/>
        </p:nvSpPr>
        <p:spPr>
          <a:xfrm>
            <a:off x="622300" y="4327525"/>
            <a:ext cx="8013700" cy="5857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垄断厂商在弹性绝对值更大的市场定低价。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例子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95300" y="1181100"/>
            <a:ext cx="8115300" cy="4381500"/>
          </a:xfrm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两个分离的市场的反需求函数分别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=105-Q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=60-0.2Q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MC=15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）如果垄断厂商按照三级价格歧视定价。两个市场的价格各是多少？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）如果两个市场统一定价，价格是多少？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Bundling</a:t>
            </a:r>
            <a:r>
              <a:rPr lang="zh-CN" altLang="en-US" dirty="0">
                <a:ea typeface="宋体" panose="02010600030101010101" pitchFamily="2" charset="-122"/>
              </a:rPr>
              <a:t>捆绑销售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685800" y="1266825"/>
            <a:ext cx="8029575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Bundling: sell goods in bundles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762000" y="342900"/>
            <a:ext cx="7256463" cy="762000"/>
          </a:xfrm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捆绑销售</a:t>
            </a:r>
            <a:endParaRPr lang="zh-CN" altLang="en-US" b="1" dirty="0">
              <a:ea typeface="黑体" panose="02010609060101010101" pitchFamily="2" charset="-122"/>
            </a:endParaRPr>
          </a:p>
        </p:txBody>
      </p:sp>
      <p:graphicFrame>
        <p:nvGraphicFramePr>
          <p:cNvPr id="195587" name="Group 3"/>
          <p:cNvGraphicFramePr>
            <a:graphicFrameLocks noGrp="1"/>
          </p:cNvGraphicFramePr>
          <p:nvPr>
            <p:ph type="body" idx="1"/>
          </p:nvPr>
        </p:nvGraphicFramePr>
        <p:xfrm>
          <a:off x="685800" y="1485900"/>
          <a:ext cx="7772400" cy="43815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145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type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Word processor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Spread sheet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5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A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400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5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300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捆绑销售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685800" y="1266825"/>
            <a:ext cx="8029575" cy="4381500"/>
          </a:xfrm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垄断者在市场中卖这两种商品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类概率相同</a:t>
            </a:r>
            <a:r>
              <a:rPr lang="en-US" altLang="zh-CN" dirty="0">
                <a:ea typeface="宋体" panose="02010600030101010101" pitchFamily="2" charset="-122"/>
              </a:rPr>
              <a:t>(0.25)</a:t>
            </a:r>
            <a:r>
              <a:rPr lang="zh-CN" altLang="en-US" dirty="0">
                <a:ea typeface="宋体" panose="02010600030101010101" pitchFamily="2" charset="-122"/>
              </a:rPr>
              <a:t>但对这两种商品估值不同的消费者，但垄断厂商不能够鉴别。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厂商有两个选择：</a:t>
            </a:r>
            <a:r>
              <a:rPr lang="en-US" altLang="zh-CN" dirty="0">
                <a:ea typeface="宋体" panose="02010600030101010101" pitchFamily="2" charset="-122"/>
              </a:rPr>
              <a:t>1.</a:t>
            </a:r>
            <a:r>
              <a:rPr lang="zh-CN" altLang="en-US" dirty="0">
                <a:ea typeface="宋体" panose="02010600030101010101" pitchFamily="2" charset="-122"/>
              </a:rPr>
              <a:t>分别售卖，</a:t>
            </a:r>
            <a:r>
              <a:rPr lang="en-US" altLang="zh-CN" dirty="0">
                <a:ea typeface="宋体" panose="02010600030101010101" pitchFamily="2" charset="-122"/>
              </a:rPr>
              <a:t>2.</a:t>
            </a:r>
            <a:r>
              <a:rPr lang="zh-CN" altLang="en-US" dirty="0">
                <a:ea typeface="宋体" panose="02010600030101010101" pitchFamily="2" charset="-122"/>
              </a:rPr>
              <a:t>捆绑售卖。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那个选择更好？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endParaRPr lang="zh-CN" altLang="zh-CN" dirty="0"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7934325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type</a:t>
            </a:r>
            <a:r>
              <a:rPr lang="zh-CN" altLang="en-US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ea typeface="宋体" panose="02010600030101010101" pitchFamily="2" charset="-122"/>
              </a:rPr>
              <a:t>value1     value2    probabilities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           90           10             0.25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            80           40             0.25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            40           80             0.25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            10           90             0.25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Two-Part Tariffs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两部收费制指的是一次性收费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加上对所购买的每单位商品的价格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购买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r>
              <a:rPr lang="zh-CN" altLang="en-US" dirty="0">
                <a:ea typeface="宋体" panose="02010600030101010101" pitchFamily="2" charset="-122"/>
              </a:rPr>
              <a:t>单位商品的花费就是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	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+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x.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垄断厂商是否会选择两部定价，或者选择价格歧视？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如何设计两部定价？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 			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+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</a:t>
            </a:r>
            <a:r>
              <a:rPr lang="zh-CN" altLang="en-US" dirty="0">
                <a:ea typeface="宋体" panose="02010600030101010101" pitchFamily="2" charset="-122"/>
              </a:rPr>
              <a:t>最大的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是多少？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 			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+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</a:t>
            </a:r>
            <a:r>
              <a:rPr lang="zh-CN" altLang="en-US" dirty="0">
                <a:ea typeface="宋体" panose="02010600030101010101" pitchFamily="2" charset="-122"/>
              </a:rPr>
              <a:t>最大的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是多少？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是入门费，所以它的最大值就是消费者进入市场的收益。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令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应该是多少？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9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5060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5061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062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5063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64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65" name="Line 9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066" name="Rectangle 10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45067" name="Line 11"/>
          <p:cNvSpPr/>
          <p:nvPr/>
        </p:nvSpPr>
        <p:spPr>
          <a:xfrm>
            <a:off x="3287713" y="3371850"/>
            <a:ext cx="0" cy="15144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5068" name="Line 12"/>
          <p:cNvSpPr/>
          <p:nvPr/>
        </p:nvSpPr>
        <p:spPr>
          <a:xfrm flipH="1">
            <a:off x="1974850" y="3386138"/>
            <a:ext cx="13128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45069" name="Object 13"/>
          <p:cNvGraphicFramePr/>
          <p:nvPr/>
        </p:nvGraphicFramePr>
        <p:xfrm>
          <a:off x="3173413" y="4927600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73413" y="4927600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14"/>
          <p:cNvGraphicFramePr/>
          <p:nvPr/>
        </p:nvGraphicFramePr>
        <p:xfrm>
          <a:off x="293688" y="3152775"/>
          <a:ext cx="16573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184275" imgH="321945" progId="Equation.3">
                  <p:embed/>
                </p:oleObj>
              </mc:Choice>
              <mc:Fallback>
                <p:oleObj name="" r:id="rId3" imgW="1184275" imgH="32194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688" y="3152775"/>
                        <a:ext cx="16573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Rectangle 15"/>
          <p:cNvSpPr/>
          <p:nvPr/>
        </p:nvSpPr>
        <p:spPr>
          <a:xfrm>
            <a:off x="4051300" y="1303338"/>
            <a:ext cx="4586288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above MC?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AutoShape 13"/>
          <p:cNvSpPr/>
          <p:nvPr/>
        </p:nvSpPr>
        <p:spPr>
          <a:xfrm>
            <a:off x="1974850" y="2376488"/>
            <a:ext cx="1341438" cy="100965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4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6085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6086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087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6088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89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90" name="Line 9"/>
          <p:cNvSpPr/>
          <p:nvPr/>
        </p:nvSpPr>
        <p:spPr>
          <a:xfrm>
            <a:off x="3287713" y="3371850"/>
            <a:ext cx="0" cy="15144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6091" name="Line 10"/>
          <p:cNvSpPr/>
          <p:nvPr/>
        </p:nvSpPr>
        <p:spPr>
          <a:xfrm flipH="1">
            <a:off x="1974850" y="3386138"/>
            <a:ext cx="13128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46092" name="Object 11"/>
          <p:cNvGraphicFramePr/>
          <p:nvPr/>
        </p:nvGraphicFramePr>
        <p:xfrm>
          <a:off x="3173413" y="4927600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73413" y="4927600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Rectangle 14"/>
          <p:cNvSpPr/>
          <p:nvPr/>
        </p:nvSpPr>
        <p:spPr>
          <a:xfrm>
            <a:off x="2041525" y="2901950"/>
            <a:ext cx="677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46094" name="Rectangle 15"/>
          <p:cNvSpPr/>
          <p:nvPr/>
        </p:nvSpPr>
        <p:spPr>
          <a:xfrm>
            <a:off x="4051300" y="1303338"/>
            <a:ext cx="4586288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above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95" name="Line 16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096" name="Rectangle 17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6097" name="Object 18"/>
          <p:cNvGraphicFramePr/>
          <p:nvPr/>
        </p:nvGraphicFramePr>
        <p:xfrm>
          <a:off x="293688" y="3152775"/>
          <a:ext cx="16573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184275" imgH="321945" progId="Equation.3">
                  <p:embed/>
                </p:oleObj>
              </mc:Choice>
              <mc:Fallback>
                <p:oleObj name="" r:id="rId3" imgW="1184275" imgH="32194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688" y="3152775"/>
                        <a:ext cx="16573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Freeform 18"/>
          <p:cNvSpPr/>
          <p:nvPr/>
        </p:nvSpPr>
        <p:spPr>
          <a:xfrm>
            <a:off x="1981200" y="3381375"/>
            <a:ext cx="1306513" cy="811213"/>
          </a:xfrm>
          <a:custGeom>
            <a:avLst/>
            <a:gdLst>
              <a:gd name="txL" fmla="*/ 0 w 829"/>
              <a:gd name="txT" fmla="*/ 0 h 511"/>
              <a:gd name="txR" fmla="*/ 829 w 829"/>
              <a:gd name="txB" fmla="*/ 511 h 511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829" h="511">
                <a:moveTo>
                  <a:pt x="0" y="6"/>
                </a:moveTo>
                <a:lnTo>
                  <a:pt x="0" y="510"/>
                </a:lnTo>
                <a:lnTo>
                  <a:pt x="828" y="360"/>
                </a:lnTo>
                <a:lnTo>
                  <a:pt x="828" y="0"/>
                </a:lnTo>
                <a:lnTo>
                  <a:pt x="0" y="6"/>
                </a:lnTo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7107" name="AutoShape 13"/>
          <p:cNvSpPr/>
          <p:nvPr/>
        </p:nvSpPr>
        <p:spPr>
          <a:xfrm>
            <a:off x="1984375" y="2376488"/>
            <a:ext cx="1322388" cy="100965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9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7110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7111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112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7113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14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15" name="Line 9"/>
          <p:cNvSpPr/>
          <p:nvPr/>
        </p:nvSpPr>
        <p:spPr>
          <a:xfrm>
            <a:off x="3287713" y="3371850"/>
            <a:ext cx="0" cy="15144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7116" name="Line 10"/>
          <p:cNvSpPr/>
          <p:nvPr/>
        </p:nvSpPr>
        <p:spPr>
          <a:xfrm flipH="1">
            <a:off x="1974850" y="3386138"/>
            <a:ext cx="13128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47117" name="Object 11"/>
          <p:cNvGraphicFramePr/>
          <p:nvPr/>
        </p:nvGraphicFramePr>
        <p:xfrm>
          <a:off x="3173413" y="4927600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73413" y="4927600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Rectangle 14"/>
          <p:cNvSpPr/>
          <p:nvPr/>
        </p:nvSpPr>
        <p:spPr>
          <a:xfrm>
            <a:off x="2041525" y="2901950"/>
            <a:ext cx="677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47119" name="Rectangle 15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above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20" name="Line 16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121" name="Rectangle 17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47122" name="Rectangle 19"/>
          <p:cNvSpPr/>
          <p:nvPr/>
        </p:nvSpPr>
        <p:spPr>
          <a:xfrm>
            <a:off x="2254250" y="3502025"/>
            <a:ext cx="6588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47123" name="Object 20"/>
          <p:cNvGraphicFramePr/>
          <p:nvPr/>
        </p:nvGraphicFramePr>
        <p:xfrm>
          <a:off x="293688" y="3152775"/>
          <a:ext cx="16573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1184275" imgH="321945" progId="Equation.3">
                  <p:embed/>
                </p:oleObj>
              </mc:Choice>
              <mc:Fallback>
                <p:oleObj name="" r:id="rId3" imgW="1184275" imgH="32194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688" y="3152775"/>
                        <a:ext cx="16573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31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8132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8133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34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8135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8136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8137" name="Line 9"/>
          <p:cNvSpPr/>
          <p:nvPr/>
        </p:nvSpPr>
        <p:spPr>
          <a:xfrm>
            <a:off x="3287713" y="3371850"/>
            <a:ext cx="0" cy="15144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8138" name="Line 10"/>
          <p:cNvSpPr/>
          <p:nvPr/>
        </p:nvSpPr>
        <p:spPr>
          <a:xfrm flipH="1">
            <a:off x="1974850" y="3386138"/>
            <a:ext cx="13128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48139" name="Object 0"/>
          <p:cNvGraphicFramePr/>
          <p:nvPr/>
        </p:nvGraphicFramePr>
        <p:xfrm>
          <a:off x="3173413" y="4927600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26695" imgH="269875" progId="Equation.2">
                  <p:embed/>
                </p:oleObj>
              </mc:Choice>
              <mc:Fallback>
                <p:oleObj name="" r:id="rId1" imgW="226695" imgH="26987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73413" y="4927600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AutoShape 13"/>
          <p:cNvSpPr/>
          <p:nvPr/>
        </p:nvSpPr>
        <p:spPr>
          <a:xfrm>
            <a:off x="1974850" y="2376488"/>
            <a:ext cx="1341438" cy="100965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48141" name="Rectangle 14"/>
          <p:cNvSpPr/>
          <p:nvPr/>
        </p:nvSpPr>
        <p:spPr>
          <a:xfrm>
            <a:off x="2041525" y="2901950"/>
            <a:ext cx="677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48142" name="Rectangle 15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above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43" name="Line 16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4" name="Rectangle 17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48145" name="Freeform 18"/>
          <p:cNvSpPr/>
          <p:nvPr/>
        </p:nvSpPr>
        <p:spPr>
          <a:xfrm>
            <a:off x="1971675" y="3381375"/>
            <a:ext cx="1316038" cy="811213"/>
          </a:xfrm>
          <a:custGeom>
            <a:avLst/>
            <a:gdLst>
              <a:gd name="txL" fmla="*/ 0 w 829"/>
              <a:gd name="txT" fmla="*/ 0 h 511"/>
              <a:gd name="txR" fmla="*/ 829 w 829"/>
              <a:gd name="txB" fmla="*/ 511 h 511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829" h="511">
                <a:moveTo>
                  <a:pt x="0" y="6"/>
                </a:moveTo>
                <a:lnTo>
                  <a:pt x="0" y="510"/>
                </a:lnTo>
                <a:lnTo>
                  <a:pt x="828" y="360"/>
                </a:lnTo>
                <a:lnTo>
                  <a:pt x="828" y="0"/>
                </a:lnTo>
                <a:lnTo>
                  <a:pt x="0" y="6"/>
                </a:lnTo>
              </a:path>
            </a:pathLst>
          </a:custGeom>
          <a:solidFill>
            <a:schemeClr val="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8146" name="Rectangle 19"/>
          <p:cNvSpPr/>
          <p:nvPr/>
        </p:nvSpPr>
        <p:spPr>
          <a:xfrm>
            <a:off x="2254250" y="3502025"/>
            <a:ext cx="6588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8147" name="Freeform 20"/>
          <p:cNvSpPr/>
          <p:nvPr/>
        </p:nvSpPr>
        <p:spPr>
          <a:xfrm>
            <a:off x="1971675" y="2343150"/>
            <a:ext cx="1316038" cy="1858963"/>
          </a:xfrm>
          <a:custGeom>
            <a:avLst/>
            <a:gdLst>
              <a:gd name="txL" fmla="*/ 0 w 829"/>
              <a:gd name="txT" fmla="*/ 0 h 1171"/>
              <a:gd name="txR" fmla="*/ 829 w 829"/>
              <a:gd name="txB" fmla="*/ 1171 h 1171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829" h="1171">
                <a:moveTo>
                  <a:pt x="0" y="0"/>
                </a:moveTo>
                <a:lnTo>
                  <a:pt x="0" y="1170"/>
                </a:lnTo>
                <a:lnTo>
                  <a:pt x="828" y="1014"/>
                </a:lnTo>
                <a:lnTo>
                  <a:pt x="828" y="642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0066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48" name="Rectangle 21"/>
          <p:cNvSpPr/>
          <p:nvPr/>
        </p:nvSpPr>
        <p:spPr>
          <a:xfrm>
            <a:off x="5241925" y="3803650"/>
            <a:ext cx="2301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99FF"/>
                </a:solidFill>
                <a:ea typeface="宋体" panose="02010600030101010101" pitchFamily="2" charset="-122"/>
              </a:rPr>
              <a:t>Total profit</a:t>
            </a:r>
            <a:endParaRPr lang="en-US" altLang="zh-CN" dirty="0">
              <a:solidFill>
                <a:srgbClr val="0099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8149" name="Object 1"/>
          <p:cNvGraphicFramePr/>
          <p:nvPr/>
        </p:nvGraphicFramePr>
        <p:xfrm>
          <a:off x="293688" y="3152775"/>
          <a:ext cx="16573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184275" imgH="321945" progId="Equation.3">
                  <p:embed/>
                </p:oleObj>
              </mc:Choice>
              <mc:Fallback>
                <p:oleObj name="" r:id="rId3" imgW="1184275" imgH="32194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688" y="3152775"/>
                        <a:ext cx="16573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5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9156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9157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58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9159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60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61" name="Line 9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49162" name="Object 10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Rectangle 12"/>
          <p:cNvSpPr/>
          <p:nvPr/>
        </p:nvSpPr>
        <p:spPr>
          <a:xfrm>
            <a:off x="4051300" y="1303338"/>
            <a:ext cx="4586288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65" name="Line 13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66" name="Rectangle 14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49167" name="Line 15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AutoShape 18"/>
          <p:cNvSpPr/>
          <p:nvPr/>
        </p:nvSpPr>
        <p:spPr>
          <a:xfrm>
            <a:off x="1979613" y="2376488"/>
            <a:ext cx="1928812" cy="14605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80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0181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0182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183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0184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0185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0186" name="Rectangle 9"/>
          <p:cNvSpPr/>
          <p:nvPr/>
        </p:nvSpPr>
        <p:spPr>
          <a:xfrm>
            <a:off x="4051300" y="1303338"/>
            <a:ext cx="4586288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87" name="Rectangle 11"/>
          <p:cNvSpPr/>
          <p:nvPr/>
        </p:nvSpPr>
        <p:spPr>
          <a:xfrm>
            <a:off x="2109788" y="3130550"/>
            <a:ext cx="677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0188" name="Line 12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50189" name="Object 13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Line 15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0191" name="Line 16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192" name="Rectangle 17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193" name="Object 19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3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1204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1205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06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1207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08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09" name="Rectangle 9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10" name="Line 10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51211" name="Object 11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Line 13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1213" name="Line 14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14" name="Rectangle 15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51215" name="AutoShape 16"/>
          <p:cNvSpPr/>
          <p:nvPr/>
        </p:nvSpPr>
        <p:spPr>
          <a:xfrm>
            <a:off x="1979613" y="2376488"/>
            <a:ext cx="1928812" cy="14605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1216" name="Rectangle 17"/>
          <p:cNvSpPr/>
          <p:nvPr/>
        </p:nvSpPr>
        <p:spPr>
          <a:xfrm>
            <a:off x="2109788" y="3130550"/>
            <a:ext cx="677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1217" name="AutoShape 18"/>
          <p:cNvSpPr/>
          <p:nvPr/>
        </p:nvSpPr>
        <p:spPr>
          <a:xfrm rot="5400000">
            <a:off x="2789238" y="3032125"/>
            <a:ext cx="346075" cy="1946275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1218" name="Rectangle 19"/>
          <p:cNvSpPr/>
          <p:nvPr/>
        </p:nvSpPr>
        <p:spPr>
          <a:xfrm>
            <a:off x="1963738" y="3706813"/>
            <a:ext cx="65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51219" name="Object 20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Line 13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2227" name="AutoShape 22"/>
          <p:cNvSpPr/>
          <p:nvPr/>
        </p:nvSpPr>
        <p:spPr>
          <a:xfrm>
            <a:off x="1979613" y="2376488"/>
            <a:ext cx="1928812" cy="14605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2228" name="AutoShape 23"/>
          <p:cNvSpPr/>
          <p:nvPr/>
        </p:nvSpPr>
        <p:spPr>
          <a:xfrm rot="5400000">
            <a:off x="2789238" y="3032125"/>
            <a:ext cx="346075" cy="1946275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22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30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2231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2232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33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2234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35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36" name="Rectangle 9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37" name="Line 10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52238" name="Object 11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Line 14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0" name="Rectangle 15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52241" name="Rectangle 17"/>
          <p:cNvSpPr/>
          <p:nvPr/>
        </p:nvSpPr>
        <p:spPr>
          <a:xfrm>
            <a:off x="2109788" y="3130550"/>
            <a:ext cx="677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2242" name="Freeform 20"/>
          <p:cNvSpPr/>
          <p:nvPr/>
        </p:nvSpPr>
        <p:spPr>
          <a:xfrm>
            <a:off x="1971675" y="2343150"/>
            <a:ext cx="1963738" cy="1868488"/>
          </a:xfrm>
          <a:custGeom>
            <a:avLst/>
            <a:gdLst>
              <a:gd name="txL" fmla="*/ 0 w 1237"/>
              <a:gd name="txT" fmla="*/ 0 h 1177"/>
              <a:gd name="txR" fmla="*/ 1237 w 1237"/>
              <a:gd name="txB" fmla="*/ 1177 h 1177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237" h="1177">
                <a:moveTo>
                  <a:pt x="0" y="0"/>
                </a:moveTo>
                <a:lnTo>
                  <a:pt x="0" y="1176"/>
                </a:lnTo>
                <a:lnTo>
                  <a:pt x="1236" y="947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FB231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2243" name="Rectangle 21"/>
          <p:cNvSpPr/>
          <p:nvPr/>
        </p:nvSpPr>
        <p:spPr>
          <a:xfrm>
            <a:off x="4765675" y="3808413"/>
            <a:ext cx="230663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B231E"/>
                </a:solidFill>
                <a:ea typeface="宋体" panose="02010600030101010101" pitchFamily="2" charset="-122"/>
              </a:rPr>
              <a:t>Total profit</a:t>
            </a:r>
            <a:endParaRPr lang="en-US" altLang="zh-CN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2244" name="Rectangle 24"/>
          <p:cNvSpPr/>
          <p:nvPr/>
        </p:nvSpPr>
        <p:spPr>
          <a:xfrm>
            <a:off x="1963738" y="3706813"/>
            <a:ext cx="65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52245" name="Object 25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Line 13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3251" name="AutoShape 22"/>
          <p:cNvSpPr/>
          <p:nvPr/>
        </p:nvSpPr>
        <p:spPr>
          <a:xfrm>
            <a:off x="1979613" y="2376488"/>
            <a:ext cx="1928812" cy="14605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3252" name="AutoShape 23"/>
          <p:cNvSpPr/>
          <p:nvPr/>
        </p:nvSpPr>
        <p:spPr>
          <a:xfrm rot="5400000">
            <a:off x="2789238" y="3032125"/>
            <a:ext cx="346075" cy="1946275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32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4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3255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3256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57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3258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59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0" name="Rectangle 9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61" name="Line 10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53262" name="Object 11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3" name="Line 14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64" name="Rectangle 15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53265" name="Rectangle 17"/>
          <p:cNvSpPr/>
          <p:nvPr/>
        </p:nvSpPr>
        <p:spPr>
          <a:xfrm>
            <a:off x="2109788" y="3130550"/>
            <a:ext cx="677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3266" name="Freeform 20"/>
          <p:cNvSpPr/>
          <p:nvPr/>
        </p:nvSpPr>
        <p:spPr>
          <a:xfrm>
            <a:off x="1971675" y="2343150"/>
            <a:ext cx="1963738" cy="1868488"/>
          </a:xfrm>
          <a:custGeom>
            <a:avLst/>
            <a:gdLst>
              <a:gd name="txL" fmla="*/ 0 w 1237"/>
              <a:gd name="txT" fmla="*/ 0 h 1177"/>
              <a:gd name="txR" fmla="*/ 1237 w 1237"/>
              <a:gd name="txB" fmla="*/ 1177 h 1177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237" h="1177">
                <a:moveTo>
                  <a:pt x="0" y="0"/>
                </a:moveTo>
                <a:lnTo>
                  <a:pt x="0" y="1176"/>
                </a:lnTo>
                <a:lnTo>
                  <a:pt x="1236" y="947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FB231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67" name="Freeform 21"/>
          <p:cNvSpPr/>
          <p:nvPr/>
        </p:nvSpPr>
        <p:spPr>
          <a:xfrm>
            <a:off x="1971675" y="2324100"/>
            <a:ext cx="1325563" cy="1897063"/>
          </a:xfrm>
          <a:custGeom>
            <a:avLst/>
            <a:gdLst>
              <a:gd name="txL" fmla="*/ 0 w 829"/>
              <a:gd name="txT" fmla="*/ 0 h 1171"/>
              <a:gd name="txR" fmla="*/ 829 w 829"/>
              <a:gd name="txB" fmla="*/ 1171 h 1171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829" h="1171">
                <a:moveTo>
                  <a:pt x="0" y="0"/>
                </a:moveTo>
                <a:lnTo>
                  <a:pt x="0" y="1170"/>
                </a:lnTo>
                <a:lnTo>
                  <a:pt x="828" y="1014"/>
                </a:lnTo>
                <a:lnTo>
                  <a:pt x="828" y="642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0066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68" name="Rectangle 24"/>
          <p:cNvSpPr/>
          <p:nvPr/>
        </p:nvSpPr>
        <p:spPr>
          <a:xfrm>
            <a:off x="1963738" y="3706813"/>
            <a:ext cx="65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53269" name="Object 25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Line 13"/>
          <p:cNvSpPr/>
          <p:nvPr/>
        </p:nvSpPr>
        <p:spPr>
          <a:xfrm flipH="1">
            <a:off x="1974850" y="3832225"/>
            <a:ext cx="19192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4275" name="AutoShape 25"/>
          <p:cNvSpPr/>
          <p:nvPr/>
        </p:nvSpPr>
        <p:spPr>
          <a:xfrm>
            <a:off x="1979613" y="2376488"/>
            <a:ext cx="1928812" cy="14605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4276" name="AutoShape 26"/>
          <p:cNvSpPr/>
          <p:nvPr/>
        </p:nvSpPr>
        <p:spPr>
          <a:xfrm rot="5400000">
            <a:off x="2789238" y="3032125"/>
            <a:ext cx="346075" cy="1946275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542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8" name="Line 3"/>
          <p:cNvSpPr/>
          <p:nvPr/>
        </p:nvSpPr>
        <p:spPr>
          <a:xfrm>
            <a:off x="1976438" y="1762125"/>
            <a:ext cx="0" cy="311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4279" name="Line 4"/>
          <p:cNvSpPr/>
          <p:nvPr/>
        </p:nvSpPr>
        <p:spPr>
          <a:xfrm>
            <a:off x="1976438" y="4881563"/>
            <a:ext cx="38814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4280" name="Line 5"/>
          <p:cNvSpPr/>
          <p:nvPr/>
        </p:nvSpPr>
        <p:spPr>
          <a:xfrm>
            <a:off x="1974850" y="2360613"/>
            <a:ext cx="3275013" cy="25114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81" name="Rectangle 6"/>
          <p:cNvSpPr/>
          <p:nvPr/>
        </p:nvSpPr>
        <p:spPr>
          <a:xfrm>
            <a:off x="2228850" y="21097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p(y)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4282" name="Rectangle 7"/>
          <p:cNvSpPr/>
          <p:nvPr/>
        </p:nvSpPr>
        <p:spPr>
          <a:xfrm>
            <a:off x="5851525" y="47640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3" name="Rectangle 8"/>
          <p:cNvSpPr/>
          <p:nvPr/>
        </p:nvSpPr>
        <p:spPr>
          <a:xfrm>
            <a:off x="812800" y="12160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4" name="Rectangle 9"/>
          <p:cNvSpPr/>
          <p:nvPr/>
        </p:nvSpPr>
        <p:spPr>
          <a:xfrm>
            <a:off x="4051300" y="1303338"/>
            <a:ext cx="4587875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Should the monopolist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set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MC?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CS.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PS is profit from sales.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85" name="Line 10"/>
          <p:cNvSpPr/>
          <p:nvPr/>
        </p:nvSpPr>
        <p:spPr>
          <a:xfrm>
            <a:off x="3887788" y="3836988"/>
            <a:ext cx="0" cy="1049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graphicFrame>
        <p:nvGraphicFramePr>
          <p:cNvPr id="54286" name="Object 11"/>
          <p:cNvGraphicFramePr/>
          <p:nvPr/>
        </p:nvGraphicFramePr>
        <p:xfrm>
          <a:off x="3787775" y="4927600"/>
          <a:ext cx="3968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87655" imgH="269875" progId="Equation.2">
                  <p:embed/>
                </p:oleObj>
              </mc:Choice>
              <mc:Fallback>
                <p:oleObj name="" r:id="rId1" imgW="287655" imgH="269875" progId="Equation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7775" y="4927600"/>
                        <a:ext cx="3968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Line 14"/>
          <p:cNvSpPr/>
          <p:nvPr/>
        </p:nvSpPr>
        <p:spPr>
          <a:xfrm flipV="1">
            <a:off x="1974850" y="3548063"/>
            <a:ext cx="3525838" cy="646112"/>
          </a:xfrm>
          <a:prstGeom prst="line">
            <a:avLst/>
          </a:prstGeom>
          <a:ln w="25400" cap="flat" cmpd="sng">
            <a:solidFill>
              <a:srgbClr val="00CC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88" name="Rectangle 15"/>
          <p:cNvSpPr/>
          <p:nvPr/>
        </p:nvSpPr>
        <p:spPr>
          <a:xfrm>
            <a:off x="5418138" y="330358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00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54289" name="Rectangle 17"/>
          <p:cNvSpPr/>
          <p:nvPr/>
        </p:nvSpPr>
        <p:spPr>
          <a:xfrm>
            <a:off x="2109788" y="3130550"/>
            <a:ext cx="677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CS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4290" name="Freeform 20"/>
          <p:cNvSpPr/>
          <p:nvPr/>
        </p:nvSpPr>
        <p:spPr>
          <a:xfrm>
            <a:off x="1971675" y="2343150"/>
            <a:ext cx="1963738" cy="1868488"/>
          </a:xfrm>
          <a:custGeom>
            <a:avLst/>
            <a:gdLst>
              <a:gd name="txL" fmla="*/ 0 w 1237"/>
              <a:gd name="txT" fmla="*/ 0 h 1177"/>
              <a:gd name="txR" fmla="*/ 1237 w 1237"/>
              <a:gd name="txB" fmla="*/ 1177 h 1177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237" h="1177">
                <a:moveTo>
                  <a:pt x="0" y="0"/>
                </a:moveTo>
                <a:lnTo>
                  <a:pt x="0" y="1176"/>
                </a:lnTo>
                <a:lnTo>
                  <a:pt x="1236" y="947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FB231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91" name="Freeform 22"/>
          <p:cNvSpPr/>
          <p:nvPr/>
        </p:nvSpPr>
        <p:spPr>
          <a:xfrm>
            <a:off x="3314700" y="3340100"/>
            <a:ext cx="642938" cy="649288"/>
          </a:xfrm>
          <a:custGeom>
            <a:avLst/>
            <a:gdLst>
              <a:gd name="txL" fmla="*/ 0 w 405"/>
              <a:gd name="txT" fmla="*/ 0 h 409"/>
              <a:gd name="txR" fmla="*/ 405 w 405"/>
              <a:gd name="txB" fmla="*/ 409 h 409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405" h="409">
                <a:moveTo>
                  <a:pt x="0" y="0"/>
                </a:moveTo>
                <a:lnTo>
                  <a:pt x="0" y="408"/>
                </a:lnTo>
                <a:lnTo>
                  <a:pt x="404" y="328"/>
                </a:lnTo>
                <a:lnTo>
                  <a:pt x="0" y="0"/>
                </a:lnTo>
              </a:path>
            </a:pathLst>
          </a:custGeom>
          <a:solidFill>
            <a:srgbClr val="FB231E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4292" name="Rectangle 23"/>
          <p:cNvSpPr/>
          <p:nvPr/>
        </p:nvSpPr>
        <p:spPr>
          <a:xfrm>
            <a:off x="1189038" y="5341938"/>
            <a:ext cx="6591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Additional profit from setting p</a:t>
            </a:r>
            <a:r>
              <a:rPr lang="en-US" altLang="zh-CN" sz="2800" baseline="-25000" dirty="0">
                <a:solidFill>
                  <a:srgbClr val="FB231E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B231E"/>
                </a:solidFill>
                <a:ea typeface="宋体" panose="02010600030101010101" pitchFamily="2" charset="-122"/>
              </a:rPr>
              <a:t> = MC.</a:t>
            </a:r>
            <a:endParaRPr lang="en-US" altLang="zh-CN" sz="2800" dirty="0">
              <a:solidFill>
                <a:srgbClr val="FB231E"/>
              </a:solidFill>
              <a:ea typeface="宋体" panose="02010600030101010101" pitchFamily="2" charset="-122"/>
            </a:endParaRPr>
          </a:p>
        </p:txBody>
      </p:sp>
      <p:sp>
        <p:nvSpPr>
          <p:cNvPr id="54293" name="Line 24"/>
          <p:cNvSpPr/>
          <p:nvPr/>
        </p:nvSpPr>
        <p:spPr>
          <a:xfrm flipV="1">
            <a:off x="3259138" y="3733800"/>
            <a:ext cx="322262" cy="1671638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4294" name="Freeform 28"/>
          <p:cNvSpPr/>
          <p:nvPr/>
        </p:nvSpPr>
        <p:spPr>
          <a:xfrm>
            <a:off x="1971675" y="2324100"/>
            <a:ext cx="1325563" cy="1897063"/>
          </a:xfrm>
          <a:custGeom>
            <a:avLst/>
            <a:gdLst>
              <a:gd name="txL" fmla="*/ 0 w 829"/>
              <a:gd name="txT" fmla="*/ 0 h 1171"/>
              <a:gd name="txR" fmla="*/ 829 w 829"/>
              <a:gd name="txB" fmla="*/ 1171 h 1171"/>
            </a:gdLst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829" h="1171">
                <a:moveTo>
                  <a:pt x="0" y="0"/>
                </a:moveTo>
                <a:lnTo>
                  <a:pt x="0" y="1170"/>
                </a:lnTo>
                <a:lnTo>
                  <a:pt x="828" y="1014"/>
                </a:lnTo>
                <a:lnTo>
                  <a:pt x="828" y="642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0066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95" name="Rectangle 27"/>
          <p:cNvSpPr/>
          <p:nvPr/>
        </p:nvSpPr>
        <p:spPr>
          <a:xfrm>
            <a:off x="1963738" y="3706813"/>
            <a:ext cx="65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54296" name="Object 29"/>
          <p:cNvGraphicFramePr/>
          <p:nvPr/>
        </p:nvGraphicFramePr>
        <p:xfrm>
          <a:off x="244475" y="3595688"/>
          <a:ext cx="16986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1228090" imgH="321945" progId="Equation.3">
                  <p:embed/>
                </p:oleObj>
              </mc:Choice>
              <mc:Fallback>
                <p:oleObj name="" r:id="rId3" imgW="1228090" imgH="32194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475" y="3595688"/>
                        <a:ext cx="16986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价格</a:t>
            </a:r>
            <a:r>
              <a:rPr lang="en-US" altLang="zh-CN" dirty="0">
                <a:ea typeface="宋体" panose="02010600030101010101" pitchFamily="2" charset="-122"/>
              </a:rPr>
              <a:t>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等于边际成本。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一次性价格</a:t>
            </a:r>
            <a:r>
              <a:rPr lang="en-US" altLang="zh-CN" dirty="0">
                <a:ea typeface="宋体" panose="02010600030101010101" pitchFamily="2" charset="-122"/>
              </a:rPr>
              <a:t> 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等于消费者剩余。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zh-CN" altLang="en-US" dirty="0">
                <a:ea typeface="宋体" panose="02010600030101010101" pitchFamily="2" charset="-122"/>
              </a:rPr>
              <a:t>两部收费制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zh-CN" altLang="en-US" dirty="0">
                <a:ea typeface="宋体" panose="02010600030101010101" pitchFamily="2" charset="-122"/>
              </a:rPr>
              <a:t>虽然垄断厂商获得了所有剩余，但是产量是最有效率的。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4011</Words>
  <Application>WPS 演示</Application>
  <PresentationFormat>全屏显示(4:3)</PresentationFormat>
  <Paragraphs>499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77</vt:i4>
      </vt:variant>
      <vt:variant>
        <vt:lpstr>幻灯片标题</vt:lpstr>
      </vt:variant>
      <vt:variant>
        <vt:i4>52</vt:i4>
      </vt:variant>
    </vt:vector>
  </HeadingPairs>
  <TitlesOfParts>
    <vt:vector size="140" baseType="lpstr">
      <vt:lpstr>Arial</vt:lpstr>
      <vt:lpstr>宋体</vt:lpstr>
      <vt:lpstr>Wingdings</vt:lpstr>
      <vt:lpstr>Times New Roman</vt:lpstr>
      <vt:lpstr>Monotype Sorts</vt:lpstr>
      <vt:lpstr>Wingdings</vt:lpstr>
      <vt:lpstr>Symbol</vt:lpstr>
      <vt:lpstr>黑体</vt:lpstr>
      <vt:lpstr>Times New Roman</vt:lpstr>
      <vt:lpstr>Arial Unicode MS</vt:lpstr>
      <vt:lpstr>Lines On Blue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Equation.3</vt:lpstr>
      <vt:lpstr>Equation.2</vt:lpstr>
      <vt:lpstr>Equation.2</vt:lpstr>
      <vt:lpstr>Equation.3</vt:lpstr>
      <vt:lpstr>Equation.2</vt:lpstr>
      <vt:lpstr>Equation.3</vt:lpstr>
      <vt:lpstr>Equation.2</vt:lpstr>
      <vt:lpstr>Equation.3</vt:lpstr>
      <vt:lpstr>Equation.2</vt:lpstr>
      <vt:lpstr>Equation.3</vt:lpstr>
      <vt:lpstr>Equation.2</vt:lpstr>
      <vt:lpstr>Equation.3</vt:lpstr>
      <vt:lpstr>Equation.2</vt:lpstr>
      <vt:lpstr>Equation.2</vt:lpstr>
      <vt:lpstr>Equation.3</vt:lpstr>
      <vt:lpstr>Equation.2</vt:lpstr>
      <vt:lpstr>Equation.3</vt:lpstr>
      <vt:lpstr>Equation.2</vt:lpstr>
      <vt:lpstr>Equation.3</vt:lpstr>
      <vt:lpstr>Equation.2</vt:lpstr>
      <vt:lpstr>Equation.3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Twenty-Four</dc:title>
  <dc:creator>LSA Media Services, PC-69</dc:creator>
  <cp:lastModifiedBy>蒋士成</cp:lastModifiedBy>
  <cp:revision>35</cp:revision>
  <dcterms:created xsi:type="dcterms:W3CDTF">1997-02-21T23:36:32Z</dcterms:created>
  <dcterms:modified xsi:type="dcterms:W3CDTF">2023-12-29T07:05:47Z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76538584C51F41748FB6A3FEE95E6178_13</vt:lpwstr>
  </property>
  <property fmtid="{D5CDD505-2E9C-101B-9397-08002B2CF9AE}" pid="3" name="KSOProductBuildVer">
    <vt:lpwstr>2052-12.1.0.15990</vt:lpwstr>
  </property>
</Properties>
</file>
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3"/>
    <p:sldId id="257" r:id="rId4"/>
    <p:sldId id="258" r:id="rId5"/>
    <p:sldId id="325" r:id="rId6"/>
    <p:sldId id="326" r:id="rId7"/>
    <p:sldId id="327" r:id="rId8"/>
    <p:sldId id="328" r:id="rId9"/>
    <p:sldId id="329" r:id="rId10"/>
    <p:sldId id="259" r:id="rId11"/>
    <p:sldId id="269" r:id="rId12"/>
    <p:sldId id="260" r:id="rId13"/>
    <p:sldId id="263" r:id="rId14"/>
    <p:sldId id="264" r:id="rId15"/>
    <p:sldId id="265" r:id="rId16"/>
    <p:sldId id="266" r:id="rId17"/>
    <p:sldId id="267" r:id="rId18"/>
    <p:sldId id="268" r:id="rId19"/>
    <p:sldId id="262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4" r:id="rId43"/>
    <p:sldId id="295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9" r:id="rId56"/>
    <p:sldId id="310" r:id="rId57"/>
    <p:sldId id="311" r:id="rId58"/>
    <p:sldId id="312" r:id="rId59"/>
    <p:sldId id="314" r:id="rId60"/>
    <p:sldId id="316" r:id="rId61"/>
    <p:sldId id="317" r:id="rId62"/>
    <p:sldId id="313" r:id="rId63"/>
    <p:sldId id="434" r:id="rId64"/>
    <p:sldId id="318" r:id="rId65"/>
    <p:sldId id="319" r:id="rId66"/>
    <p:sldId id="320" r:id="rId67"/>
    <p:sldId id="323" r:id="rId68"/>
    <p:sldId id="321" r:id="rId69"/>
    <p:sldId id="322" r:id="rId70"/>
    <p:sldId id="324" r:id="rId71"/>
    <p:sldId id="330" r:id="rId72"/>
    <p:sldId id="422" r:id="rId73"/>
    <p:sldId id="428" r:id="rId74"/>
    <p:sldId id="425" r:id="rId75"/>
    <p:sldId id="426" r:id="rId76"/>
    <p:sldId id="427" r:id="rId77"/>
    <p:sldId id="424" r:id="rId78"/>
    <p:sldId id="429" r:id="rId79"/>
    <p:sldId id="430" r:id="rId80"/>
    <p:sldId id="433" r:id="rId81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Symbol" panose="05050102010706020507" pitchFamily="18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CF41"/>
    <a:srgbClr val="FB4D10"/>
    <a:srgbClr val="FD0F20"/>
    <a:srgbClr val="E00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500" y="56"/>
      </p:cViewPr>
      <p:guideLst>
        <p:guide orient="horz" pos="2160"/>
        <p:guide pos="30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notesMaster" Target="notesMasters/notesMaster1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9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1" name="Group 17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6" name="Rectangle 2"/>
              <p:cNvSpPr>
                <a:spLocks noChangeArrowheads="1"/>
              </p:cNvSpPr>
              <p:nvPr/>
            </p:nvSpPr>
            <p:spPr bwMode="ltGray"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ymbol" panose="05050102010706020507" pitchFamily="18" charset="2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53" name="Group 16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54" name="Freeform 3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5" name="Freeform 4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6" name="Freeform 5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7" name="Freeform 6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8" name="Freeform 7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59" name="Freeform 8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0" name="Freeform 9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1" name="Freeform 10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2" name="Freeform 11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3" name="Freeform 12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4" name="Freeform 13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5" name="Freeform 14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6" name="Freeform 15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2067" name="Freeform 18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41" name="Rectangle 2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269B6F-B88B-4126-BECC-08AD37BD8CB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32" name="Rectangle 2"/>
            <p:cNvSpPr>
              <a:spLocks noChangeArrowheads="1"/>
            </p:cNvSpPr>
            <p:nvPr/>
          </p:nvSpPr>
          <p:spPr bwMode="ltGray"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Symbol" panose="05050102010706020507" pitchFamily="18" charset="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8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29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0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1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2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3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4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5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6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7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8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9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0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1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42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3" name="Rectangle 19"/>
          <p:cNvSpPr>
            <a:spLocks noGrp="1"/>
          </p:cNvSpPr>
          <p:nvPr>
            <p:ph type="body"/>
          </p:nvPr>
        </p:nvSpPr>
        <p:spPr>
          <a:xfrm>
            <a:off x="685800" y="1485900"/>
            <a:ext cx="7772400" cy="44577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2B2882-ACC4-4D53-883D-C4D3179433A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9.emf"/><Relationship Id="rId1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e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0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5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6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1.e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0.emf"/><Relationship Id="rId1" Type="http://schemas.openxmlformats.org/officeDocument/2006/relationships/oleObject" Target="../embeddings/oleObject17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19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4.e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3.emf"/><Relationship Id="rId1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6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5.emf"/><Relationship Id="rId1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9.e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8.emf"/><Relationship Id="rId1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1.emf"/><Relationship Id="rId1" Type="http://schemas.openxmlformats.org/officeDocument/2006/relationships/oleObject" Target="../embeddings/oleObject28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3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2.emf"/><Relationship Id="rId1" Type="http://schemas.openxmlformats.org/officeDocument/2006/relationships/oleObject" Target="../embeddings/oleObject29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5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4.emf"/><Relationship Id="rId1" Type="http://schemas.openxmlformats.org/officeDocument/2006/relationships/oleObject" Target="../embeddings/oleObject3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7.e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6.emf"/><Relationship Id="rId1" Type="http://schemas.openxmlformats.org/officeDocument/2006/relationships/oleObject" Target="../embeddings/oleObject3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0.e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9.emf"/><Relationship Id="rId1" Type="http://schemas.openxmlformats.org/officeDocument/2006/relationships/oleObject" Target="../embeddings/oleObject3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3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2.emf"/><Relationship Id="rId1" Type="http://schemas.openxmlformats.org/officeDocument/2006/relationships/oleObject" Target="../embeddings/oleObject39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5.emf"/><Relationship Id="rId1" Type="http://schemas.openxmlformats.org/officeDocument/2006/relationships/oleObject" Target="../embeddings/oleObject42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7.e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6.emf"/><Relationship Id="rId1" Type="http://schemas.openxmlformats.org/officeDocument/2006/relationships/oleObject" Target="../embeddings/oleObject43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9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8.emf"/><Relationship Id="rId1" Type="http://schemas.openxmlformats.org/officeDocument/2006/relationships/oleObject" Target="../embeddings/oleObject4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emf"/><Relationship Id="rId1" Type="http://schemas.openxmlformats.org/officeDocument/2006/relationships/oleObject" Target="../embeddings/oleObject47.bin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2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51.emf"/><Relationship Id="rId1" Type="http://schemas.openxmlformats.org/officeDocument/2006/relationships/oleObject" Target="../embeddings/oleObject48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3.emf"/><Relationship Id="rId1" Type="http://schemas.openxmlformats.org/officeDocument/2006/relationships/oleObject" Target="../embeddings/oleObject50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4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Twenty-Four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sz="quarter" idx="1"/>
          </p:nvPr>
        </p:nvSpPr>
        <p:spPr/>
        <p:txBody>
          <a:bodyPr vert="horz" wrap="square" lIns="92075" tIns="46038" rIns="92075" bIns="46038" anchor="t" anchorCtr="0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0" lang="en-US" altLang="zh-CN" sz="4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Monopoly</a:t>
            </a:r>
            <a:endParaRPr kumimoji="0" lang="en-US" altLang="zh-CN" sz="4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0" lang="zh-CN" altLang="en-US" sz="40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垄断</a:t>
            </a:r>
            <a:endParaRPr kumimoji="0" lang="en-US" altLang="zh-CN" sz="4000" b="1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Pure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>
          <a:xfrm>
            <a:off x="685800" y="1257300"/>
            <a:ext cx="7772400" cy="44577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monopolized market has a single seller.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monopolist’s demand curve is the (downward sloping) market demand curve.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So the monopolist can alter the market price by adjusting its output level.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Pure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6" name="Line 3"/>
          <p:cNvSpPr/>
          <p:nvPr/>
        </p:nvSpPr>
        <p:spPr>
          <a:xfrm>
            <a:off x="1600200" y="1447800"/>
            <a:ext cx="0" cy="3505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147" name="Line 4"/>
          <p:cNvSpPr/>
          <p:nvPr/>
        </p:nvSpPr>
        <p:spPr>
          <a:xfrm>
            <a:off x="1600200" y="4953000"/>
            <a:ext cx="4724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148" name="Line 5"/>
          <p:cNvSpPr/>
          <p:nvPr/>
        </p:nvSpPr>
        <p:spPr>
          <a:xfrm>
            <a:off x="1598613" y="2232025"/>
            <a:ext cx="3868737" cy="27257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9" name="Rectangle 6"/>
          <p:cNvSpPr/>
          <p:nvPr/>
        </p:nvSpPr>
        <p:spPr>
          <a:xfrm>
            <a:off x="2841625" y="5405438"/>
            <a:ext cx="2752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Output Level, 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Rectangle 7"/>
          <p:cNvSpPr/>
          <p:nvPr/>
        </p:nvSpPr>
        <p:spPr>
          <a:xfrm>
            <a:off x="498475" y="10048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Rectangle 8"/>
          <p:cNvSpPr/>
          <p:nvPr/>
        </p:nvSpPr>
        <p:spPr>
          <a:xfrm>
            <a:off x="746125" y="1538288"/>
            <a:ext cx="8366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9"/>
          <p:cNvSpPr/>
          <p:nvPr/>
        </p:nvSpPr>
        <p:spPr>
          <a:xfrm>
            <a:off x="3870325" y="1265238"/>
            <a:ext cx="50069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Higher output y causes a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lower market price, p(y).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Why Monopolies?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causes monopolies?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legal fiat; e.g. US Postal Service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Why Monopolies?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causes monopolies?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legal fiat; e.g. US Postal Service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patent; e.g. a new drug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Why Monopolies?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causes monopolies?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legal fiat; e.g. US Postal Service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patent; e.g. a new drug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sole ownership of a resource; e.g. a toll highway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Why Monopolies?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causes monopolies?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legal fiat; e.g. US Postal Service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patent; e.g. a new drug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sole ownership of a resource; e.g. a toll highway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formation of a cartel; e.g. OPEC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Why Monopolies?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causes monopolies?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legal fiat; e.g. US Postal Service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 patent; e.g. a new drug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sole ownership of a resource; e.g. a toll highway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formation of a cartel; e.g. OPEC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large economies of scale; e.g. local utility companies.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Pure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that the monopolist seeks to maximize its economic profit,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What output level y* maximizes profit?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2291" name="Object 1024"/>
          <p:cNvGraphicFramePr/>
          <p:nvPr/>
        </p:nvGraphicFramePr>
        <p:xfrm>
          <a:off x="2395538" y="2767013"/>
          <a:ext cx="4333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155190" imgH="248285" progId="Equation.2">
                  <p:embed/>
                </p:oleObj>
              </mc:Choice>
              <mc:Fallback>
                <p:oleObj name="" r:id="rId1" imgW="2155190" imgH="248285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95538" y="2767013"/>
                        <a:ext cx="433387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3314" name="Object 3"/>
          <p:cNvGraphicFramePr/>
          <p:nvPr/>
        </p:nvGraphicFramePr>
        <p:xfrm>
          <a:off x="2371725" y="1195388"/>
          <a:ext cx="4333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155190" imgH="248285" progId="Equation.2">
                  <p:embed/>
                </p:oleObj>
              </mc:Choice>
              <mc:Fallback>
                <p:oleObj name="" r:id="rId1" imgW="2155190" imgH="248285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1725" y="1195388"/>
                        <a:ext cx="433387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4"/>
          <p:cNvSpPr/>
          <p:nvPr/>
        </p:nvSpPr>
        <p:spPr>
          <a:xfrm>
            <a:off x="979488" y="1898650"/>
            <a:ext cx="77136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profit-maximizing output level y*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6" name="Object 5"/>
          <p:cNvGraphicFramePr/>
          <p:nvPr/>
        </p:nvGraphicFramePr>
        <p:xfrm>
          <a:off x="1209675" y="2698750"/>
          <a:ext cx="663892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3313430" imgH="605155" progId="Equation.2">
                  <p:embed/>
                </p:oleObj>
              </mc:Choice>
              <mc:Fallback>
                <p:oleObj name="" r:id="rId3" imgW="3313430" imgH="605155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9675" y="2698750"/>
                        <a:ext cx="6638925" cy="1176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6"/>
          <p:cNvSpPr/>
          <p:nvPr/>
        </p:nvSpPr>
        <p:spPr>
          <a:xfrm>
            <a:off x="1003300" y="3922713"/>
            <a:ext cx="27225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so, for y = y*,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8" name="Object 7"/>
          <p:cNvGraphicFramePr/>
          <p:nvPr/>
        </p:nvGraphicFramePr>
        <p:xfrm>
          <a:off x="2232025" y="4537075"/>
          <a:ext cx="4154488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2077085" imgH="605155" progId="Equation.2">
                  <p:embed/>
                </p:oleObj>
              </mc:Choice>
              <mc:Fallback>
                <p:oleObj name="" r:id="rId5" imgW="2077085" imgH="60515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2025" y="4537075"/>
                        <a:ext cx="4154488" cy="116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4025" y="-452437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Rectangle 3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4025" y="-452437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2" name="Rectangle 3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Rectangle 4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Rectangle 5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6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6386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7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6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Rectangle 8"/>
          <p:cNvSpPr/>
          <p:nvPr/>
        </p:nvSpPr>
        <p:spPr>
          <a:xfrm>
            <a:off x="7599363" y="5395913"/>
            <a:ext cx="892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7410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6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8"/>
          <p:cNvSpPr/>
          <p:nvPr/>
        </p:nvSpPr>
        <p:spPr>
          <a:xfrm>
            <a:off x="7599363" y="5395913"/>
            <a:ext cx="892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Line 9"/>
          <p:cNvSpPr/>
          <p:nvPr/>
        </p:nvSpPr>
        <p:spPr>
          <a:xfrm flipV="1">
            <a:off x="3963988" y="2490788"/>
            <a:ext cx="0" cy="1371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17417" name="Rectangle 10"/>
          <p:cNvSpPr/>
          <p:nvPr/>
        </p:nvSpPr>
        <p:spPr>
          <a:xfrm>
            <a:off x="3756025" y="3836988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843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6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8"/>
          <p:cNvSpPr/>
          <p:nvPr/>
        </p:nvSpPr>
        <p:spPr>
          <a:xfrm>
            <a:off x="7599363" y="5395913"/>
            <a:ext cx="892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Line 9"/>
          <p:cNvSpPr/>
          <p:nvPr/>
        </p:nvSpPr>
        <p:spPr>
          <a:xfrm flipV="1">
            <a:off x="3963988" y="1755775"/>
            <a:ext cx="0" cy="21066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18441" name="Line 10"/>
          <p:cNvSpPr/>
          <p:nvPr/>
        </p:nvSpPr>
        <p:spPr>
          <a:xfrm flipV="1">
            <a:off x="3959225" y="1751013"/>
            <a:ext cx="0" cy="14176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18442" name="Rectangle 11"/>
          <p:cNvSpPr/>
          <p:nvPr/>
        </p:nvSpPr>
        <p:spPr>
          <a:xfrm>
            <a:off x="3756025" y="3836988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9458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9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8"/>
          <p:cNvSpPr/>
          <p:nvPr/>
        </p:nvSpPr>
        <p:spPr>
          <a:xfrm>
            <a:off x="7599363" y="5395913"/>
            <a:ext cx="892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Line 9"/>
          <p:cNvSpPr/>
          <p:nvPr/>
        </p:nvSpPr>
        <p:spPr>
          <a:xfrm flipV="1">
            <a:off x="3963988" y="1755775"/>
            <a:ext cx="0" cy="21066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19465" name="Line 10"/>
          <p:cNvSpPr/>
          <p:nvPr/>
        </p:nvSpPr>
        <p:spPr>
          <a:xfrm flipV="1">
            <a:off x="3959225" y="1751013"/>
            <a:ext cx="0" cy="14176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19466" name="Line 11"/>
          <p:cNvSpPr/>
          <p:nvPr/>
        </p:nvSpPr>
        <p:spPr>
          <a:xfrm flipV="1">
            <a:off x="3605213" y="3111500"/>
            <a:ext cx="725487" cy="214313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67" name="Line 12"/>
          <p:cNvSpPr/>
          <p:nvPr/>
        </p:nvSpPr>
        <p:spPr>
          <a:xfrm flipV="1">
            <a:off x="3605213" y="1587500"/>
            <a:ext cx="725487" cy="214313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68" name="Rectangle 13"/>
          <p:cNvSpPr/>
          <p:nvPr/>
        </p:nvSpPr>
        <p:spPr>
          <a:xfrm>
            <a:off x="3756025" y="3836988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0482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3" name="Rectangle 4"/>
          <p:cNvSpPr/>
          <p:nvPr/>
        </p:nvSpPr>
        <p:spPr>
          <a:xfrm>
            <a:off x="1479550" y="108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5"/>
          <p:cNvSpPr/>
          <p:nvPr/>
        </p:nvSpPr>
        <p:spPr>
          <a:xfrm>
            <a:off x="5694363" y="1398588"/>
            <a:ext cx="24082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R(y) = p(y)y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6"/>
          <p:cNvSpPr/>
          <p:nvPr/>
        </p:nvSpPr>
        <p:spPr>
          <a:xfrm>
            <a:off x="7480300" y="1827213"/>
            <a:ext cx="9064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c(y)</a:t>
            </a:r>
            <a:endParaRPr lang="en-US" altLang="zh-CN" sz="3200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7"/>
          <p:cNvSpPr/>
          <p:nvPr/>
        </p:nvSpPr>
        <p:spPr>
          <a:xfrm>
            <a:off x="8004175" y="4086225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8"/>
          <p:cNvSpPr/>
          <p:nvPr/>
        </p:nvSpPr>
        <p:spPr>
          <a:xfrm>
            <a:off x="7599363" y="5395913"/>
            <a:ext cx="892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Line 9"/>
          <p:cNvSpPr/>
          <p:nvPr/>
        </p:nvSpPr>
        <p:spPr>
          <a:xfrm flipV="1">
            <a:off x="3963988" y="1755775"/>
            <a:ext cx="0" cy="21066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20489" name="Line 10"/>
          <p:cNvSpPr/>
          <p:nvPr/>
        </p:nvSpPr>
        <p:spPr>
          <a:xfrm flipV="1">
            <a:off x="3959225" y="1751013"/>
            <a:ext cx="0" cy="14176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stealth" w="med" len="lg"/>
          </a:ln>
        </p:spPr>
      </p:sp>
      <p:sp>
        <p:nvSpPr>
          <p:cNvPr id="20490" name="Line 11"/>
          <p:cNvSpPr/>
          <p:nvPr/>
        </p:nvSpPr>
        <p:spPr>
          <a:xfrm flipV="1">
            <a:off x="3605213" y="3111500"/>
            <a:ext cx="725487" cy="214313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1" name="Line 12"/>
          <p:cNvSpPr/>
          <p:nvPr/>
        </p:nvSpPr>
        <p:spPr>
          <a:xfrm flipV="1">
            <a:off x="3605213" y="1587500"/>
            <a:ext cx="725487" cy="214313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92" name="Rectangle 13"/>
          <p:cNvSpPr/>
          <p:nvPr/>
        </p:nvSpPr>
        <p:spPr>
          <a:xfrm>
            <a:off x="3756025" y="3836988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3" name="Rectangle 14"/>
          <p:cNvSpPr/>
          <p:nvPr/>
        </p:nvSpPr>
        <p:spPr>
          <a:xfrm>
            <a:off x="1884363" y="4375150"/>
            <a:ext cx="6789737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profit-maximizing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output level the slopes of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revenue and total cost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curves are equal; MR(y*) = MC(y*).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Revenue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06" name="Rectangle 3"/>
          <p:cNvSpPr/>
          <p:nvPr/>
        </p:nvSpPr>
        <p:spPr>
          <a:xfrm>
            <a:off x="312738" y="1136650"/>
            <a:ext cx="87598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Marginal revenue is the rate-of-change of revenue as the output level y increases;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507" name="Object 4"/>
          <p:cNvGraphicFramePr/>
          <p:nvPr/>
        </p:nvGraphicFramePr>
        <p:xfrm>
          <a:off x="1014413" y="2290763"/>
          <a:ext cx="65627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896995" imgH="605155" progId="Equation.2">
                  <p:embed/>
                </p:oleObj>
              </mc:Choice>
              <mc:Fallback>
                <p:oleObj name="" r:id="rId1" imgW="3896995" imgH="605155" progId="Equation.2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14413" y="2290763"/>
                        <a:ext cx="6562725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Revenue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0" name="Rectangle 3"/>
          <p:cNvSpPr/>
          <p:nvPr/>
        </p:nvSpPr>
        <p:spPr>
          <a:xfrm>
            <a:off x="312738" y="1136650"/>
            <a:ext cx="87598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Marginal revenue is the rate-of-change of revenue as the output level y increases;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1" name="Object 4"/>
          <p:cNvGraphicFramePr/>
          <p:nvPr/>
        </p:nvGraphicFramePr>
        <p:xfrm>
          <a:off x="1014413" y="2290763"/>
          <a:ext cx="65627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896995" imgH="605155" progId="Equation.2">
                  <p:embed/>
                </p:oleObj>
              </mc:Choice>
              <mc:Fallback>
                <p:oleObj name="" r:id="rId1" imgW="3896995" imgH="605155" progId="Equation.2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14413" y="2290763"/>
                        <a:ext cx="6562725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5"/>
          <p:cNvSpPr/>
          <p:nvPr/>
        </p:nvSpPr>
        <p:spPr>
          <a:xfrm>
            <a:off x="312738" y="3398838"/>
            <a:ext cx="8624887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dp(y)/dy is the slope of the market inverse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demand function so dp(y)/dy &lt; 0.  Therefore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3" name="Object 6"/>
          <p:cNvGraphicFramePr/>
          <p:nvPr/>
        </p:nvGraphicFramePr>
        <p:xfrm>
          <a:off x="1339850" y="4552950"/>
          <a:ext cx="594201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3540125" imgH="605155" progId="Equation.2">
                  <p:embed/>
                </p:oleObj>
              </mc:Choice>
              <mc:Fallback>
                <p:oleObj name="" r:id="rId3" imgW="3540125" imgH="605155" progId="Equation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9850" y="4552950"/>
                        <a:ext cx="5942013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7"/>
          <p:cNvSpPr/>
          <p:nvPr/>
        </p:nvSpPr>
        <p:spPr>
          <a:xfrm>
            <a:off x="312738" y="5399088"/>
            <a:ext cx="18669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for y &gt; 0.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Revenue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4" name="Rectangle 3"/>
          <p:cNvSpPr/>
          <p:nvPr/>
        </p:nvSpPr>
        <p:spPr>
          <a:xfrm>
            <a:off x="931863" y="1303338"/>
            <a:ext cx="7920037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E.g.  if p(y) = a - by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R(y) = p(y)y = ay - by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so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MR(y) = a - 2by  &lt;  a - by = p(y)  for y &gt; 0.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Revenue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78" name="Rectangle 3"/>
          <p:cNvSpPr/>
          <p:nvPr/>
        </p:nvSpPr>
        <p:spPr>
          <a:xfrm>
            <a:off x="931863" y="1303338"/>
            <a:ext cx="7920037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E.g.  if p(y) = a - by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R(y) = p(y)y = ay - by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so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MR(y) = a - 2by  &lt;  a - by = p(y)  for y &gt; 0.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Line 4"/>
          <p:cNvSpPr/>
          <p:nvPr/>
        </p:nvSpPr>
        <p:spPr>
          <a:xfrm>
            <a:off x="2309813" y="3500438"/>
            <a:ext cx="0" cy="21193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4580" name="Line 5"/>
          <p:cNvSpPr/>
          <p:nvPr/>
        </p:nvSpPr>
        <p:spPr>
          <a:xfrm>
            <a:off x="2309813" y="5638800"/>
            <a:ext cx="35480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4581" name="Line 6"/>
          <p:cNvSpPr/>
          <p:nvPr/>
        </p:nvSpPr>
        <p:spPr>
          <a:xfrm>
            <a:off x="2306638" y="4006850"/>
            <a:ext cx="3116262" cy="1630363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82" name="Rectangle 7"/>
          <p:cNvSpPr/>
          <p:nvPr/>
        </p:nvSpPr>
        <p:spPr>
          <a:xfrm>
            <a:off x="2603500" y="3652838"/>
            <a:ext cx="24542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 = a - by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8"/>
          <p:cNvSpPr/>
          <p:nvPr/>
        </p:nvSpPr>
        <p:spPr>
          <a:xfrm>
            <a:off x="1925638" y="36671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9"/>
          <p:cNvSpPr/>
          <p:nvPr/>
        </p:nvSpPr>
        <p:spPr>
          <a:xfrm>
            <a:off x="5835650" y="5513388"/>
            <a:ext cx="40957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10"/>
          <p:cNvSpPr/>
          <p:nvPr/>
        </p:nvSpPr>
        <p:spPr>
          <a:xfrm>
            <a:off x="5086350" y="5600700"/>
            <a:ext cx="77152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a/b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Line 11"/>
          <p:cNvSpPr/>
          <p:nvPr/>
        </p:nvSpPr>
        <p:spPr>
          <a:xfrm>
            <a:off x="2306638" y="4021138"/>
            <a:ext cx="2308225" cy="2452687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87" name="Rectangle 12"/>
          <p:cNvSpPr/>
          <p:nvPr/>
        </p:nvSpPr>
        <p:spPr>
          <a:xfrm>
            <a:off x="4638675" y="6162675"/>
            <a:ext cx="3063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 = a - 2by</a:t>
            </a:r>
            <a:endParaRPr lang="en-US" altLang="zh-CN" sz="3200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8" name="Rectangle 13"/>
          <p:cNvSpPr/>
          <p:nvPr/>
        </p:nvSpPr>
        <p:spPr>
          <a:xfrm>
            <a:off x="3067050" y="5614988"/>
            <a:ext cx="9969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a/2b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Cost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2" name="Rectangle 3"/>
          <p:cNvSpPr/>
          <p:nvPr/>
        </p:nvSpPr>
        <p:spPr>
          <a:xfrm>
            <a:off x="312738" y="1136650"/>
            <a:ext cx="8759825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Marginal cost is the rate-of-change of total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cost as the output level y increases;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3" name="Object 4"/>
          <p:cNvGraphicFramePr/>
          <p:nvPr/>
        </p:nvGraphicFramePr>
        <p:xfrm>
          <a:off x="2881313" y="2290763"/>
          <a:ext cx="28178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676400" imgH="605155" progId="Equation.2">
                  <p:embed/>
                </p:oleObj>
              </mc:Choice>
              <mc:Fallback>
                <p:oleObj name="" r:id="rId1" imgW="1676400" imgH="605155" progId="Equation.2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81313" y="2290763"/>
                        <a:ext cx="2817812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5"/>
          <p:cNvSpPr/>
          <p:nvPr/>
        </p:nvSpPr>
        <p:spPr>
          <a:xfrm>
            <a:off x="312738" y="3398838"/>
            <a:ext cx="57975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E.g. if c(y) = F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 +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 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605" name="Object 6"/>
          <p:cNvGraphicFramePr/>
          <p:nvPr/>
        </p:nvGraphicFramePr>
        <p:xfrm>
          <a:off x="2876550" y="4133850"/>
          <a:ext cx="30575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824355" imgH="274320" progId="Equation.2">
                  <p:embed/>
                </p:oleObj>
              </mc:Choice>
              <mc:Fallback>
                <p:oleObj name="" r:id="rId3" imgW="1824355" imgH="274320" progId="Equation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6550" y="4133850"/>
                        <a:ext cx="305752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Marginal Cost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26" name="Line 3"/>
          <p:cNvSpPr/>
          <p:nvPr/>
        </p:nvSpPr>
        <p:spPr>
          <a:xfrm>
            <a:off x="1857375" y="1095375"/>
            <a:ext cx="0" cy="19764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6627" name="Line 4"/>
          <p:cNvSpPr/>
          <p:nvPr/>
        </p:nvSpPr>
        <p:spPr>
          <a:xfrm>
            <a:off x="1857375" y="3452813"/>
            <a:ext cx="0" cy="19764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26628" name="Line 5"/>
          <p:cNvSpPr/>
          <p:nvPr/>
        </p:nvSpPr>
        <p:spPr>
          <a:xfrm>
            <a:off x="1857375" y="3071813"/>
            <a:ext cx="38576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6629" name="Line 6"/>
          <p:cNvSpPr/>
          <p:nvPr/>
        </p:nvSpPr>
        <p:spPr>
          <a:xfrm>
            <a:off x="1857375" y="5429250"/>
            <a:ext cx="38576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26630" name="Arc 7"/>
          <p:cNvSpPr/>
          <p:nvPr/>
        </p:nvSpPr>
        <p:spPr>
          <a:xfrm rot="-240000">
            <a:off x="1830388" y="1150938"/>
            <a:ext cx="3576637" cy="14859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pathLst>
              <a:path w="20828" h="21600" fill="none">
                <a:moveTo>
                  <a:pt x="20827" y="5723"/>
                </a:moveTo>
                <a:cubicBezTo>
                  <a:pt x="18250" y="15101"/>
                  <a:pt x="9724" y="21599"/>
                  <a:pt x="0" y="21600"/>
                </a:cubicBezTo>
              </a:path>
              <a:path w="20828" h="21600" stroke="0">
                <a:moveTo>
                  <a:pt x="20827" y="5723"/>
                </a:moveTo>
                <a:cubicBezTo>
                  <a:pt x="18250" y="15101"/>
                  <a:pt x="9724" y="21599"/>
                  <a:pt x="0" y="21600"/>
                </a:cubicBezTo>
                <a:lnTo>
                  <a:pt x="0" y="0"/>
                </a:lnTo>
                <a:lnTo>
                  <a:pt x="20827" y="5723"/>
                </a:lnTo>
                <a:close/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6631" name="Rectangle 8"/>
          <p:cNvSpPr/>
          <p:nvPr/>
        </p:nvSpPr>
        <p:spPr>
          <a:xfrm>
            <a:off x="1477963" y="2455863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9"/>
          <p:cNvSpPr/>
          <p:nvPr/>
        </p:nvSpPr>
        <p:spPr>
          <a:xfrm>
            <a:off x="5721350" y="29464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3" name="Rectangle 10"/>
          <p:cNvSpPr/>
          <p:nvPr/>
        </p:nvSpPr>
        <p:spPr>
          <a:xfrm>
            <a:off x="5721350" y="53324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4" name="Rectangle 11"/>
          <p:cNvSpPr/>
          <p:nvPr/>
        </p:nvSpPr>
        <p:spPr>
          <a:xfrm>
            <a:off x="5418138" y="1114425"/>
            <a:ext cx="3203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c(y) = F +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 +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5" name="Rectangle 12"/>
          <p:cNvSpPr/>
          <p:nvPr/>
        </p:nvSpPr>
        <p:spPr>
          <a:xfrm>
            <a:off x="1681163" y="609600"/>
            <a:ext cx="3825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6" name="Line 13"/>
          <p:cNvSpPr/>
          <p:nvPr/>
        </p:nvSpPr>
        <p:spPr>
          <a:xfrm flipV="1">
            <a:off x="1858963" y="4511675"/>
            <a:ext cx="3722687" cy="5191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37" name="Rectangle 14"/>
          <p:cNvSpPr/>
          <p:nvPr/>
        </p:nvSpPr>
        <p:spPr>
          <a:xfrm>
            <a:off x="5634038" y="4216400"/>
            <a:ext cx="27987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MC(y) =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+ 2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8" name="Rectangle 15"/>
          <p:cNvSpPr/>
          <p:nvPr/>
        </p:nvSpPr>
        <p:spPr>
          <a:xfrm>
            <a:off x="1149350" y="307657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9" name="Rectangle 16"/>
          <p:cNvSpPr/>
          <p:nvPr/>
        </p:nvSpPr>
        <p:spPr>
          <a:xfrm>
            <a:off x="1408113" y="4752975"/>
            <a:ext cx="409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0" name="Rectangle 3"/>
          <p:cNvSpPr/>
          <p:nvPr/>
        </p:nvSpPr>
        <p:spPr>
          <a:xfrm>
            <a:off x="407988" y="1279525"/>
            <a:ext cx="7826375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profit-maximizing output level y*,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MR(y*) = MC(y*).  So if p(y) = a - by and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c(y) = F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651" name="Object 4"/>
          <p:cNvGraphicFramePr/>
          <p:nvPr/>
        </p:nvGraphicFramePr>
        <p:xfrm>
          <a:off x="1157288" y="2895600"/>
          <a:ext cx="69643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4166870" imgH="274320" progId="Equation.2">
                  <p:embed/>
                </p:oleObj>
              </mc:Choice>
              <mc:Fallback>
                <p:oleObj name="" r:id="rId1" imgW="4166870" imgH="274320" progId="Equation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7288" y="2895600"/>
                        <a:ext cx="696436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4" name="Rectangle 3"/>
          <p:cNvSpPr/>
          <p:nvPr/>
        </p:nvSpPr>
        <p:spPr>
          <a:xfrm>
            <a:off x="407988" y="1279525"/>
            <a:ext cx="8008937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profit-maximizing output level y*,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MR(y*) = MC(y*).  So if p(y) = a - by and if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c(y) = F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5" name="Object 4"/>
          <p:cNvGraphicFramePr/>
          <p:nvPr/>
        </p:nvGraphicFramePr>
        <p:xfrm>
          <a:off x="1157288" y="2895600"/>
          <a:ext cx="69643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4166870" imgH="274320" progId="Equation.2">
                  <p:embed/>
                </p:oleObj>
              </mc:Choice>
              <mc:Fallback>
                <p:oleObj name="" r:id="rId1" imgW="4166870" imgH="274320" progId="Equation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7288" y="2895600"/>
                        <a:ext cx="696436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5"/>
          <p:cNvSpPr/>
          <p:nvPr/>
        </p:nvSpPr>
        <p:spPr>
          <a:xfrm>
            <a:off x="407988" y="3517900"/>
            <a:ext cx="8545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the profit-maximizing output level is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7" name="Object 6"/>
          <p:cNvGraphicFramePr/>
          <p:nvPr/>
        </p:nvGraphicFramePr>
        <p:xfrm>
          <a:off x="2378075" y="4081463"/>
          <a:ext cx="22733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362710" imgH="614045" progId="Equation.2">
                  <p:embed/>
                </p:oleObj>
              </mc:Choice>
              <mc:Fallback>
                <p:oleObj name="" r:id="rId3" imgW="1362710" imgH="614045" progId="Equation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8075" y="4081463"/>
                        <a:ext cx="227330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8" name="Rectangle 3"/>
          <p:cNvSpPr/>
          <p:nvPr/>
        </p:nvSpPr>
        <p:spPr>
          <a:xfrm>
            <a:off x="407988" y="1279525"/>
            <a:ext cx="8008937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profit-maximizing output level y*,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MR(y*) = MC(y*).  So if p(y) = a - by and if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c(y) = F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 +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then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699" name="Object 4"/>
          <p:cNvGraphicFramePr/>
          <p:nvPr/>
        </p:nvGraphicFramePr>
        <p:xfrm>
          <a:off x="1157288" y="2895600"/>
          <a:ext cx="69643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166870" imgH="274320" progId="Equation.2">
                  <p:embed/>
                </p:oleObj>
              </mc:Choice>
              <mc:Fallback>
                <p:oleObj name="" r:id="rId1" imgW="4166870" imgH="274320" progId="Equation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57288" y="2895600"/>
                        <a:ext cx="6964362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Rectangle 5"/>
          <p:cNvSpPr/>
          <p:nvPr/>
        </p:nvSpPr>
        <p:spPr>
          <a:xfrm>
            <a:off x="407988" y="3517900"/>
            <a:ext cx="8545512" cy="5794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the profit-maximizing output level is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1" name="Object 6"/>
          <p:cNvGraphicFramePr/>
          <p:nvPr/>
        </p:nvGraphicFramePr>
        <p:xfrm>
          <a:off x="2378075" y="4081463"/>
          <a:ext cx="22733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1362710" imgH="614045" progId="Equation.2">
                  <p:embed/>
                </p:oleObj>
              </mc:Choice>
              <mc:Fallback>
                <p:oleObj name="" r:id="rId3" imgW="1362710" imgH="614045" progId="Equation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8075" y="4081463"/>
                        <a:ext cx="227330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9"/>
          <p:cNvSpPr/>
          <p:nvPr/>
        </p:nvSpPr>
        <p:spPr>
          <a:xfrm>
            <a:off x="407988" y="4994275"/>
            <a:ext cx="60452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causing the market price to be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9703" name="Object 10"/>
          <p:cNvGraphicFramePr/>
          <p:nvPr/>
        </p:nvGraphicFramePr>
        <p:xfrm>
          <a:off x="1590675" y="5557838"/>
          <a:ext cx="55070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3313430" imgH="614045" progId="Equation.2">
                  <p:embed/>
                </p:oleObj>
              </mc:Choice>
              <mc:Fallback>
                <p:oleObj name="" r:id="rId5" imgW="3313430" imgH="614045" progId="Equation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90675" y="5557838"/>
                        <a:ext cx="5507038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22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0723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0724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27" name="Rectangle 8"/>
          <p:cNvSpPr/>
          <p:nvPr/>
        </p:nvSpPr>
        <p:spPr>
          <a:xfrm>
            <a:off x="6051550" y="3348038"/>
            <a:ext cx="2798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= 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+ 2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29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30" name="Rectangle 11"/>
          <p:cNvSpPr/>
          <p:nvPr/>
        </p:nvSpPr>
        <p:spPr>
          <a:xfrm>
            <a:off x="2408238" y="2205038"/>
            <a:ext cx="21701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 = a - by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1" name="Rectangle 12"/>
          <p:cNvSpPr/>
          <p:nvPr/>
        </p:nvSpPr>
        <p:spPr>
          <a:xfrm>
            <a:off x="4741863" y="5514975"/>
            <a:ext cx="27035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 = a - 2by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2" name="Rectangle 13"/>
          <p:cNvSpPr/>
          <p:nvPr/>
        </p:nvSpPr>
        <p:spPr>
          <a:xfrm>
            <a:off x="1455738" y="210978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3" name="Rectangle 14"/>
          <p:cNvSpPr/>
          <p:nvPr/>
        </p:nvSpPr>
        <p:spPr>
          <a:xfrm>
            <a:off x="1431925" y="4086225"/>
            <a:ext cx="409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6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1747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1748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51" name="Rectangle 8"/>
          <p:cNvSpPr/>
          <p:nvPr/>
        </p:nvSpPr>
        <p:spPr>
          <a:xfrm>
            <a:off x="6051550" y="3348038"/>
            <a:ext cx="2798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= 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+ 2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53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54" name="Rectangle 11"/>
          <p:cNvSpPr/>
          <p:nvPr/>
        </p:nvSpPr>
        <p:spPr>
          <a:xfrm>
            <a:off x="2408238" y="2205038"/>
            <a:ext cx="21701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 = a - by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5" name="Rectangle 12"/>
          <p:cNvSpPr/>
          <p:nvPr/>
        </p:nvSpPr>
        <p:spPr>
          <a:xfrm>
            <a:off x="4741863" y="5514975"/>
            <a:ext cx="27035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 = a - 2by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6" name="Line 13"/>
          <p:cNvSpPr/>
          <p:nvPr/>
        </p:nvSpPr>
        <p:spPr>
          <a:xfrm>
            <a:off x="3200400" y="4092575"/>
            <a:ext cx="0" cy="6921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1757" name="Oval 14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graphicFrame>
        <p:nvGraphicFramePr>
          <p:cNvPr id="31758" name="Object 15"/>
          <p:cNvGraphicFramePr/>
          <p:nvPr/>
        </p:nvGraphicFramePr>
        <p:xfrm>
          <a:off x="2733675" y="4924425"/>
          <a:ext cx="120015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866775" imgH="944880" progId="Equation.2">
                  <p:embed/>
                </p:oleObj>
              </mc:Choice>
              <mc:Fallback>
                <p:oleObj name="" r:id="rId1" imgW="866775" imgH="944880" progId="Equation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33675" y="4924425"/>
                        <a:ext cx="1200150" cy="1227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16"/>
          <p:cNvSpPr/>
          <p:nvPr/>
        </p:nvSpPr>
        <p:spPr>
          <a:xfrm>
            <a:off x="1455738" y="210978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0" name="Rectangle 17"/>
          <p:cNvSpPr/>
          <p:nvPr/>
        </p:nvSpPr>
        <p:spPr>
          <a:xfrm>
            <a:off x="1431925" y="4086225"/>
            <a:ext cx="409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Profit-Maximization; An Example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0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32771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32772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5" name="Rectangle 8"/>
          <p:cNvSpPr/>
          <p:nvPr/>
        </p:nvSpPr>
        <p:spPr>
          <a:xfrm>
            <a:off x="6051550" y="3348038"/>
            <a:ext cx="2798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= 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+ 2</a:t>
            </a:r>
            <a:r>
              <a:rPr lang="en-US" altLang="zh-CN" dirty="0">
                <a:solidFill>
                  <a:srgbClr val="46CF4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Line 9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7" name="Rectangle 10"/>
          <p:cNvSpPr/>
          <p:nvPr/>
        </p:nvSpPr>
        <p:spPr>
          <a:xfrm>
            <a:off x="2408238" y="2205038"/>
            <a:ext cx="21701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 = a - by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Rectangle 11"/>
          <p:cNvSpPr/>
          <p:nvPr/>
        </p:nvSpPr>
        <p:spPr>
          <a:xfrm>
            <a:off x="4741863" y="5514975"/>
            <a:ext cx="27035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 = a - 2by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9" name="Line 12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2780" name="Oval 13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32781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32782" name="Line 15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graphicFrame>
        <p:nvGraphicFramePr>
          <p:cNvPr id="32783" name="Object 16"/>
          <p:cNvGraphicFramePr/>
          <p:nvPr/>
        </p:nvGraphicFramePr>
        <p:xfrm>
          <a:off x="2733675" y="4924425"/>
          <a:ext cx="120015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866775" imgH="944880" progId="Equation.2">
                  <p:embed/>
                </p:oleObj>
              </mc:Choice>
              <mc:Fallback>
                <p:oleObj name="" r:id="rId1" imgW="866775" imgH="944880" progId="Equation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33675" y="4924425"/>
                        <a:ext cx="1200150" cy="1227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4" name="Object 17"/>
          <p:cNvGraphicFramePr/>
          <p:nvPr/>
        </p:nvGraphicFramePr>
        <p:xfrm>
          <a:off x="68263" y="2790825"/>
          <a:ext cx="1747837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1397635" imgH="953770" progId="Equation.2">
                  <p:embed/>
                </p:oleObj>
              </mc:Choice>
              <mc:Fallback>
                <p:oleObj name="" r:id="rId3" imgW="1397635" imgH="953770" progId="Equation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263" y="2790825"/>
                        <a:ext cx="1747837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5" name="Oval 18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32786" name="Oval 19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32787" name="Rectangle 20"/>
          <p:cNvSpPr/>
          <p:nvPr/>
        </p:nvSpPr>
        <p:spPr>
          <a:xfrm>
            <a:off x="1455738" y="2109788"/>
            <a:ext cx="3825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88" name="Rectangle 21"/>
          <p:cNvSpPr/>
          <p:nvPr/>
        </p:nvSpPr>
        <p:spPr>
          <a:xfrm>
            <a:off x="1431925" y="4086225"/>
            <a:ext cx="409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a</a:t>
            </a:r>
            <a:endParaRPr lang="en-US" altLang="zh-CN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that market demand becomes less sensitive to changes in price (</a:t>
            </a:r>
            <a:r>
              <a:rPr lang="en-US" altLang="zh-CN" i="1" dirty="0">
                <a:ea typeface="宋体" panose="02010600030101010101" pitchFamily="2" charset="-122"/>
              </a:rPr>
              <a:t>i.e</a:t>
            </a:r>
            <a:r>
              <a:rPr lang="en-US" altLang="zh-CN" dirty="0">
                <a:ea typeface="宋体" panose="02010600030101010101" pitchFamily="2" charset="-122"/>
              </a:rPr>
              <a:t>. the own-price elasticity of demand becomes less negative).  Does the monopolist exploit this by causing the market price to rise?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4818" name="Object 3"/>
          <p:cNvGraphicFramePr/>
          <p:nvPr/>
        </p:nvGraphicFramePr>
        <p:xfrm>
          <a:off x="930275" y="1328738"/>
          <a:ext cx="6435725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3827145" imgH="1336675" progId="Equation.2">
                  <p:embed/>
                </p:oleObj>
              </mc:Choice>
              <mc:Fallback>
                <p:oleObj name="" r:id="rId1" imgW="3827145" imgH="1336675" progId="Equation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0275" y="1328738"/>
                        <a:ext cx="6435725" cy="221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5842" name="Object 3"/>
          <p:cNvGraphicFramePr/>
          <p:nvPr/>
        </p:nvGraphicFramePr>
        <p:xfrm>
          <a:off x="930275" y="1328738"/>
          <a:ext cx="6435725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3827145" imgH="1336675" progId="Equation.2">
                  <p:embed/>
                </p:oleObj>
              </mc:Choice>
              <mc:Fallback>
                <p:oleObj name="" r:id="rId1" imgW="3827145" imgH="1336675" progId="Equation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0275" y="1328738"/>
                        <a:ext cx="6435725" cy="221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Rectangle 4"/>
          <p:cNvSpPr/>
          <p:nvPr/>
        </p:nvSpPr>
        <p:spPr>
          <a:xfrm>
            <a:off x="527050" y="3779838"/>
            <a:ext cx="66436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Own-price elasticity of demand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5844" name="Object 5"/>
          <p:cNvGraphicFramePr/>
          <p:nvPr/>
        </p:nvGraphicFramePr>
        <p:xfrm>
          <a:off x="703263" y="4527550"/>
          <a:ext cx="25939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1545590" imgH="605155" progId="Equation.2">
                  <p:embed/>
                </p:oleObj>
              </mc:Choice>
              <mc:Fallback>
                <p:oleObj name="" r:id="rId3" imgW="1545590" imgH="605155" progId="Equation.2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3263" y="4527550"/>
                        <a:ext cx="2593975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6866" name="Object 3"/>
          <p:cNvGraphicFramePr/>
          <p:nvPr/>
        </p:nvGraphicFramePr>
        <p:xfrm>
          <a:off x="930275" y="1328738"/>
          <a:ext cx="6435725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3827145" imgH="1336675" progId="Equation.2">
                  <p:embed/>
                </p:oleObj>
              </mc:Choice>
              <mc:Fallback>
                <p:oleObj name="" r:id="rId1" imgW="3827145" imgH="1336675" progId="Equation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0275" y="1328738"/>
                        <a:ext cx="6435725" cy="2211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Rectangle 4"/>
          <p:cNvSpPr/>
          <p:nvPr/>
        </p:nvSpPr>
        <p:spPr>
          <a:xfrm>
            <a:off x="527050" y="3779838"/>
            <a:ext cx="664368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Own-price elasticity of demand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68" name="Object 5"/>
          <p:cNvGraphicFramePr/>
          <p:nvPr/>
        </p:nvGraphicFramePr>
        <p:xfrm>
          <a:off x="703263" y="4527550"/>
          <a:ext cx="2593975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545590" imgH="605155" progId="Equation.2">
                  <p:embed/>
                </p:oleObj>
              </mc:Choice>
              <mc:Fallback>
                <p:oleObj name="" r:id="rId3" imgW="1545590" imgH="605155" progId="Equation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3263" y="4527550"/>
                        <a:ext cx="2593975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Rectangle 6"/>
          <p:cNvSpPr/>
          <p:nvPr/>
        </p:nvSpPr>
        <p:spPr>
          <a:xfrm>
            <a:off x="3503613" y="4684713"/>
            <a:ext cx="6588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70" name="Object 7"/>
          <p:cNvGraphicFramePr/>
          <p:nvPr/>
        </p:nvGraphicFramePr>
        <p:xfrm>
          <a:off x="4264025" y="4543425"/>
          <a:ext cx="369093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5" imgW="2199005" imgH="614045" progId="Equation.2">
                  <p:embed/>
                </p:oleObj>
              </mc:Choice>
              <mc:Fallback>
                <p:oleObj name="" r:id="rId5" imgW="2199005" imgH="614045" progId="Equation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64025" y="4543425"/>
                        <a:ext cx="3690938" cy="1011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7890" name="Object 3"/>
          <p:cNvGraphicFramePr/>
          <p:nvPr/>
        </p:nvGraphicFramePr>
        <p:xfrm>
          <a:off x="2406650" y="1471613"/>
          <a:ext cx="3690938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2199005" imgH="614045" progId="Equation.2">
                  <p:embed/>
                </p:oleObj>
              </mc:Choice>
              <mc:Fallback>
                <p:oleObj name="" r:id="rId1" imgW="2199005" imgH="614045" progId="Equation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06650" y="1471613"/>
                        <a:ext cx="3690938" cy="1011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Rectangle 4"/>
          <p:cNvSpPr/>
          <p:nvPr/>
        </p:nvSpPr>
        <p:spPr>
          <a:xfrm>
            <a:off x="384175" y="2613025"/>
            <a:ext cx="8501063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Suppose the monopolist’s marginal cost of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production is constant, at $k/output unit.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For a profit-maximum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892" name="Object 5"/>
          <p:cNvGraphicFramePr/>
          <p:nvPr/>
        </p:nvGraphicFramePr>
        <p:xfrm>
          <a:off x="344488" y="4186238"/>
          <a:ext cx="4560887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2729865" imgH="614045" progId="Equation.2">
                  <p:embed/>
                </p:oleObj>
              </mc:Choice>
              <mc:Fallback>
                <p:oleObj name="" r:id="rId3" imgW="2729865" imgH="614045" progId="Equation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4488" y="4186238"/>
                        <a:ext cx="4560887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3" name="Rectangle 6"/>
          <p:cNvSpPr/>
          <p:nvPr/>
        </p:nvSpPr>
        <p:spPr>
          <a:xfrm>
            <a:off x="5122863" y="4375150"/>
            <a:ext cx="17843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which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894" name="Object 7"/>
          <p:cNvGraphicFramePr/>
          <p:nvPr/>
        </p:nvGraphicFramePr>
        <p:xfrm>
          <a:off x="6162675" y="4710113"/>
          <a:ext cx="235108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415415" imgH="866775" progId="Equation.2">
                  <p:embed/>
                </p:oleObj>
              </mc:Choice>
              <mc:Fallback>
                <p:oleObj name="" r:id="rId5" imgW="1415415" imgH="866775" progId="Equation.2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62675" y="4710113"/>
                        <a:ext cx="2351088" cy="1392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8914" name="Object 3"/>
          <p:cNvGraphicFramePr/>
          <p:nvPr/>
        </p:nvGraphicFramePr>
        <p:xfrm>
          <a:off x="3324225" y="1528763"/>
          <a:ext cx="2351088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415415" imgH="866775" progId="Equation.2">
                  <p:embed/>
                </p:oleObj>
              </mc:Choice>
              <mc:Fallback>
                <p:oleObj name="" r:id="rId1" imgW="1415415" imgH="866775" progId="Equation.2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24225" y="1528763"/>
                        <a:ext cx="2351088" cy="1392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Rectangle 4"/>
          <p:cNvSpPr/>
          <p:nvPr/>
        </p:nvSpPr>
        <p:spPr>
          <a:xfrm>
            <a:off x="550863" y="3160713"/>
            <a:ext cx="8051800" cy="25288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E.g. if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= -3 then p(y*) = 3k/2,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if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= -2 then p(y*) = 2k. 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as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rises towards -1 the monopolist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alters its output level to make the market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price of its product to rise.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8" name="Rectangle 3"/>
          <p:cNvSpPr/>
          <p:nvPr/>
        </p:nvSpPr>
        <p:spPr>
          <a:xfrm>
            <a:off x="598488" y="1708150"/>
            <a:ext cx="354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Notice that, 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939" name="Object 4"/>
          <p:cNvGraphicFramePr/>
          <p:nvPr/>
        </p:nvGraphicFramePr>
        <p:xfrm>
          <a:off x="4175125" y="1566863"/>
          <a:ext cx="465296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790825" imgH="614045" progId="Equation.2">
                  <p:embed/>
                </p:oleObj>
              </mc:Choice>
              <mc:Fallback>
                <p:oleObj name="" r:id="rId1" imgW="2790825" imgH="614045" progId="Equation.2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5125" y="1566863"/>
                        <a:ext cx="465296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5"/>
          <p:cNvGraphicFramePr/>
          <p:nvPr/>
        </p:nvGraphicFramePr>
        <p:xfrm>
          <a:off x="1331913" y="2447925"/>
          <a:ext cx="27590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1659255" imgH="614045" progId="Equation.2">
                  <p:embed/>
                </p:oleObj>
              </mc:Choice>
              <mc:Fallback>
                <p:oleObj name="" r:id="rId3" imgW="1659255" imgH="614045" progId="Equation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2447925"/>
                        <a:ext cx="2759075" cy="973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Rectangle 3"/>
          <p:cNvSpPr/>
          <p:nvPr/>
        </p:nvSpPr>
        <p:spPr>
          <a:xfrm>
            <a:off x="598488" y="1708150"/>
            <a:ext cx="354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Notice that, 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3" name="Object 4"/>
          <p:cNvGraphicFramePr/>
          <p:nvPr/>
        </p:nvGraphicFramePr>
        <p:xfrm>
          <a:off x="4175125" y="1566863"/>
          <a:ext cx="465296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790825" imgH="614045" progId="Equation.2">
                  <p:embed/>
                </p:oleObj>
              </mc:Choice>
              <mc:Fallback>
                <p:oleObj name="" r:id="rId1" imgW="2790825" imgH="614045" progId="Equation.2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5125" y="1566863"/>
                        <a:ext cx="465296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5"/>
          <p:cNvGraphicFramePr/>
          <p:nvPr/>
        </p:nvGraphicFramePr>
        <p:xfrm>
          <a:off x="1328738" y="2447925"/>
          <a:ext cx="5394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3235325" imgH="614045" progId="Equation.2">
                  <p:embed/>
                </p:oleObj>
              </mc:Choice>
              <mc:Fallback>
                <p:oleObj name="" r:id="rId3" imgW="3235325" imgH="614045" progId="Equation.2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28738" y="2447925"/>
                        <a:ext cx="5394325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6" name="Rectangle 3"/>
          <p:cNvSpPr/>
          <p:nvPr/>
        </p:nvSpPr>
        <p:spPr>
          <a:xfrm>
            <a:off x="598488" y="1708150"/>
            <a:ext cx="354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Notice that, 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87" name="Object 4"/>
          <p:cNvGraphicFramePr/>
          <p:nvPr/>
        </p:nvGraphicFramePr>
        <p:xfrm>
          <a:off x="4175125" y="1566863"/>
          <a:ext cx="465296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2790825" imgH="614045" progId="Equation.2">
                  <p:embed/>
                </p:oleObj>
              </mc:Choice>
              <mc:Fallback>
                <p:oleObj name="" r:id="rId1" imgW="2790825" imgH="614045" progId="Equation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5125" y="1566863"/>
                        <a:ext cx="465296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5"/>
          <p:cNvGraphicFramePr/>
          <p:nvPr/>
        </p:nvGraphicFramePr>
        <p:xfrm>
          <a:off x="1328738" y="2447925"/>
          <a:ext cx="5394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3235325" imgH="614045" progId="Equation.2">
                  <p:embed/>
                </p:oleObj>
              </mc:Choice>
              <mc:Fallback>
                <p:oleObj name="" r:id="rId3" imgW="3235325" imgH="614045" progId="Equation.2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28738" y="2447925"/>
                        <a:ext cx="5394325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6"/>
          <p:cNvSpPr/>
          <p:nvPr/>
        </p:nvSpPr>
        <p:spPr>
          <a:xfrm>
            <a:off x="598488" y="37560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That is,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1990" name="Object 7"/>
          <p:cNvGraphicFramePr/>
          <p:nvPr/>
        </p:nvGraphicFramePr>
        <p:xfrm>
          <a:off x="2535238" y="3552825"/>
          <a:ext cx="110331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5" imgW="666115" imgH="570230" progId="Equation.2">
                  <p:embed/>
                </p:oleObj>
              </mc:Choice>
              <mc:Fallback>
                <p:oleObj name="" r:id="rId5" imgW="666115" imgH="570230" progId="Equation.2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35238" y="3552825"/>
                        <a:ext cx="1103312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0" name="Rectangle 3"/>
          <p:cNvSpPr/>
          <p:nvPr/>
        </p:nvSpPr>
        <p:spPr>
          <a:xfrm>
            <a:off x="598488" y="1708150"/>
            <a:ext cx="354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Notice that, 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3011" name="Object 4"/>
          <p:cNvGraphicFramePr/>
          <p:nvPr/>
        </p:nvGraphicFramePr>
        <p:xfrm>
          <a:off x="4175125" y="1566863"/>
          <a:ext cx="465296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2790825" imgH="614045" progId="Equation.2">
                  <p:embed/>
                </p:oleObj>
              </mc:Choice>
              <mc:Fallback>
                <p:oleObj name="" r:id="rId1" imgW="2790825" imgH="614045" progId="Equation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5125" y="1566863"/>
                        <a:ext cx="465296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/>
          <p:nvPr/>
        </p:nvGraphicFramePr>
        <p:xfrm>
          <a:off x="1328738" y="2447925"/>
          <a:ext cx="5394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3235325" imgH="614045" progId="Equation.2">
                  <p:embed/>
                </p:oleObj>
              </mc:Choice>
              <mc:Fallback>
                <p:oleObj name="" r:id="rId3" imgW="3235325" imgH="614045" progId="Equation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28738" y="2447925"/>
                        <a:ext cx="5394325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6"/>
          <p:cNvSpPr/>
          <p:nvPr/>
        </p:nvSpPr>
        <p:spPr>
          <a:xfrm>
            <a:off x="598488" y="37560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That is,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3014" name="Object 7"/>
          <p:cNvGraphicFramePr/>
          <p:nvPr/>
        </p:nvGraphicFramePr>
        <p:xfrm>
          <a:off x="2520950" y="3552825"/>
          <a:ext cx="34274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5" imgW="2059305" imgH="570230" progId="Equation.2">
                  <p:embed/>
                </p:oleObj>
              </mc:Choice>
              <mc:Fallback>
                <p:oleObj name="" r:id="rId5" imgW="2059305" imgH="570230" progId="Equation.2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20950" y="3552825"/>
                        <a:ext cx="3427413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Monopolistic Pricing &amp; Own-Price Elasticity of Demand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/>
          <p:nvPr/>
        </p:nvSpPr>
        <p:spPr>
          <a:xfrm>
            <a:off x="598488" y="1708150"/>
            <a:ext cx="35496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Notice that, since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4035" name="Object 4"/>
          <p:cNvGraphicFramePr/>
          <p:nvPr/>
        </p:nvGraphicFramePr>
        <p:xfrm>
          <a:off x="4175125" y="1566863"/>
          <a:ext cx="465296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2790825" imgH="614045" progId="Equation.2">
                  <p:embed/>
                </p:oleObj>
              </mc:Choice>
              <mc:Fallback>
                <p:oleObj name="" r:id="rId1" imgW="2790825" imgH="614045" progId="Equation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5125" y="1566863"/>
                        <a:ext cx="4652963" cy="982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5"/>
          <p:cNvGraphicFramePr/>
          <p:nvPr/>
        </p:nvGraphicFramePr>
        <p:xfrm>
          <a:off x="1328738" y="2447925"/>
          <a:ext cx="5394325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3235325" imgH="614045" progId="Equation.2">
                  <p:embed/>
                </p:oleObj>
              </mc:Choice>
              <mc:Fallback>
                <p:oleObj name="" r:id="rId3" imgW="3235325" imgH="614045" progId="Equation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28738" y="2447925"/>
                        <a:ext cx="5394325" cy="98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Rectangle 6"/>
          <p:cNvSpPr/>
          <p:nvPr/>
        </p:nvSpPr>
        <p:spPr>
          <a:xfrm>
            <a:off x="598488" y="3756025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That is,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4038" name="Object 7"/>
          <p:cNvGraphicFramePr/>
          <p:nvPr/>
        </p:nvGraphicFramePr>
        <p:xfrm>
          <a:off x="2520950" y="3552825"/>
          <a:ext cx="34274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2059305" imgH="570230" progId="Equation.2">
                  <p:embed/>
                </p:oleObj>
              </mc:Choice>
              <mc:Fallback>
                <p:oleObj name="" r:id="rId5" imgW="2059305" imgH="570230" progId="Equation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20950" y="3552825"/>
                        <a:ext cx="3427413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8"/>
          <p:cNvSpPr/>
          <p:nvPr/>
        </p:nvSpPr>
        <p:spPr>
          <a:xfrm>
            <a:off x="598488" y="4465638"/>
            <a:ext cx="8278812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a profit-maximizing monopolist always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selects an output level for which market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demand is own-price elastic.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Markup Pricing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Markup pricing</a:t>
            </a:r>
            <a:r>
              <a:rPr lang="zh-CN" altLang="en-US" dirty="0">
                <a:solidFill>
                  <a:schemeClr val="tx2"/>
                </a:solidFill>
                <a:ea typeface="宋体" panose="02010600030101010101" pitchFamily="2" charset="-122"/>
              </a:rPr>
              <a:t>加成定价</a:t>
            </a:r>
            <a:r>
              <a:rPr lang="en-US" altLang="zh-CN" dirty="0">
                <a:ea typeface="宋体" panose="02010600030101010101" pitchFamily="2" charset="-122"/>
              </a:rPr>
              <a:t>: Output price is the marginal cost of production plus a “markup.”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big is a monopolist’s markup and how does it change with the own-price elasticity of demand?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Markup Pricing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6082" name="Object 3"/>
          <p:cNvGraphicFramePr/>
          <p:nvPr/>
        </p:nvGraphicFramePr>
        <p:xfrm>
          <a:off x="884238" y="1030288"/>
          <a:ext cx="734695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4445635" imgH="875030" progId="Equation.2">
                  <p:embed/>
                </p:oleObj>
              </mc:Choice>
              <mc:Fallback>
                <p:oleObj name="" r:id="rId1" imgW="4445635" imgH="875030" progId="Equation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4238" y="1030288"/>
                        <a:ext cx="7346950" cy="1360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Rectangle 4"/>
          <p:cNvSpPr/>
          <p:nvPr/>
        </p:nvSpPr>
        <p:spPr>
          <a:xfrm>
            <a:off x="360363" y="2374900"/>
            <a:ext cx="50847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monopolist’s price.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Markup Pricing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7106" name="Object 3"/>
          <p:cNvGraphicFramePr/>
          <p:nvPr/>
        </p:nvGraphicFramePr>
        <p:xfrm>
          <a:off x="884238" y="1030288"/>
          <a:ext cx="734695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4445635" imgH="875030" progId="Equation.2">
                  <p:embed/>
                </p:oleObj>
              </mc:Choice>
              <mc:Fallback>
                <p:oleObj name="" r:id="rId1" imgW="4445635" imgH="875030" progId="Equation.2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4238" y="1030288"/>
                        <a:ext cx="7346950" cy="1360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Rectangle 4"/>
          <p:cNvSpPr/>
          <p:nvPr/>
        </p:nvSpPr>
        <p:spPr>
          <a:xfrm>
            <a:off x="360363" y="2374900"/>
            <a:ext cx="80660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monopolist’s price.  The markup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7108" name="Object 5"/>
          <p:cNvGraphicFramePr/>
          <p:nvPr/>
        </p:nvGraphicFramePr>
        <p:xfrm>
          <a:off x="2025650" y="3049588"/>
          <a:ext cx="49990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3034665" imgH="570230" progId="Equation.2">
                  <p:embed/>
                </p:oleObj>
              </mc:Choice>
              <mc:Fallback>
                <p:oleObj name="" r:id="rId3" imgW="3034665" imgH="570230" progId="Equation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25650" y="3049588"/>
                        <a:ext cx="4999038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Markup Pricing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8130" name="Object 0"/>
          <p:cNvGraphicFramePr/>
          <p:nvPr/>
        </p:nvGraphicFramePr>
        <p:xfrm>
          <a:off x="884238" y="1030288"/>
          <a:ext cx="734695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4445635" imgH="875030" progId="Equation.2">
                  <p:embed/>
                </p:oleObj>
              </mc:Choice>
              <mc:Fallback>
                <p:oleObj name="" r:id="rId1" imgW="4445635" imgH="875030" progId="Equation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84238" y="1030288"/>
                        <a:ext cx="7346950" cy="1360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Rectangle 4"/>
          <p:cNvSpPr/>
          <p:nvPr/>
        </p:nvSpPr>
        <p:spPr>
          <a:xfrm>
            <a:off x="360363" y="2374900"/>
            <a:ext cx="80660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monopolist’s price.  The markup is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8132" name="Object 1"/>
          <p:cNvGraphicFramePr/>
          <p:nvPr/>
        </p:nvGraphicFramePr>
        <p:xfrm>
          <a:off x="2025650" y="3049588"/>
          <a:ext cx="499903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3034665" imgH="570230" progId="Equation.2">
                  <p:embed/>
                </p:oleObj>
              </mc:Choice>
              <mc:Fallback>
                <p:oleObj name="" r:id="rId3" imgW="3034665" imgH="570230" progId="Equation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25650" y="3049588"/>
                        <a:ext cx="4999038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Rectangle 6"/>
          <p:cNvSpPr/>
          <p:nvPr/>
        </p:nvSpPr>
        <p:spPr>
          <a:xfrm>
            <a:off x="574675" y="3994150"/>
            <a:ext cx="7397750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E.g. if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e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= -3 then the markup is k/2,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and if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= -2 then the markup is k. 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markup rises as the own-price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elasticity of demand rises towards -1.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Profits Tax  Levied on a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4" name="Rectangle 3"/>
          <p:cNvSpPr>
            <a:spLocks noGrp="1"/>
          </p:cNvSpPr>
          <p:nvPr>
            <p:ph idx="1"/>
          </p:nvPr>
        </p:nvSpPr>
        <p:spPr>
          <a:xfrm>
            <a:off x="685800" y="1033463"/>
            <a:ext cx="8456613" cy="489585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profits tax levied at rate t reduces profit from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 to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How is after-tax profit,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(y*), maximized?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Profits Tax  Levied on a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78" name="Rectangle 3"/>
          <p:cNvSpPr>
            <a:spLocks noGrp="1"/>
          </p:cNvSpPr>
          <p:nvPr>
            <p:ph idx="1"/>
          </p:nvPr>
        </p:nvSpPr>
        <p:spPr>
          <a:xfrm>
            <a:off x="685800" y="1033463"/>
            <a:ext cx="8456613" cy="489585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profits tax levied at rate t reduces profit from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 to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How is after-tax profit,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(y*), maximized?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By maximizing before-tax profit,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A Profits Tax  Levied on a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514350" y="1033463"/>
            <a:ext cx="8456613" cy="489585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profits tax levied at rate t reduces profit from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 to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How is after-tax profit, (1-t)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(y*), maximized?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By maximizing before-tax profit, </a:t>
            </a: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(y*).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So a profits tax has no effect on the monopolist’s choices of output level, output price, or demands for inputs.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I.e. the profits tax is a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neutral tax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xfrm>
            <a:off x="628650" y="1485900"/>
            <a:ext cx="7981950" cy="44577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quantity tax of $t/output unit raises the marginal cost of production by $t.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So the tax reduces the profit-maximizing output level, causes the market price to rise, and input demands to fall.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quantity tax is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distortionary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3251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3252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4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5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6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7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58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9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60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3261" name="Oval 14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3262" name="Line 15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3263" name="Oval 16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3264" name="Oval 17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3265" name="Rectangle 18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66" name="Rectangle 19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4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4275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4276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7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8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54279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80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81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82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83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84" name="Line 13"/>
          <p:cNvSpPr/>
          <p:nvPr/>
        </p:nvSpPr>
        <p:spPr>
          <a:xfrm flipV="1">
            <a:off x="1857375" y="2905125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85" name="Rectangle 14"/>
          <p:cNvSpPr/>
          <p:nvPr/>
        </p:nvSpPr>
        <p:spPr>
          <a:xfrm>
            <a:off x="6051550" y="2657475"/>
            <a:ext cx="1695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+ t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86" name="Line 15"/>
          <p:cNvSpPr/>
          <p:nvPr/>
        </p:nvSpPr>
        <p:spPr>
          <a:xfrm>
            <a:off x="5481638" y="3025775"/>
            <a:ext cx="0" cy="619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4287" name="Rectangle 16"/>
          <p:cNvSpPr/>
          <p:nvPr/>
        </p:nvSpPr>
        <p:spPr>
          <a:xfrm>
            <a:off x="5519738" y="3105150"/>
            <a:ext cx="30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88" name="Line 17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4289" name="Oval 18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4290" name="Line 19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4291" name="Oval 20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4292" name="Oval 21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4293" name="Rectangle 22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94" name="Rectangle 23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8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5299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5300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2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55303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4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05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06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7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08" name="Line 13"/>
          <p:cNvSpPr/>
          <p:nvPr/>
        </p:nvSpPr>
        <p:spPr>
          <a:xfrm flipV="1">
            <a:off x="1857375" y="2905125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09" name="Rectangle 14"/>
          <p:cNvSpPr/>
          <p:nvPr/>
        </p:nvSpPr>
        <p:spPr>
          <a:xfrm>
            <a:off x="6051550" y="2657475"/>
            <a:ext cx="1695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+ t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0" name="Line 15"/>
          <p:cNvSpPr/>
          <p:nvPr/>
        </p:nvSpPr>
        <p:spPr>
          <a:xfrm>
            <a:off x="5481638" y="3025775"/>
            <a:ext cx="0" cy="619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5311" name="Rectangle 16"/>
          <p:cNvSpPr/>
          <p:nvPr/>
        </p:nvSpPr>
        <p:spPr>
          <a:xfrm>
            <a:off x="5519738" y="3105150"/>
            <a:ext cx="30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2" name="Line 17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5313" name="Oval 18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14" name="Line 19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5315" name="Oval 20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16" name="Oval 21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17" name="Rectangle 22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8" name="Rectangle 23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9" name="Oval 24"/>
          <p:cNvSpPr/>
          <p:nvPr/>
        </p:nvSpPr>
        <p:spPr>
          <a:xfrm>
            <a:off x="2695575" y="34591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20" name="Line 25"/>
          <p:cNvSpPr/>
          <p:nvPr/>
        </p:nvSpPr>
        <p:spPr>
          <a:xfrm>
            <a:off x="2768600" y="2967038"/>
            <a:ext cx="0" cy="18462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5321" name="Line 26"/>
          <p:cNvSpPr/>
          <p:nvPr/>
        </p:nvSpPr>
        <p:spPr>
          <a:xfrm flipH="1">
            <a:off x="1858963" y="2967038"/>
            <a:ext cx="909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5322" name="Oval 27"/>
          <p:cNvSpPr/>
          <p:nvPr/>
        </p:nvSpPr>
        <p:spPr>
          <a:xfrm>
            <a:off x="2695575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23" name="Oval 28"/>
          <p:cNvSpPr/>
          <p:nvPr/>
        </p:nvSpPr>
        <p:spPr>
          <a:xfrm>
            <a:off x="1785938" y="28956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5324" name="Rectangle 29"/>
          <p:cNvSpPr/>
          <p:nvPr/>
        </p:nvSpPr>
        <p:spPr>
          <a:xfrm>
            <a:off x="2551113" y="4837113"/>
            <a:ext cx="463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25" name="Rectangle 30"/>
          <p:cNvSpPr/>
          <p:nvPr/>
        </p:nvSpPr>
        <p:spPr>
          <a:xfrm>
            <a:off x="903288" y="2647950"/>
            <a:ext cx="9191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2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6323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56324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6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lgDash"/>
            <a:round/>
            <a:headEnd type="none" w="sm" len="sm"/>
            <a:tailEnd type="none" w="sm" len="sm"/>
          </a:ln>
        </p:spPr>
      </p:sp>
      <p:sp>
        <p:nvSpPr>
          <p:cNvPr id="56327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8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29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0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31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32" name="Line 13"/>
          <p:cNvSpPr/>
          <p:nvPr/>
        </p:nvSpPr>
        <p:spPr>
          <a:xfrm flipV="1">
            <a:off x="1857375" y="2905125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33" name="Rectangle 14"/>
          <p:cNvSpPr/>
          <p:nvPr/>
        </p:nvSpPr>
        <p:spPr>
          <a:xfrm>
            <a:off x="6051550" y="2657475"/>
            <a:ext cx="16954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 + t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34" name="Line 15"/>
          <p:cNvSpPr/>
          <p:nvPr/>
        </p:nvSpPr>
        <p:spPr>
          <a:xfrm>
            <a:off x="5481638" y="3025775"/>
            <a:ext cx="0" cy="619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56335" name="Rectangle 16"/>
          <p:cNvSpPr/>
          <p:nvPr/>
        </p:nvSpPr>
        <p:spPr>
          <a:xfrm>
            <a:off x="5519738" y="3105150"/>
            <a:ext cx="30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36" name="Line 17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37" name="Oval 18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38" name="Line 19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39" name="Oval 20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40" name="Oval 21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41" name="Rectangle 22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2" name="Rectangle 23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3" name="Oval 24"/>
          <p:cNvSpPr/>
          <p:nvPr/>
        </p:nvSpPr>
        <p:spPr>
          <a:xfrm>
            <a:off x="2695575" y="34591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44" name="Line 25"/>
          <p:cNvSpPr/>
          <p:nvPr/>
        </p:nvSpPr>
        <p:spPr>
          <a:xfrm>
            <a:off x="2768600" y="2967038"/>
            <a:ext cx="0" cy="18462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45" name="Line 26"/>
          <p:cNvSpPr/>
          <p:nvPr/>
        </p:nvSpPr>
        <p:spPr>
          <a:xfrm flipH="1">
            <a:off x="1858963" y="2967038"/>
            <a:ext cx="909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56346" name="Oval 27"/>
          <p:cNvSpPr/>
          <p:nvPr/>
        </p:nvSpPr>
        <p:spPr>
          <a:xfrm>
            <a:off x="2695575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47" name="Oval 28"/>
          <p:cNvSpPr/>
          <p:nvPr/>
        </p:nvSpPr>
        <p:spPr>
          <a:xfrm>
            <a:off x="1785938" y="2895600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48" name="Rectangle 29"/>
          <p:cNvSpPr/>
          <p:nvPr/>
        </p:nvSpPr>
        <p:spPr>
          <a:xfrm>
            <a:off x="2551113" y="4837113"/>
            <a:ext cx="463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9" name="Rectangle 30"/>
          <p:cNvSpPr/>
          <p:nvPr/>
        </p:nvSpPr>
        <p:spPr>
          <a:xfrm>
            <a:off x="903288" y="2647950"/>
            <a:ext cx="917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50" name="AutoShape 31"/>
          <p:cNvSpPr/>
          <p:nvPr/>
        </p:nvSpPr>
        <p:spPr>
          <a:xfrm>
            <a:off x="2768600" y="5381625"/>
            <a:ext cx="431800" cy="303213"/>
          </a:xfrm>
          <a:prstGeom prst="leftArrow">
            <a:avLst>
              <a:gd name="adj1" fmla="val 50000"/>
              <a:gd name="adj2" fmla="val 71190"/>
            </a:avLst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51" name="AutoShape 32"/>
          <p:cNvSpPr/>
          <p:nvPr/>
        </p:nvSpPr>
        <p:spPr>
          <a:xfrm>
            <a:off x="574675" y="2967038"/>
            <a:ext cx="287338" cy="288925"/>
          </a:xfrm>
          <a:prstGeom prst="upArrow">
            <a:avLst>
              <a:gd name="adj1" fmla="val 50000"/>
              <a:gd name="adj2" fmla="val 50266"/>
            </a:avLst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56352" name="Rectangle 33"/>
          <p:cNvSpPr/>
          <p:nvPr/>
        </p:nvSpPr>
        <p:spPr>
          <a:xfrm>
            <a:off x="3598863" y="919163"/>
            <a:ext cx="5400675" cy="18002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The quantity tax causes a drop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in the output level, a rise in the</a:t>
            </a:r>
            <a:b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output’s price and a decline in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demand for inputs.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Can a monopolist “pass” all of a $t quantity tax to the consumers?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Suppose the marginal cost of production is constant at $k/output unit.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With no tax, the monopolist’s price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7347" name="Object 4"/>
          <p:cNvGraphicFramePr/>
          <p:nvPr/>
        </p:nvGraphicFramePr>
        <p:xfrm>
          <a:off x="3470275" y="4741863"/>
          <a:ext cx="22971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397635" imgH="570230" progId="Equation.2">
                  <p:embed/>
                </p:oleObj>
              </mc:Choice>
              <mc:Fallback>
                <p:oleObj name="" r:id="rId1" imgW="1397635" imgH="57023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70275" y="4741863"/>
                        <a:ext cx="2297113" cy="869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tax increases marginal cost to $(k+t)/output unit, changing the profit-maximizing price to</a:t>
            </a:r>
            <a:br>
              <a:rPr lang="en-US" altLang="zh-CN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amount of the tax paid by buyers is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8371" name="Object 4"/>
          <p:cNvGraphicFramePr/>
          <p:nvPr/>
        </p:nvGraphicFramePr>
        <p:xfrm>
          <a:off x="3052763" y="3098800"/>
          <a:ext cx="27876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702435" imgH="570230" progId="Equation.2">
                  <p:embed/>
                </p:oleObj>
              </mc:Choice>
              <mc:Fallback>
                <p:oleObj name="" r:id="rId1" imgW="1702435" imgH="570230" progId="Equation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2763" y="3098800"/>
                        <a:ext cx="2787650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5"/>
          <p:cNvGraphicFramePr/>
          <p:nvPr/>
        </p:nvGraphicFramePr>
        <p:xfrm>
          <a:off x="3279775" y="4787900"/>
          <a:ext cx="23225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423670" imgH="361315" progId="Equation.2">
                  <p:embed/>
                </p:oleObj>
              </mc:Choice>
              <mc:Fallback>
                <p:oleObj name="" r:id="rId3" imgW="1423670" imgH="361315" progId="Equation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9775" y="4787900"/>
                        <a:ext cx="2322513" cy="538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Quantity Tax Levied on a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59394" name="Object 3"/>
          <p:cNvGraphicFramePr/>
          <p:nvPr/>
        </p:nvGraphicFramePr>
        <p:xfrm>
          <a:off x="1250950" y="1312863"/>
          <a:ext cx="632618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879850" imgH="570230" progId="Equation.2">
                  <p:embed/>
                </p:oleObj>
              </mc:Choice>
              <mc:Fallback>
                <p:oleObj name="" r:id="rId1" imgW="3879850" imgH="570230" progId="Equation.2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0950" y="1312863"/>
                        <a:ext cx="6326188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Rectangle 4"/>
          <p:cNvSpPr/>
          <p:nvPr/>
        </p:nvSpPr>
        <p:spPr>
          <a:xfrm>
            <a:off x="550863" y="2565400"/>
            <a:ext cx="8345487" cy="314007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is the amount of the tax passed on to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buyers.  E.g. if </a:t>
            </a:r>
            <a:r>
              <a:rPr lang="en-US" altLang="zh-CN" sz="36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= -2, the amount of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tax passed on is 2t.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Because </a:t>
            </a:r>
            <a:r>
              <a:rPr lang="en-US" altLang="zh-CN" sz="36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&lt; -1, </a:t>
            </a:r>
            <a:r>
              <a:rPr lang="en-US" altLang="zh-CN" sz="3600" dirty="0">
                <a:latin typeface="Symbol" panose="05050102010706020507" pitchFamily="18" charset="2"/>
                <a:ea typeface="宋体" panose="02010600030101010101" pitchFamily="2" charset="-122"/>
              </a:rPr>
              <a:t>e </a:t>
            </a:r>
            <a:r>
              <a:rPr lang="en-US" altLang="zh-CN" sz="3200" dirty="0">
                <a:latin typeface="Symbol" panose="05050102010706020507" pitchFamily="18" charset="2"/>
                <a:ea typeface="宋体" panose="02010600030101010101" pitchFamily="2" charset="-122"/>
              </a:rPr>
              <a:t>/(1+</a:t>
            </a:r>
            <a:r>
              <a:rPr lang="en-US" altLang="zh-CN" sz="3600" dirty="0">
                <a:latin typeface="Symbol" panose="05050102010706020507" pitchFamily="18" charset="2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) &gt; 1 and so the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monopolist passes on to consumers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more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than the tax!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market is Pareto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efficient</a:t>
            </a:r>
            <a:r>
              <a:rPr lang="en-US" altLang="zh-CN" dirty="0">
                <a:ea typeface="宋体" panose="02010600030101010101" pitchFamily="2" charset="-122"/>
              </a:rPr>
              <a:t> if it achieves the maximum possible total gains-to-trade.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Otherwise a market is Pareto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inefficient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1442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1443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46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7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48" name="Rectangle 10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9" name="Line 11"/>
          <p:cNvSpPr/>
          <p:nvPr/>
        </p:nvSpPr>
        <p:spPr>
          <a:xfrm>
            <a:off x="4183063" y="3890963"/>
            <a:ext cx="0" cy="922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50" name="Oval 12"/>
          <p:cNvSpPr/>
          <p:nvPr/>
        </p:nvSpPr>
        <p:spPr>
          <a:xfrm>
            <a:off x="4114800" y="383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51" name="Line 13"/>
          <p:cNvSpPr/>
          <p:nvPr/>
        </p:nvSpPr>
        <p:spPr>
          <a:xfrm flipH="1">
            <a:off x="1858963" y="3898900"/>
            <a:ext cx="2328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1452" name="Oval 14"/>
          <p:cNvSpPr/>
          <p:nvPr/>
        </p:nvSpPr>
        <p:spPr>
          <a:xfrm>
            <a:off x="1785938" y="38274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53" name="Oval 15"/>
          <p:cNvSpPr/>
          <p:nvPr/>
        </p:nvSpPr>
        <p:spPr>
          <a:xfrm>
            <a:off x="4114800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1454" name="Rectangle 16"/>
          <p:cNvSpPr/>
          <p:nvPr/>
        </p:nvSpPr>
        <p:spPr>
          <a:xfrm>
            <a:off x="4008438" y="48371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5" name="Rectangle 17"/>
          <p:cNvSpPr/>
          <p:nvPr/>
        </p:nvSpPr>
        <p:spPr>
          <a:xfrm>
            <a:off x="846138" y="3633788"/>
            <a:ext cx="9731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6" name="Rectangle 18"/>
          <p:cNvSpPr/>
          <p:nvPr/>
        </p:nvSpPr>
        <p:spPr>
          <a:xfrm>
            <a:off x="3765550" y="1255713"/>
            <a:ext cx="4959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efficient output level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satisfies p(y) = MC(y).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Efficiency of Pure Competition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AutoShape 21"/>
          <p:cNvSpPr/>
          <p:nvPr/>
        </p:nvSpPr>
        <p:spPr>
          <a:xfrm>
            <a:off x="1863725" y="2362200"/>
            <a:ext cx="2327275" cy="154305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66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2467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2468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9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0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71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2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73" name="Rectangle 10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74" name="Line 11"/>
          <p:cNvSpPr/>
          <p:nvPr/>
        </p:nvSpPr>
        <p:spPr>
          <a:xfrm>
            <a:off x="4183063" y="3890963"/>
            <a:ext cx="0" cy="922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2475" name="Oval 12"/>
          <p:cNvSpPr/>
          <p:nvPr/>
        </p:nvSpPr>
        <p:spPr>
          <a:xfrm>
            <a:off x="4114800" y="383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6" name="Line 13"/>
          <p:cNvSpPr/>
          <p:nvPr/>
        </p:nvSpPr>
        <p:spPr>
          <a:xfrm flipH="1">
            <a:off x="1858963" y="3898900"/>
            <a:ext cx="2328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2477" name="Oval 14"/>
          <p:cNvSpPr/>
          <p:nvPr/>
        </p:nvSpPr>
        <p:spPr>
          <a:xfrm>
            <a:off x="1785938" y="38274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8" name="Oval 15"/>
          <p:cNvSpPr/>
          <p:nvPr/>
        </p:nvSpPr>
        <p:spPr>
          <a:xfrm>
            <a:off x="4114800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2479" name="Rectangle 16"/>
          <p:cNvSpPr/>
          <p:nvPr/>
        </p:nvSpPr>
        <p:spPr>
          <a:xfrm>
            <a:off x="4008438" y="48371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0" name="Rectangle 17"/>
          <p:cNvSpPr/>
          <p:nvPr/>
        </p:nvSpPr>
        <p:spPr>
          <a:xfrm>
            <a:off x="846138" y="3633788"/>
            <a:ext cx="971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1" name="Rectangle 18"/>
          <p:cNvSpPr/>
          <p:nvPr/>
        </p:nvSpPr>
        <p:spPr>
          <a:xfrm>
            <a:off x="3765550" y="1255713"/>
            <a:ext cx="49704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efficient output level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satisfies p(y) = MC(y).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2" name="Rectangle 20"/>
          <p:cNvSpPr/>
          <p:nvPr/>
        </p:nvSpPr>
        <p:spPr>
          <a:xfrm>
            <a:off x="2066925" y="30495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Efficiency of Pure Competition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Line 12"/>
          <p:cNvSpPr/>
          <p:nvPr/>
        </p:nvSpPr>
        <p:spPr>
          <a:xfrm flipH="1">
            <a:off x="1858963" y="3898900"/>
            <a:ext cx="2328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3490" name="AutoShape 17"/>
          <p:cNvSpPr/>
          <p:nvPr/>
        </p:nvSpPr>
        <p:spPr>
          <a:xfrm>
            <a:off x="1863725" y="2362200"/>
            <a:ext cx="2327275" cy="154305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1" name="AutoShape 19"/>
          <p:cNvSpPr/>
          <p:nvPr/>
        </p:nvSpPr>
        <p:spPr>
          <a:xfrm rot="5400000">
            <a:off x="2800350" y="2974975"/>
            <a:ext cx="457200" cy="2324100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492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3493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3494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5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6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97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8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99" name="Rectangle 10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0" name="Line 11"/>
          <p:cNvSpPr/>
          <p:nvPr/>
        </p:nvSpPr>
        <p:spPr>
          <a:xfrm>
            <a:off x="4183063" y="3890963"/>
            <a:ext cx="0" cy="922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3501" name="Oval 13"/>
          <p:cNvSpPr/>
          <p:nvPr/>
        </p:nvSpPr>
        <p:spPr>
          <a:xfrm>
            <a:off x="4114800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502" name="Rectangle 14"/>
          <p:cNvSpPr/>
          <p:nvPr/>
        </p:nvSpPr>
        <p:spPr>
          <a:xfrm>
            <a:off x="4008438" y="48371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3" name="Rectangle 15"/>
          <p:cNvSpPr/>
          <p:nvPr/>
        </p:nvSpPr>
        <p:spPr>
          <a:xfrm>
            <a:off x="846138" y="3633788"/>
            <a:ext cx="971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4" name="Rectangle 16"/>
          <p:cNvSpPr/>
          <p:nvPr/>
        </p:nvSpPr>
        <p:spPr>
          <a:xfrm>
            <a:off x="3765550" y="1255713"/>
            <a:ext cx="49704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efficient output level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satisfies p(y) = MC(y).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5" name="Rectangle 18"/>
          <p:cNvSpPr/>
          <p:nvPr/>
        </p:nvSpPr>
        <p:spPr>
          <a:xfrm>
            <a:off x="2066925" y="30495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6" name="Oval 20"/>
          <p:cNvSpPr/>
          <p:nvPr/>
        </p:nvSpPr>
        <p:spPr>
          <a:xfrm>
            <a:off x="1785938" y="38274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507" name="Oval 21"/>
          <p:cNvSpPr/>
          <p:nvPr/>
        </p:nvSpPr>
        <p:spPr>
          <a:xfrm>
            <a:off x="4114800" y="383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3508" name="Rectangle 22"/>
          <p:cNvSpPr/>
          <p:nvPr/>
        </p:nvSpPr>
        <p:spPr>
          <a:xfrm>
            <a:off x="2079625" y="3824288"/>
            <a:ext cx="6588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5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Efficiency of Pure Competition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Efficiency of Pure Competition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4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4515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4516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7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8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19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0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21" name="Rectangle 10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2" name="Line 11"/>
          <p:cNvSpPr/>
          <p:nvPr/>
        </p:nvSpPr>
        <p:spPr>
          <a:xfrm>
            <a:off x="4183063" y="3890963"/>
            <a:ext cx="0" cy="922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4523" name="Line 12"/>
          <p:cNvSpPr/>
          <p:nvPr/>
        </p:nvSpPr>
        <p:spPr>
          <a:xfrm flipH="1">
            <a:off x="1858963" y="3898900"/>
            <a:ext cx="2328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4524" name="Oval 13"/>
          <p:cNvSpPr/>
          <p:nvPr/>
        </p:nvSpPr>
        <p:spPr>
          <a:xfrm>
            <a:off x="4114800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25" name="Rectangle 14"/>
          <p:cNvSpPr/>
          <p:nvPr/>
        </p:nvSpPr>
        <p:spPr>
          <a:xfrm>
            <a:off x="4008438" y="48371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6" name="Rectangle 15"/>
          <p:cNvSpPr/>
          <p:nvPr/>
        </p:nvSpPr>
        <p:spPr>
          <a:xfrm>
            <a:off x="846138" y="3633788"/>
            <a:ext cx="9731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7" name="Rectangle 16"/>
          <p:cNvSpPr/>
          <p:nvPr/>
        </p:nvSpPr>
        <p:spPr>
          <a:xfrm>
            <a:off x="3765550" y="1255713"/>
            <a:ext cx="4959350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efficient output level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satisfies p(y) = MC(y).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Total gains-to-trade is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maximized.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28" name="AutoShape 17"/>
          <p:cNvSpPr/>
          <p:nvPr/>
        </p:nvSpPr>
        <p:spPr>
          <a:xfrm>
            <a:off x="1854200" y="2371725"/>
            <a:ext cx="2336800" cy="1524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29" name="Rectangle 18"/>
          <p:cNvSpPr/>
          <p:nvPr/>
        </p:nvSpPr>
        <p:spPr>
          <a:xfrm>
            <a:off x="2066925" y="30495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0" name="AutoShape 19"/>
          <p:cNvSpPr/>
          <p:nvPr/>
        </p:nvSpPr>
        <p:spPr>
          <a:xfrm rot="5400000">
            <a:off x="2800350" y="2965450"/>
            <a:ext cx="457200" cy="2324100"/>
          </a:xfrm>
          <a:prstGeom prst="rtTriangl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31" name="Oval 20"/>
          <p:cNvSpPr/>
          <p:nvPr/>
        </p:nvSpPr>
        <p:spPr>
          <a:xfrm>
            <a:off x="1785938" y="38274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32" name="Oval 21"/>
          <p:cNvSpPr/>
          <p:nvPr/>
        </p:nvSpPr>
        <p:spPr>
          <a:xfrm>
            <a:off x="4114800" y="383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4533" name="Rectangle 22"/>
          <p:cNvSpPr/>
          <p:nvPr/>
        </p:nvSpPr>
        <p:spPr>
          <a:xfrm>
            <a:off x="2079625" y="3824288"/>
            <a:ext cx="6588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34" name="Freeform 23"/>
          <p:cNvSpPr/>
          <p:nvPr/>
        </p:nvSpPr>
        <p:spPr>
          <a:xfrm>
            <a:off x="1854200" y="2349500"/>
            <a:ext cx="2351088" cy="2008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1481" h="1265">
                <a:moveTo>
                  <a:pt x="0" y="0"/>
                </a:moveTo>
                <a:lnTo>
                  <a:pt x="0" y="1264"/>
                </a:lnTo>
                <a:lnTo>
                  <a:pt x="1480" y="968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46CF4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5538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5539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5540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43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4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45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46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7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48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49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5550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51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2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53" name="Oval 18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5554" name="Oval 19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AutoShape 22"/>
          <p:cNvSpPr/>
          <p:nvPr/>
        </p:nvSpPr>
        <p:spPr>
          <a:xfrm>
            <a:off x="1863725" y="2371725"/>
            <a:ext cx="1377950" cy="889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6563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6564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6565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6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7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68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9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70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71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2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3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74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6575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6576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7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8" name="Rectangle 19"/>
          <p:cNvSpPr/>
          <p:nvPr/>
        </p:nvSpPr>
        <p:spPr>
          <a:xfrm>
            <a:off x="1952625" y="27828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79" name="Oval 20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6580" name="Oval 21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6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7587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7588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0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91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2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93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4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5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6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7597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7598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599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0" name="AutoShape 18"/>
          <p:cNvSpPr/>
          <p:nvPr/>
        </p:nvSpPr>
        <p:spPr>
          <a:xfrm>
            <a:off x="1863725" y="2371725"/>
            <a:ext cx="1377950" cy="889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7601" name="Rectangle 19"/>
          <p:cNvSpPr/>
          <p:nvPr/>
        </p:nvSpPr>
        <p:spPr>
          <a:xfrm>
            <a:off x="1952625" y="27828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2" name="Freeform 20"/>
          <p:cNvSpPr/>
          <p:nvPr/>
        </p:nvSpPr>
        <p:spPr>
          <a:xfrm>
            <a:off x="1863725" y="3251200"/>
            <a:ext cx="1347788" cy="110648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849" h="697">
                <a:moveTo>
                  <a:pt x="0" y="8"/>
                </a:moveTo>
                <a:lnTo>
                  <a:pt x="0" y="696"/>
                </a:lnTo>
                <a:lnTo>
                  <a:pt x="848" y="528"/>
                </a:lnTo>
                <a:lnTo>
                  <a:pt x="848" y="0"/>
                </a:lnTo>
                <a:lnTo>
                  <a:pt x="0" y="8"/>
                </a:lnTo>
              </a:path>
            </a:pathLst>
          </a:custGeom>
          <a:solidFill>
            <a:schemeClr val="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7603" name="Oval 21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7604" name="Oval 22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7605" name="Rectangle 23"/>
          <p:cNvSpPr/>
          <p:nvPr/>
        </p:nvSpPr>
        <p:spPr>
          <a:xfrm>
            <a:off x="1990725" y="3430588"/>
            <a:ext cx="6572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06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8610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8611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8612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3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4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15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6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17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18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19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0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21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8622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8623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4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5" name="AutoShape 18"/>
          <p:cNvSpPr/>
          <p:nvPr/>
        </p:nvSpPr>
        <p:spPr>
          <a:xfrm>
            <a:off x="1854200" y="2362200"/>
            <a:ext cx="1358900" cy="889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8626" name="Rectangle 19"/>
          <p:cNvSpPr/>
          <p:nvPr/>
        </p:nvSpPr>
        <p:spPr>
          <a:xfrm>
            <a:off x="1952625" y="27828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27" name="Freeform 20"/>
          <p:cNvSpPr/>
          <p:nvPr/>
        </p:nvSpPr>
        <p:spPr>
          <a:xfrm>
            <a:off x="1854200" y="3251200"/>
            <a:ext cx="1347788" cy="110648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849" h="697">
                <a:moveTo>
                  <a:pt x="0" y="8"/>
                </a:moveTo>
                <a:lnTo>
                  <a:pt x="0" y="696"/>
                </a:lnTo>
                <a:lnTo>
                  <a:pt x="848" y="528"/>
                </a:lnTo>
                <a:lnTo>
                  <a:pt x="848" y="0"/>
                </a:lnTo>
                <a:lnTo>
                  <a:pt x="0" y="8"/>
                </a:lnTo>
              </a:path>
            </a:pathLst>
          </a:custGeom>
          <a:solidFill>
            <a:schemeClr val="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8628" name="Oval 21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8629" name="Oval 22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8630" name="Rectangle 23"/>
          <p:cNvSpPr/>
          <p:nvPr/>
        </p:nvSpPr>
        <p:spPr>
          <a:xfrm>
            <a:off x="1990725" y="3430588"/>
            <a:ext cx="6588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631" name="Freeform 24"/>
          <p:cNvSpPr/>
          <p:nvPr/>
        </p:nvSpPr>
        <p:spPr>
          <a:xfrm>
            <a:off x="1854200" y="2349500"/>
            <a:ext cx="1347788" cy="20208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849" h="1273">
                <a:moveTo>
                  <a:pt x="0" y="0"/>
                </a:moveTo>
                <a:lnTo>
                  <a:pt x="0" y="1272"/>
                </a:lnTo>
                <a:lnTo>
                  <a:pt x="848" y="1104"/>
                </a:lnTo>
                <a:lnTo>
                  <a:pt x="848" y="560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4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69635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69636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7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8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39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0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41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42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3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4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5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69646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9647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8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49" name="AutoShape 18"/>
          <p:cNvSpPr/>
          <p:nvPr/>
        </p:nvSpPr>
        <p:spPr>
          <a:xfrm>
            <a:off x="1854200" y="2362200"/>
            <a:ext cx="1358900" cy="889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9650" name="Rectangle 19"/>
          <p:cNvSpPr/>
          <p:nvPr/>
        </p:nvSpPr>
        <p:spPr>
          <a:xfrm>
            <a:off x="1952625" y="27828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1" name="Freeform 20"/>
          <p:cNvSpPr/>
          <p:nvPr/>
        </p:nvSpPr>
        <p:spPr>
          <a:xfrm>
            <a:off x="1854200" y="3251200"/>
            <a:ext cx="1347788" cy="110648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849" h="697">
                <a:moveTo>
                  <a:pt x="0" y="8"/>
                </a:moveTo>
                <a:lnTo>
                  <a:pt x="0" y="696"/>
                </a:lnTo>
                <a:lnTo>
                  <a:pt x="848" y="528"/>
                </a:lnTo>
                <a:lnTo>
                  <a:pt x="848" y="0"/>
                </a:lnTo>
                <a:lnTo>
                  <a:pt x="0" y="8"/>
                </a:lnTo>
              </a:path>
            </a:pathLst>
          </a:custGeom>
          <a:solidFill>
            <a:schemeClr val="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9652" name="Oval 21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9653" name="Oval 22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69654" name="Rectangle 23"/>
          <p:cNvSpPr/>
          <p:nvPr/>
        </p:nvSpPr>
        <p:spPr>
          <a:xfrm>
            <a:off x="1990725" y="3430588"/>
            <a:ext cx="6588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55" name="Freeform 24"/>
          <p:cNvSpPr/>
          <p:nvPr/>
        </p:nvSpPr>
        <p:spPr>
          <a:xfrm>
            <a:off x="1854200" y="2349500"/>
            <a:ext cx="1347788" cy="20208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849" h="1273">
                <a:moveTo>
                  <a:pt x="0" y="0"/>
                </a:moveTo>
                <a:lnTo>
                  <a:pt x="0" y="1272"/>
                </a:lnTo>
                <a:lnTo>
                  <a:pt x="848" y="1104"/>
                </a:lnTo>
                <a:lnTo>
                  <a:pt x="848" y="560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9656" name="Freeform 25"/>
          <p:cNvSpPr/>
          <p:nvPr/>
        </p:nvSpPr>
        <p:spPr>
          <a:xfrm>
            <a:off x="1854200" y="2349500"/>
            <a:ext cx="2351088" cy="2008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1481" h="1265">
                <a:moveTo>
                  <a:pt x="0" y="0"/>
                </a:moveTo>
                <a:lnTo>
                  <a:pt x="0" y="1264"/>
                </a:lnTo>
                <a:lnTo>
                  <a:pt x="1480" y="968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46CF4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0658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0659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0660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1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2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63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4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65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66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7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68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0669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0670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0671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72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73" name="AutoShape 18"/>
          <p:cNvSpPr/>
          <p:nvPr/>
        </p:nvSpPr>
        <p:spPr>
          <a:xfrm>
            <a:off x="1854200" y="2362200"/>
            <a:ext cx="1358900" cy="889000"/>
          </a:xfrm>
          <a:prstGeom prst="rtTriangle">
            <a:avLst/>
          </a:prstGeom>
          <a:solidFill>
            <a:schemeClr val="tx2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0674" name="Rectangle 19"/>
          <p:cNvSpPr/>
          <p:nvPr/>
        </p:nvSpPr>
        <p:spPr>
          <a:xfrm>
            <a:off x="1952625" y="2782888"/>
            <a:ext cx="6778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B4D1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endParaRPr lang="en-US" altLang="zh-CN" dirty="0">
              <a:solidFill>
                <a:srgbClr val="FB4D1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75" name="Freeform 20"/>
          <p:cNvSpPr/>
          <p:nvPr/>
        </p:nvSpPr>
        <p:spPr>
          <a:xfrm>
            <a:off x="1854200" y="3251200"/>
            <a:ext cx="1347788" cy="110648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849" h="697">
                <a:moveTo>
                  <a:pt x="0" y="8"/>
                </a:moveTo>
                <a:lnTo>
                  <a:pt x="0" y="696"/>
                </a:lnTo>
                <a:lnTo>
                  <a:pt x="848" y="528"/>
                </a:lnTo>
                <a:lnTo>
                  <a:pt x="848" y="0"/>
                </a:lnTo>
                <a:lnTo>
                  <a:pt x="0" y="8"/>
                </a:lnTo>
              </a:path>
            </a:pathLst>
          </a:custGeom>
          <a:solidFill>
            <a:schemeClr val="hlink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0676" name="Rectangle 21"/>
          <p:cNvSpPr/>
          <p:nvPr/>
        </p:nvSpPr>
        <p:spPr>
          <a:xfrm>
            <a:off x="1990725" y="3430588"/>
            <a:ext cx="65881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PS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77" name="Freeform 22"/>
          <p:cNvSpPr/>
          <p:nvPr/>
        </p:nvSpPr>
        <p:spPr>
          <a:xfrm>
            <a:off x="1854200" y="2349500"/>
            <a:ext cx="1347788" cy="20208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849" h="1273">
                <a:moveTo>
                  <a:pt x="0" y="0"/>
                </a:moveTo>
                <a:lnTo>
                  <a:pt x="0" y="1272"/>
                </a:lnTo>
                <a:lnTo>
                  <a:pt x="848" y="1104"/>
                </a:lnTo>
                <a:lnTo>
                  <a:pt x="848" y="560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0678" name="Freeform 23"/>
          <p:cNvSpPr/>
          <p:nvPr/>
        </p:nvSpPr>
        <p:spPr>
          <a:xfrm>
            <a:off x="1854200" y="2349500"/>
            <a:ext cx="2351088" cy="2008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1481" h="1265">
                <a:moveTo>
                  <a:pt x="0" y="0"/>
                </a:moveTo>
                <a:lnTo>
                  <a:pt x="0" y="1264"/>
                </a:lnTo>
                <a:lnTo>
                  <a:pt x="1480" y="968"/>
                </a:lnTo>
                <a:lnTo>
                  <a:pt x="0" y="0"/>
                </a:lnTo>
              </a:path>
            </a:pathLst>
          </a:custGeom>
          <a:noFill/>
          <a:ln w="76200" cap="rnd" cmpd="sng">
            <a:solidFill>
              <a:srgbClr val="46CF4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0679" name="Rectangle 24"/>
          <p:cNvSpPr/>
          <p:nvPr/>
        </p:nvSpPr>
        <p:spPr>
          <a:xfrm>
            <a:off x="3575050" y="1350963"/>
            <a:ext cx="5503863" cy="35036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MC(y*+1) &lt; p(y*+1) so both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seller and buyer could gain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if the (y*+1)th unit of output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was produced.  Hence the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market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is Pareto inefficient.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0680" name="Oval 25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0681" name="Oval 26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682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1683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1684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5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6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87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88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89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90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1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2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1693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1694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695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6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697" name="Oval 18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698" name="Freeform 19"/>
          <p:cNvSpPr/>
          <p:nvPr/>
        </p:nvSpPr>
        <p:spPr>
          <a:xfrm>
            <a:off x="3206750" y="3238500"/>
            <a:ext cx="1017588" cy="865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641" h="545">
                <a:moveTo>
                  <a:pt x="0" y="0"/>
                </a:moveTo>
                <a:lnTo>
                  <a:pt x="0" y="544"/>
                </a:lnTo>
                <a:lnTo>
                  <a:pt x="640" y="414"/>
                </a:lnTo>
                <a:lnTo>
                  <a:pt x="0" y="0"/>
                </a:lnTo>
              </a:path>
            </a:pathLst>
          </a:custGeom>
          <a:solidFill>
            <a:srgbClr val="E0021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1699" name="Oval 20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1700" name="Rectangle 21"/>
          <p:cNvSpPr/>
          <p:nvPr/>
        </p:nvSpPr>
        <p:spPr>
          <a:xfrm>
            <a:off x="3121025" y="3548063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DWL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1" name="Rectangle 22"/>
          <p:cNvSpPr/>
          <p:nvPr/>
        </p:nvSpPr>
        <p:spPr>
          <a:xfrm>
            <a:off x="3598863" y="1208088"/>
            <a:ext cx="5392737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Deadweight loss measures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gains-to-trade not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achieved by the market.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The Inefficiency of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2706" name="Line 3"/>
          <p:cNvSpPr/>
          <p:nvPr/>
        </p:nvSpPr>
        <p:spPr>
          <a:xfrm>
            <a:off x="1857375" y="1643063"/>
            <a:ext cx="0" cy="31670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stealth" w="med" len="lg"/>
            <a:tailEnd type="none" w="sm" len="sm"/>
          </a:ln>
        </p:spPr>
      </p:sp>
      <p:sp>
        <p:nvSpPr>
          <p:cNvPr id="72707" name="Line 4"/>
          <p:cNvSpPr/>
          <p:nvPr/>
        </p:nvSpPr>
        <p:spPr>
          <a:xfrm>
            <a:off x="1857375" y="4810125"/>
            <a:ext cx="43100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stealth" w="med" len="lg"/>
          </a:ln>
        </p:spPr>
      </p:sp>
      <p:sp>
        <p:nvSpPr>
          <p:cNvPr id="72708" name="Rectangle 5"/>
          <p:cNvSpPr/>
          <p:nvPr/>
        </p:nvSpPr>
        <p:spPr>
          <a:xfrm>
            <a:off x="788988" y="1157288"/>
            <a:ext cx="23368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09" name="Rectangle 6"/>
          <p:cNvSpPr/>
          <p:nvPr/>
        </p:nvSpPr>
        <p:spPr>
          <a:xfrm>
            <a:off x="6242050" y="480060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0" name="Line 7"/>
          <p:cNvSpPr/>
          <p:nvPr/>
        </p:nvSpPr>
        <p:spPr>
          <a:xfrm flipV="1">
            <a:off x="1857375" y="3548063"/>
            <a:ext cx="4167188" cy="809625"/>
          </a:xfrm>
          <a:prstGeom prst="line">
            <a:avLst/>
          </a:prstGeom>
          <a:ln w="25400" cap="flat" cmpd="sng">
            <a:solidFill>
              <a:srgbClr val="46CF4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11" name="Rectangle 8"/>
          <p:cNvSpPr/>
          <p:nvPr/>
        </p:nvSpPr>
        <p:spPr>
          <a:xfrm>
            <a:off x="6051550" y="3348038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46CF4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46CF4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2" name="Line 9"/>
          <p:cNvSpPr/>
          <p:nvPr/>
        </p:nvSpPr>
        <p:spPr>
          <a:xfrm>
            <a:off x="1857375" y="2357438"/>
            <a:ext cx="3738563" cy="24526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13" name="Line 10"/>
          <p:cNvSpPr/>
          <p:nvPr/>
        </p:nvSpPr>
        <p:spPr>
          <a:xfrm>
            <a:off x="1857375" y="2405063"/>
            <a:ext cx="2833688" cy="3452812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14" name="Rectangle 11"/>
          <p:cNvSpPr/>
          <p:nvPr/>
        </p:nvSpPr>
        <p:spPr>
          <a:xfrm>
            <a:off x="2408238" y="2205038"/>
            <a:ext cx="8366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5" name="Rectangle 12"/>
          <p:cNvSpPr/>
          <p:nvPr/>
        </p:nvSpPr>
        <p:spPr>
          <a:xfrm>
            <a:off x="4741863" y="551497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16" name="Line 13"/>
          <p:cNvSpPr/>
          <p:nvPr/>
        </p:nvSpPr>
        <p:spPr>
          <a:xfrm>
            <a:off x="3200400" y="3255963"/>
            <a:ext cx="0" cy="15287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2717" name="Line 14"/>
          <p:cNvSpPr/>
          <p:nvPr/>
        </p:nvSpPr>
        <p:spPr>
          <a:xfrm flipH="1">
            <a:off x="1858963" y="3255963"/>
            <a:ext cx="1357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2718" name="Oval 15"/>
          <p:cNvSpPr/>
          <p:nvPr/>
        </p:nvSpPr>
        <p:spPr>
          <a:xfrm>
            <a:off x="3128963" y="47418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19" name="Rectangle 16"/>
          <p:cNvSpPr/>
          <p:nvPr/>
        </p:nvSpPr>
        <p:spPr>
          <a:xfrm>
            <a:off x="3008313" y="4837113"/>
            <a:ext cx="5207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0" name="Rectangle 17"/>
          <p:cNvSpPr/>
          <p:nvPr/>
        </p:nvSpPr>
        <p:spPr>
          <a:xfrm>
            <a:off x="846138" y="30337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1" name="Oval 18"/>
          <p:cNvSpPr/>
          <p:nvPr/>
        </p:nvSpPr>
        <p:spPr>
          <a:xfrm>
            <a:off x="1785938" y="3184525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22" name="Line 19"/>
          <p:cNvSpPr/>
          <p:nvPr/>
        </p:nvSpPr>
        <p:spPr>
          <a:xfrm>
            <a:off x="4183063" y="3890963"/>
            <a:ext cx="0" cy="9223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2723" name="Oval 20"/>
          <p:cNvSpPr/>
          <p:nvPr/>
        </p:nvSpPr>
        <p:spPr>
          <a:xfrm>
            <a:off x="4114800" y="47418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24" name="Rectangle 21"/>
          <p:cNvSpPr/>
          <p:nvPr/>
        </p:nvSpPr>
        <p:spPr>
          <a:xfrm>
            <a:off x="4008438" y="483711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5" name="Rectangle 22"/>
          <p:cNvSpPr/>
          <p:nvPr/>
        </p:nvSpPr>
        <p:spPr>
          <a:xfrm>
            <a:off x="846138" y="3633788"/>
            <a:ext cx="9731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26" name="Line 23"/>
          <p:cNvSpPr/>
          <p:nvPr/>
        </p:nvSpPr>
        <p:spPr>
          <a:xfrm flipH="1">
            <a:off x="1858963" y="3898900"/>
            <a:ext cx="23288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2727" name="Oval 24"/>
          <p:cNvSpPr/>
          <p:nvPr/>
        </p:nvSpPr>
        <p:spPr>
          <a:xfrm>
            <a:off x="1785938" y="3827463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28" name="Freeform 25"/>
          <p:cNvSpPr/>
          <p:nvPr/>
        </p:nvSpPr>
        <p:spPr>
          <a:xfrm>
            <a:off x="3206750" y="3238500"/>
            <a:ext cx="1017588" cy="865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0" y="0"/>
              </a:cxn>
            </a:cxnLst>
            <a:pathLst>
              <a:path w="641" h="545">
                <a:moveTo>
                  <a:pt x="0" y="0"/>
                </a:moveTo>
                <a:lnTo>
                  <a:pt x="0" y="544"/>
                </a:lnTo>
                <a:lnTo>
                  <a:pt x="640" y="414"/>
                </a:lnTo>
                <a:lnTo>
                  <a:pt x="0" y="0"/>
                </a:lnTo>
              </a:path>
            </a:pathLst>
          </a:custGeom>
          <a:solidFill>
            <a:srgbClr val="E0021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2729" name="Rectangle 26"/>
          <p:cNvSpPr/>
          <p:nvPr/>
        </p:nvSpPr>
        <p:spPr>
          <a:xfrm>
            <a:off x="3121025" y="3548063"/>
            <a:ext cx="99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DWL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2730" name="Oval 27"/>
          <p:cNvSpPr/>
          <p:nvPr/>
        </p:nvSpPr>
        <p:spPr>
          <a:xfrm>
            <a:off x="3143250" y="400685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31" name="Oval 28"/>
          <p:cNvSpPr/>
          <p:nvPr/>
        </p:nvSpPr>
        <p:spPr>
          <a:xfrm>
            <a:off x="4114800" y="3835400"/>
            <a:ext cx="144463" cy="144463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2732" name="Rectangle 29"/>
          <p:cNvSpPr/>
          <p:nvPr/>
        </p:nvSpPr>
        <p:spPr>
          <a:xfrm>
            <a:off x="3716338" y="876300"/>
            <a:ext cx="5426075" cy="301625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The monopolist produces less than the efficient quantity, making the market price exceed the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efficient market   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price.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373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 natural monopoly arises when the firm’s technology has economies-of-scale large enough for it to supply the whole market at a lower average total production cost than is possible with more than one firm in the market.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475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5" name="Rectangle 4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6" name="Rectangle 5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7" name="Rectangle 6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8" name="Rectangle 7"/>
          <p:cNvSpPr/>
          <p:nvPr/>
        </p:nvSpPr>
        <p:spPr>
          <a:xfrm>
            <a:off x="1528763" y="522922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9" name="Rectangle 8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5778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55612"/>
            <a:ext cx="10048875" cy="7761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79" name="Rectangle 4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0" name="Rectangle 5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1" name="Rectangle 6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Rectangle 7"/>
          <p:cNvSpPr/>
          <p:nvPr/>
        </p:nvSpPr>
        <p:spPr>
          <a:xfrm>
            <a:off x="1528763" y="5229225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3" name="Rectangle 8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4" name="Line 9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785" name="Line 10"/>
          <p:cNvSpPr/>
          <p:nvPr/>
        </p:nvSpPr>
        <p:spPr>
          <a:xfrm flipV="1">
            <a:off x="4441825" y="3862388"/>
            <a:ext cx="0" cy="20335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5786" name="Line 11"/>
          <p:cNvSpPr/>
          <p:nvPr/>
        </p:nvSpPr>
        <p:spPr>
          <a:xfrm flipH="1">
            <a:off x="1311275" y="3895725"/>
            <a:ext cx="31448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5787" name="Oval 12"/>
          <p:cNvSpPr/>
          <p:nvPr/>
        </p:nvSpPr>
        <p:spPr>
          <a:xfrm>
            <a:off x="4341813" y="5360988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5788" name="Rectangle 13"/>
          <p:cNvSpPr/>
          <p:nvPr/>
        </p:nvSpPr>
        <p:spPr>
          <a:xfrm>
            <a:off x="4235450" y="59340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9" name="Rectangle 14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90" name="Rectangle 15"/>
          <p:cNvSpPr/>
          <p:nvPr/>
        </p:nvSpPr>
        <p:spPr>
          <a:xfrm>
            <a:off x="369888" y="35671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Inefficiency of a Natural Monopolist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Like any profit-maximizing monopolist, the natural monopolist causes a deadweight loss.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782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79425"/>
            <a:ext cx="10048875" cy="7761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826" name="Rectangle 3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7" name="Rectangle 4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8" name="Rectangle 5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Rectangle 6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0" name="Line 7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831" name="Line 8"/>
          <p:cNvSpPr/>
          <p:nvPr/>
        </p:nvSpPr>
        <p:spPr>
          <a:xfrm flipV="1">
            <a:off x="4441825" y="3862388"/>
            <a:ext cx="0" cy="20335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32" name="Line 9"/>
          <p:cNvSpPr/>
          <p:nvPr/>
        </p:nvSpPr>
        <p:spPr>
          <a:xfrm flipH="1">
            <a:off x="1311275" y="3848100"/>
            <a:ext cx="31448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7833" name="Oval 10"/>
          <p:cNvSpPr/>
          <p:nvPr/>
        </p:nvSpPr>
        <p:spPr>
          <a:xfrm>
            <a:off x="4341813" y="5360988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7834" name="Rectangle 11"/>
          <p:cNvSpPr/>
          <p:nvPr/>
        </p:nvSpPr>
        <p:spPr>
          <a:xfrm>
            <a:off x="4235450" y="59340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5" name="Rectangle 12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6" name="Rectangle 13"/>
          <p:cNvSpPr/>
          <p:nvPr/>
        </p:nvSpPr>
        <p:spPr>
          <a:xfrm>
            <a:off x="369888" y="35671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7" name="Rectangle 14"/>
          <p:cNvSpPr/>
          <p:nvPr/>
        </p:nvSpPr>
        <p:spPr>
          <a:xfrm>
            <a:off x="1271588" y="5086350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8" name="Rectangle 1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Inefficiency of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8849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79425"/>
            <a:ext cx="10048875" cy="7761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0" name="Rectangle 3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1" name="Rectangle 4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2" name="Rectangle 5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3" name="Rectangle 6"/>
          <p:cNvSpPr/>
          <p:nvPr/>
        </p:nvSpPr>
        <p:spPr>
          <a:xfrm>
            <a:off x="1271588" y="5086350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4" name="Rectangle 7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5" name="Line 8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56" name="Line 9"/>
          <p:cNvSpPr/>
          <p:nvPr/>
        </p:nvSpPr>
        <p:spPr>
          <a:xfrm flipV="1">
            <a:off x="4441825" y="3862388"/>
            <a:ext cx="0" cy="20335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8857" name="Line 10"/>
          <p:cNvSpPr/>
          <p:nvPr/>
        </p:nvSpPr>
        <p:spPr>
          <a:xfrm flipH="1">
            <a:off x="1311275" y="3848100"/>
            <a:ext cx="31448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8858" name="Oval 11"/>
          <p:cNvSpPr/>
          <p:nvPr/>
        </p:nvSpPr>
        <p:spPr>
          <a:xfrm>
            <a:off x="4341813" y="5360988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8859" name="Rectangle 12"/>
          <p:cNvSpPr/>
          <p:nvPr/>
        </p:nvSpPr>
        <p:spPr>
          <a:xfrm>
            <a:off x="4235450" y="59340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0" name="Rectangle 13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1" name="Rectangle 14"/>
          <p:cNvSpPr/>
          <p:nvPr/>
        </p:nvSpPr>
        <p:spPr>
          <a:xfrm>
            <a:off x="369888" y="35671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2" name="Line 15"/>
          <p:cNvSpPr/>
          <p:nvPr/>
        </p:nvSpPr>
        <p:spPr>
          <a:xfrm>
            <a:off x="7804150" y="5592763"/>
            <a:ext cx="0" cy="3032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8863" name="Rectangle 16"/>
          <p:cNvSpPr/>
          <p:nvPr/>
        </p:nvSpPr>
        <p:spPr>
          <a:xfrm>
            <a:off x="384175" y="5313363"/>
            <a:ext cx="971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4" name="Rectangle 17"/>
          <p:cNvSpPr/>
          <p:nvPr/>
        </p:nvSpPr>
        <p:spPr>
          <a:xfrm>
            <a:off x="7610475" y="593407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5" name="Rectangle 18"/>
          <p:cNvSpPr/>
          <p:nvPr/>
        </p:nvSpPr>
        <p:spPr>
          <a:xfrm>
            <a:off x="3802063" y="1849438"/>
            <a:ext cx="51625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Profit-max: MR(y) = MC(y)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Efficiency: p = MC(y)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66" name="Line 19"/>
          <p:cNvSpPr/>
          <p:nvPr/>
        </p:nvSpPr>
        <p:spPr>
          <a:xfrm flipH="1">
            <a:off x="1311275" y="5605463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8867" name="Oval 20"/>
          <p:cNvSpPr/>
          <p:nvPr/>
        </p:nvSpPr>
        <p:spPr>
          <a:xfrm>
            <a:off x="7704138" y="5491163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8868" name="Rectangle 2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Inefficiency of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Freeform 25"/>
          <p:cNvSpPr/>
          <p:nvPr/>
        </p:nvSpPr>
        <p:spPr>
          <a:xfrm>
            <a:off x="4448175" y="3867150"/>
            <a:ext cx="3381375" cy="17526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30" h="1104">
                <a:moveTo>
                  <a:pt x="0" y="1014"/>
                </a:moveTo>
                <a:lnTo>
                  <a:pt x="0" y="0"/>
                </a:lnTo>
                <a:lnTo>
                  <a:pt x="2130" y="1104"/>
                </a:lnTo>
                <a:lnTo>
                  <a:pt x="1902" y="1092"/>
                </a:lnTo>
                <a:lnTo>
                  <a:pt x="1710" y="1092"/>
                </a:lnTo>
                <a:lnTo>
                  <a:pt x="1440" y="1080"/>
                </a:lnTo>
                <a:lnTo>
                  <a:pt x="1170" y="1074"/>
                </a:lnTo>
                <a:lnTo>
                  <a:pt x="948" y="1068"/>
                </a:lnTo>
                <a:lnTo>
                  <a:pt x="744" y="1056"/>
                </a:lnTo>
                <a:lnTo>
                  <a:pt x="582" y="1050"/>
                </a:lnTo>
                <a:lnTo>
                  <a:pt x="420" y="1044"/>
                </a:lnTo>
                <a:lnTo>
                  <a:pt x="288" y="1032"/>
                </a:lnTo>
                <a:lnTo>
                  <a:pt x="144" y="1026"/>
                </a:lnTo>
                <a:lnTo>
                  <a:pt x="0" y="1014"/>
                </a:lnTo>
                <a:close/>
              </a:path>
            </a:pathLst>
          </a:custGeom>
          <a:solidFill>
            <a:srgbClr val="FB4D10"/>
          </a:solidFill>
          <a:ln w="12700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79874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79425"/>
            <a:ext cx="10048875" cy="7761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5" name="Rectangle 3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6" name="Rectangle 4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7" name="Rectangle 5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8" name="Rectangle 6"/>
          <p:cNvSpPr/>
          <p:nvPr/>
        </p:nvSpPr>
        <p:spPr>
          <a:xfrm>
            <a:off x="1271588" y="5086350"/>
            <a:ext cx="1171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9" name="Rectangle 7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0" name="Line 8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81" name="Line 9"/>
          <p:cNvSpPr/>
          <p:nvPr/>
        </p:nvSpPr>
        <p:spPr>
          <a:xfrm flipH="1">
            <a:off x="1311275" y="3848100"/>
            <a:ext cx="31448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2" name="Rectangle 10"/>
          <p:cNvSpPr/>
          <p:nvPr/>
        </p:nvSpPr>
        <p:spPr>
          <a:xfrm>
            <a:off x="4235450" y="59340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y*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3" name="Rectangle 11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4" name="Rectangle 12"/>
          <p:cNvSpPr/>
          <p:nvPr/>
        </p:nvSpPr>
        <p:spPr>
          <a:xfrm>
            <a:off x="369888" y="3567113"/>
            <a:ext cx="9747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p(y*)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5" name="Line 13"/>
          <p:cNvSpPr/>
          <p:nvPr/>
        </p:nvSpPr>
        <p:spPr>
          <a:xfrm flipH="1">
            <a:off x="1311275" y="5605463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6" name="Line 14"/>
          <p:cNvSpPr/>
          <p:nvPr/>
        </p:nvSpPr>
        <p:spPr>
          <a:xfrm>
            <a:off x="7804150" y="5592763"/>
            <a:ext cx="0" cy="3032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87" name="Rectangle 15"/>
          <p:cNvSpPr/>
          <p:nvPr/>
        </p:nvSpPr>
        <p:spPr>
          <a:xfrm>
            <a:off x="384175" y="5313363"/>
            <a:ext cx="9731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8" name="Rectangle 16"/>
          <p:cNvSpPr/>
          <p:nvPr/>
        </p:nvSpPr>
        <p:spPr>
          <a:xfrm>
            <a:off x="7610475" y="593407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89" name="Rectangle 17"/>
          <p:cNvSpPr/>
          <p:nvPr/>
        </p:nvSpPr>
        <p:spPr>
          <a:xfrm>
            <a:off x="3802063" y="1849438"/>
            <a:ext cx="51625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Profit-max: MR(y) = MC(y)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Efficiency: p = MC(y) 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0" name="Oval 19"/>
          <p:cNvSpPr/>
          <p:nvPr/>
        </p:nvSpPr>
        <p:spPr>
          <a:xfrm>
            <a:off x="4341813" y="5360988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9891" name="Oval 20"/>
          <p:cNvSpPr/>
          <p:nvPr/>
        </p:nvSpPr>
        <p:spPr>
          <a:xfrm>
            <a:off x="7704138" y="5491163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79892" name="Line 21"/>
          <p:cNvSpPr/>
          <p:nvPr/>
        </p:nvSpPr>
        <p:spPr>
          <a:xfrm flipV="1">
            <a:off x="4441825" y="3862388"/>
            <a:ext cx="0" cy="20335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79893" name="Rectangle 22"/>
          <p:cNvSpPr/>
          <p:nvPr/>
        </p:nvSpPr>
        <p:spPr>
          <a:xfrm>
            <a:off x="4813300" y="4579938"/>
            <a:ext cx="1109663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DWL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94" name="Rectangle 2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Inefficiency of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Regulating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089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Why not command that a natural monopoly produce the efficient amount of output?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Then the deadweight loss will be zero, won’t it?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21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79425"/>
            <a:ext cx="10048875" cy="7761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22" name="Rectangle 3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3" name="Rectangle 4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4" name="Rectangle 5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5" name="Rectangle 6"/>
          <p:cNvSpPr/>
          <p:nvPr/>
        </p:nvSpPr>
        <p:spPr>
          <a:xfrm>
            <a:off x="1963738" y="465296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6" name="Rectangle 7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7" name="Line 8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28" name="Rectangle 9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9" name="Line 10"/>
          <p:cNvSpPr/>
          <p:nvPr/>
        </p:nvSpPr>
        <p:spPr>
          <a:xfrm>
            <a:off x="7804150" y="5289550"/>
            <a:ext cx="0" cy="6064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0" name="Rectangle 11"/>
          <p:cNvSpPr/>
          <p:nvPr/>
        </p:nvSpPr>
        <p:spPr>
          <a:xfrm>
            <a:off x="441325" y="5359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sz="24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31" name="Rectangle 12"/>
          <p:cNvSpPr/>
          <p:nvPr/>
        </p:nvSpPr>
        <p:spPr>
          <a:xfrm>
            <a:off x="7610475" y="593407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32" name="Line 13"/>
          <p:cNvSpPr/>
          <p:nvPr/>
        </p:nvSpPr>
        <p:spPr>
          <a:xfrm flipH="1">
            <a:off x="1311275" y="5605463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3" name="Oval 14"/>
          <p:cNvSpPr/>
          <p:nvPr/>
        </p:nvSpPr>
        <p:spPr>
          <a:xfrm>
            <a:off x="7704138" y="5491163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81934" name="Rectangle 1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Regulating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35" name="Rectangle 16"/>
          <p:cNvSpPr/>
          <p:nvPr/>
        </p:nvSpPr>
        <p:spPr>
          <a:xfrm>
            <a:off x="3956050" y="1231900"/>
            <a:ext cx="46355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efficient output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level 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, ATC(y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) &gt; p(y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36" name="Oval 17"/>
          <p:cNvSpPr/>
          <p:nvPr/>
        </p:nvSpPr>
        <p:spPr>
          <a:xfrm>
            <a:off x="7704138" y="5187950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81937" name="Line 18"/>
          <p:cNvSpPr/>
          <p:nvPr/>
        </p:nvSpPr>
        <p:spPr>
          <a:xfrm flipH="1">
            <a:off x="1311275" y="5291138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1938" name="Rectangle 19"/>
          <p:cNvSpPr/>
          <p:nvPr/>
        </p:nvSpPr>
        <p:spPr>
          <a:xfrm>
            <a:off x="-1587" y="5002213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ATC(y</a:t>
            </a:r>
            <a:r>
              <a:rPr lang="en-US" altLang="zh-CN" sz="24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5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7200" y="-479425"/>
            <a:ext cx="10048875" cy="7761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Rectangle 3"/>
          <p:cNvSpPr/>
          <p:nvPr/>
        </p:nvSpPr>
        <p:spPr>
          <a:xfrm>
            <a:off x="8266113" y="604202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7" name="Rectangle 4"/>
          <p:cNvSpPr/>
          <p:nvPr/>
        </p:nvSpPr>
        <p:spPr>
          <a:xfrm>
            <a:off x="265113" y="1038225"/>
            <a:ext cx="2336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$/output unit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8" name="Rectangle 5"/>
          <p:cNvSpPr/>
          <p:nvPr/>
        </p:nvSpPr>
        <p:spPr>
          <a:xfrm>
            <a:off x="1503363" y="1657350"/>
            <a:ext cx="1349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ATC(y)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9" name="Rectangle 6"/>
          <p:cNvSpPr/>
          <p:nvPr/>
        </p:nvSpPr>
        <p:spPr>
          <a:xfrm>
            <a:off x="1963738" y="465296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rgbClr val="FD0F2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MC(y)</a:t>
            </a:r>
            <a:endParaRPr lang="en-US" altLang="zh-CN" dirty="0">
              <a:solidFill>
                <a:srgbClr val="FD0F2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0" name="Rectangle 7"/>
          <p:cNvSpPr/>
          <p:nvPr/>
        </p:nvSpPr>
        <p:spPr>
          <a:xfrm>
            <a:off x="2693988" y="2466975"/>
            <a:ext cx="836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p(y)</a:t>
            </a:r>
            <a:endParaRPr lang="en-US" altLang="zh-CN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1" name="Line 8"/>
          <p:cNvSpPr/>
          <p:nvPr/>
        </p:nvSpPr>
        <p:spPr>
          <a:xfrm>
            <a:off x="1311275" y="2274888"/>
            <a:ext cx="4156075" cy="42132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52" name="Rectangle 9"/>
          <p:cNvSpPr/>
          <p:nvPr/>
        </p:nvSpPr>
        <p:spPr>
          <a:xfrm>
            <a:off x="5461000" y="6221413"/>
            <a:ext cx="1171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MR(y)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3" name="Line 10"/>
          <p:cNvSpPr/>
          <p:nvPr/>
        </p:nvSpPr>
        <p:spPr>
          <a:xfrm>
            <a:off x="7804150" y="5289550"/>
            <a:ext cx="0" cy="6064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4" name="Rectangle 11"/>
          <p:cNvSpPr/>
          <p:nvPr/>
        </p:nvSpPr>
        <p:spPr>
          <a:xfrm>
            <a:off x="441325" y="5359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p(y</a:t>
            </a:r>
            <a:r>
              <a:rPr lang="en-US" altLang="zh-CN" sz="24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5" name="Rectangle 12"/>
          <p:cNvSpPr/>
          <p:nvPr/>
        </p:nvSpPr>
        <p:spPr>
          <a:xfrm>
            <a:off x="7610475" y="5934075"/>
            <a:ext cx="5175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  <a:r>
              <a:rPr lang="en-US" altLang="zh-CN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lang="en-US" altLang="zh-CN" baseline="30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6" name="Line 13"/>
          <p:cNvSpPr/>
          <p:nvPr/>
        </p:nvSpPr>
        <p:spPr>
          <a:xfrm flipH="1">
            <a:off x="1311275" y="5605463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57" name="Rectangle 1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Regulating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2958" name="Rectangle 15"/>
          <p:cNvSpPr/>
          <p:nvPr/>
        </p:nvSpPr>
        <p:spPr>
          <a:xfrm>
            <a:off x="3956050" y="1231900"/>
            <a:ext cx="4635500" cy="20415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At the efficient output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level 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, ATC(y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) &gt; p(y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so the firm makes an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economic loss.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9" name="Line 16"/>
          <p:cNvSpPr/>
          <p:nvPr/>
        </p:nvSpPr>
        <p:spPr>
          <a:xfrm flipH="1">
            <a:off x="1311275" y="5291138"/>
            <a:ext cx="64928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</p:sp>
      <p:sp>
        <p:nvSpPr>
          <p:cNvPr id="82960" name="Rectangle 17"/>
          <p:cNvSpPr/>
          <p:nvPr/>
        </p:nvSpPr>
        <p:spPr>
          <a:xfrm>
            <a:off x="-1587" y="5002213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ATC(y</a:t>
            </a:r>
            <a:r>
              <a:rPr lang="en-US" altLang="zh-CN" sz="2400" baseline="30000" dirty="0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1" name="Rectangle 18"/>
          <p:cNvSpPr/>
          <p:nvPr/>
        </p:nvSpPr>
        <p:spPr>
          <a:xfrm>
            <a:off x="1311275" y="5289550"/>
            <a:ext cx="6492875" cy="317500"/>
          </a:xfrm>
          <a:prstGeom prst="rect">
            <a:avLst/>
          </a:prstGeom>
          <a:solidFill>
            <a:srgbClr val="46CF4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82962" name="Rectangle 19"/>
          <p:cNvSpPr/>
          <p:nvPr/>
        </p:nvSpPr>
        <p:spPr>
          <a:xfrm>
            <a:off x="2055813" y="5153025"/>
            <a:ext cx="30480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Economic loss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63" name="Oval 20"/>
          <p:cNvSpPr/>
          <p:nvPr/>
        </p:nvSpPr>
        <p:spPr>
          <a:xfrm>
            <a:off x="7704138" y="5491163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  <p:sp>
        <p:nvSpPr>
          <p:cNvPr id="82964" name="Oval 21"/>
          <p:cNvSpPr/>
          <p:nvPr/>
        </p:nvSpPr>
        <p:spPr>
          <a:xfrm>
            <a:off x="7704138" y="5187950"/>
            <a:ext cx="187325" cy="187325"/>
          </a:xfrm>
          <a:prstGeom prst="ellipse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Symbol" panose="05050102010706020507" pitchFamily="18" charset="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Regulating a Natural Monopoly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70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8172450" cy="44577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So a natural monopoly cannot be forced to use marginal cost pricing. Doing so makes the firm exit, destroying both the market and any gains-to-trade.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Regulatory schemes can induce the natural monopolist to produce the efficient output level without exiting.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anose="05050102010706020507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anose="05050102010706020507" pitchFamily="18" charset="2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10294</Words>
  <Application>WPS 演示</Application>
  <PresentationFormat>全屏显示(4:3)</PresentationFormat>
  <Paragraphs>888</Paragraphs>
  <Slides>79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50</vt:i4>
      </vt:variant>
      <vt:variant>
        <vt:lpstr>幻灯片标题</vt:lpstr>
      </vt:variant>
      <vt:variant>
        <vt:i4>79</vt:i4>
      </vt:variant>
    </vt:vector>
  </HeadingPairs>
  <TitlesOfParts>
    <vt:vector size="138" baseType="lpstr">
      <vt:lpstr>Arial</vt:lpstr>
      <vt:lpstr>宋体</vt:lpstr>
      <vt:lpstr>Wingdings</vt:lpstr>
      <vt:lpstr>Symbol</vt:lpstr>
      <vt:lpstr>Times New Roman</vt:lpstr>
      <vt:lpstr>Monotype Sorts</vt:lpstr>
      <vt:lpstr>Wingdings</vt:lpstr>
      <vt:lpstr>Arial Unicode MS</vt:lpstr>
      <vt:lpstr>Lines On Blue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Twenty-Three</dc:title>
  <dc:creator>LSA Media Services, PC-69</dc:creator>
  <cp:lastModifiedBy>蒋士成</cp:lastModifiedBy>
  <cp:revision>47</cp:revision>
  <dcterms:created xsi:type="dcterms:W3CDTF">1997-02-19T03:45:54Z</dcterms:created>
  <dcterms:modified xsi:type="dcterms:W3CDTF">2023-12-29T07:08:50Z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A9E7F2FAA31145E0BF8F03D289579A11_13</vt:lpwstr>
  </property>
  <property fmtid="{D5CDD505-2E9C-101B-9397-08002B2CF9AE}" pid="3" name="KSOProductBuildVer">
    <vt:lpwstr>2052-12.1.0.15990</vt:lpwstr>
  </property>
</Properties>
</file>
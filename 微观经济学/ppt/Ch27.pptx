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68" r:id="rId3"/>
    <p:sldId id="269" r:id="rId4"/>
    <p:sldId id="293" r:id="rId5"/>
    <p:sldId id="294" r:id="rId6"/>
    <p:sldId id="298" r:id="rId7"/>
    <p:sldId id="272" r:id="rId8"/>
    <p:sldId id="270" r:id="rId9"/>
    <p:sldId id="274" r:id="rId10"/>
    <p:sldId id="275" r:id="rId11"/>
    <p:sldId id="327" r:id="rId12"/>
    <p:sldId id="277" r:id="rId13"/>
    <p:sldId id="257" r:id="rId14"/>
    <p:sldId id="278" r:id="rId15"/>
    <p:sldId id="261" r:id="rId16"/>
    <p:sldId id="279" r:id="rId17"/>
    <p:sldId id="280" r:id="rId18"/>
    <p:sldId id="282" r:id="rId19"/>
    <p:sldId id="283" r:id="rId20"/>
    <p:sldId id="284" r:id="rId21"/>
    <p:sldId id="287" r:id="rId22"/>
    <p:sldId id="285" r:id="rId23"/>
    <p:sldId id="292" r:id="rId24"/>
    <p:sldId id="286" r:id="rId25"/>
    <p:sldId id="288" r:id="rId26"/>
    <p:sldId id="289" r:id="rId27"/>
    <p:sldId id="290" r:id="rId28"/>
    <p:sldId id="297" r:id="rId29"/>
    <p:sldId id="291" r:id="rId30"/>
    <p:sldId id="262" r:id="rId31"/>
    <p:sldId id="296" r:id="rId32"/>
  </p:sldIdLst>
  <p:sldSz cx="9144000" cy="6858000" type="screen4x3"/>
  <p:notesSz cx="6858000" cy="9144000"/>
  <p:custDataLst>
    <p:tags r:id="rId3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2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FF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2" d="100"/>
          <a:sy n="62" d="100"/>
        </p:scale>
        <p:origin x="1404" y="72"/>
      </p:cViewPr>
      <p:guideLst>
        <p:guide orient="horz" pos="2172"/>
        <p:guide pos="288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67" name="Rectangle 3"/>
          <p:cNvSpPr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/>
          <a:lstStyle/>
          <a:p>
            <a:pPr lvl="0"/>
            <a:endParaRPr lang="zh-CN" altLang="en-US" dirty="0">
              <a:ea typeface="等线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043"/>
          <p:cNvGrpSpPr/>
          <p:nvPr/>
        </p:nvGrpSpPr>
        <p:grpSpPr>
          <a:xfrm>
            <a:off x="0" y="2760663"/>
            <a:ext cx="9151938" cy="4113212"/>
            <a:chOff x="0" y="1739"/>
            <a:chExt cx="5765" cy="2591"/>
          </a:xfrm>
        </p:grpSpPr>
        <p:grpSp>
          <p:nvGrpSpPr>
            <p:cNvPr id="2056" name="Group 1041"/>
            <p:cNvGrpSpPr/>
            <p:nvPr/>
          </p:nvGrpSpPr>
          <p:grpSpPr>
            <a:xfrm>
              <a:off x="0" y="3652"/>
              <a:ext cx="5765" cy="678"/>
              <a:chOff x="0" y="3652"/>
              <a:chExt cx="5765" cy="678"/>
            </a:xfrm>
          </p:grpSpPr>
          <p:sp>
            <p:nvSpPr>
              <p:cNvPr id="2058" name="Rectangle 1026"/>
              <p:cNvSpPr/>
              <p:nvPr/>
            </p:nvSpPr>
            <p:spPr>
              <a:xfrm>
                <a:off x="0" y="3676"/>
                <a:ext cx="5764" cy="643"/>
              </a:xfrm>
              <a:prstGeom prst="rect">
                <a:avLst/>
              </a:pr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/>
              <a:p>
                <a:pPr lvl="0"/>
                <a:endParaRPr lang="zh-CN" altLang="en-US" dirty="0">
                  <a:latin typeface="Arial" panose="020B0604020202020204" pitchFamily="34" charset="0"/>
                </a:endParaRPr>
              </a:p>
            </p:txBody>
          </p:sp>
          <p:grpSp>
            <p:nvGrpSpPr>
              <p:cNvPr id="2059" name="Group 1040"/>
              <p:cNvGrpSpPr/>
              <p:nvPr/>
            </p:nvGrpSpPr>
            <p:grpSpPr>
              <a:xfrm>
                <a:off x="0" y="3652"/>
                <a:ext cx="5765" cy="678"/>
                <a:chOff x="0" y="3652"/>
                <a:chExt cx="5765" cy="678"/>
              </a:xfrm>
            </p:grpSpPr>
            <p:sp useBgFill="1">
              <p:nvSpPr>
                <p:cNvPr id="2060" name="Freeform 1027"/>
                <p:cNvSpPr/>
                <p:nvPr/>
              </p:nvSpPr>
              <p:spPr>
                <a:xfrm>
                  <a:off x="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61" name="Freeform 1028"/>
                <p:cNvSpPr/>
                <p:nvPr/>
              </p:nvSpPr>
              <p:spPr>
                <a:xfrm>
                  <a:off x="43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62" name="Freeform 1029"/>
                <p:cNvSpPr/>
                <p:nvPr/>
              </p:nvSpPr>
              <p:spPr>
                <a:xfrm>
                  <a:off x="87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63" name="Freeform 1030"/>
                <p:cNvSpPr/>
                <p:nvPr/>
              </p:nvSpPr>
              <p:spPr>
                <a:xfrm>
                  <a:off x="132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64" name="Freeform 1031"/>
                <p:cNvSpPr/>
                <p:nvPr/>
              </p:nvSpPr>
              <p:spPr>
                <a:xfrm>
                  <a:off x="1768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65" name="Freeform 1032"/>
                <p:cNvSpPr/>
                <p:nvPr/>
              </p:nvSpPr>
              <p:spPr>
                <a:xfrm>
                  <a:off x="2213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66" name="Freeform 1033"/>
                <p:cNvSpPr/>
                <p:nvPr/>
              </p:nvSpPr>
              <p:spPr>
                <a:xfrm>
                  <a:off x="2646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67" name="Freeform 1034"/>
                <p:cNvSpPr/>
                <p:nvPr/>
              </p:nvSpPr>
              <p:spPr>
                <a:xfrm>
                  <a:off x="3090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68" name="Freeform 1035"/>
                <p:cNvSpPr/>
                <p:nvPr/>
              </p:nvSpPr>
              <p:spPr>
                <a:xfrm>
                  <a:off x="3547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69" name="Freeform 1036"/>
                <p:cNvSpPr/>
                <p:nvPr/>
              </p:nvSpPr>
              <p:spPr>
                <a:xfrm>
                  <a:off x="4004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70" name="Freeform 1037"/>
                <p:cNvSpPr/>
                <p:nvPr/>
              </p:nvSpPr>
              <p:spPr>
                <a:xfrm>
                  <a:off x="4473" y="3652"/>
                  <a:ext cx="579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1" y="0"/>
                    </a:cxn>
                    <a:cxn ang="0">
                      <a:pos x="578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9" h="678">
                      <a:moveTo>
                        <a:pt x="0" y="677"/>
                      </a:moveTo>
                      <a:lnTo>
                        <a:pt x="481" y="0"/>
                      </a:lnTo>
                      <a:lnTo>
                        <a:pt x="578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71" name="Freeform 1038"/>
                <p:cNvSpPr/>
                <p:nvPr/>
              </p:nvSpPr>
              <p:spPr>
                <a:xfrm>
                  <a:off x="4930" y="3652"/>
                  <a:ext cx="578" cy="678"/>
                </a:xfrm>
                <a:custGeom>
                  <a:avLst/>
                  <a:gdLst/>
                  <a:ahLst/>
                  <a:cxnLst>
                    <a:cxn ang="0">
                      <a:pos x="0" y="677"/>
                    </a:cxn>
                    <a:cxn ang="0">
                      <a:pos x="480" y="0"/>
                    </a:cxn>
                    <a:cxn ang="0">
                      <a:pos x="577" y="0"/>
                    </a:cxn>
                    <a:cxn ang="0">
                      <a:pos x="96" y="677"/>
                    </a:cxn>
                    <a:cxn ang="0">
                      <a:pos x="0" y="677"/>
                    </a:cxn>
                  </a:cxnLst>
                  <a:rect l="0" t="0" r="0" b="0"/>
                  <a:pathLst>
                    <a:path w="578" h="678">
                      <a:moveTo>
                        <a:pt x="0" y="677"/>
                      </a:moveTo>
                      <a:lnTo>
                        <a:pt x="480" y="0"/>
                      </a:lnTo>
                      <a:lnTo>
                        <a:pt x="577" y="0"/>
                      </a:lnTo>
                      <a:lnTo>
                        <a:pt x="96" y="677"/>
                      </a:lnTo>
                      <a:lnTo>
                        <a:pt x="0" y="677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 useBgFill="1">
              <p:nvSpPr>
                <p:cNvPr id="2072" name="Freeform 1039"/>
                <p:cNvSpPr/>
                <p:nvPr/>
              </p:nvSpPr>
              <p:spPr>
                <a:xfrm>
                  <a:off x="5403" y="3825"/>
                  <a:ext cx="362" cy="505"/>
                </a:xfrm>
                <a:custGeom>
                  <a:avLst/>
                  <a:gdLst/>
                  <a:ahLst/>
                  <a:cxnLst>
                    <a:cxn ang="0">
                      <a:pos x="0" y="504"/>
                    </a:cxn>
                    <a:cxn ang="0">
                      <a:pos x="361" y="0"/>
                    </a:cxn>
                    <a:cxn ang="0">
                      <a:pos x="361" y="122"/>
                    </a:cxn>
                    <a:cxn ang="0">
                      <a:pos x="96" y="504"/>
                    </a:cxn>
                    <a:cxn ang="0">
                      <a:pos x="0" y="504"/>
                    </a:cxn>
                  </a:cxnLst>
                  <a:rect l="0" t="0" r="0" b="0"/>
                  <a:pathLst>
                    <a:path w="362" h="505">
                      <a:moveTo>
                        <a:pt x="0" y="504"/>
                      </a:moveTo>
                      <a:lnTo>
                        <a:pt x="361" y="0"/>
                      </a:lnTo>
                      <a:lnTo>
                        <a:pt x="361" y="122"/>
                      </a:lnTo>
                      <a:lnTo>
                        <a:pt x="96" y="504"/>
                      </a:lnTo>
                      <a:lnTo>
                        <a:pt x="0" y="504"/>
                      </a:lnTo>
                    </a:path>
                  </a:pathLst>
                </a:custGeom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057" name="Freeform 1042"/>
            <p:cNvSpPr/>
            <p:nvPr/>
          </p:nvSpPr>
          <p:spPr>
            <a:xfrm>
              <a:off x="0" y="1739"/>
              <a:ext cx="516" cy="91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515" y="0"/>
                </a:cxn>
                <a:cxn ang="0">
                  <a:pos x="0" y="912"/>
                </a:cxn>
                <a:cxn ang="0">
                  <a:pos x="0" y="0"/>
                </a:cxn>
              </a:cxnLst>
              <a:rect l="0" t="0" r="0" b="0"/>
              <a:pathLst>
                <a:path w="516" h="913">
                  <a:moveTo>
                    <a:pt x="0" y="0"/>
                  </a:moveTo>
                  <a:lnTo>
                    <a:pt x="515" y="0"/>
                  </a:lnTo>
                  <a:lnTo>
                    <a:pt x="0" y="912"/>
                  </a:lnTo>
                  <a:lnTo>
                    <a:pt x="0" y="0"/>
                  </a:lnTo>
                </a:path>
              </a:pathLst>
            </a:custGeom>
            <a:gradFill rotWithShape="0">
              <a:gsLst>
                <a:gs pos="0">
                  <a:schemeClr val="bg1"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92" name="Rectangle 104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3093" name="Rectangle 104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sp>
        <p:nvSpPr>
          <p:cNvPr id="41" name="Rectangle 104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2" name="Rectangle 104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3" name="Rectangle 104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F59FB1E-ABEA-4CEE-B96E-B4C83FC9D07C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5800" y="1524000"/>
            <a:ext cx="3810000" cy="45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524000"/>
            <a:ext cx="3810000" cy="45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 pitchFamily="2" charset="2"/>
              <a:buNone/>
              <a:defRPr/>
            </a:pPr>
            <a:endParaRPr kumimoji="0" lang="zh-CN" altLang="en-US" sz="3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6096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0" y="0"/>
            <a:ext cx="6705600" cy="6096000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 hasCustomPrompt="1"/>
          </p:nvPr>
        </p:nvSpPr>
        <p:spPr>
          <a:xfrm>
            <a:off x="685800" y="1524000"/>
            <a:ext cx="3810000" cy="45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48200" y="1524000"/>
            <a:ext cx="3810000" cy="45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0" y="0"/>
            <a:ext cx="9142413" cy="6096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7"/>
          <p:cNvGrpSpPr/>
          <p:nvPr/>
        </p:nvGrpSpPr>
        <p:grpSpPr>
          <a:xfrm>
            <a:off x="0" y="5797550"/>
            <a:ext cx="9167813" cy="1076325"/>
            <a:chOff x="0" y="3652"/>
            <a:chExt cx="5775" cy="678"/>
          </a:xfrm>
        </p:grpSpPr>
        <p:sp>
          <p:nvSpPr>
            <p:cNvPr id="1032" name="Rectangle 2"/>
            <p:cNvSpPr/>
            <p:nvPr/>
          </p:nvSpPr>
          <p:spPr>
            <a:xfrm>
              <a:off x="0" y="3676"/>
              <a:ext cx="5774" cy="643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 wrap="none" anchor="ctr" anchorCtr="0"/>
            <a:lstStyle/>
            <a:p>
              <a:pPr lvl="0"/>
              <a:endParaRPr lang="zh-CN" altLang="en-US" dirty="0">
                <a:latin typeface="Arial" panose="020B0604020202020204" pitchFamily="34" charset="0"/>
              </a:endParaRPr>
            </a:p>
          </p:txBody>
        </p:sp>
        <p:grpSp>
          <p:nvGrpSpPr>
            <p:cNvPr id="1033" name="Group 16"/>
            <p:cNvGrpSpPr/>
            <p:nvPr/>
          </p:nvGrpSpPr>
          <p:grpSpPr>
            <a:xfrm>
              <a:off x="0" y="3652"/>
              <a:ext cx="5775" cy="678"/>
              <a:chOff x="0" y="3652"/>
              <a:chExt cx="5775" cy="678"/>
            </a:xfrm>
          </p:grpSpPr>
          <p:sp useBgFill="1">
            <p:nvSpPr>
              <p:cNvPr id="1034" name="Freeform 3"/>
              <p:cNvSpPr/>
              <p:nvPr/>
            </p:nvSpPr>
            <p:spPr>
              <a:xfrm>
                <a:off x="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35" name="Freeform 4"/>
              <p:cNvSpPr/>
              <p:nvPr/>
            </p:nvSpPr>
            <p:spPr>
              <a:xfrm>
                <a:off x="43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36" name="Freeform 5"/>
              <p:cNvSpPr/>
              <p:nvPr/>
            </p:nvSpPr>
            <p:spPr>
              <a:xfrm>
                <a:off x="879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37" name="Freeform 6"/>
              <p:cNvSpPr/>
              <p:nvPr/>
            </p:nvSpPr>
            <p:spPr>
              <a:xfrm>
                <a:off x="1325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38" name="Freeform 7"/>
              <p:cNvSpPr/>
              <p:nvPr/>
            </p:nvSpPr>
            <p:spPr>
              <a:xfrm>
                <a:off x="177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39" name="Freeform 8"/>
              <p:cNvSpPr/>
              <p:nvPr/>
            </p:nvSpPr>
            <p:spPr>
              <a:xfrm>
                <a:off x="2216" y="3652"/>
                <a:ext cx="580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2" y="0"/>
                  </a:cxn>
                  <a:cxn ang="0">
                    <a:pos x="579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80" h="678">
                    <a:moveTo>
                      <a:pt x="0" y="677"/>
                    </a:moveTo>
                    <a:lnTo>
                      <a:pt x="482" y="0"/>
                    </a:lnTo>
                    <a:lnTo>
                      <a:pt x="579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40" name="Freeform 9"/>
              <p:cNvSpPr/>
              <p:nvPr/>
            </p:nvSpPr>
            <p:spPr>
              <a:xfrm>
                <a:off x="2650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41" name="Freeform 10"/>
              <p:cNvSpPr/>
              <p:nvPr/>
            </p:nvSpPr>
            <p:spPr>
              <a:xfrm>
                <a:off x="3096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42" name="Freeform 11"/>
              <p:cNvSpPr/>
              <p:nvPr/>
            </p:nvSpPr>
            <p:spPr>
              <a:xfrm>
                <a:off x="3554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43" name="Freeform 12"/>
              <p:cNvSpPr/>
              <p:nvPr/>
            </p:nvSpPr>
            <p:spPr>
              <a:xfrm>
                <a:off x="401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44" name="Freeform 13"/>
              <p:cNvSpPr/>
              <p:nvPr/>
            </p:nvSpPr>
            <p:spPr>
              <a:xfrm>
                <a:off x="4481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45" name="Freeform 14"/>
              <p:cNvSpPr/>
              <p:nvPr/>
            </p:nvSpPr>
            <p:spPr>
              <a:xfrm>
                <a:off x="4939" y="3652"/>
                <a:ext cx="579" cy="678"/>
              </a:xfrm>
              <a:custGeom>
                <a:avLst/>
                <a:gdLst/>
                <a:ahLst/>
                <a:cxnLst>
                  <a:cxn ang="0">
                    <a:pos x="0" y="677"/>
                  </a:cxn>
                  <a:cxn ang="0">
                    <a:pos x="481" y="0"/>
                  </a:cxn>
                  <a:cxn ang="0">
                    <a:pos x="578" y="0"/>
                  </a:cxn>
                  <a:cxn ang="0">
                    <a:pos x="96" y="677"/>
                  </a:cxn>
                  <a:cxn ang="0">
                    <a:pos x="0" y="677"/>
                  </a:cxn>
                </a:cxnLst>
                <a:rect l="0" t="0" r="0" b="0"/>
                <a:pathLst>
                  <a:path w="579" h="678">
                    <a:moveTo>
                      <a:pt x="0" y="677"/>
                    </a:moveTo>
                    <a:lnTo>
                      <a:pt x="481" y="0"/>
                    </a:lnTo>
                    <a:lnTo>
                      <a:pt x="578" y="0"/>
                    </a:lnTo>
                    <a:lnTo>
                      <a:pt x="96" y="677"/>
                    </a:lnTo>
                    <a:lnTo>
                      <a:pt x="0" y="677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 useBgFill="1">
            <p:nvSpPr>
              <p:cNvPr id="1046" name="Freeform 15"/>
              <p:cNvSpPr/>
              <p:nvPr/>
            </p:nvSpPr>
            <p:spPr>
              <a:xfrm>
                <a:off x="5413" y="3825"/>
                <a:ext cx="362" cy="505"/>
              </a:xfrm>
              <a:custGeom>
                <a:avLst/>
                <a:gdLst/>
                <a:ahLst/>
                <a:cxnLst>
                  <a:cxn ang="0">
                    <a:pos x="0" y="504"/>
                  </a:cxn>
                  <a:cxn ang="0">
                    <a:pos x="361" y="0"/>
                  </a:cxn>
                  <a:cxn ang="0">
                    <a:pos x="361" y="122"/>
                  </a:cxn>
                  <a:cxn ang="0">
                    <a:pos x="96" y="504"/>
                  </a:cxn>
                  <a:cxn ang="0">
                    <a:pos x="0" y="504"/>
                  </a:cxn>
                </a:cxnLst>
                <a:rect l="0" t="0" r="0" b="0"/>
                <a:pathLst>
                  <a:path w="362" h="505">
                    <a:moveTo>
                      <a:pt x="0" y="504"/>
                    </a:moveTo>
                    <a:lnTo>
                      <a:pt x="361" y="0"/>
                    </a:lnTo>
                    <a:lnTo>
                      <a:pt x="361" y="122"/>
                    </a:lnTo>
                    <a:lnTo>
                      <a:pt x="96" y="504"/>
                    </a:lnTo>
                    <a:lnTo>
                      <a:pt x="0" y="504"/>
                    </a:lnTo>
                  </a:path>
                </a:pathLst>
              </a:custGeom>
              <a:ln w="9525"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27" name="Rectangle 18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12192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19"/>
          <p:cNvSpPr>
            <a:spLocks noGrp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2" name="Rectangle 2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>
              <a:defRPr sz="1400" b="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Rectangle 2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 algn="ctr">
              <a:defRPr sz="1400" b="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Rectangle 2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 b="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CBC54BD-0549-4D40-8010-937E81A13240}" type="slidenum"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u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Monotype Sorts" pitchFamily="2" charset="2"/>
        <a:buChar char="v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10000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/>
          </p:cNvSpPr>
          <p:nvPr>
            <p:ph type="ctrTitle" sz="quarter"/>
          </p:nvPr>
        </p:nvSpPr>
        <p:spPr>
          <a:xfrm>
            <a:off x="800100" y="1562100"/>
            <a:ext cx="7772400" cy="1143000"/>
          </a:xfrm>
        </p:spPr>
        <p:txBody>
          <a:bodyPr vert="horz" wrap="square" lIns="92075" tIns="46038" rIns="92075" bIns="46038" anchor="ctr" anchorCtr="0"/>
          <a:lstStyle/>
          <a:p>
            <a:pPr>
              <a:buClrTx/>
              <a:buSzTx/>
              <a:buFontTx/>
            </a:pPr>
            <a:r>
              <a:rPr lang="en-US" altLang="zh-CN" sz="4800" dirty="0">
                <a:ea typeface="宋体" panose="02010600030101010101" pitchFamily="2" charset="-122"/>
                <a:sym typeface="+mn-ea"/>
              </a:rPr>
              <a:t>Chapter Twenty-Seven</a:t>
            </a:r>
            <a:endParaRPr lang="zh-CN" altLang="en-US" sz="4800" b="1" kern="1200" dirty="0">
              <a:latin typeface="黑体" panose="02010609060101010101" pitchFamily="2" charset="-122"/>
              <a:ea typeface="黑体" panose="02010609060101010101" pitchFamily="2" charset="-122"/>
              <a:cs typeface="+mj-cs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type="subTitle" sz="quarter" idx="1"/>
          </p:nvPr>
        </p:nvSpPr>
        <p:spPr>
          <a:xfrm>
            <a:off x="1447800" y="3181350"/>
            <a:ext cx="6400800" cy="1752600"/>
          </a:xfrm>
        </p:spPr>
        <p:txBody>
          <a:bodyPr vert="horz" wrap="square" lIns="92075" tIns="46038" rIns="92075" bIns="46038" anchor="t" anchorCtr="0"/>
          <a:lstStyle/>
          <a:p>
            <a:pPr algn="ctr">
              <a:buSzPct val="75000"/>
              <a:buNone/>
            </a:pPr>
            <a:r>
              <a:rPr lang="en-US" altLang="zh-CN" sz="4000" kern="0" dirty="0">
                <a:latin typeface="+mn-lt"/>
                <a:ea typeface="宋体" panose="02010600030101010101" pitchFamily="2" charset="-122"/>
                <a:cs typeface="+mn-cs"/>
              </a:rPr>
              <a:t>Factor Market</a:t>
            </a:r>
          </a:p>
          <a:p>
            <a:pPr algn="ctr">
              <a:buSzPct val="75000"/>
              <a:buNone/>
            </a:pPr>
            <a:r>
              <a:rPr lang="en-US" altLang="zh-CN" sz="4000" kern="0" dirty="0">
                <a:latin typeface="+mn-lt"/>
                <a:ea typeface="宋体" panose="02010600030101010101" pitchFamily="2" charset="-122"/>
                <a:cs typeface="+mn-cs"/>
              </a:rPr>
              <a:t>生产要素市场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 anchorCtr="0"/>
          <a:lstStyle/>
          <a:p>
            <a:r>
              <a:rPr lang="en-US" altLang="zh-CN" b="1" dirty="0">
                <a:ea typeface="黑体" panose="02010609060101010101" pitchFamily="2" charset="-122"/>
              </a:rPr>
              <a:t>Output Markets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2075" tIns="46038" rIns="92075" bIns="46038" anchor="t" anchorCtr="0"/>
          <a:lstStyle/>
          <a:p>
            <a:pPr algn="l">
              <a:lnSpc>
                <a:spcPct val="100000"/>
              </a:lnSpc>
            </a:pPr>
            <a:r>
              <a:rPr lang="en-US" altLang="zh-CN" sz="3200" kern="0" dirty="0">
                <a:ea typeface="宋体" panose="02010600030101010101" pitchFamily="2" charset="-122"/>
              </a:rPr>
              <a:t>Competive Market：</a:t>
            </a:r>
          </a:p>
          <a:p>
            <a:pPr algn="l">
              <a:lnSpc>
                <a:spcPct val="100000"/>
              </a:lnSpc>
            </a:pPr>
            <a:r>
              <a:rPr lang="en-US" altLang="zh-CN" sz="3200" kern="0" dirty="0">
                <a:ea typeface="宋体" panose="02010600030101010101" pitchFamily="2" charset="-122"/>
              </a:rPr>
              <a:t>Monopoly：</a:t>
            </a:r>
          </a:p>
          <a:p>
            <a:pPr algn="l">
              <a:lnSpc>
                <a:spcPct val="100000"/>
              </a:lnSpc>
            </a:pPr>
            <a:endParaRPr lang="en-US" altLang="zh-CN" sz="3200" kern="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952500"/>
          </a:xfrm>
        </p:spPr>
        <p:txBody>
          <a:bodyPr vert="horz" wrap="square" lIns="92075" tIns="46038" rIns="92075" bIns="46038" anchor="ctr" anchorCtr="0"/>
          <a:lstStyle/>
          <a:p>
            <a:r>
              <a:rPr lang="en-US" altLang="zh-CN" b="1" dirty="0">
                <a:ea typeface="黑体" panose="02010609060101010101" pitchFamily="2" charset="-122"/>
              </a:rPr>
              <a:t>Factor Markets</a:t>
            </a:r>
          </a:p>
        </p:txBody>
      </p:sp>
      <p:sp>
        <p:nvSpPr>
          <p:cNvPr id="6147" name="Rectangle 3"/>
          <p:cNvSpPr>
            <a:spLocks noGrp="1"/>
          </p:cNvSpPr>
          <p:nvPr>
            <p:ph idx="1" hasCustomPrompt="1"/>
          </p:nvPr>
        </p:nvSpPr>
        <p:spPr>
          <a:xfrm>
            <a:off x="304800" y="895350"/>
            <a:ext cx="8839200" cy="5962650"/>
          </a:xfrm>
        </p:spPr>
        <p:txBody>
          <a:bodyPr vert="horz" wrap="square" lIns="92075" tIns="46038" rIns="92075" bIns="46038" anchor="t" anchorCtr="0"/>
          <a:lstStyle/>
          <a:p>
            <a:pPr marL="609600" indent="-609600">
              <a:lnSpc>
                <a:spcPct val="125000"/>
              </a:lnSpc>
            </a:pPr>
            <a:r>
              <a:rPr lang="en-US" altLang="zh-CN" dirty="0">
                <a:ea typeface="黑体" panose="02010609060101010101" pitchFamily="2" charset="-122"/>
              </a:rPr>
              <a:t>Competive factor markets</a:t>
            </a:r>
            <a:r>
              <a:rPr lang="zh-CN" altLang="en-US" dirty="0">
                <a:ea typeface="黑体" panose="02010609060101010101" pitchFamily="2" charset="-122"/>
              </a:rPr>
              <a:t>；</a:t>
            </a:r>
          </a:p>
          <a:p>
            <a:pPr marL="609600" indent="-609600">
              <a:lnSpc>
                <a:spcPct val="125000"/>
              </a:lnSpc>
            </a:pPr>
            <a:r>
              <a:rPr lang="en-US" altLang="zh-CN" dirty="0">
                <a:ea typeface="黑体" panose="02010609060101010101" pitchFamily="2" charset="-122"/>
              </a:rPr>
              <a:t>Monopoly</a:t>
            </a:r>
            <a:r>
              <a:rPr lang="zh-CN" altLang="en-US" dirty="0">
                <a:ea typeface="黑体" panose="02010609060101010101" pitchFamily="2" charset="-122"/>
              </a:rPr>
              <a:t>卖方垄断</a:t>
            </a:r>
            <a:r>
              <a:rPr lang="en-US" altLang="zh-CN" dirty="0">
                <a:ea typeface="黑体" panose="02010609060101010101" pitchFamily="2" charset="-122"/>
              </a:rPr>
              <a:t>: 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There is only a supplier of the factor in the market.</a:t>
            </a:r>
            <a:endParaRPr lang="en-US" altLang="zh-CN" dirty="0">
              <a:ea typeface="黑体" panose="02010609060101010101" pitchFamily="2" charset="-122"/>
            </a:endParaRPr>
          </a:p>
          <a:p>
            <a:pPr marL="609600" indent="-609600">
              <a:lnSpc>
                <a:spcPct val="125000"/>
              </a:lnSpc>
            </a:pPr>
            <a:r>
              <a:rPr lang="en-US" altLang="zh-CN" dirty="0">
                <a:ea typeface="黑体" panose="02010609060101010101" pitchFamily="2" charset="-122"/>
              </a:rPr>
              <a:t>Monopsony</a:t>
            </a:r>
            <a:r>
              <a:rPr lang="zh-CN" altLang="en-US" dirty="0">
                <a:ea typeface="黑体" panose="02010609060101010101" pitchFamily="2" charset="-122"/>
              </a:rPr>
              <a:t>买方垄断</a:t>
            </a:r>
            <a:r>
              <a:rPr lang="en-US" altLang="zh-CN" dirty="0">
                <a:ea typeface="黑体" panose="02010609060101010101" pitchFamily="2" charset="-122"/>
              </a:rPr>
              <a:t>: There is only one firm in the market, which is the only one buyer of the factor</a:t>
            </a: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/>
          </p:cNvSpPr>
          <p:nvPr>
            <p:ph idx="1" hasCustomPrompt="1"/>
          </p:nvPr>
        </p:nvSpPr>
        <p:spPr>
          <a:xfrm>
            <a:off x="685800" y="800100"/>
            <a:ext cx="7917180" cy="5295900"/>
          </a:xfrm>
        </p:spPr>
        <p:txBody>
          <a:bodyPr vert="horz" wrap="square" lIns="92075" tIns="46038" rIns="92075" bIns="46038" anchor="t" anchorCtr="0"/>
          <a:lstStyle/>
          <a:p>
            <a:pPr>
              <a:lnSpc>
                <a:spcPct val="120000"/>
              </a:lnSpc>
            </a:pPr>
            <a:r>
              <a:rPr lang="en-US" altLang="zh-CN" dirty="0">
                <a:ea typeface="黑体" panose="02010609060101010101" pitchFamily="2" charset="-122"/>
              </a:rPr>
              <a:t>In the output market, marginal revenue 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MR(y ) </a:t>
            </a:r>
            <a:r>
              <a:rPr lang="en-US" altLang="zh-CN" dirty="0">
                <a:ea typeface="黑体" panose="02010609060101010101" pitchFamily="2" charset="-122"/>
              </a:rPr>
              <a:t>and marginal cost 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MC(y ) </a:t>
            </a:r>
            <a:r>
              <a:rPr lang="en-US" altLang="zh-CN" dirty="0">
                <a:ea typeface="黑体" panose="02010609060101010101" pitchFamily="2" charset="-122"/>
              </a:rPr>
              <a:t>are related to the output.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In the factor market, marginal revenue and marginal cost are related to the input. The marginal revenue brought about by the change of input is called </a:t>
            </a:r>
            <a:r>
              <a:rPr lang="en-US" altLang="zh-CN" dirty="0">
                <a:solidFill>
                  <a:schemeClr val="tx2"/>
                </a:solidFill>
                <a:ea typeface="黑体" panose="02010609060101010101" pitchFamily="2" charset="-122"/>
                <a:sym typeface="+mn-ea"/>
              </a:rPr>
              <a:t>marginal revenue product MRP(x)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, and the change in cost is </a:t>
            </a:r>
            <a:r>
              <a:rPr lang="en-US" altLang="zh-CN" dirty="0" smtClean="0">
                <a:ea typeface="黑体" panose="02010609060101010101" pitchFamily="2" charset="-122"/>
                <a:sym typeface="+mn-ea"/>
              </a:rPr>
              <a:t>MFC(x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).</a:t>
            </a: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 anchorCtr="0"/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19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2075" tIns="46038" rIns="92075" bIns="46038" anchor="t" anchorCtr="0"/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chemeClr val="tx1"/>
                </a:solidFill>
                <a:ea typeface="黑体" panose="02010609060101010101" pitchFamily="2" charset="-122"/>
                <a:sym typeface="+mn-ea"/>
              </a:rPr>
              <a:t>what is marginal revenue product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MRP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what is </a:t>
            </a:r>
            <a:r>
              <a:rPr lang="en-US" altLang="zh-CN" dirty="0" smtClean="0">
                <a:latin typeface="黑体" panose="02010609060101010101" pitchFamily="2" charset="-122"/>
                <a:ea typeface="黑体" panose="02010609060101010101" pitchFamily="2" charset="-122"/>
              </a:rPr>
              <a:t>MFC(x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？</a:t>
            </a:r>
          </a:p>
          <a:p>
            <a:pPr algn="l">
              <a:lnSpc>
                <a:spcPct val="120000"/>
              </a:lnSpc>
            </a:pPr>
            <a:r>
              <a:rPr lang="en-US" altLang="zh-CN" dirty="0">
                <a:ea typeface="黑体" panose="02010609060101010101" pitchFamily="2" charset="-122"/>
              </a:rPr>
              <a:t>The condition for the firm to 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 maximize </a:t>
            </a:r>
            <a:r>
              <a:rPr lang="en-US" altLang="zh-CN" dirty="0">
                <a:ea typeface="黑体" panose="02010609060101010101" pitchFamily="2" charset="-122"/>
              </a:rPr>
              <a:t>profit is：</a:t>
            </a:r>
          </a:p>
          <a:p>
            <a:pPr>
              <a:lnSpc>
                <a:spcPct val="120000"/>
              </a:lnSpc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    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   </a:t>
            </a:r>
            <a:r>
              <a:rPr lang="en-US" altLang="zh-CN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MRP</a:t>
            </a:r>
            <a:r>
              <a:rPr lang="en-US" altLang="zh-CN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(x)</a:t>
            </a:r>
            <a:r>
              <a:rPr lang="en-US" altLang="zh-CN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= </a:t>
            </a:r>
            <a:r>
              <a:rPr lang="en-US" altLang="zh-CN" dirty="0" smtClean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MFC(x</a:t>
            </a:r>
            <a:r>
              <a:rPr lang="en-US" altLang="zh-CN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)</a:t>
            </a:r>
            <a:endParaRPr lang="zh-CN" altLang="en-US" dirty="0">
              <a:solidFill>
                <a:schemeClr val="accent1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1588" y="228600"/>
            <a:ext cx="9142412" cy="990600"/>
          </a:xfrm>
        </p:spPr>
        <p:txBody>
          <a:bodyPr vert="horz" wrap="square" lIns="92075" tIns="46038" rIns="92075" bIns="46038" anchor="ctr" anchorCtr="0"/>
          <a:lstStyle/>
          <a:p>
            <a:r>
              <a:rPr lang="en-US" altLang="zh-CN" b="1" dirty="0">
                <a:ea typeface="宋体" panose="02010600030101010101" pitchFamily="2" charset="-122"/>
              </a:rPr>
              <a:t>3 Conceptions in factor markets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 hasCustomPrompt="1"/>
          </p:nvPr>
        </p:nvSpPr>
        <p:spPr>
          <a:xfrm>
            <a:off x="374650" y="1405255"/>
            <a:ext cx="8488680" cy="5165725"/>
          </a:xfrm>
        </p:spPr>
        <p:txBody>
          <a:bodyPr vert="horz" wrap="square" lIns="92075" tIns="46038" rIns="92075" bIns="46038" anchor="t" anchorCtr="0"/>
          <a:lstStyle/>
          <a:p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边际产品价值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(value of the marginal product, </a:t>
            </a:r>
            <a:r>
              <a:rPr lang="en-US" altLang="zh-CN" sz="2800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VMP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The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marginal value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result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ed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from an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change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of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one unit of the input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that is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VMP = MP*P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边际收益产品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(marginal revenue product, </a:t>
            </a:r>
            <a:r>
              <a:rPr lang="en-US" altLang="zh-CN" sz="2800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MRP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：The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marginal revenue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result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ed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from an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change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of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  one unit of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the input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, that is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None/>
            </a:pP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MRP=MP*MR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r>
              <a:rPr lang="zh-CN" altLang="en-US" sz="2800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边际要素成本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(marginal factor cost, </a:t>
            </a:r>
            <a:r>
              <a:rPr lang="en-US" altLang="zh-CN" sz="2800" dirty="0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MFC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pPr>
              <a:buNone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The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marginal cost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result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ed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from an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change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of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 one unit of the input 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 anchorCtr="0"/>
          <a:lstStyle/>
          <a:p>
            <a:pPr marL="342900" indent="-342900" algn="l">
              <a:lnSpc>
                <a:spcPct val="12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u"/>
            </a:pPr>
            <a:r>
              <a:rPr lang="zh-CN" altLang="en-US" b="1" dirty="0">
                <a:latin typeface="黑体" panose="02010609060101010101" pitchFamily="2" charset="-122"/>
                <a:ea typeface="黑体" panose="02010609060101010101" pitchFamily="2" charset="-122"/>
              </a:rPr>
              <a:t>1.  </a:t>
            </a:r>
            <a:r>
              <a:rPr lang="en-US" altLang="zh-CN" sz="4000" b="1" dirty="0">
                <a:latin typeface="+mn-lt"/>
                <a:ea typeface="黑体" panose="02010609060101010101" pitchFamily="2" charset="-122"/>
                <a:cs typeface="+mn-cs"/>
                <a:sym typeface="+mn-ea"/>
              </a:rPr>
              <a:t>Competive factor markets</a:t>
            </a:r>
            <a:endParaRPr lang="en-US" altLang="zh-CN" sz="4000" b="1" dirty="0">
              <a:latin typeface="+mn-lt"/>
              <a:ea typeface="黑体" panose="02010609060101010101" pitchFamily="2" charset="-122"/>
              <a:cs typeface="+mn-cs"/>
            </a:endParaRPr>
          </a:p>
        </p:txBody>
      </p:sp>
      <p:sp>
        <p:nvSpPr>
          <p:cNvPr id="12291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2075" tIns="46038" rIns="92075" bIns="46038" anchor="t" anchorCtr="0"/>
          <a:lstStyle/>
          <a:p>
            <a:pPr>
              <a:lnSpc>
                <a:spcPct val="130000"/>
              </a:lnSpc>
            </a:pPr>
            <a:r>
              <a:rPr lang="zh-CN" altLang="en-US" dirty="0">
                <a:ea typeface="黑体" panose="02010609060101010101" pitchFamily="2" charset="-122"/>
              </a:rPr>
              <a:t>There are a large number of </a:t>
            </a:r>
            <a:r>
              <a:rPr lang="en-US" altLang="zh-CN" dirty="0">
                <a:ea typeface="黑体" panose="02010609060101010101" pitchFamily="2" charset="-122"/>
              </a:rPr>
              <a:t>suppli</a:t>
            </a:r>
            <a:r>
              <a:rPr lang="zh-CN" altLang="en-US" dirty="0">
                <a:ea typeface="黑体" panose="02010609060101010101" pitchFamily="2" charset="-122"/>
              </a:rPr>
              <a:t>ers and demanders of factors 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ea typeface="黑体" panose="02010609060101010101" pitchFamily="2" charset="-122"/>
              </a:rPr>
              <a:t>An i</a:t>
            </a:r>
            <a:r>
              <a:rPr lang="zh-CN" altLang="en-US" dirty="0">
                <a:ea typeface="黑体" panose="02010609060101010101" pitchFamily="2" charset="-122"/>
              </a:rPr>
              <a:t>ndividual supplier and demander of a factor cannot influence the price of </a:t>
            </a:r>
            <a:r>
              <a:rPr lang="en-US" altLang="zh-CN" dirty="0">
                <a:ea typeface="黑体" panose="02010609060101010101" pitchFamily="2" charset="-122"/>
              </a:rPr>
              <a:t>the</a:t>
            </a:r>
            <a:r>
              <a:rPr lang="zh-CN" altLang="en-US" dirty="0">
                <a:ea typeface="黑体" panose="02010609060101010101" pitchFamily="2" charset="-122"/>
              </a:rPr>
              <a:t> factor；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Suppli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ers and demanders of factors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 are all price-takers.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>
            <a:spLocks noGrp="1"/>
          </p:cNvSpPr>
          <p:nvPr>
            <p:ph idx="1" hasCustomPrompt="1"/>
          </p:nvPr>
        </p:nvSpPr>
        <p:spPr>
          <a:xfrm>
            <a:off x="466090" y="819150"/>
            <a:ext cx="8068310" cy="3181350"/>
          </a:xfrm>
        </p:spPr>
        <p:txBody>
          <a:bodyPr vert="horz" wrap="square" lIns="92075" tIns="46038" rIns="92075" bIns="46038" anchor="t" anchorCtr="0"/>
          <a:lstStyle/>
          <a:p>
            <a:pPr marL="609600" indent="-609600">
              <a:lnSpc>
                <a:spcPct val="130000"/>
              </a:lnSpc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suppose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</a:p>
          <a:p>
            <a:pPr marL="1066800" lvl="1" indent="-609600">
              <a:lnSpc>
                <a:spcPct val="130000"/>
              </a:lnSpc>
              <a:buFontTx/>
              <a:buAutoNum type="arabicPeriod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there is only a kind of factor x</a:t>
            </a:r>
          </a:p>
          <a:p>
            <a:pPr marL="1066800" lvl="1" indent="-609600">
              <a:lnSpc>
                <a:spcPct val="130000"/>
              </a:lnSpc>
              <a:buFontTx/>
              <a:buAutoNum type="arabicPeriod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production function: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y＝f（x）</a:t>
            </a:r>
          </a:p>
          <a:p>
            <a:pPr marL="1066800" lvl="1" indent="-609600">
              <a:lnSpc>
                <a:spcPct val="130000"/>
              </a:lnSpc>
              <a:buFontTx/>
              <a:buAutoNum type="arabicPeriod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Revenue R＝py</a:t>
            </a:r>
          </a:p>
        </p:txBody>
      </p:sp>
      <p:sp>
        <p:nvSpPr>
          <p:cNvPr id="13315" name="Text Box 4"/>
          <p:cNvSpPr txBox="1"/>
          <p:nvPr/>
        </p:nvSpPr>
        <p:spPr>
          <a:xfrm>
            <a:off x="406400" y="4133850"/>
            <a:ext cx="8498840" cy="107632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How do changes in factors affect changes 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of the revenue of the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 firm?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0" y="266700"/>
            <a:ext cx="9142413" cy="723900"/>
          </a:xfrm>
        </p:spPr>
        <p:txBody>
          <a:bodyPr vert="horz" wrap="square" lIns="92075" tIns="46038" rIns="92075" bIns="46038" anchor="ctr" anchorCtr="0"/>
          <a:lstStyle/>
          <a:p>
            <a:r>
              <a:rPr lang="en-US" altLang="zh-CN" b="1" dirty="0">
                <a:ea typeface="黑体" panose="02010609060101010101" pitchFamily="2" charset="-122"/>
                <a:sym typeface="+mn-ea"/>
              </a:rPr>
              <a:t>Output Markets</a:t>
            </a:r>
            <a:endParaRPr lang="zh-CN" altLang="en-US" dirty="0">
              <a:ea typeface="黑体" panose="02010609060101010101" pitchFamily="2" charset="-122"/>
            </a:endParaRPr>
          </a:p>
        </p:txBody>
      </p:sp>
      <p:sp>
        <p:nvSpPr>
          <p:cNvPr id="14339" name="Rectangle 3"/>
          <p:cNvSpPr>
            <a:spLocks noGrp="1"/>
          </p:cNvSpPr>
          <p:nvPr>
            <p:ph idx="1" hasCustomPrompt="1"/>
          </p:nvPr>
        </p:nvSpPr>
        <p:spPr>
          <a:xfrm>
            <a:off x="685800" y="1314450"/>
            <a:ext cx="7772400" cy="4781550"/>
          </a:xfrm>
        </p:spPr>
        <p:txBody>
          <a:bodyPr vert="horz" wrap="square" lIns="92075" tIns="46038" rIns="92075" bIns="46038" anchor="t" anchorCtr="0"/>
          <a:lstStyle/>
          <a:p>
            <a:pPr marL="1066800" lvl="1" indent="-609600">
              <a:lnSpc>
                <a:spcPct val="120000"/>
              </a:lnSpc>
              <a:buFontTx/>
              <a:buAutoNum type="arabicPeriod"/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the output Market is competive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066800" lvl="1" indent="-609600">
              <a:lnSpc>
                <a:spcPct val="120000"/>
              </a:lnSpc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	MRP=MR×MP＝P×MP</a:t>
            </a:r>
          </a:p>
          <a:p>
            <a:pPr marL="1066800" lvl="1" indent="-609600">
              <a:lnSpc>
                <a:spcPct val="120000"/>
              </a:lnSpc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2.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the output Market is monopolistic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1066800" lvl="1" indent="-609600">
              <a:lnSpc>
                <a:spcPct val="120000"/>
              </a:lnSpc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	 MRP=MR×MP</a:t>
            </a:r>
          </a:p>
        </p:txBody>
      </p:sp>
      <p:graphicFrame>
        <p:nvGraphicFramePr>
          <p:cNvPr id="14340" name="Object 4"/>
          <p:cNvGraphicFramePr/>
          <p:nvPr/>
        </p:nvGraphicFramePr>
        <p:xfrm>
          <a:off x="1652588" y="4244975"/>
          <a:ext cx="5741987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r:id="rId3" imgW="1097280" imgH="304800" progId="Equation.DSMT4">
                  <p:embed/>
                </p:oleObj>
              </mc:Choice>
              <mc:Fallback>
                <p:oleObj r:id="rId3" imgW="1097280" imgH="3048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52588" y="4244975"/>
                        <a:ext cx="5741987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8"/>
          <p:cNvGrpSpPr/>
          <p:nvPr/>
        </p:nvGrpSpPr>
        <p:grpSpPr>
          <a:xfrm>
            <a:off x="361950" y="552450"/>
            <a:ext cx="8369301" cy="5886450"/>
            <a:chOff x="228" y="348"/>
            <a:chExt cx="5272" cy="3708"/>
          </a:xfrm>
        </p:grpSpPr>
        <p:sp>
          <p:nvSpPr>
            <p:cNvPr id="15363" name="Line 4"/>
            <p:cNvSpPr/>
            <p:nvPr/>
          </p:nvSpPr>
          <p:spPr>
            <a:xfrm>
              <a:off x="962" y="523"/>
              <a:ext cx="0" cy="327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64" name="Line 5"/>
            <p:cNvSpPr/>
            <p:nvPr/>
          </p:nvSpPr>
          <p:spPr>
            <a:xfrm>
              <a:off x="957" y="3790"/>
              <a:ext cx="343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65" name="Rectangle 6"/>
            <p:cNvSpPr/>
            <p:nvPr/>
          </p:nvSpPr>
          <p:spPr>
            <a:xfrm>
              <a:off x="3855" y="3768"/>
              <a:ext cx="1489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ea typeface="黑体" panose="02010609060101010101" pitchFamily="2" charset="-122"/>
                </a:rPr>
                <a:t>supply of labor</a:t>
              </a:r>
            </a:p>
          </p:txBody>
        </p:sp>
        <p:sp>
          <p:nvSpPr>
            <p:cNvPr id="15366" name="Rectangle 7"/>
            <p:cNvSpPr/>
            <p:nvPr/>
          </p:nvSpPr>
          <p:spPr>
            <a:xfrm>
              <a:off x="228" y="348"/>
              <a:ext cx="594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ea typeface="黑体" panose="02010609060101010101" pitchFamily="2" charset="-122"/>
                </a:rPr>
                <a:t>wage</a:t>
              </a:r>
            </a:p>
          </p:txBody>
        </p:sp>
        <p:sp>
          <p:nvSpPr>
            <p:cNvPr id="15367" name="Rectangle 9"/>
            <p:cNvSpPr/>
            <p:nvPr/>
          </p:nvSpPr>
          <p:spPr>
            <a:xfrm>
              <a:off x="4079" y="2992"/>
              <a:ext cx="1122" cy="2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MRP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L </a:t>
              </a: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= MP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800" i="1" dirty="0">
                  <a:latin typeface="Arial" panose="020B0604020202020204" pitchFamily="34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15368" name="Freeform 10"/>
            <p:cNvSpPr/>
            <p:nvPr/>
          </p:nvSpPr>
          <p:spPr>
            <a:xfrm>
              <a:off x="1083" y="1471"/>
              <a:ext cx="3002" cy="17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3" y="300"/>
                </a:cxn>
                <a:cxn ang="0">
                  <a:pos x="705" y="586"/>
                </a:cxn>
                <a:cxn ang="0">
                  <a:pos x="878" y="720"/>
                </a:cxn>
                <a:cxn ang="0">
                  <a:pos x="1058" y="847"/>
                </a:cxn>
                <a:cxn ang="0">
                  <a:pos x="1245" y="967"/>
                </a:cxn>
                <a:cxn ang="0">
                  <a:pos x="1426" y="1076"/>
                </a:cxn>
                <a:cxn ang="0">
                  <a:pos x="1614" y="1178"/>
                </a:cxn>
                <a:cxn ang="0">
                  <a:pos x="1810" y="1273"/>
                </a:cxn>
                <a:cxn ang="0">
                  <a:pos x="2006" y="1356"/>
                </a:cxn>
                <a:cxn ang="0">
                  <a:pos x="2201" y="1433"/>
                </a:cxn>
                <a:cxn ang="0">
                  <a:pos x="2602" y="1573"/>
                </a:cxn>
                <a:cxn ang="0">
                  <a:pos x="3001" y="1700"/>
                </a:cxn>
              </a:cxnLst>
              <a:rect l="0" t="0" r="0" b="0"/>
              <a:pathLst>
                <a:path w="2355" h="1396">
                  <a:moveTo>
                    <a:pt x="0" y="0"/>
                  </a:moveTo>
                  <a:lnTo>
                    <a:pt x="277" y="246"/>
                  </a:lnTo>
                  <a:lnTo>
                    <a:pt x="553" y="481"/>
                  </a:lnTo>
                  <a:lnTo>
                    <a:pt x="689" y="591"/>
                  </a:lnTo>
                  <a:lnTo>
                    <a:pt x="830" y="695"/>
                  </a:lnTo>
                  <a:lnTo>
                    <a:pt x="977" y="794"/>
                  </a:lnTo>
                  <a:lnTo>
                    <a:pt x="1119" y="883"/>
                  </a:lnTo>
                  <a:lnTo>
                    <a:pt x="1266" y="967"/>
                  </a:lnTo>
                  <a:lnTo>
                    <a:pt x="1420" y="1045"/>
                  </a:lnTo>
                  <a:lnTo>
                    <a:pt x="1574" y="1113"/>
                  </a:lnTo>
                  <a:lnTo>
                    <a:pt x="1727" y="1176"/>
                  </a:lnTo>
                  <a:lnTo>
                    <a:pt x="2041" y="1291"/>
                  </a:lnTo>
                  <a:lnTo>
                    <a:pt x="2354" y="1395"/>
                  </a:lnTo>
                </a:path>
              </a:pathLst>
            </a:custGeom>
            <a:noFill/>
            <a:ln w="50800" cap="rnd" cmpd="sng">
              <a:solidFill>
                <a:srgbClr val="FFF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9" name="Rectangle 11"/>
            <p:cNvSpPr/>
            <p:nvPr/>
          </p:nvSpPr>
          <p:spPr>
            <a:xfrm>
              <a:off x="2292" y="1482"/>
              <a:ext cx="3208" cy="288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pPr algn="l"/>
              <a:r>
                <a:rPr lang="en-US" altLang="zh-CN" sz="2400" dirty="0">
                  <a:ea typeface="黑体" panose="02010609060101010101" pitchFamily="2" charset="-122"/>
                  <a:sym typeface="+mn-ea"/>
                </a:rPr>
                <a:t>competive output Market</a:t>
              </a:r>
              <a:r>
                <a:rPr lang="zh-CN" altLang="en-US" sz="2400" dirty="0">
                  <a:latin typeface="Arial" panose="020B0604020202020204" pitchFamily="34" charset="0"/>
                  <a:ea typeface="黑体" panose="02010609060101010101" pitchFamily="2" charset="-122"/>
                </a:rPr>
                <a:t> (</a:t>
              </a:r>
              <a:r>
                <a:rPr lang="en-US" altLang="zh-CN" sz="2400" dirty="0">
                  <a:latin typeface="Arial" panose="020B0604020202020204" pitchFamily="34" charset="0"/>
                  <a:ea typeface="黑体" panose="02010609060101010101" pitchFamily="2" charset="-122"/>
                </a:rPr>
                <a:t>P = MR)</a:t>
              </a:r>
            </a:p>
          </p:txBody>
        </p:sp>
        <p:sp>
          <p:nvSpPr>
            <p:cNvPr id="15370" name="Line 12"/>
            <p:cNvSpPr/>
            <p:nvPr/>
          </p:nvSpPr>
          <p:spPr>
            <a:xfrm flipH="1">
              <a:off x="2850" y="1777"/>
              <a:ext cx="203" cy="7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71" name="Freeform 14"/>
            <p:cNvSpPr/>
            <p:nvPr/>
          </p:nvSpPr>
          <p:spPr>
            <a:xfrm>
              <a:off x="1083" y="1825"/>
              <a:ext cx="1717" cy="16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1" y="299"/>
                </a:cxn>
                <a:cxn ang="0">
                  <a:pos x="399" y="583"/>
                </a:cxn>
                <a:cxn ang="0">
                  <a:pos x="502" y="714"/>
                </a:cxn>
                <a:cxn ang="0">
                  <a:pos x="607" y="846"/>
                </a:cxn>
                <a:cxn ang="0">
                  <a:pos x="710" y="963"/>
                </a:cxn>
                <a:cxn ang="0">
                  <a:pos x="815" y="1074"/>
                </a:cxn>
                <a:cxn ang="0">
                  <a:pos x="924" y="1179"/>
                </a:cxn>
                <a:cxn ang="0">
                  <a:pos x="1034" y="1269"/>
                </a:cxn>
                <a:cxn ang="0">
                  <a:pos x="1143" y="1352"/>
                </a:cxn>
                <a:cxn ang="0">
                  <a:pos x="1259" y="1427"/>
                </a:cxn>
                <a:cxn ang="0">
                  <a:pos x="1485" y="1566"/>
                </a:cxn>
                <a:cxn ang="0">
                  <a:pos x="1716" y="1698"/>
                </a:cxn>
              </a:cxnLst>
              <a:rect l="0" t="0" r="0" b="0"/>
              <a:pathLst>
                <a:path w="1347" h="1394">
                  <a:moveTo>
                    <a:pt x="0" y="0"/>
                  </a:moveTo>
                  <a:lnTo>
                    <a:pt x="158" y="245"/>
                  </a:lnTo>
                  <a:lnTo>
                    <a:pt x="313" y="478"/>
                  </a:lnTo>
                  <a:lnTo>
                    <a:pt x="394" y="586"/>
                  </a:lnTo>
                  <a:lnTo>
                    <a:pt x="476" y="694"/>
                  </a:lnTo>
                  <a:lnTo>
                    <a:pt x="557" y="790"/>
                  </a:lnTo>
                  <a:lnTo>
                    <a:pt x="639" y="881"/>
                  </a:lnTo>
                  <a:lnTo>
                    <a:pt x="725" y="967"/>
                  </a:lnTo>
                  <a:lnTo>
                    <a:pt x="811" y="1041"/>
                  </a:lnTo>
                  <a:lnTo>
                    <a:pt x="897" y="1109"/>
                  </a:lnTo>
                  <a:lnTo>
                    <a:pt x="988" y="1171"/>
                  </a:lnTo>
                  <a:lnTo>
                    <a:pt x="1165" y="1285"/>
                  </a:lnTo>
                  <a:lnTo>
                    <a:pt x="1346" y="1393"/>
                  </a:lnTo>
                </a:path>
              </a:pathLst>
            </a:custGeom>
            <a:noFill/>
            <a:ln w="50800" cap="rnd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Rectangle 15"/>
            <p:cNvSpPr/>
            <p:nvPr/>
          </p:nvSpPr>
          <p:spPr>
            <a:xfrm>
              <a:off x="2855" y="3341"/>
              <a:ext cx="1290" cy="229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MRP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L </a:t>
              </a: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= MP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L </a:t>
              </a: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x MR</a:t>
              </a:r>
            </a:p>
          </p:txBody>
        </p:sp>
        <p:sp>
          <p:nvSpPr>
            <p:cNvPr id="15373" name="Rectangle 16"/>
            <p:cNvSpPr/>
            <p:nvPr/>
          </p:nvSpPr>
          <p:spPr>
            <a:xfrm>
              <a:off x="640" y="3108"/>
              <a:ext cx="2011" cy="521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none" lIns="90488" tIns="44450" rIns="90488" bIns="44450">
              <a:spAutoFit/>
            </a:bodyPr>
            <a:lstStyle/>
            <a:p>
              <a:pPr algn="ctr"/>
              <a:r>
                <a:rPr lang="en-US" altLang="zh-CN" sz="2400" dirty="0">
                  <a:ea typeface="黑体" panose="02010609060101010101" pitchFamily="2" charset="-122"/>
                  <a:sym typeface="+mn-ea"/>
                </a:rPr>
                <a:t>monopolistic output </a:t>
              </a:r>
            </a:p>
            <a:p>
              <a:pPr algn="ctr"/>
              <a:r>
                <a:rPr lang="en-US" altLang="zh-CN" sz="2400" dirty="0">
                  <a:ea typeface="黑体" panose="02010609060101010101" pitchFamily="2" charset="-122"/>
                  <a:sym typeface="+mn-ea"/>
                </a:rPr>
                <a:t>Market</a:t>
              </a:r>
              <a:r>
                <a:rPr lang="en-US" altLang="zh-CN" sz="2400" dirty="0">
                  <a:latin typeface="Arial" panose="020B0604020202020204" pitchFamily="34" charset="0"/>
                  <a:ea typeface="黑体" panose="02010609060101010101" pitchFamily="2" charset="-122"/>
                </a:rPr>
                <a:t>(P </a:t>
              </a:r>
              <a:r>
                <a:rPr lang="en-US" altLang="zh-CN" sz="2400" dirty="0" smtClean="0">
                  <a:latin typeface="Arial" panose="020B0604020202020204" pitchFamily="34" charset="0"/>
                  <a:ea typeface="黑体" panose="02010609060101010101" pitchFamily="2" charset="-122"/>
                </a:rPr>
                <a:t>&gt; </a:t>
              </a:r>
              <a:r>
                <a:rPr lang="en-US" altLang="zh-CN" sz="2400" dirty="0">
                  <a:latin typeface="Arial" panose="020B0604020202020204" pitchFamily="34" charset="0"/>
                  <a:ea typeface="黑体" panose="02010609060101010101" pitchFamily="2" charset="-122"/>
                </a:rPr>
                <a:t>MR)</a:t>
              </a:r>
            </a:p>
          </p:txBody>
        </p:sp>
        <p:sp>
          <p:nvSpPr>
            <p:cNvPr id="15374" name="Line 17"/>
            <p:cNvSpPr/>
            <p:nvPr/>
          </p:nvSpPr>
          <p:spPr>
            <a:xfrm flipV="1">
              <a:off x="1463" y="2694"/>
              <a:ext cx="162" cy="48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8"/>
          <p:cNvGrpSpPr/>
          <p:nvPr/>
        </p:nvGrpSpPr>
        <p:grpSpPr>
          <a:xfrm>
            <a:off x="849630" y="1547495"/>
            <a:ext cx="7761605" cy="4908476"/>
            <a:chOff x="228" y="348"/>
            <a:chExt cx="5272" cy="3720"/>
          </a:xfrm>
        </p:grpSpPr>
        <p:sp>
          <p:nvSpPr>
            <p:cNvPr id="15363" name="Line 4"/>
            <p:cNvSpPr/>
            <p:nvPr/>
          </p:nvSpPr>
          <p:spPr>
            <a:xfrm>
              <a:off x="962" y="523"/>
              <a:ext cx="0" cy="3275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64" name="Line 5"/>
            <p:cNvSpPr/>
            <p:nvPr/>
          </p:nvSpPr>
          <p:spPr>
            <a:xfrm>
              <a:off x="957" y="3790"/>
              <a:ext cx="3435" cy="0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5365" name="Rectangle 6"/>
            <p:cNvSpPr/>
            <p:nvPr/>
          </p:nvSpPr>
          <p:spPr>
            <a:xfrm>
              <a:off x="3770" y="3768"/>
              <a:ext cx="1574" cy="3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0488" tIns="44450" rIns="90488" bIns="44450">
              <a:spAutoFit/>
            </a:bodyPr>
            <a:lstStyle/>
            <a:p>
              <a:r>
                <a:rPr lang="en-US" altLang="zh-CN" sz="2000" dirty="0">
                  <a:latin typeface="Arial" panose="020B0604020202020204" pitchFamily="34" charset="0"/>
                  <a:ea typeface="黑体" panose="02010609060101010101" pitchFamily="2" charset="-122"/>
                </a:rPr>
                <a:t>supply of labor</a:t>
              </a:r>
            </a:p>
          </p:txBody>
        </p:sp>
        <p:sp>
          <p:nvSpPr>
            <p:cNvPr id="15366" name="Rectangle 7"/>
            <p:cNvSpPr/>
            <p:nvPr/>
          </p:nvSpPr>
          <p:spPr>
            <a:xfrm>
              <a:off x="228" y="348"/>
              <a:ext cx="655" cy="34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0488" tIns="44450" rIns="90488" bIns="44450">
              <a:spAutoFit/>
            </a:bodyPr>
            <a:lstStyle/>
            <a:p>
              <a:r>
                <a:rPr lang="en-US" altLang="zh-CN" sz="2400" dirty="0">
                  <a:latin typeface="Arial" panose="020B0604020202020204" pitchFamily="34" charset="0"/>
                  <a:ea typeface="黑体" panose="02010609060101010101" pitchFamily="2" charset="-122"/>
                </a:rPr>
                <a:t>wage</a:t>
              </a:r>
            </a:p>
          </p:txBody>
        </p:sp>
        <p:sp>
          <p:nvSpPr>
            <p:cNvPr id="15367" name="Rectangle 9"/>
            <p:cNvSpPr/>
            <p:nvPr/>
          </p:nvSpPr>
          <p:spPr>
            <a:xfrm>
              <a:off x="4079" y="2992"/>
              <a:ext cx="1204" cy="27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0488" tIns="44450" rIns="90488" bIns="44450">
              <a:spAutoFit/>
            </a:bodyPr>
            <a:lstStyle/>
            <a:p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MRP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L </a:t>
              </a: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= MP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L</a:t>
              </a: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x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en-US" altLang="zh-CN" sz="1800" i="1" dirty="0">
                  <a:latin typeface="Arial" panose="020B0604020202020204" pitchFamily="34" charset="0"/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15368" name="Freeform 10"/>
            <p:cNvSpPr/>
            <p:nvPr/>
          </p:nvSpPr>
          <p:spPr>
            <a:xfrm>
              <a:off x="1083" y="1471"/>
              <a:ext cx="3002" cy="170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353" y="300"/>
                </a:cxn>
                <a:cxn ang="0">
                  <a:pos x="705" y="586"/>
                </a:cxn>
                <a:cxn ang="0">
                  <a:pos x="878" y="720"/>
                </a:cxn>
                <a:cxn ang="0">
                  <a:pos x="1058" y="847"/>
                </a:cxn>
                <a:cxn ang="0">
                  <a:pos x="1245" y="967"/>
                </a:cxn>
                <a:cxn ang="0">
                  <a:pos x="1426" y="1076"/>
                </a:cxn>
                <a:cxn ang="0">
                  <a:pos x="1614" y="1178"/>
                </a:cxn>
                <a:cxn ang="0">
                  <a:pos x="1810" y="1273"/>
                </a:cxn>
                <a:cxn ang="0">
                  <a:pos x="2006" y="1356"/>
                </a:cxn>
                <a:cxn ang="0">
                  <a:pos x="2201" y="1433"/>
                </a:cxn>
                <a:cxn ang="0">
                  <a:pos x="2602" y="1573"/>
                </a:cxn>
                <a:cxn ang="0">
                  <a:pos x="3001" y="1700"/>
                </a:cxn>
              </a:cxnLst>
              <a:rect l="0" t="0" r="0" b="0"/>
              <a:pathLst>
                <a:path w="2355" h="1396">
                  <a:moveTo>
                    <a:pt x="0" y="0"/>
                  </a:moveTo>
                  <a:lnTo>
                    <a:pt x="277" y="246"/>
                  </a:lnTo>
                  <a:lnTo>
                    <a:pt x="553" y="481"/>
                  </a:lnTo>
                  <a:lnTo>
                    <a:pt x="689" y="591"/>
                  </a:lnTo>
                  <a:lnTo>
                    <a:pt x="830" y="695"/>
                  </a:lnTo>
                  <a:lnTo>
                    <a:pt x="977" y="794"/>
                  </a:lnTo>
                  <a:lnTo>
                    <a:pt x="1119" y="883"/>
                  </a:lnTo>
                  <a:lnTo>
                    <a:pt x="1266" y="967"/>
                  </a:lnTo>
                  <a:lnTo>
                    <a:pt x="1420" y="1045"/>
                  </a:lnTo>
                  <a:lnTo>
                    <a:pt x="1574" y="1113"/>
                  </a:lnTo>
                  <a:lnTo>
                    <a:pt x="1727" y="1176"/>
                  </a:lnTo>
                  <a:lnTo>
                    <a:pt x="2041" y="1291"/>
                  </a:lnTo>
                  <a:lnTo>
                    <a:pt x="2354" y="1395"/>
                  </a:lnTo>
                </a:path>
              </a:pathLst>
            </a:custGeom>
            <a:noFill/>
            <a:ln w="50800" cap="rnd" cmpd="sng">
              <a:solidFill>
                <a:srgbClr val="FFFF00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69" name="Rectangle 11"/>
            <p:cNvSpPr/>
            <p:nvPr/>
          </p:nvSpPr>
          <p:spPr>
            <a:xfrm>
              <a:off x="2292" y="1482"/>
              <a:ext cx="3208" cy="300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0488" tIns="44450" rIns="90488" bIns="44450">
              <a:spAutoFit/>
            </a:bodyPr>
            <a:lstStyle/>
            <a:p>
              <a:pPr algn="l"/>
              <a:r>
                <a:rPr lang="en-US" altLang="zh-CN" sz="2000" dirty="0">
                  <a:ea typeface="黑体" panose="02010609060101010101" pitchFamily="2" charset="-122"/>
                  <a:sym typeface="+mn-ea"/>
                </a:rPr>
                <a:t>competive output Market</a:t>
              </a:r>
              <a:r>
                <a:rPr lang="zh-CN" altLang="en-US" sz="2000" dirty="0">
                  <a:latin typeface="Arial" panose="020B0604020202020204" pitchFamily="34" charset="0"/>
                  <a:ea typeface="黑体" panose="02010609060101010101" pitchFamily="2" charset="-122"/>
                </a:rPr>
                <a:t> (</a:t>
              </a:r>
              <a:r>
                <a:rPr lang="en-US" altLang="zh-CN" sz="2000" dirty="0">
                  <a:latin typeface="Arial" panose="020B0604020202020204" pitchFamily="34" charset="0"/>
                  <a:ea typeface="黑体" panose="02010609060101010101" pitchFamily="2" charset="-122"/>
                </a:rPr>
                <a:t>P = MR)</a:t>
              </a:r>
            </a:p>
          </p:txBody>
        </p:sp>
        <p:sp>
          <p:nvSpPr>
            <p:cNvPr id="15370" name="Line 12"/>
            <p:cNvSpPr/>
            <p:nvPr/>
          </p:nvSpPr>
          <p:spPr>
            <a:xfrm flipH="1">
              <a:off x="2850" y="1777"/>
              <a:ext cx="203" cy="798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15371" name="Freeform 14"/>
            <p:cNvSpPr/>
            <p:nvPr/>
          </p:nvSpPr>
          <p:spPr>
            <a:xfrm>
              <a:off x="1083" y="1825"/>
              <a:ext cx="1717" cy="169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1" y="299"/>
                </a:cxn>
                <a:cxn ang="0">
                  <a:pos x="399" y="583"/>
                </a:cxn>
                <a:cxn ang="0">
                  <a:pos x="502" y="714"/>
                </a:cxn>
                <a:cxn ang="0">
                  <a:pos x="607" y="846"/>
                </a:cxn>
                <a:cxn ang="0">
                  <a:pos x="710" y="963"/>
                </a:cxn>
                <a:cxn ang="0">
                  <a:pos x="815" y="1074"/>
                </a:cxn>
                <a:cxn ang="0">
                  <a:pos x="924" y="1179"/>
                </a:cxn>
                <a:cxn ang="0">
                  <a:pos x="1034" y="1269"/>
                </a:cxn>
                <a:cxn ang="0">
                  <a:pos x="1143" y="1352"/>
                </a:cxn>
                <a:cxn ang="0">
                  <a:pos x="1259" y="1427"/>
                </a:cxn>
                <a:cxn ang="0">
                  <a:pos x="1485" y="1566"/>
                </a:cxn>
                <a:cxn ang="0">
                  <a:pos x="1716" y="1698"/>
                </a:cxn>
              </a:cxnLst>
              <a:rect l="0" t="0" r="0" b="0"/>
              <a:pathLst>
                <a:path w="1347" h="1394">
                  <a:moveTo>
                    <a:pt x="0" y="0"/>
                  </a:moveTo>
                  <a:lnTo>
                    <a:pt x="158" y="245"/>
                  </a:lnTo>
                  <a:lnTo>
                    <a:pt x="313" y="478"/>
                  </a:lnTo>
                  <a:lnTo>
                    <a:pt x="394" y="586"/>
                  </a:lnTo>
                  <a:lnTo>
                    <a:pt x="476" y="694"/>
                  </a:lnTo>
                  <a:lnTo>
                    <a:pt x="557" y="790"/>
                  </a:lnTo>
                  <a:lnTo>
                    <a:pt x="639" y="881"/>
                  </a:lnTo>
                  <a:lnTo>
                    <a:pt x="725" y="967"/>
                  </a:lnTo>
                  <a:lnTo>
                    <a:pt x="811" y="1041"/>
                  </a:lnTo>
                  <a:lnTo>
                    <a:pt x="897" y="1109"/>
                  </a:lnTo>
                  <a:lnTo>
                    <a:pt x="988" y="1171"/>
                  </a:lnTo>
                  <a:lnTo>
                    <a:pt x="1165" y="1285"/>
                  </a:lnTo>
                  <a:lnTo>
                    <a:pt x="1346" y="1393"/>
                  </a:lnTo>
                </a:path>
              </a:pathLst>
            </a:custGeom>
            <a:noFill/>
            <a:ln w="50800" cap="rnd" cmpd="sng">
              <a:solidFill>
                <a:srgbClr val="FF00FF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72" name="Rectangle 15"/>
            <p:cNvSpPr/>
            <p:nvPr/>
          </p:nvSpPr>
          <p:spPr>
            <a:xfrm>
              <a:off x="2855" y="3341"/>
              <a:ext cx="1416" cy="277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0488" tIns="44450" rIns="90488" bIns="44450">
              <a:spAutoFit/>
            </a:bodyPr>
            <a:lstStyle/>
            <a:p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MRP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L </a:t>
              </a: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= MP</a:t>
              </a:r>
              <a:r>
                <a:rPr lang="en-US" altLang="zh-CN" sz="1800" baseline="-25000" dirty="0">
                  <a:latin typeface="Arial" panose="020B0604020202020204" pitchFamily="34" charset="0"/>
                  <a:ea typeface="宋体" panose="02010600030101010101" pitchFamily="2" charset="-122"/>
                </a:rPr>
                <a:t>L </a:t>
              </a:r>
              <a:r>
                <a:rPr lang="en-US" altLang="zh-CN" sz="1800" dirty="0">
                  <a:latin typeface="Arial" panose="020B0604020202020204" pitchFamily="34" charset="0"/>
                  <a:ea typeface="宋体" panose="02010600030101010101" pitchFamily="2" charset="-122"/>
                </a:rPr>
                <a:t>x MR</a:t>
              </a:r>
            </a:p>
          </p:txBody>
        </p:sp>
        <p:sp>
          <p:nvSpPr>
            <p:cNvPr id="15373" name="Rectangle 16"/>
            <p:cNvSpPr/>
            <p:nvPr/>
          </p:nvSpPr>
          <p:spPr>
            <a:xfrm>
              <a:off x="583" y="3108"/>
              <a:ext cx="2068" cy="534"/>
            </a:xfrm>
            <a:prstGeom prst="rect">
              <a:avLst/>
            </a:prstGeom>
            <a:noFill/>
            <a:ln w="12700">
              <a:noFill/>
            </a:ln>
          </p:spPr>
          <p:txBody>
            <a:bodyPr wrap="square" lIns="90488" tIns="44450" rIns="90488" bIns="44450">
              <a:spAutoFit/>
            </a:bodyPr>
            <a:lstStyle/>
            <a:p>
              <a:pPr algn="ctr"/>
              <a:r>
                <a:rPr lang="en-US" altLang="zh-CN" sz="2000" dirty="0">
                  <a:ea typeface="黑体" panose="02010609060101010101" pitchFamily="2" charset="-122"/>
                  <a:sym typeface="+mn-ea"/>
                </a:rPr>
                <a:t>monopolistic output </a:t>
              </a:r>
            </a:p>
            <a:p>
              <a:pPr algn="ctr"/>
              <a:r>
                <a:rPr lang="en-US" altLang="zh-CN" sz="2000" dirty="0">
                  <a:ea typeface="黑体" panose="02010609060101010101" pitchFamily="2" charset="-122"/>
                  <a:sym typeface="+mn-ea"/>
                </a:rPr>
                <a:t>Market</a:t>
              </a:r>
              <a:r>
                <a:rPr lang="en-US" altLang="zh-CN" sz="2000" dirty="0">
                  <a:latin typeface="Arial" panose="020B0604020202020204" pitchFamily="34" charset="0"/>
                  <a:ea typeface="黑体" panose="02010609060101010101" pitchFamily="2" charset="-122"/>
                </a:rPr>
                <a:t>(P </a:t>
              </a:r>
              <a:r>
                <a:rPr lang="en-US" altLang="zh-CN" sz="2000" dirty="0" smtClean="0">
                  <a:latin typeface="Arial" panose="020B0604020202020204" pitchFamily="34" charset="0"/>
                  <a:ea typeface="黑体" panose="02010609060101010101" pitchFamily="2" charset="-122"/>
                </a:rPr>
                <a:t>&gt; </a:t>
              </a:r>
              <a:r>
                <a:rPr lang="en-US" altLang="zh-CN" sz="2000" dirty="0">
                  <a:latin typeface="Arial" panose="020B0604020202020204" pitchFamily="34" charset="0"/>
                  <a:ea typeface="黑体" panose="02010609060101010101" pitchFamily="2" charset="-122"/>
                </a:rPr>
                <a:t>MR)</a:t>
              </a:r>
            </a:p>
          </p:txBody>
        </p:sp>
        <p:sp>
          <p:nvSpPr>
            <p:cNvPr id="15374" name="Line 17"/>
            <p:cNvSpPr/>
            <p:nvPr/>
          </p:nvSpPr>
          <p:spPr>
            <a:xfrm flipV="1">
              <a:off x="1463" y="2694"/>
              <a:ext cx="162" cy="486"/>
            </a:xfrm>
            <a:prstGeom prst="line">
              <a:avLst/>
            </a:prstGeom>
            <a:ln w="2540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6387" name="Text Box 15"/>
          <p:cNvSpPr txBox="1"/>
          <p:nvPr>
            <p:custDataLst>
              <p:tags r:id="rId1"/>
            </p:custDataLst>
          </p:nvPr>
        </p:nvSpPr>
        <p:spPr>
          <a:xfrm>
            <a:off x="241300" y="181610"/>
            <a:ext cx="8662035" cy="156845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sz="3200" dirty="0">
                <a:latin typeface="黑体" panose="02010609060101010101" pitchFamily="2" charset="-122"/>
                <a:ea typeface="黑体" panose="02010609060101010101" pitchFamily="2" charset="-122"/>
              </a:rPr>
              <a:t>If one unit of input is</a:t>
            </a:r>
            <a:r>
              <a:rPr 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sz="3200" dirty="0">
                <a:latin typeface="黑体" panose="02010609060101010101" pitchFamily="2" charset="-122"/>
                <a:ea typeface="黑体" panose="02010609060101010101" pitchFamily="2" charset="-122"/>
              </a:rPr>
              <a:t>increased, the  MRP of </a:t>
            </a:r>
            <a:r>
              <a:rPr 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a </a:t>
            </a:r>
            <a:r>
              <a:rPr sz="3200" dirty="0">
                <a:latin typeface="黑体" panose="02010609060101010101" pitchFamily="2" charset="-122"/>
                <a:ea typeface="黑体" panose="02010609060101010101" pitchFamily="2" charset="-122"/>
              </a:rPr>
              <a:t>monopol</a:t>
            </a:r>
            <a:r>
              <a:rPr 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istic</a:t>
            </a:r>
            <a:r>
              <a:rPr sz="3200" dirty="0">
                <a:latin typeface="黑体" panose="02010609060101010101" pitchFamily="2" charset="-122"/>
                <a:ea typeface="黑体" panose="02010609060101010101" pitchFamily="2" charset="-122"/>
              </a:rPr>
              <a:t> firm is smaller than that of </a:t>
            </a:r>
            <a:r>
              <a:rPr 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sz="32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competive </a:t>
            </a:r>
            <a:r>
              <a:rPr sz="3200" dirty="0">
                <a:latin typeface="黑体" panose="02010609060101010101" pitchFamily="2" charset="-122"/>
                <a:ea typeface="黑体" panose="02010609060101010101" pitchFamily="2" charset="-122"/>
              </a:rPr>
              <a:t>firm</a:t>
            </a:r>
            <a:r>
              <a:rPr 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/>
          </p:cNvSpPr>
          <p:nvPr>
            <p:ph idx="1" hasCustomPrompt="1"/>
          </p:nvPr>
        </p:nvSpPr>
        <p:spPr>
          <a:xfrm>
            <a:off x="609600" y="285750"/>
            <a:ext cx="7772400" cy="5665470"/>
          </a:xfrm>
        </p:spPr>
        <p:txBody>
          <a:bodyPr vert="horz" wrap="square" lIns="92075" tIns="46038" rIns="92075" bIns="46038" anchor="t" anchorCtr="0"/>
          <a:lstStyle/>
          <a:p>
            <a:pPr>
              <a:lnSpc>
                <a:spcPct val="130000"/>
              </a:lnSpc>
            </a:pPr>
            <a:r>
              <a:rPr lang="en-US" dirty="0">
                <a:ea typeface="宋体" panose="02010600030101010101" pitchFamily="2" charset="-122"/>
              </a:rPr>
              <a:t>the reason:</a:t>
            </a:r>
          </a:p>
          <a:p>
            <a:pPr algn="l">
              <a:lnSpc>
                <a:spcPct val="130000"/>
              </a:lnSpc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At a given output, a competitive firm can sell as much as it wants, but a monopoly must lower its price.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An increase of factor increases less MR of a monopoly than the MR of a competive firm.</a:t>
            </a:r>
            <a:endParaRPr lang="en-US" dirty="0"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270" y="0"/>
            <a:ext cx="9142413" cy="971550"/>
          </a:xfrm>
        </p:spPr>
        <p:txBody>
          <a:bodyPr vert="horz" wrap="square" lIns="92075" tIns="46038" rIns="92075" bIns="46038" anchor="ctr" anchorCtr="0"/>
          <a:lstStyle/>
          <a:p>
            <a:r>
              <a:rPr lang="en-US" altLang="zh-CN" b="1" dirty="0">
                <a:ea typeface="宋体" panose="02010600030101010101" pitchFamily="2" charset="-122"/>
                <a:sym typeface="+mn-ea"/>
              </a:rPr>
              <a:t>Factor Markets</a:t>
            </a:r>
            <a:r>
              <a:rPr lang="zh-CN" altLang="en-US" dirty="0">
                <a:ea typeface="黑体" panose="02010609060101010101" pitchFamily="2" charset="-122"/>
              </a:rPr>
              <a:t>（</a:t>
            </a:r>
            <a:r>
              <a:rPr lang="en-US" altLang="zh-CN" dirty="0">
                <a:ea typeface="黑体" panose="02010609060101010101" pitchFamily="2" charset="-122"/>
              </a:rPr>
              <a:t>cost</a:t>
            </a:r>
            <a:r>
              <a:rPr lang="zh-CN" altLang="en-US" dirty="0">
                <a:ea typeface="黑体" panose="02010609060101010101" pitchFamily="2" charset="-122"/>
              </a:rPr>
              <a:t>）</a:t>
            </a:r>
            <a:endParaRPr lang="en-US" altLang="zh-CN" dirty="0">
              <a:ea typeface="黑体" panose="02010609060101010101" pitchFamily="2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 hasCustomPrompt="1"/>
          </p:nvPr>
        </p:nvSpPr>
        <p:spPr>
          <a:xfrm>
            <a:off x="685800" y="1384935"/>
            <a:ext cx="7917180" cy="5015865"/>
          </a:xfrm>
        </p:spPr>
        <p:txBody>
          <a:bodyPr vert="horz" wrap="square" lIns="92075" tIns="46038" rIns="92075" bIns="46038" anchor="t" anchorCtr="0"/>
          <a:lstStyle/>
          <a:p>
            <a:pPr>
              <a:lnSpc>
                <a:spcPct val="130000"/>
              </a:lnSpc>
            </a:pPr>
            <a:r>
              <a:rPr lang="zh-CN" altLang="en-US" dirty="0">
                <a:ea typeface="黑体" panose="02010609060101010101" pitchFamily="2" charset="-122"/>
                <a:sym typeface="+mn-ea"/>
              </a:rPr>
              <a:t>There are a large number of </a:t>
            </a:r>
            <a:r>
              <a:rPr lang="en-US" altLang="zh-CN" dirty="0">
                <a:ea typeface="黑体" panose="02010609060101010101" pitchFamily="2" charset="-122"/>
                <a:sym typeface="+mn-ea"/>
              </a:rPr>
              <a:t>suppli</a:t>
            </a:r>
            <a:r>
              <a:rPr lang="zh-CN" altLang="en-US" dirty="0">
                <a:ea typeface="黑体" panose="02010609060101010101" pitchFamily="2" charset="-122"/>
                <a:sym typeface="+mn-ea"/>
              </a:rPr>
              <a:t>ers and demanders of</a:t>
            </a:r>
            <a:r>
              <a:rPr lang="en-US" altLang="zh-CN" dirty="0">
                <a:ea typeface="黑体" panose="02010609060101010101" pitchFamily="2" charset="-122"/>
              </a:rPr>
              <a:t> factors</a:t>
            </a:r>
            <a:r>
              <a:rPr lang="zh-CN" altLang="en-US" dirty="0">
                <a:ea typeface="黑体" panose="02010609060101010101" pitchFamily="2" charset="-122"/>
              </a:rPr>
              <a:t>；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The factor market is competitive</a:t>
            </a:r>
            <a:endParaRPr lang="zh-CN" altLang="en-US" dirty="0">
              <a:ea typeface="黑体" panose="0201060906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ea typeface="黑体" panose="02010609060101010101" pitchFamily="2" charset="-122"/>
              </a:rPr>
              <a:t>C = wx</a:t>
            </a: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chemeClr val="accent1"/>
                </a:solidFill>
                <a:ea typeface="黑体" panose="02010609060101010101" pitchFamily="2" charset="-122"/>
              </a:rPr>
              <a:t>MC(x) = w</a:t>
            </a:r>
            <a:r>
              <a:rPr lang="en-US" altLang="zh-CN" dirty="0">
                <a:ea typeface="黑体" panose="02010609060101010101" pitchFamily="2" charset="-122"/>
              </a:rPr>
              <a:t>  </a:t>
            </a:r>
            <a:r>
              <a:rPr lang="zh-CN" altLang="en-US" dirty="0">
                <a:ea typeface="黑体" panose="02010609060101010101" pitchFamily="2" charset="-122"/>
              </a:rPr>
              <a:t>（</a:t>
            </a:r>
            <a:r>
              <a:rPr lang="en-US" altLang="zh-CN" dirty="0">
                <a:ea typeface="黑体" panose="02010609060101010101" pitchFamily="2" charset="-122"/>
              </a:rPr>
              <a:t>w is constant</a:t>
            </a:r>
            <a:r>
              <a:rPr lang="zh-CN" altLang="en-US" dirty="0">
                <a:ea typeface="黑体" panose="02010609060101010101" pitchFamily="2" charset="-122"/>
              </a:rPr>
              <a:t>）</a:t>
            </a:r>
          </a:p>
          <a:p>
            <a:pPr>
              <a:lnSpc>
                <a:spcPct val="130000"/>
              </a:lnSpc>
            </a:pPr>
            <a:endParaRPr lang="zh-CN" altLang="en-US" dirty="0"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512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Oval 4"/>
          <p:cNvSpPr>
            <a:spLocks noGrp="1"/>
          </p:cNvSpPr>
          <p:nvPr>
            <p:ph idx="1" hasCustomPrompt="1"/>
          </p:nvPr>
        </p:nvSpPr>
        <p:spPr>
          <a:xfrm>
            <a:off x="628650" y="194945"/>
            <a:ext cx="7923530" cy="28670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12700">
            <a:solidFill>
              <a:schemeClr val="tx1">
                <a:alpha val="100000"/>
              </a:schemeClr>
            </a:solidFill>
            <a:headEnd w="sm" len="sm"/>
            <a:tailEnd w="sm" len="sm"/>
          </a:ln>
        </p:spPr>
        <p:txBody>
          <a:bodyPr vert="horz" wrap="square" lIns="92075" tIns="46038" rIns="92075" bIns="46038" anchor="t" anchorCtr="0"/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chemeClr val="bg1"/>
                </a:solidFill>
                <a:ea typeface="黑体" panose="02010609060101010101" pitchFamily="2" charset="-122"/>
              </a:rPr>
              <a:t>conditions for profit-maximization</a:t>
            </a:r>
            <a:r>
              <a:rPr lang="zh-CN" altLang="en-US" sz="2800" dirty="0">
                <a:solidFill>
                  <a:schemeClr val="bg1"/>
                </a:solidFill>
                <a:ea typeface="黑体" panose="02010609060101010101" pitchFamily="2" charset="-122"/>
              </a:rPr>
              <a:t>：</a:t>
            </a:r>
            <a:r>
              <a:rPr lang="en-US" altLang="zh-CN" sz="2800" dirty="0">
                <a:solidFill>
                  <a:schemeClr val="bg1"/>
                </a:solidFill>
                <a:ea typeface="黑体" panose="02010609060101010101" pitchFamily="2" charset="-122"/>
              </a:rPr>
              <a:t>MRP = </a:t>
            </a:r>
            <a:r>
              <a:rPr lang="en-US" altLang="zh-CN" sz="2800" dirty="0" smtClean="0">
                <a:solidFill>
                  <a:schemeClr val="bg1"/>
                </a:solidFill>
                <a:ea typeface="黑体" panose="02010609060101010101" pitchFamily="2" charset="-122"/>
              </a:rPr>
              <a:t>MFC(x</a:t>
            </a:r>
            <a:r>
              <a:rPr lang="en-US" altLang="zh-CN" sz="2800" dirty="0">
                <a:solidFill>
                  <a:schemeClr val="bg1"/>
                </a:solidFill>
                <a:ea typeface="黑体" panose="02010609060101010101" pitchFamily="2" charset="-122"/>
              </a:rPr>
              <a:t>)</a:t>
            </a:r>
            <a:endParaRPr lang="zh-CN" altLang="en-US" sz="2800" dirty="0">
              <a:solidFill>
                <a:schemeClr val="bg1"/>
              </a:solidFill>
              <a:ea typeface="黑体" panose="02010609060101010101" pitchFamily="2" charset="-122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bg1"/>
                </a:solidFill>
                <a:ea typeface="黑体" panose="02010609060101010101" pitchFamily="2" charset="-122"/>
              </a:rPr>
              <a:t>The </a:t>
            </a:r>
            <a:r>
              <a:rPr lang="en-US" altLang="zh-CN" sz="2800" dirty="0">
                <a:solidFill>
                  <a:schemeClr val="bg1"/>
                </a:solidFill>
                <a:ea typeface="黑体" panose="02010609060101010101" pitchFamily="2" charset="-122"/>
              </a:rPr>
              <a:t>marginal revenue resulted from</a:t>
            </a:r>
            <a:r>
              <a:rPr lang="zh-CN" altLang="en-US" sz="2800" dirty="0">
                <a:solidFill>
                  <a:schemeClr val="bg1"/>
                </a:solidFill>
                <a:ea typeface="黑体" panose="02010609060101010101" pitchFamily="2" charset="-122"/>
              </a:rPr>
              <a:t> one unit of factor</a:t>
            </a:r>
            <a:r>
              <a:rPr lang="en-US" altLang="zh-CN" sz="2800" dirty="0">
                <a:solidFill>
                  <a:schemeClr val="bg1"/>
                </a:solidFill>
                <a:ea typeface="黑体" panose="02010609060101010101" pitchFamily="2" charset="-122"/>
              </a:rPr>
              <a:t> </a:t>
            </a:r>
            <a:r>
              <a:rPr lang="zh-CN" altLang="en-US" sz="2800" dirty="0">
                <a:solidFill>
                  <a:schemeClr val="bg1"/>
                </a:solidFill>
                <a:ea typeface="黑体" panose="02010609060101010101" pitchFamily="2" charset="-122"/>
              </a:rPr>
              <a:t>is equal to the increased cost</a:t>
            </a:r>
          </a:p>
        </p:txBody>
      </p:sp>
      <p:sp>
        <p:nvSpPr>
          <p:cNvPr id="26630" name="Text Box 6"/>
          <p:cNvSpPr txBox="1"/>
          <p:nvPr/>
        </p:nvSpPr>
        <p:spPr>
          <a:xfrm>
            <a:off x="547370" y="3429000"/>
            <a:ext cx="8324850" cy="73088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ea typeface="黑体" panose="02010609060101010101" pitchFamily="2" charset="-122"/>
                <a:sym typeface="+mn-ea"/>
              </a:rPr>
              <a:t>The factor market is competitive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MRP＝w</a:t>
            </a:r>
            <a:endParaRPr lang="zh-CN" altLang="en-US" sz="32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26631" name="Text Box 7"/>
          <p:cNvSpPr txBox="1"/>
          <p:nvPr/>
        </p:nvSpPr>
        <p:spPr>
          <a:xfrm>
            <a:off x="666750" y="4229100"/>
            <a:ext cx="8039100" cy="181483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the factor-demanding condition for profit-maximization is:</a:t>
            </a:r>
            <a:endParaRPr lang="zh-CN" altLang="en-US" sz="3200" dirty="0">
              <a:solidFill>
                <a:schemeClr val="tx2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MRP＝the price of the factor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62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62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6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6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8" grpId="0" build="p" animBg="1"/>
      <p:bldP spid="26630" grpId="0"/>
      <p:bldP spid="266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/>
          </p:cNvSpPr>
          <p:nvPr>
            <p:ph idx="1" hasCustomPrompt="1"/>
          </p:nvPr>
        </p:nvSpPr>
        <p:spPr>
          <a:xfrm>
            <a:off x="685800" y="571500"/>
            <a:ext cx="7772400" cy="5524500"/>
          </a:xfrm>
        </p:spPr>
        <p:txBody>
          <a:bodyPr vert="horz" wrap="square" lIns="92075" tIns="46038" rIns="92075" bIns="46038" anchor="t" anchorCtr="0"/>
          <a:lstStyle/>
          <a:p>
            <a:pPr>
              <a:lnSpc>
                <a:spcPct val="120000"/>
              </a:lnSpc>
            </a:pPr>
            <a:r>
              <a:rPr lang="en-US" altLang="zh-CN" dirty="0">
                <a:ea typeface="黑体" panose="02010609060101010101" pitchFamily="2" charset="-122"/>
                <a:sym typeface="+mn-ea"/>
              </a:rPr>
              <a:t>both the factor market and the output market are competive</a:t>
            </a:r>
            <a:r>
              <a:rPr lang="zh-CN" altLang="en-US" dirty="0">
                <a:ea typeface="黑体" panose="02010609060101010101" pitchFamily="2" charset="-122"/>
              </a:rPr>
              <a:t>：</a:t>
            </a:r>
          </a:p>
          <a:p>
            <a:endParaRPr lang="zh-CN" altLang="en-US" dirty="0">
              <a:ea typeface="黑体" panose="0201060906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  <a:p>
            <a:pPr>
              <a:lnSpc>
                <a:spcPct val="125000"/>
              </a:lnSpc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graphicFrame>
        <p:nvGraphicFramePr>
          <p:cNvPr id="20483" name="Object 4"/>
          <p:cNvGraphicFramePr/>
          <p:nvPr/>
        </p:nvGraphicFramePr>
        <p:xfrm>
          <a:off x="2076450" y="2611438"/>
          <a:ext cx="4878388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r:id="rId3" imgW="2508250" imgH="339725" progId="Equation.DSMT4">
                  <p:embed/>
                </p:oleObj>
              </mc:Choice>
              <mc:Fallback>
                <p:oleObj r:id="rId3" imgW="2508250" imgH="339725" progId="Equation.DSMT4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076450" y="2611438"/>
                        <a:ext cx="4878388" cy="623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4" name="Object 5"/>
          <p:cNvGraphicFramePr/>
          <p:nvPr/>
        </p:nvGraphicFramePr>
        <p:xfrm>
          <a:off x="2801938" y="3436938"/>
          <a:ext cx="3043237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r:id="rId5" imgW="1558925" imgH="374650" progId="Equation.DSMT4">
                  <p:embed/>
                </p:oleObj>
              </mc:Choice>
              <mc:Fallback>
                <p:oleObj r:id="rId5" imgW="1558925" imgH="374650" progId="Equation.DSMT4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801938" y="3436938"/>
                        <a:ext cx="3043237" cy="708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7"/>
          <p:cNvGraphicFramePr/>
          <p:nvPr/>
        </p:nvGraphicFramePr>
        <p:xfrm>
          <a:off x="2176463" y="4408488"/>
          <a:ext cx="5059362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r:id="rId7" imgW="740410" imgH="165735" progId="Equation.DSMT4">
                  <p:embed/>
                </p:oleObj>
              </mc:Choice>
              <mc:Fallback>
                <p:oleObj r:id="rId7" imgW="740410" imgH="165735" progId="Equation.DSMT4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176463" y="4408488"/>
                        <a:ext cx="5059362" cy="971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/>
          </p:cNvSpPr>
          <p:nvPr>
            <p:ph idx="1" hasCustomPrompt="1"/>
          </p:nvPr>
        </p:nvSpPr>
        <p:spPr>
          <a:xfrm>
            <a:off x="723900" y="800100"/>
            <a:ext cx="7772400" cy="4572000"/>
          </a:xfrm>
        </p:spPr>
        <p:txBody>
          <a:bodyPr vert="horz" wrap="square" lIns="92075" tIns="46038" rIns="92075" bIns="46038" anchor="t" anchorCtr="0"/>
          <a:lstStyle/>
          <a:p>
            <a:r>
              <a:rPr lang="en-US" altLang="zh-CN" dirty="0">
                <a:ea typeface="黑体" panose="02010609060101010101" pitchFamily="2" charset="-122"/>
                <a:sym typeface="+mn-ea"/>
              </a:rPr>
              <a:t>the factor market is competive and the output market is monopolistic</a:t>
            </a:r>
            <a:r>
              <a:rPr lang="zh-CN" altLang="en-US" dirty="0">
                <a:ea typeface="黑体" panose="02010609060101010101" pitchFamily="2" charset="-122"/>
              </a:rPr>
              <a:t>：</a:t>
            </a:r>
            <a:endParaRPr lang="zh-CN" altLang="en-US" dirty="0">
              <a:ea typeface="宋体" panose="0201060003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  <p:graphicFrame>
        <p:nvGraphicFramePr>
          <p:cNvPr id="21507" name="Object 4"/>
          <p:cNvGraphicFramePr/>
          <p:nvPr/>
        </p:nvGraphicFramePr>
        <p:xfrm>
          <a:off x="1671638" y="3140075"/>
          <a:ext cx="5741987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r:id="rId3" imgW="1097280" imgH="304800" progId="Equation.DSMT4">
                  <p:embed/>
                </p:oleObj>
              </mc:Choice>
              <mc:Fallback>
                <p:oleObj r:id="rId3" imgW="1097280" imgH="304800" progId="Equation.DSMT4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671638" y="3140075"/>
                        <a:ext cx="5741987" cy="1204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5"/>
          <p:cNvGraphicFramePr/>
          <p:nvPr/>
        </p:nvGraphicFramePr>
        <p:xfrm>
          <a:off x="831850" y="2009775"/>
          <a:ext cx="8034338" cy="1065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r:id="rId5" imgW="1123315" imgH="165735" progId="Equation.DSMT4">
                  <p:embed/>
                </p:oleObj>
              </mc:Choice>
              <mc:Fallback>
                <p:oleObj r:id="rId5" imgW="1123315" imgH="165735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831850" y="2009775"/>
                        <a:ext cx="8034338" cy="1065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9" name="Object 6"/>
          <p:cNvGraphicFramePr/>
          <p:nvPr/>
        </p:nvGraphicFramePr>
        <p:xfrm>
          <a:off x="1300163" y="4473575"/>
          <a:ext cx="6483350" cy="1395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9" r:id="rId7" imgW="940435" imgH="304800" progId="Equation.DSMT4">
                  <p:embed/>
                </p:oleObj>
              </mc:Choice>
              <mc:Fallback>
                <p:oleObj r:id="rId7" imgW="940435" imgH="304800" progId="Equation.DSMT4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300163" y="4473575"/>
                        <a:ext cx="6483350" cy="13954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952500"/>
          </a:xfrm>
        </p:spPr>
        <p:txBody>
          <a:bodyPr vert="horz" wrap="square" lIns="92075" tIns="46038" rIns="92075" bIns="46038" anchor="ctr" anchorCtr="0"/>
          <a:lstStyle/>
          <a:p>
            <a:r>
              <a:rPr lang="en-US" altLang="zh-CN" b="1" dirty="0">
                <a:latin typeface="黑体" panose="02010609060101010101" pitchFamily="2" charset="-122"/>
                <a:ea typeface="黑体" panose="02010609060101010101" pitchFamily="2" charset="-122"/>
              </a:rPr>
              <a:t>2. Monopsony</a:t>
            </a:r>
          </a:p>
        </p:txBody>
      </p:sp>
      <p:sp>
        <p:nvSpPr>
          <p:cNvPr id="22531" name="Rectangle 3"/>
          <p:cNvSpPr>
            <a:spLocks noGrp="1"/>
          </p:cNvSpPr>
          <p:nvPr>
            <p:ph idx="1" hasCustomPrompt="1"/>
          </p:nvPr>
        </p:nvSpPr>
        <p:spPr>
          <a:xfrm>
            <a:off x="666750" y="1143000"/>
            <a:ext cx="8134350" cy="5715000"/>
          </a:xfrm>
        </p:spPr>
        <p:txBody>
          <a:bodyPr vert="horz" wrap="square" lIns="92075" tIns="46038" rIns="92075" bIns="46038" anchor="t" anchorCtr="0"/>
          <a:lstStyle/>
          <a:p>
            <a:pPr marL="0" indent="0"/>
            <a:r>
              <a:rPr lang="zh-CN" altLang="en-US" sz="2800" dirty="0">
                <a:ea typeface="黑体" panose="02010609060101010101" pitchFamily="2" charset="-122"/>
                <a:cs typeface="+mn-lt"/>
              </a:rPr>
              <a:t>There is only one </a:t>
            </a:r>
            <a:r>
              <a:rPr lang="en-US" altLang="zh-CN" sz="2800" dirty="0">
                <a:ea typeface="黑体" panose="02010609060101010101" pitchFamily="2" charset="-122"/>
                <a:cs typeface="+mn-lt"/>
              </a:rPr>
              <a:t>firm</a:t>
            </a:r>
            <a:r>
              <a:rPr lang="zh-CN" altLang="en-US" sz="2800" dirty="0">
                <a:ea typeface="黑体" panose="02010609060101010101" pitchFamily="2" charset="-122"/>
                <a:cs typeface="+mn-lt"/>
              </a:rPr>
              <a:t> that buys the</a:t>
            </a:r>
            <a:r>
              <a:rPr lang="en-US" altLang="zh-CN" sz="2800" dirty="0">
                <a:ea typeface="黑体" panose="02010609060101010101" pitchFamily="2" charset="-122"/>
                <a:cs typeface="+mn-lt"/>
              </a:rPr>
              <a:t> factor.</a:t>
            </a:r>
            <a:endParaRPr lang="zh-CN" altLang="en-US" sz="2800" dirty="0">
              <a:ea typeface="黑体" panose="02010609060101010101" pitchFamily="2" charset="-122"/>
              <a:cs typeface="+mn-lt"/>
            </a:endParaRPr>
          </a:p>
          <a:p>
            <a:pPr lvl="2">
              <a:lnSpc>
                <a:spcPct val="130000"/>
              </a:lnSpc>
            </a:pPr>
            <a:r>
              <a:rPr lang="zh-CN" altLang="en-US" sz="2800" dirty="0">
                <a:ea typeface="宋体" panose="02010600030101010101" pitchFamily="2" charset="-122"/>
                <a:cs typeface="+mn-lt"/>
              </a:rPr>
              <a:t>When there are many factor suppliers, when are factor suppliers willing to supply factors？</a:t>
            </a:r>
          </a:p>
          <a:p>
            <a:pPr lvl="2" algn="l">
              <a:lnSpc>
                <a:spcPct val="130000"/>
              </a:lnSpc>
            </a:pPr>
            <a:r>
              <a:rPr lang="zh-CN" altLang="en-US" sz="2800" dirty="0">
                <a:ea typeface="宋体" panose="02010600030101010101" pitchFamily="2" charset="-122"/>
                <a:cs typeface="+mn-lt"/>
              </a:rPr>
              <a:t>When there is only one factor supplier, when is the factor supplier willing to supply the factor? (see Bilateral monopoly)</a:t>
            </a:r>
          </a:p>
          <a:p>
            <a:pPr marL="0" algn="l"/>
            <a:r>
              <a:rPr lang="zh-CN" altLang="en-US" sz="2800" dirty="0">
                <a:ea typeface="黑体" panose="02010609060101010101" pitchFamily="2" charset="-122"/>
                <a:cs typeface="+mn-lt"/>
              </a:rPr>
              <a:t>How do buyers respond to factor market prices?</a:t>
            </a:r>
          </a:p>
          <a:p>
            <a:pPr lvl="2">
              <a:lnSpc>
                <a:spcPct val="130000"/>
              </a:lnSpc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/>
          </p:cNvSpPr>
          <p:nvPr>
            <p:ph idx="1" hasCustomPrompt="1"/>
          </p:nvPr>
        </p:nvSpPr>
        <p:spPr>
          <a:xfrm>
            <a:off x="742950" y="2019300"/>
            <a:ext cx="7772400" cy="4572000"/>
          </a:xfrm>
        </p:spPr>
        <p:txBody>
          <a:bodyPr vert="horz" wrap="square" lIns="92075" tIns="46038" rIns="92075" bIns="46038" anchor="t" anchorCtr="0"/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ea typeface="宋体" panose="02010600030101010101" pitchFamily="2" charset="-122"/>
                <a:cs typeface="+mn-lt"/>
              </a:rPr>
              <a:t>The supply of factors conforms to the law of supply: the lower the price, the less supply; The higher the price, the more supply.</a:t>
            </a:r>
          </a:p>
          <a:p>
            <a:pPr algn="l">
              <a:lnSpc>
                <a:spcPct val="130000"/>
              </a:lnSpc>
            </a:pPr>
            <a:r>
              <a:rPr lang="zh-CN" altLang="en-US" sz="2400" dirty="0">
                <a:ea typeface="宋体" panose="02010600030101010101" pitchFamily="2" charset="-122"/>
                <a:cs typeface="+mn-lt"/>
              </a:rPr>
              <a:t>The factor supply market faced by the buyer </a:t>
            </a:r>
            <a:r>
              <a:rPr lang="en-US" altLang="zh-CN" sz="2400" dirty="0">
                <a:ea typeface="宋体" panose="02010600030101010101" pitchFamily="2" charset="-122"/>
                <a:cs typeface="+mn-lt"/>
              </a:rPr>
              <a:t>firm</a:t>
            </a:r>
            <a:r>
              <a:rPr lang="zh-CN" altLang="en-US" sz="2400" dirty="0">
                <a:ea typeface="宋体" panose="02010600030101010101" pitchFamily="2" charset="-122"/>
                <a:cs typeface="+mn-lt"/>
              </a:rPr>
              <a:t> is the supply market of the whole factor. Let it </a:t>
            </a:r>
            <a:r>
              <a:rPr lang="en-US" altLang="zh-CN" sz="2400" dirty="0">
                <a:ea typeface="宋体" panose="02010600030101010101" pitchFamily="2" charset="-122"/>
                <a:cs typeface="+mn-lt"/>
              </a:rPr>
              <a:t>be </a:t>
            </a:r>
            <a:r>
              <a:rPr lang="zh-CN" altLang="en-US" sz="2400" dirty="0">
                <a:ea typeface="宋体" panose="02010600030101010101" pitchFamily="2" charset="-122"/>
                <a:cs typeface="+mn-lt"/>
              </a:rPr>
              <a:t>w (x)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ea typeface="宋体" panose="02010600030101010101" pitchFamily="2" charset="-122"/>
              </a:rPr>
              <a:t>      </a:t>
            </a:r>
            <a:r>
              <a:rPr lang="en-US" altLang="zh-CN" dirty="0">
                <a:ea typeface="宋体" panose="02010600030101010101" pitchFamily="2" charset="-122"/>
              </a:rPr>
              <a:t>X = w</a:t>
            </a:r>
            <a:r>
              <a:rPr lang="zh-CN" altLang="en-US" dirty="0">
                <a:ea typeface="宋体" panose="02010600030101010101" pitchFamily="2" charset="-122"/>
              </a:rPr>
              <a:t>（</a:t>
            </a:r>
            <a:r>
              <a:rPr lang="en-US" altLang="zh-CN" dirty="0">
                <a:ea typeface="宋体" panose="02010600030101010101" pitchFamily="2" charset="-122"/>
              </a:rPr>
              <a:t>x</a:t>
            </a:r>
            <a:r>
              <a:rPr lang="zh-CN" altLang="en-US" dirty="0">
                <a:ea typeface="宋体" panose="02010600030101010101" pitchFamily="2" charset="-122"/>
              </a:rPr>
              <a:t>）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3555" name="Rectangle 4"/>
          <p:cNvSpPr/>
          <p:nvPr/>
        </p:nvSpPr>
        <p:spPr>
          <a:xfrm>
            <a:off x="581660" y="374650"/>
            <a:ext cx="8011795" cy="121094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tx2"/>
                </a:solidFill>
                <a:latin typeface="+mn-lt"/>
                <a:ea typeface="宋体" panose="02010600030101010101" pitchFamily="2" charset="-122"/>
                <a:cs typeface="+mn-lt"/>
                <a:sym typeface="+mn-ea"/>
              </a:rPr>
              <a:t>When there are many factor suppliers, when are factor suppliers willing to supply factors</a:t>
            </a:r>
            <a:r>
              <a:rPr lang="zh-CN" altLang="en-US" b="0" dirty="0">
                <a:solidFill>
                  <a:schemeClr val="tx2"/>
                </a:solidFill>
                <a:latin typeface="+mn-lt"/>
                <a:ea typeface="黑体" panose="02010609060101010101" pitchFamily="2" charset="-122"/>
                <a:cs typeface="+mn-lt"/>
              </a:rPr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/>
          </p:cNvSpPr>
          <p:nvPr>
            <p:ph idx="1" hasCustomPrompt="1"/>
          </p:nvPr>
        </p:nvSpPr>
        <p:spPr>
          <a:xfrm>
            <a:off x="457200" y="419100"/>
            <a:ext cx="8113395" cy="5962650"/>
          </a:xfrm>
        </p:spPr>
        <p:txBody>
          <a:bodyPr vert="horz" wrap="square" lIns="92075" tIns="46038" rIns="92075" bIns="46038" anchor="t" anchorCtr="0"/>
          <a:lstStyle/>
          <a:p>
            <a:pPr marL="457200" indent="-457200">
              <a:lnSpc>
                <a:spcPct val="130000"/>
              </a:lnSpc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suppose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</a:p>
          <a:p>
            <a:pPr marL="636905" lvl="1" indent="-457200">
              <a:lnSpc>
                <a:spcPct val="130000"/>
              </a:lnSpc>
              <a:buFontTx/>
              <a:buAutoNum type="arabicPeriod"/>
            </a:pPr>
            <a:r>
              <a:rPr lang="zh-CN" altLang="en-US" sz="2800" dirty="0">
                <a:ea typeface="黑体" panose="02010609060101010101" pitchFamily="2" charset="-122"/>
                <a:cs typeface="+mn-lt"/>
              </a:rPr>
              <a:t>There is only one factor of production </a:t>
            </a:r>
            <a:r>
              <a:rPr lang="en-US" altLang="zh-CN" sz="2800" dirty="0">
                <a:ea typeface="黑体" panose="02010609060101010101" pitchFamily="2" charset="-122"/>
                <a:cs typeface="+mn-lt"/>
              </a:rPr>
              <a:t>x</a:t>
            </a:r>
            <a:r>
              <a:rPr lang="zh-CN" altLang="en-US" sz="2800" dirty="0">
                <a:ea typeface="黑体" panose="02010609060101010101" pitchFamily="2" charset="-122"/>
                <a:cs typeface="+mn-lt"/>
              </a:rPr>
              <a:t>，</a:t>
            </a:r>
          </a:p>
          <a:p>
            <a:pPr marL="636905" lvl="1" indent="-457200">
              <a:lnSpc>
                <a:spcPct val="130000"/>
              </a:lnSpc>
              <a:buFontTx/>
              <a:buAutoNum type="arabicPeriod"/>
            </a:pPr>
            <a:r>
              <a:rPr lang="zh-CN" altLang="en-US" sz="2800" dirty="0">
                <a:ea typeface="黑体" panose="02010609060101010101" pitchFamily="2" charset="-122"/>
                <a:cs typeface="+mn-lt"/>
              </a:rPr>
              <a:t>The relationship between the quantity supplied of a factor and the market price：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/>
            </a:r>
            <a:b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</a:br>
            <a:r>
              <a:rPr lang="en-US" altLang="zh-CN" sz="2800" dirty="0" smtClean="0">
                <a:latin typeface="黑体" panose="02010609060101010101" pitchFamily="2" charset="-122"/>
                <a:ea typeface="黑体" panose="02010609060101010101" pitchFamily="2" charset="-122"/>
              </a:rPr>
              <a:t>W 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= w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</a:p>
          <a:p>
            <a:pPr marL="636905" lvl="1" indent="-457200">
              <a:lnSpc>
                <a:spcPct val="130000"/>
              </a:lnSpc>
              <a:buFontTx/>
              <a:buAutoNum type="arabicPeriod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prodution function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y＝f（x）</a:t>
            </a:r>
          </a:p>
          <a:p>
            <a:pPr marL="636905" lvl="1" indent="-457200">
              <a:lnSpc>
                <a:spcPct val="130000"/>
              </a:lnSpc>
              <a:buFontTx/>
              <a:buAutoNum type="arabicPeriod"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cost function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36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3600" dirty="0">
                <a:latin typeface="黑体" panose="02010609060101010101" pitchFamily="2" charset="-122"/>
                <a:ea typeface="黑体" panose="02010609060101010101" pitchFamily="2" charset="-122"/>
              </a:rPr>
              <a:t>w(x)X,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w(x) is the funtion of x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36905" lvl="1" indent="-457200">
              <a:lnSpc>
                <a:spcPct val="130000"/>
              </a:lnSpc>
              <a:buFontTx/>
              <a:buAutoNum type="arabicPeriod"/>
            </a:pPr>
            <a:r>
              <a:rPr lang="en-US" altLang="zh-CN" sz="3600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MC</a:t>
            </a:r>
            <a:r>
              <a:rPr lang="zh-CN" altLang="en-US" sz="3600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3600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w(x)</a:t>
            </a:r>
            <a:r>
              <a:rPr lang="zh-CN" altLang="en-US" sz="3600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＋</a:t>
            </a:r>
            <a:r>
              <a:rPr lang="en-US" altLang="zh-CN" sz="3600" dirty="0">
                <a:solidFill>
                  <a:schemeClr val="accent1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xdw(x)/dx</a:t>
            </a:r>
            <a:endParaRPr lang="en-US" altLang="zh-CN" dirty="0">
              <a:solidFill>
                <a:schemeClr val="accent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/>
          </p:cNvSpPr>
          <p:nvPr>
            <p:ph type="body" sz="half" idx="1" hasCustomPrompt="1"/>
          </p:nvPr>
        </p:nvSpPr>
        <p:spPr>
          <a:xfrm>
            <a:off x="0" y="762000"/>
            <a:ext cx="9144000" cy="1066800"/>
          </a:xfrm>
        </p:spPr>
        <p:txBody>
          <a:bodyPr vert="horz" wrap="square" lIns="92075" tIns="46038" rIns="92075" bIns="46038" anchor="t" anchorCtr="0"/>
          <a:lstStyle/>
          <a:p>
            <a:pPr marL="827405" lvl="1" indent="-647700">
              <a:lnSpc>
                <a:spcPct val="130000"/>
              </a:lnSpc>
              <a:buClr>
                <a:schemeClr val="tx2"/>
              </a:buClr>
              <a:buSzPct val="75000"/>
              <a:buFont typeface="Monotype Sorts" pitchFamily="2" charset="2"/>
              <a:buChar char="u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For a monopsony, the profit-maximization conditon is </a:t>
            </a:r>
          </a:p>
        </p:txBody>
      </p:sp>
      <p:graphicFrame>
        <p:nvGraphicFramePr>
          <p:cNvPr id="25603" name="Object 4"/>
          <p:cNvGraphicFramePr>
            <a:graphicFrameLocks noGrp="1"/>
          </p:cNvGraphicFramePr>
          <p:nvPr>
            <p:ph sz="half" idx="2" hasCustomPrompt="1"/>
          </p:nvPr>
        </p:nvGraphicFramePr>
        <p:xfrm>
          <a:off x="309563" y="1758950"/>
          <a:ext cx="8334375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r:id="rId3" imgW="1663065" imgH="269875" progId="Equation.DSMT4">
                  <p:embed/>
                </p:oleObj>
              </mc:Choice>
              <mc:Fallback>
                <p:oleObj r:id="rId3" imgW="1663065" imgH="269875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309563" y="1758950"/>
                        <a:ext cx="8334375" cy="13081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 anchorCtr="0"/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26627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2075" tIns="46038" rIns="92075" bIns="46038" anchor="t" anchorCtr="0"/>
          <a:lstStyle/>
          <a:p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When the monopoly in factor market is competive in output market: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			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MRP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P×MP</a:t>
            </a:r>
          </a:p>
          <a:p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  <a:sym typeface="+mn-ea"/>
              </a:rPr>
              <a:t>When the monopoly in factor market is also monoplistic in output market: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			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MRP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MR×MP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6"/>
          <p:cNvGraphicFramePr>
            <a:graphicFrameLocks noGrp="1"/>
          </p:cNvGraphicFramePr>
          <p:nvPr>
            <p:ph hasCustomPrompt="1"/>
          </p:nvPr>
        </p:nvGraphicFramePr>
        <p:xfrm>
          <a:off x="404813" y="412750"/>
          <a:ext cx="835025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r:id="rId3" imgW="1663065" imgH="269875" progId="Equation.DSMT4">
                  <p:embed/>
                </p:oleObj>
              </mc:Choice>
              <mc:Fallback>
                <p:oleObj r:id="rId3" imgW="1663065" imgH="269875" progId="Equation.DSMT4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000000"/>
                          </a:clrTo>
                        </a:clrChange>
                      </a:blip>
                      <a:srcRect/>
                      <a:stretch>
                        <a:fillRect/>
                      </a:stretch>
                    </p:blipFill>
                    <p:spPr>
                      <a:xfrm>
                        <a:off x="404813" y="412750"/>
                        <a:ext cx="8350250" cy="13462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Text Box 8"/>
          <p:cNvSpPr txBox="1"/>
          <p:nvPr/>
        </p:nvSpPr>
        <p:spPr>
          <a:xfrm>
            <a:off x="533400" y="1759585"/>
            <a:ext cx="7639050" cy="5275580"/>
          </a:xfrm>
          <a:prstGeom prst="rect">
            <a:avLst/>
          </a:prstGeom>
          <a:noFill/>
          <a:ln w="12700">
            <a:noFill/>
          </a:ln>
        </p:spPr>
        <p:txBody>
          <a:bodyPr>
            <a:no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which implies that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1 the marginal cost of factors is more than the price of factors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2 The factor price in the monopsony is less than that in the  competitive factor market. The factors demanded are reduced and the price is decreased.</a:t>
            </a:r>
          </a:p>
          <a:p>
            <a:pPr>
              <a:spcBef>
                <a:spcPct val="50000"/>
              </a:spcBef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3 it is for us to know the quantity and price of inputs.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/>
          <p:cNvSpPr>
            <a:spLocks noGrp="1"/>
          </p:cNvSpPr>
          <p:nvPr>
            <p:ph idx="1" hasCustomPrompt="1"/>
          </p:nvPr>
        </p:nvSpPr>
        <p:spPr>
          <a:xfrm>
            <a:off x="337185" y="400050"/>
            <a:ext cx="8483600" cy="6134100"/>
          </a:xfrm>
        </p:spPr>
        <p:txBody>
          <a:bodyPr vert="horz" wrap="square" lIns="92075" tIns="46038" rIns="92075" bIns="46038" anchor="t" anchorCtr="0"/>
          <a:lstStyle/>
          <a:p>
            <a:pPr marL="609600" indent="-609600">
              <a:lnSpc>
                <a:spcPct val="120000"/>
              </a:lnSpc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Example:</a:t>
            </a:r>
            <a:r>
              <a:rPr sz="2800" dirty="0">
                <a:latin typeface="黑体" panose="02010609060101010101" pitchFamily="2" charset="-122"/>
                <a:ea typeface="黑体" panose="02010609060101010101" pitchFamily="2" charset="-122"/>
              </a:rPr>
              <a:t>Shanghai Wheelchair Factory is the only wheelchair manufacturer in Shanghai. The labor supply function is W=10+0.1X, where W is the daily wage and X is the total amount of </a:t>
            </a:r>
            <a:r>
              <a:rPr 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labor</a:t>
            </a:r>
            <a:r>
              <a:rPr sz="2800" dirty="0">
                <a:latin typeface="黑体" panose="02010609060101010101" pitchFamily="2" charset="-122"/>
                <a:ea typeface="黑体" panose="02010609060101010101" pitchFamily="2" charset="-122"/>
              </a:rPr>
              <a:t> done by all workers each day. The production function of the wheelchair is Y=10X. The inverse demand function for a wheelchair is P=41-Y/1000.</a:t>
            </a:r>
          </a:p>
          <a:p>
            <a:pPr marL="609600" indent="-609600">
              <a:lnSpc>
                <a:spcPct val="120000"/>
              </a:lnSpc>
              <a:buFont typeface="Monotype Sorts" pitchFamily="2" charset="2"/>
              <a:buAutoNum type="arabicPeriod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what is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 the wheelchair factory profit maximization output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  <a:endParaRPr lang="zh-CN" altLang="en-US" sz="28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marL="609600" indent="-609600">
              <a:lnSpc>
                <a:spcPct val="120000"/>
              </a:lnSpc>
              <a:buFont typeface="Monotype Sorts" pitchFamily="2" charset="2"/>
              <a:buAutoNum type="arabicPeriod"/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What is the amount of labor used?</a:t>
            </a:r>
          </a:p>
          <a:p>
            <a:pPr marL="609600" indent="-609600">
              <a:lnSpc>
                <a:spcPct val="120000"/>
              </a:lnSpc>
              <a:buFont typeface="Monotype Sorts" pitchFamily="2" charset="2"/>
              <a:buAutoNum type="arabicPeriod"/>
            </a:pP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What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s the wheelchair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’s price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>
          <a:xfrm>
            <a:off x="0" y="0"/>
            <a:ext cx="9142413" cy="704850"/>
          </a:xfrm>
        </p:spPr>
        <p:txBody>
          <a:bodyPr vert="horz" wrap="square" lIns="92075" tIns="46038" rIns="92075" bIns="46038" anchor="ctr" anchorCtr="0"/>
          <a:lstStyle/>
          <a:p>
            <a:r>
              <a:rPr lang="en-US" altLang="zh-CN" sz="4000" b="1" dirty="0">
                <a:latin typeface="黑体" panose="02010609060101010101" pitchFamily="2" charset="-122"/>
                <a:ea typeface="黑体" panose="02010609060101010101" pitchFamily="2" charset="-122"/>
              </a:rPr>
              <a:t>3  Monopoly</a:t>
            </a:r>
          </a:p>
        </p:txBody>
      </p:sp>
      <p:sp>
        <p:nvSpPr>
          <p:cNvPr id="29699" name="Rectangle 3"/>
          <p:cNvSpPr>
            <a:spLocks noGrp="1"/>
          </p:cNvSpPr>
          <p:nvPr>
            <p:ph idx="1" hasCustomPrompt="1"/>
          </p:nvPr>
        </p:nvSpPr>
        <p:spPr>
          <a:xfrm>
            <a:off x="316865" y="914400"/>
            <a:ext cx="8545195" cy="5581650"/>
          </a:xfrm>
        </p:spPr>
        <p:txBody>
          <a:bodyPr vert="horz" wrap="square" lIns="92075" tIns="46038" rIns="92075" bIns="46038" anchor="t" anchorCtr="0"/>
          <a:lstStyle/>
          <a:p>
            <a:pPr>
              <a:lnSpc>
                <a:spcPct val="125000"/>
              </a:lnSpc>
            </a:pPr>
            <a:r>
              <a:rPr lang="zh-CN" altLang="en-US" sz="2400" dirty="0">
                <a:ea typeface="黑体" panose="02010609060101010101" pitchFamily="2" charset="-122"/>
              </a:rPr>
              <a:t>The</a:t>
            </a:r>
            <a:r>
              <a:rPr lang="en-US" altLang="zh-CN" sz="2400" dirty="0">
                <a:ea typeface="黑体" panose="02010609060101010101" pitchFamily="2" charset="-122"/>
              </a:rPr>
              <a:t>re is a unique</a:t>
            </a:r>
            <a:r>
              <a:rPr lang="zh-CN" altLang="en-US" sz="2400" dirty="0">
                <a:ea typeface="黑体" panose="02010609060101010101" pitchFamily="2" charset="-122"/>
              </a:rPr>
              <a:t> factor supplier.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ea typeface="黑体" panose="02010609060101010101" pitchFamily="2" charset="-122"/>
              </a:rPr>
              <a:t>Buyer </a:t>
            </a:r>
            <a:r>
              <a:rPr lang="en-US" altLang="zh-CN" sz="2400" dirty="0">
                <a:ea typeface="黑体" panose="02010609060101010101" pitchFamily="2" charset="-122"/>
              </a:rPr>
              <a:t>firms</a:t>
            </a:r>
            <a:r>
              <a:rPr lang="zh-CN" altLang="en-US" sz="2400" dirty="0">
                <a:ea typeface="黑体" panose="02010609060101010101" pitchFamily="2" charset="-122"/>
              </a:rPr>
              <a:t>: There may be many, there may be only one.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ea typeface="黑体" panose="02010609060101010101" pitchFamily="2" charset="-122"/>
              </a:rPr>
              <a:t>Bilateral monopoly: both buyer and seller are unique.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ea typeface="黑体" panose="02010609060101010101" pitchFamily="2" charset="-122"/>
              </a:rPr>
              <a:t>Bilateral monopolies are mainly discussed here - that is, when both buyers and sellers are monopolies.</a:t>
            </a:r>
          </a:p>
          <a:p>
            <a:pPr>
              <a:lnSpc>
                <a:spcPct val="125000"/>
              </a:lnSpc>
            </a:pPr>
            <a:r>
              <a:rPr lang="zh-CN" altLang="en-US" sz="2400" dirty="0">
                <a:ea typeface="黑体" panose="02010609060101010101" pitchFamily="2" charset="-122"/>
              </a:rPr>
              <a:t>We can also regard the supplier of factors (seller) as the upstream, the seller monopoly is also the upstream monopoly; The buyer of the factors of production is regarded as the downstream, and the buyer's monopoly is also the downstream monopoly.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/>
          </p:cNvSpPr>
          <p:nvPr>
            <p:ph idx="1" hasCustomPrompt="1"/>
          </p:nvPr>
        </p:nvSpPr>
        <p:spPr>
          <a:xfrm>
            <a:off x="647700" y="420370"/>
            <a:ext cx="7772400" cy="6209030"/>
          </a:xfrm>
        </p:spPr>
        <p:txBody>
          <a:bodyPr vert="horz" wrap="square" lIns="92075" tIns="46038" rIns="92075" bIns="46038" anchor="t" anchorCtr="0"/>
          <a:lstStyle/>
          <a:p>
            <a:pPr>
              <a:lnSpc>
                <a:spcPct val="130000"/>
              </a:lnSpc>
            </a:pPr>
            <a:r>
              <a:rPr lang="zh-CN" altLang="en-US" dirty="0">
                <a:ea typeface="黑体" panose="02010609060101010101" pitchFamily="2" charset="-122"/>
                <a:sym typeface="+mn-ea"/>
              </a:rPr>
              <a:t>the downstream monopoly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：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	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he buyer's demand for the production factor is unique, and the 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output 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produced by the factor is also unique (regardless of the production of the same product with other production factors), it has a monopol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istic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 position 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i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n the product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ion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, and the 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output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 market is a monopoly market.</a:t>
            </a:r>
          </a:p>
          <a:p>
            <a:pPr>
              <a:lnSpc>
                <a:spcPct val="130000"/>
              </a:lnSpc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		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MRP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MR×MP</a:t>
            </a:r>
          </a:p>
          <a:p>
            <a:pPr lvl="1">
              <a:lnSpc>
                <a:spcPct val="130000"/>
              </a:lnSpc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/>
          </p:cNvSpPr>
          <p:nvPr>
            <p:ph idx="1" hasCustomPrompt="1"/>
          </p:nvPr>
        </p:nvSpPr>
        <p:spPr>
          <a:xfrm>
            <a:off x="800100" y="400050"/>
            <a:ext cx="7772400" cy="5962650"/>
          </a:xfrm>
        </p:spPr>
        <p:txBody>
          <a:bodyPr vert="horz" wrap="square" lIns="92075" tIns="46038" rIns="92075" bIns="46038" anchor="t" anchorCtr="0"/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Suppose that the </a:t>
            </a:r>
            <a:r>
              <a:rPr lang="en-US" altLang="zh-CN" sz="2800" dirty="0">
                <a:latin typeface="黑体" panose="02010609060101010101" pitchFamily="2" charset="-122"/>
                <a:ea typeface="黑体" panose="02010609060101010101" pitchFamily="2" charset="-122"/>
              </a:rPr>
              <a:t>output</a:t>
            </a: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 demand function of the downstream monopoly manufacturer is P = a-by and the production function is y = x.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So the cost of production is C = wx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Note: where w is the price of the factor, it is a constant, because the downstream manufacturer can only accept this price.</a:t>
            </a: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黑体" panose="02010609060101010101" pitchFamily="2" charset="-122"/>
                <a:ea typeface="黑体" panose="02010609060101010101" pitchFamily="2" charset="-122"/>
              </a:rPr>
              <a:t>What is the demand for factors from downstream vendors?</a:t>
            </a: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	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since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  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MRP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</a:rPr>
              <a:t>MFC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then, MR×MP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</a:rPr>
              <a:t>MFC</a:t>
            </a: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MR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2by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MP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dy/dx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1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</a:rPr>
              <a:t>MFC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w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so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2by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w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because y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</a:p>
          <a:p>
            <a:pPr>
              <a:lnSpc>
                <a:spcPct val="90000"/>
              </a:lnSpc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		x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＝（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w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/2b</a:t>
            </a:r>
          </a:p>
          <a:p>
            <a:pPr>
              <a:lnSpc>
                <a:spcPct val="90000"/>
              </a:lnSpc>
              <a:buNone/>
            </a:pPr>
            <a:endParaRPr lang="en-US" altLang="zh-CN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9144000" cy="7258050"/>
          </a:xfrm>
        </p:spPr>
        <p:txBody>
          <a:bodyPr vert="horz" wrap="square" lIns="92075" tIns="46038" rIns="92075" bIns="46038" anchor="t" anchorCtr="0"/>
          <a:lstStyle/>
          <a:p>
            <a:pPr>
              <a:lnSpc>
                <a:spcPct val="120000"/>
              </a:lnSpc>
            </a:pPr>
            <a:r>
              <a:rPr 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supplier:</a:t>
            </a:r>
            <a:r>
              <a:rPr sz="2400" dirty="0">
                <a:latin typeface="黑体" panose="02010609060101010101" pitchFamily="2" charset="-122"/>
                <a:ea typeface="黑体" panose="02010609060101010101" pitchFamily="2" charset="-122"/>
              </a:rPr>
              <a:t>the sole supplier of factors. Its supply of factors is equivalent to the monopoly producers increasing their </a:t>
            </a:r>
            <a:r>
              <a:rPr 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outpu</a:t>
            </a:r>
            <a:r>
              <a:rPr sz="2400" dirty="0">
                <a:latin typeface="黑体" panose="02010609060101010101" pitchFamily="2" charset="-122"/>
                <a:ea typeface="黑体" panose="02010609060101010101" pitchFamily="2" charset="-122"/>
              </a:rPr>
              <a:t>ts.</a:t>
            </a:r>
          </a:p>
          <a:p>
            <a:pPr lvl="1">
              <a:lnSpc>
                <a:spcPct val="120000"/>
              </a:lnSpc>
              <a:buNone/>
            </a:pP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MR(x)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MC(x)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</a:p>
          <a:p>
            <a:pPr lvl="1">
              <a:lnSpc>
                <a:spcPct val="120000"/>
              </a:lnSpc>
              <a:buNone/>
            </a:pP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</a:rPr>
              <a:t>MR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Is the marginal revenue of the factor demand market, that is, the marginal revenue of the downstream monopoly manufacturer's demand market for the factor.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T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he demand function of the factor is 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＝（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w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）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/2b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inverse demand function isw 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2bx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MR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</a:rPr>
              <a:t>4bx</a:t>
            </a: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 lvl="1">
              <a:lnSpc>
                <a:spcPct val="120000"/>
              </a:lnSpc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MC is th marginal cost of the factor producer. its cost function is x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vz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     MC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dx/dz=v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4bx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v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then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，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 x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(a-v)/4b,</a:t>
            </a:r>
          </a:p>
          <a:p>
            <a:pPr lvl="1">
              <a:lnSpc>
                <a:spcPct val="120000"/>
              </a:lnSpc>
              <a:buNone/>
            </a:pPr>
            <a:r>
              <a:rPr lang="zh-CN" altLang="en-US" sz="2400" dirty="0" smtClean="0">
                <a:latin typeface="黑体" panose="02010609060101010101" pitchFamily="2" charset="-122"/>
                <a:ea typeface="黑体" panose="02010609060101010101" pitchFamily="2" charset="-122"/>
              </a:rPr>
              <a:t> 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</a:rPr>
              <a:t>factor price </a:t>
            </a:r>
            <a:r>
              <a:rPr lang="en-US" altLang="zh-CN" sz="2400" dirty="0" smtClean="0">
                <a:latin typeface="黑体" panose="02010609060101010101" pitchFamily="2" charset="-122"/>
                <a:ea typeface="黑体" panose="02010609060101010101" pitchFamily="2" charset="-122"/>
              </a:rPr>
              <a:t>w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 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2bx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sz="2400" dirty="0">
                <a:latin typeface="黑体" panose="02010609060101010101" pitchFamily="2" charset="-122"/>
                <a:ea typeface="黑体" panose="02010609060101010101" pitchFamily="2" charset="-122"/>
              </a:rPr>
              <a:t>＋</a:t>
            </a:r>
            <a:r>
              <a:rPr lang="en-US" altLang="zh-CN" sz="2400" dirty="0">
                <a:latin typeface="黑体" panose="02010609060101010101" pitchFamily="2" charset="-122"/>
                <a:ea typeface="黑体" panose="02010609060101010101" pitchFamily="2" charset="-122"/>
              </a:rPr>
              <a:t>v/2</a:t>
            </a:r>
          </a:p>
          <a:p>
            <a:pPr lvl="1">
              <a:buNone/>
            </a:pPr>
            <a:endParaRPr lang="zh-CN" altLang="en-US" sz="24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endParaRPr lang="zh-CN" altLang="en-US" sz="24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 anchorCtr="0"/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3795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2075" tIns="46038" rIns="92075" bIns="46038" anchor="t" anchorCtr="0"/>
          <a:lstStyle/>
          <a:p>
            <a:pPr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  y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	x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(a-v)/4b,</a:t>
            </a:r>
          </a:p>
          <a:p>
            <a:pPr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  y = (a-v)/4b</a:t>
            </a:r>
          </a:p>
          <a:p>
            <a:pPr>
              <a:buNone/>
            </a:pP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None/>
            </a:pPr>
            <a:endParaRPr lang="en-US" altLang="zh-CN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 anchorCtr="0"/>
          <a:lstStyle/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34819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2075" tIns="46038" rIns="92075" bIns="46038" anchor="t" anchorCtr="0"/>
          <a:lstStyle/>
          <a:p>
            <a:r>
              <a:rPr lang="zh-CN" altLang="en-US" dirty="0">
                <a:ea typeface="宋体" panose="02010600030101010101" pitchFamily="2" charset="-122"/>
              </a:rPr>
              <a:t>最后，可以求出下游厂商产品的产量</a:t>
            </a:r>
            <a:r>
              <a:rPr lang="en-US" altLang="zh-CN" dirty="0">
                <a:ea typeface="宋体" panose="02010600030101010101" pitchFamily="2" charset="-122"/>
              </a:rPr>
              <a:t>y</a:t>
            </a:r>
            <a:r>
              <a:rPr lang="zh-CN" altLang="en-US" dirty="0">
                <a:ea typeface="宋体" panose="02010600030101010101" pitchFamily="2" charset="-122"/>
              </a:rPr>
              <a:t>和价格</a:t>
            </a:r>
            <a:r>
              <a:rPr lang="en-US" altLang="zh-CN" dirty="0">
                <a:ea typeface="宋体" panose="02010600030101010101" pitchFamily="2" charset="-122"/>
              </a:rPr>
              <a:t>P</a:t>
            </a:r>
            <a:r>
              <a:rPr lang="zh-CN" altLang="en-US" dirty="0">
                <a:ea typeface="宋体" panose="02010600030101010101" pitchFamily="2" charset="-122"/>
              </a:rPr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2075" tIns="46038" rIns="92075" bIns="46038" anchor="ctr" anchorCtr="0"/>
          <a:lstStyle/>
          <a:p>
            <a:r>
              <a:rPr lang="zh-CN" altLang="en-US" b="1" dirty="0">
                <a:ea typeface="黑体" panose="02010609060101010101" pitchFamily="2" charset="-122"/>
              </a:rPr>
              <a:t>双边垄断典型例题</a:t>
            </a:r>
          </a:p>
        </p:txBody>
      </p:sp>
      <p:sp>
        <p:nvSpPr>
          <p:cNvPr id="35843" name="Rectangle 5"/>
          <p:cNvSpPr/>
          <p:nvPr/>
        </p:nvSpPr>
        <p:spPr>
          <a:xfrm>
            <a:off x="349250" y="1398588"/>
            <a:ext cx="8350250" cy="38925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矿泉水垄断销售商面临矿泉水的需求函数为</a:t>
            </a:r>
          </a:p>
          <a:p>
            <a:pPr>
              <a:lnSpc>
                <a:spcPct val="130000"/>
              </a:lnSpc>
            </a:pP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P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40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12y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，他从矿泉水生产商那里以每瓶</a:t>
            </a:r>
          </a:p>
          <a:p>
            <a:pPr>
              <a:lnSpc>
                <a:spcPct val="130000"/>
              </a:lnSpc>
            </a:pP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k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的价格买来，销售商的生产函数：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y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x,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生产</a:t>
            </a:r>
          </a:p>
          <a:p>
            <a:pPr>
              <a:lnSpc>
                <a:spcPct val="130000"/>
              </a:lnSpc>
            </a:pP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矿泉水的厂商成本函数为 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C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20x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。求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P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  <a:r>
              <a:rPr lang="en-US" altLang="zh-CN" sz="3200" dirty="0">
                <a:latin typeface="黑体" panose="02010609060101010101" pitchFamily="2" charset="-122"/>
                <a:ea typeface="黑体" panose="02010609060101010101" pitchFamily="2" charset="-122"/>
              </a:rPr>
              <a:t>Y</a:t>
            </a:r>
            <a:r>
              <a:rPr lang="zh-CN" altLang="en-US" sz="3200" dirty="0">
                <a:latin typeface="黑体" panose="02010609060101010101" pitchFamily="2" charset="-122"/>
                <a:ea typeface="黑体" panose="02010609060101010101" pitchFamily="2" charset="-122"/>
              </a:rPr>
              <a:t>。</a:t>
            </a:r>
          </a:p>
          <a:p>
            <a:pPr>
              <a:lnSpc>
                <a:spcPct val="130000"/>
              </a:lnSpc>
            </a:pPr>
            <a:endParaRPr lang="zh-CN" altLang="en-US" sz="3200" dirty="0"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sz="3200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/>
          </p:cNvSpPr>
          <p:nvPr>
            <p:ph type="title"/>
          </p:nvPr>
        </p:nvSpPr>
        <p:spPr>
          <a:xfrm>
            <a:off x="0" y="285750"/>
            <a:ext cx="9142413" cy="933450"/>
          </a:xfrm>
        </p:spPr>
        <p:txBody>
          <a:bodyPr vert="horz" wrap="square" lIns="92075" tIns="46038" rIns="92075" bIns="46038" anchor="ctr" anchorCtr="0"/>
          <a:lstStyle/>
          <a:p>
            <a:r>
              <a:rPr lang="en-US" altLang="zh-CN" b="1" dirty="0">
                <a:ea typeface="黑体" panose="02010609060101010101" pitchFamily="2" charset="-122"/>
              </a:rPr>
              <a:t>4.</a:t>
            </a:r>
            <a:r>
              <a:rPr lang="zh-CN" altLang="en-US" b="1" dirty="0">
                <a:ea typeface="黑体" panose="02010609060101010101" pitchFamily="2" charset="-122"/>
              </a:rPr>
              <a:t>上下游联合（一体化生产）</a:t>
            </a:r>
          </a:p>
        </p:txBody>
      </p:sp>
      <p:sp>
        <p:nvSpPr>
          <p:cNvPr id="36867" name="Rectangle 3"/>
          <p:cNvSpPr>
            <a:spLocks noGrp="1"/>
          </p:cNvSpPr>
          <p:nvPr>
            <p:ph idx="1" hasCustomPrompt="1"/>
          </p:nvPr>
        </p:nvSpPr>
        <p:spPr/>
        <p:txBody>
          <a:bodyPr vert="horz" wrap="square" lIns="92075" tIns="46038" rIns="92075" bIns="46038" anchor="t" anchorCtr="0"/>
          <a:lstStyle/>
          <a:p>
            <a:r>
              <a:rPr lang="zh-CN" altLang="en-US" dirty="0">
                <a:ea typeface="宋体" panose="02010600030101010101" pitchFamily="2" charset="-122"/>
              </a:rPr>
              <a:t>产品市场：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产品需求函数为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P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by</a:t>
            </a:r>
          </a:p>
          <a:p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厂商生产要素的成本为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x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vz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      MC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＝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dx/dz=v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  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由 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MR = MC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，</a:t>
            </a:r>
          </a:p>
          <a:p>
            <a:pPr lvl="1">
              <a:lnSpc>
                <a:spcPct val="120000"/>
              </a:lnSpc>
              <a:buNone/>
            </a:pP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a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2by = v</a:t>
            </a: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， </a:t>
            </a:r>
            <a:r>
              <a:rPr lang="en-US" altLang="zh-CN" dirty="0">
                <a:latin typeface="黑体" panose="02010609060101010101" pitchFamily="2" charset="-122"/>
                <a:ea typeface="黑体" panose="02010609060101010101" pitchFamily="2" charset="-122"/>
              </a:rPr>
              <a:t>y = (a-v)/2b</a:t>
            </a:r>
          </a:p>
          <a:p>
            <a:pPr lvl="1">
              <a:lnSpc>
                <a:spcPct val="120000"/>
              </a:lnSpc>
              <a:buNone/>
            </a:pPr>
            <a:r>
              <a:rPr lang="zh-CN" altLang="en-US" dirty="0">
                <a:latin typeface="黑体" panose="02010609060101010101" pitchFamily="2" charset="-122"/>
                <a:ea typeface="黑体" panose="02010609060101010101" pitchFamily="2" charset="-122"/>
              </a:rPr>
              <a:t>与前面非一体化比较。</a:t>
            </a:r>
          </a:p>
          <a:p>
            <a:endParaRPr lang="zh-CN" altLang="en-US" dirty="0"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k5ODM0YmMxOWJiYWQyNDU4MGIzYWRmYTA0ZmI5ND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Lines On Blue">
  <a:themeElements>
    <a:clrScheme name="Lines On Blue 1">
      <a:dk1>
        <a:srgbClr val="000000"/>
      </a:dk1>
      <a:lt1>
        <a:srgbClr val="FFFFFF"/>
      </a:lt1>
      <a:dk2>
        <a:srgbClr val="000000"/>
      </a:dk2>
      <a:lt2>
        <a:srgbClr val="FFFF00"/>
      </a:lt2>
      <a:accent1>
        <a:srgbClr val="FF9933"/>
      </a:accent1>
      <a:accent2>
        <a:srgbClr val="0000FF"/>
      </a:accent2>
      <a:accent3>
        <a:srgbClr val="AAAAAA"/>
      </a:accent3>
      <a:accent4>
        <a:srgbClr val="DADADA"/>
      </a:accent4>
      <a:accent5>
        <a:srgbClr val="FFCAAD"/>
      </a:accent5>
      <a:accent6>
        <a:srgbClr val="0000E7"/>
      </a:accent6>
      <a:hlink>
        <a:srgbClr val="FF33CC"/>
      </a:hlink>
      <a:folHlink>
        <a:srgbClr val="000080"/>
      </a:folHlink>
    </a:clrScheme>
    <a:fontScheme name="Lines On Blue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altLang="zh-CN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Lines On Blue 1">
        <a:dk1>
          <a:srgbClr val="000000"/>
        </a:dk1>
        <a:lt1>
          <a:srgbClr val="FFFFFF"/>
        </a:lt1>
        <a:dk2>
          <a:srgbClr val="000000"/>
        </a:dk2>
        <a:lt2>
          <a:srgbClr val="FFFF00"/>
        </a:lt2>
        <a:accent1>
          <a:srgbClr val="FF9933"/>
        </a:accent1>
        <a:accent2>
          <a:srgbClr val="0000FF"/>
        </a:accent2>
        <a:accent3>
          <a:srgbClr val="AAAAAA"/>
        </a:accent3>
        <a:accent4>
          <a:srgbClr val="DADADA"/>
        </a:accent4>
        <a:accent5>
          <a:srgbClr val="FFCAAD"/>
        </a:accent5>
        <a:accent6>
          <a:srgbClr val="0000E7"/>
        </a:accent6>
        <a:hlink>
          <a:srgbClr val="FF33CC"/>
        </a:hlink>
        <a:folHlink>
          <a:srgbClr val="000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2">
        <a:dk1>
          <a:srgbClr val="000000"/>
        </a:dk1>
        <a:lt1>
          <a:srgbClr val="CCCCFF"/>
        </a:lt1>
        <a:dk2>
          <a:srgbClr val="660066"/>
        </a:dk2>
        <a:lt2>
          <a:srgbClr val="99CCFF"/>
        </a:lt2>
        <a:accent1>
          <a:srgbClr val="33CCFF"/>
        </a:accent1>
        <a:accent2>
          <a:srgbClr val="6699FF"/>
        </a:accent2>
        <a:accent3>
          <a:srgbClr val="E2E2FF"/>
        </a:accent3>
        <a:accent4>
          <a:srgbClr val="000000"/>
        </a:accent4>
        <a:accent5>
          <a:srgbClr val="ADE2FF"/>
        </a:accent5>
        <a:accent6>
          <a:srgbClr val="5C8AE7"/>
        </a:accent6>
        <a:hlink>
          <a:srgbClr val="6666FF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ines On Blue 4">
        <a:dk1>
          <a:srgbClr val="000066"/>
        </a:dk1>
        <a:lt1>
          <a:srgbClr val="EAEAEA"/>
        </a:lt1>
        <a:dk2>
          <a:srgbClr val="660066"/>
        </a:dk2>
        <a:lt2>
          <a:srgbClr val="CBCBCB"/>
        </a:lt2>
        <a:accent1>
          <a:srgbClr val="330099"/>
        </a:accent1>
        <a:accent2>
          <a:srgbClr val="FF7C80"/>
        </a:accent2>
        <a:accent3>
          <a:srgbClr val="B8AAB8"/>
        </a:accent3>
        <a:accent4>
          <a:srgbClr val="C8C8C8"/>
        </a:accent4>
        <a:accent5>
          <a:srgbClr val="ADAACA"/>
        </a:accent5>
        <a:accent6>
          <a:srgbClr val="E77073"/>
        </a:accent6>
        <a:hlink>
          <a:srgbClr val="6666FF"/>
        </a:hlink>
        <a:folHlink>
          <a:srgbClr val="D6009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5">
        <a:dk1>
          <a:srgbClr val="000080"/>
        </a:dk1>
        <a:lt1>
          <a:srgbClr val="EAEAEA"/>
        </a:lt1>
        <a:dk2>
          <a:srgbClr val="9933FF"/>
        </a:dk2>
        <a:lt2>
          <a:srgbClr val="CBCBCB"/>
        </a:lt2>
        <a:accent1>
          <a:srgbClr val="00CC99"/>
        </a:accent1>
        <a:accent2>
          <a:srgbClr val="00CCFF"/>
        </a:accent2>
        <a:accent3>
          <a:srgbClr val="CAADFF"/>
        </a:accent3>
        <a:accent4>
          <a:srgbClr val="C8C8C8"/>
        </a:accent4>
        <a:accent5>
          <a:srgbClr val="AAE2CA"/>
        </a:accent5>
        <a:accent6>
          <a:srgbClr val="00B9E7"/>
        </a:accent6>
        <a:hlink>
          <a:srgbClr val="6666FF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ines On Blue 6">
        <a:dk1>
          <a:srgbClr val="000000"/>
        </a:dk1>
        <a:lt1>
          <a:srgbClr val="FFFFCC"/>
        </a:lt1>
        <a:dk2>
          <a:srgbClr val="660066"/>
        </a:dk2>
        <a:lt2>
          <a:srgbClr val="FFFFFF"/>
        </a:lt2>
        <a:accent1>
          <a:srgbClr val="99CCFF"/>
        </a:accent1>
        <a:accent2>
          <a:srgbClr val="FFCC99"/>
        </a:accent2>
        <a:accent3>
          <a:srgbClr val="FFFFE2"/>
        </a:accent3>
        <a:accent4>
          <a:srgbClr val="000000"/>
        </a:accent4>
        <a:accent5>
          <a:srgbClr val="CAE2FF"/>
        </a:accent5>
        <a:accent6>
          <a:srgbClr val="E7B98A"/>
        </a:accent6>
        <a:hlink>
          <a:srgbClr val="CCCCFF"/>
        </a:hlink>
        <a:folHlink>
          <a:srgbClr val="FF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Lines On Blue 1">
    <a:dk1>
      <a:srgbClr val="000000"/>
    </a:dk1>
    <a:lt1>
      <a:srgbClr val="FFFFFF"/>
    </a:lt1>
    <a:dk2>
      <a:srgbClr val="000000"/>
    </a:dk2>
    <a:lt2>
      <a:srgbClr val="FFFF00"/>
    </a:lt2>
    <a:accent1>
      <a:srgbClr val="FF9933"/>
    </a:accent1>
    <a:accent2>
      <a:srgbClr val="0000FF"/>
    </a:accent2>
    <a:accent3>
      <a:srgbClr val="AAAAAA"/>
    </a:accent3>
    <a:accent4>
      <a:srgbClr val="DADADA"/>
    </a:accent4>
    <a:accent5>
      <a:srgbClr val="FFCAAD"/>
    </a:accent5>
    <a:accent6>
      <a:srgbClr val="0000E7"/>
    </a:accent6>
    <a:hlink>
      <a:srgbClr val="FF33CC"/>
    </a:hlink>
    <a:folHlink>
      <a:srgbClr val="0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C:\MSOffice\Templates\Presentation Designs\Lines On Blue.pot</Template>
  <TotalTime>98</TotalTime>
  <Words>1318</Words>
  <Application>Microsoft Office PowerPoint</Application>
  <PresentationFormat>全屏显示(4:3)</PresentationFormat>
  <Paragraphs>142</Paragraphs>
  <Slides>31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Monotype Sorts</vt:lpstr>
      <vt:lpstr>等线</vt:lpstr>
      <vt:lpstr>黑体</vt:lpstr>
      <vt:lpstr>宋体</vt:lpstr>
      <vt:lpstr>Arial</vt:lpstr>
      <vt:lpstr>Times New Roman</vt:lpstr>
      <vt:lpstr>Lines On Blue</vt:lpstr>
      <vt:lpstr>Equation.DSMT4</vt:lpstr>
      <vt:lpstr>Chapter Twenty-Seven</vt:lpstr>
      <vt:lpstr>Output Markets</vt:lpstr>
      <vt:lpstr>Factor Markets</vt:lpstr>
      <vt:lpstr>PowerPoint 演示文稿</vt:lpstr>
      <vt:lpstr>PowerPoint 演示文稿</vt:lpstr>
      <vt:lpstr>3 Conceptions in factor markets</vt:lpstr>
      <vt:lpstr>1.  Competive factor markets</vt:lpstr>
      <vt:lpstr>PowerPoint 演示文稿</vt:lpstr>
      <vt:lpstr>Output Markets</vt:lpstr>
      <vt:lpstr>PowerPoint 演示文稿</vt:lpstr>
      <vt:lpstr>PowerPoint 演示文稿</vt:lpstr>
      <vt:lpstr>PowerPoint 演示文稿</vt:lpstr>
      <vt:lpstr>Factor Markets（cost）</vt:lpstr>
      <vt:lpstr>PowerPoint 演示文稿</vt:lpstr>
      <vt:lpstr>PowerPoint 演示文稿</vt:lpstr>
      <vt:lpstr>PowerPoint 演示文稿</vt:lpstr>
      <vt:lpstr>2. Monopsony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  Monopoly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双边垄断典型例题</vt:lpstr>
      <vt:lpstr>4.上下游联合（一体化生产）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Twenty-five</dc:title>
  <dc:creator>LSA Media Services, PC-69</dc:creator>
  <cp:lastModifiedBy>admin</cp:lastModifiedBy>
  <cp:revision>66</cp:revision>
  <dcterms:created xsi:type="dcterms:W3CDTF">1997-02-22T16:42:00Z</dcterms:created>
  <dcterms:modified xsi:type="dcterms:W3CDTF">2023-12-25T03:39:59Z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C25A694452C349B18838110C71F1CED1</vt:lpwstr>
  </property>
  <property fmtid="{D5CDD505-2E9C-101B-9397-08002B2CF9AE}" pid="3" name="KSOProductBuildVer">
    <vt:lpwstr>2052-12.1.0.15990</vt:lpwstr>
  </property>
</Properties>
</file>
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256" r:id="rId3"/>
    <p:sldId id="257" r:id="rId4"/>
    <p:sldId id="258" r:id="rId5"/>
    <p:sldId id="259" r:id="rId6"/>
    <p:sldId id="261" r:id="rId7"/>
    <p:sldId id="260" r:id="rId8"/>
    <p:sldId id="262" r:id="rId9"/>
    <p:sldId id="263" r:id="rId10"/>
    <p:sldId id="264" r:id="rId11"/>
    <p:sldId id="265" r:id="rId12"/>
    <p:sldId id="266" r:id="rId13"/>
    <p:sldId id="267" r:id="rId14"/>
    <p:sldId id="270" r:id="rId15"/>
    <p:sldId id="269" r:id="rId16"/>
    <p:sldId id="344" r:id="rId17"/>
    <p:sldId id="343" r:id="rId18"/>
    <p:sldId id="272" r:id="rId19"/>
    <p:sldId id="273" r:id="rId20"/>
    <p:sldId id="276" r:id="rId21"/>
    <p:sldId id="342" r:id="rId22"/>
    <p:sldId id="277" r:id="rId23"/>
    <p:sldId id="278" r:id="rId24"/>
    <p:sldId id="279" r:id="rId25"/>
    <p:sldId id="280" r:id="rId26"/>
    <p:sldId id="281" r:id="rId27"/>
    <p:sldId id="282" r:id="rId28"/>
    <p:sldId id="283" r:id="rId29"/>
    <p:sldId id="284" r:id="rId30"/>
    <p:sldId id="285" r:id="rId31"/>
    <p:sldId id="288" r:id="rId32"/>
    <p:sldId id="290" r:id="rId33"/>
    <p:sldId id="289" r:id="rId34"/>
    <p:sldId id="291" r:id="rId35"/>
    <p:sldId id="292" r:id="rId36"/>
    <p:sldId id="296" r:id="rId37"/>
    <p:sldId id="293" r:id="rId38"/>
    <p:sldId id="294" r:id="rId39"/>
    <p:sldId id="295" r:id="rId40"/>
    <p:sldId id="297" r:id="rId41"/>
    <p:sldId id="298" r:id="rId42"/>
    <p:sldId id="301" r:id="rId43"/>
    <p:sldId id="299" r:id="rId44"/>
    <p:sldId id="300" r:id="rId45"/>
    <p:sldId id="302" r:id="rId46"/>
    <p:sldId id="303" r:id="rId47"/>
    <p:sldId id="304" r:id="rId48"/>
    <p:sldId id="307" r:id="rId49"/>
    <p:sldId id="308" r:id="rId50"/>
    <p:sldId id="309" r:id="rId51"/>
    <p:sldId id="310" r:id="rId52"/>
    <p:sldId id="305" r:id="rId53"/>
    <p:sldId id="315" r:id="rId54"/>
    <p:sldId id="316" r:id="rId55"/>
    <p:sldId id="317" r:id="rId56"/>
    <p:sldId id="318" r:id="rId57"/>
    <p:sldId id="321" r:id="rId58"/>
    <p:sldId id="322" r:id="rId59"/>
    <p:sldId id="312" r:id="rId60"/>
    <p:sldId id="327" r:id="rId61"/>
    <p:sldId id="323" r:id="rId62"/>
    <p:sldId id="324" r:id="rId63"/>
    <p:sldId id="325" r:id="rId64"/>
    <p:sldId id="326" r:id="rId65"/>
    <p:sldId id="311" r:id="rId66"/>
    <p:sldId id="329" r:id="rId67"/>
    <p:sldId id="313" r:id="rId68"/>
    <p:sldId id="328" r:id="rId69"/>
    <p:sldId id="330" r:id="rId70"/>
    <p:sldId id="331" r:id="rId71"/>
    <p:sldId id="332" r:id="rId72"/>
    <p:sldId id="333" r:id="rId73"/>
    <p:sldId id="334" r:id="rId74"/>
    <p:sldId id="336" r:id="rId75"/>
    <p:sldId id="335" r:id="rId76"/>
    <p:sldId id="337" r:id="rId77"/>
    <p:sldId id="339" r:id="rId78"/>
    <p:sldId id="338" r:id="rId79"/>
    <p:sldId id="340" r:id="rId80"/>
    <p:sldId id="341" r:id="rId81"/>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3200" b="1" i="0" u="none" kern="1200" baseline="0">
        <a:solidFill>
          <a:srgbClr val="0099FF"/>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F90F"/>
    <a:srgbClr val="0099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96" d="100"/>
          <a:sy n="96" d="100"/>
        </p:scale>
        <p:origin x="15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notesMaster" Target="notesMasters/notesMaster1.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19"/>
          <p:cNvGrpSpPr/>
          <p:nvPr/>
        </p:nvGrpSpPr>
        <p:grpSpPr>
          <a:xfrm>
            <a:off x="0" y="2760663"/>
            <a:ext cx="9151938" cy="4113212"/>
            <a:chOff x="0" y="1739"/>
            <a:chExt cx="5765" cy="2591"/>
          </a:xfrm>
        </p:grpSpPr>
        <p:grpSp>
          <p:nvGrpSpPr>
            <p:cNvPr id="2056" name="Group 17"/>
            <p:cNvGrpSpPr/>
            <p:nvPr/>
          </p:nvGrpSpPr>
          <p:grpSpPr>
            <a:xfrm>
              <a:off x="0" y="3652"/>
              <a:ext cx="5765" cy="678"/>
              <a:chOff x="0" y="3652"/>
              <a:chExt cx="5765" cy="678"/>
            </a:xfrm>
          </p:grpSpPr>
          <p:sp>
            <p:nvSpPr>
              <p:cNvPr id="2058" name="Rectangle 2"/>
              <p:cNvSpPr/>
              <p:nvPr/>
            </p:nvSpPr>
            <p:spPr>
              <a:xfrm>
                <a:off x="0" y="3676"/>
                <a:ext cx="5764" cy="643"/>
              </a:xfrm>
              <a:prstGeom prst="rect">
                <a:avLst/>
              </a:prstGeom>
              <a:gradFill rotWithShape="0">
                <a:gsLst>
                  <a:gs pos="0">
                    <a:schemeClr val="bg1"/>
                  </a:gs>
                  <a:gs pos="100000">
                    <a:schemeClr val="accent2"/>
                  </a:gs>
                </a:gsLst>
                <a:lin ang="5400000" scaled="1"/>
                <a:tileRect/>
              </a:gradFill>
              <a:ln w="9525">
                <a:noFill/>
              </a:ln>
            </p:spPr>
            <p:txBody>
              <a:bodyPr wrap="none" anchor="ctr" anchorCtr="0"/>
              <a:p>
                <a:pPr lvl="0">
                  <a:buNone/>
                </a:pPr>
                <a:endParaRPr lang="zh-CN" altLang="en-US" dirty="0">
                  <a:latin typeface="Arial" panose="020B0604020202020204" pitchFamily="34" charset="0"/>
                  <a:ea typeface="宋体" panose="02010600030101010101" pitchFamily="2" charset="-122"/>
                </a:endParaRPr>
              </a:p>
            </p:txBody>
          </p:sp>
          <p:grpSp>
            <p:nvGrpSpPr>
              <p:cNvPr id="2059" name="Group 16"/>
              <p:cNvGrpSpPr/>
              <p:nvPr/>
            </p:nvGrpSpPr>
            <p:grpSpPr>
              <a:xfrm>
                <a:off x="0" y="3652"/>
                <a:ext cx="5765" cy="678"/>
                <a:chOff x="0" y="3652"/>
                <a:chExt cx="5765" cy="678"/>
              </a:xfrm>
            </p:grpSpPr>
            <p:sp useBgFill="1">
              <p:nvSpPr>
                <p:cNvPr id="2060" name="Freeform 3"/>
                <p:cNvSpPr/>
                <p:nvPr/>
              </p:nvSpPr>
              <p:spPr>
                <a:xfrm>
                  <a:off x="0"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1" name="Freeform 4"/>
                <p:cNvSpPr/>
                <p:nvPr/>
              </p:nvSpPr>
              <p:spPr>
                <a:xfrm>
                  <a:off x="433"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2" name="Freeform 5"/>
                <p:cNvSpPr/>
                <p:nvPr/>
              </p:nvSpPr>
              <p:spPr>
                <a:xfrm>
                  <a:off x="878"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3" name="Freeform 6"/>
                <p:cNvSpPr/>
                <p:nvPr/>
              </p:nvSpPr>
              <p:spPr>
                <a:xfrm>
                  <a:off x="1323"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4" name="Freeform 7"/>
                <p:cNvSpPr/>
                <p:nvPr/>
              </p:nvSpPr>
              <p:spPr>
                <a:xfrm>
                  <a:off x="1768"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5" name="Freeform 8"/>
                <p:cNvSpPr/>
                <p:nvPr/>
              </p:nvSpPr>
              <p:spPr>
                <a:xfrm>
                  <a:off x="2213"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6" name="Freeform 9"/>
                <p:cNvSpPr/>
                <p:nvPr/>
              </p:nvSpPr>
              <p:spPr>
                <a:xfrm>
                  <a:off x="2646"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67" name="Freeform 10"/>
                <p:cNvSpPr/>
                <p:nvPr/>
              </p:nvSpPr>
              <p:spPr>
                <a:xfrm>
                  <a:off x="3090"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2068" name="Freeform 11"/>
                <p:cNvSpPr/>
                <p:nvPr/>
              </p:nvSpPr>
              <p:spPr>
                <a:xfrm>
                  <a:off x="3547"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2069" name="Freeform 12"/>
                <p:cNvSpPr/>
                <p:nvPr/>
              </p:nvSpPr>
              <p:spPr>
                <a:xfrm>
                  <a:off x="4004"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2070" name="Freeform 13"/>
                <p:cNvSpPr/>
                <p:nvPr/>
              </p:nvSpPr>
              <p:spPr>
                <a:xfrm>
                  <a:off x="4473"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2071" name="Freeform 14"/>
                <p:cNvSpPr/>
                <p:nvPr/>
              </p:nvSpPr>
              <p:spPr>
                <a:xfrm>
                  <a:off x="4930" y="3652"/>
                  <a:ext cx="578" cy="678"/>
                </a:xfrm>
                <a:custGeom>
                  <a:avLst/>
                  <a:gdLst/>
                  <a:ahLst/>
                  <a:cxnLst>
                    <a:cxn ang="0">
                      <a:pos x="0" y="677"/>
                    </a:cxn>
                    <a:cxn ang="0">
                      <a:pos x="480" y="0"/>
                    </a:cxn>
                    <a:cxn ang="0">
                      <a:pos x="577" y="0"/>
                    </a:cxn>
                    <a:cxn ang="0">
                      <a:pos x="96" y="677"/>
                    </a:cxn>
                    <a:cxn ang="0">
                      <a:pos x="0" y="677"/>
                    </a:cxn>
                  </a:cxnLst>
                  <a:pathLst>
                    <a:path w="578" h="678">
                      <a:moveTo>
                        <a:pt x="0" y="677"/>
                      </a:moveTo>
                      <a:lnTo>
                        <a:pt x="480" y="0"/>
                      </a:lnTo>
                      <a:lnTo>
                        <a:pt x="577" y="0"/>
                      </a:lnTo>
                      <a:lnTo>
                        <a:pt x="96" y="677"/>
                      </a:lnTo>
                      <a:lnTo>
                        <a:pt x="0" y="677"/>
                      </a:lnTo>
                    </a:path>
                  </a:pathLst>
                </a:custGeom>
                <a:ln w="9525">
                  <a:noFill/>
                </a:ln>
              </p:spPr>
              <p:txBody>
                <a:bodyPr/>
                <a:p>
                  <a:endParaRPr lang="zh-CN" altLang="en-US"/>
                </a:p>
              </p:txBody>
            </p:sp>
            <p:sp useBgFill="1">
              <p:nvSpPr>
                <p:cNvPr id="2072" name="Freeform 15"/>
                <p:cNvSpPr/>
                <p:nvPr/>
              </p:nvSpPr>
              <p:spPr>
                <a:xfrm>
                  <a:off x="5403" y="3825"/>
                  <a:ext cx="362" cy="505"/>
                </a:xfrm>
                <a:custGeom>
                  <a:avLst/>
                  <a:gdLst/>
                  <a:ahLst/>
                  <a:cxnLst>
                    <a:cxn ang="0">
                      <a:pos x="0" y="504"/>
                    </a:cxn>
                    <a:cxn ang="0">
                      <a:pos x="361" y="0"/>
                    </a:cxn>
                    <a:cxn ang="0">
                      <a:pos x="361" y="122"/>
                    </a:cxn>
                    <a:cxn ang="0">
                      <a:pos x="96" y="504"/>
                    </a:cxn>
                    <a:cxn ang="0">
                      <a:pos x="0" y="504"/>
                    </a:cxn>
                  </a:cxnLst>
                  <a:pathLst>
                    <a:path w="362" h="505">
                      <a:moveTo>
                        <a:pt x="0" y="504"/>
                      </a:moveTo>
                      <a:lnTo>
                        <a:pt x="361" y="0"/>
                      </a:lnTo>
                      <a:lnTo>
                        <a:pt x="361" y="122"/>
                      </a:lnTo>
                      <a:lnTo>
                        <a:pt x="96" y="504"/>
                      </a:lnTo>
                      <a:lnTo>
                        <a:pt x="0" y="504"/>
                      </a:lnTo>
                    </a:path>
                  </a:pathLst>
                </a:custGeom>
                <a:ln w="9525">
                  <a:noFill/>
                </a:ln>
              </p:spPr>
              <p:txBody>
                <a:bodyPr/>
                <a:p>
                  <a:endParaRPr lang="zh-CN" altLang="en-US"/>
                </a:p>
              </p:txBody>
            </p:sp>
          </p:grpSp>
        </p:grpSp>
        <p:sp>
          <p:nvSpPr>
            <p:cNvPr id="2057" name="Freeform 18"/>
            <p:cNvSpPr/>
            <p:nvPr/>
          </p:nvSpPr>
          <p:spPr>
            <a:xfrm>
              <a:off x="0" y="1739"/>
              <a:ext cx="516" cy="913"/>
            </a:xfrm>
            <a:custGeom>
              <a:avLst/>
              <a:gdLst/>
              <a:ahLst/>
              <a:cxnLst>
                <a:cxn ang="0">
                  <a:pos x="0" y="0"/>
                </a:cxn>
                <a:cxn ang="0">
                  <a:pos x="515" y="0"/>
                </a:cxn>
                <a:cxn ang="0">
                  <a:pos x="0" y="912"/>
                </a:cxn>
                <a:cxn ang="0">
                  <a:pos x="0" y="0"/>
                </a:cxn>
              </a:cxnLst>
              <a:pathLst>
                <a:path w="516" h="913">
                  <a:moveTo>
                    <a:pt x="0" y="0"/>
                  </a:moveTo>
                  <a:lnTo>
                    <a:pt x="515" y="0"/>
                  </a:lnTo>
                  <a:lnTo>
                    <a:pt x="0" y="912"/>
                  </a:lnTo>
                  <a:lnTo>
                    <a:pt x="0" y="0"/>
                  </a:lnTo>
                </a:path>
              </a:pathLst>
            </a:custGeom>
            <a:gradFill rotWithShape="0">
              <a:gsLst>
                <a:gs pos="0">
                  <a:schemeClr val="bg1">
                    <a:alpha val="100000"/>
                  </a:schemeClr>
                </a:gs>
                <a:gs pos="100000">
                  <a:schemeClr val="accent2">
                    <a:alpha val="100000"/>
                  </a:schemeClr>
                </a:gs>
              </a:gsLst>
              <a:lin ang="0" scaled="1"/>
              <a:tileRect/>
            </a:gradFill>
            <a:ln w="9525">
              <a:noFill/>
            </a:ln>
          </p:spPr>
          <p:txBody>
            <a:bodyPr/>
            <a:p>
              <a:endParaRPr lang="zh-CN" altLang="en-US"/>
            </a:p>
          </p:txBody>
        </p:sp>
      </p:grpSp>
      <p:sp>
        <p:nvSpPr>
          <p:cNvPr id="3092" name="Rectangle 20"/>
          <p:cNvSpPr>
            <a:spLocks noGrp="1" noChangeArrowheads="1"/>
          </p:cNvSpPr>
          <p:nvPr>
            <p:ph type="ctrTitle" sz="quarter"/>
          </p:nvPr>
        </p:nvSpPr>
        <p:spPr>
          <a:xfrm>
            <a:off x="685800" y="2286000"/>
            <a:ext cx="7772400" cy="1143000"/>
          </a:xfrm>
        </p:spPr>
        <p:txBody>
          <a:bodyPr/>
          <a:lstStyle>
            <a:lvl1pPr>
              <a:defRPr/>
            </a:lvl1pPr>
          </a:lstStyle>
          <a:p>
            <a:r>
              <a:rPr lang="en-US" altLang="zh-CN"/>
              <a:t>Click to edit Master title style</a:t>
            </a:r>
            <a:endParaRPr lang="en-US" altLang="zh-CN"/>
          </a:p>
        </p:txBody>
      </p:sp>
      <p:sp>
        <p:nvSpPr>
          <p:cNvPr id="3093" name="Rectangle 21"/>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41" name="Rectangle 22"/>
          <p:cNvSpPr>
            <a:spLocks noGrp="1" noChangeArrowheads="1"/>
          </p:cNvSpPr>
          <p:nvPr>
            <p:ph type="dt" sz="quarter" idx="2"/>
          </p:nvPr>
        </p:nvSpPr>
        <p:spPr bwMode="auto">
          <a:xfrm>
            <a:off x="685800" y="6248400"/>
            <a:ext cx="1905000" cy="457200"/>
          </a:xfrm>
          <a:prstGeom prst="rect">
            <a:avLst/>
          </a:prstGeom>
          <a:ln>
            <a:miter lim="800000"/>
          </a:ln>
        </p:spPr>
        <p:txBody>
          <a:bodyPr vert="horz" wrap="none" lIns="92075" tIns="46038" rIns="92075" bIns="46038" numCol="1" anchor="ctr"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 name="Rectangle 23"/>
          <p:cNvSpPr>
            <a:spLocks noGrp="1" noChangeArrowheads="1"/>
          </p:cNvSpPr>
          <p:nvPr>
            <p:ph type="ftr" sz="quarter" idx="3"/>
          </p:nvPr>
        </p:nvSpPr>
        <p:spPr bwMode="auto">
          <a:xfrm>
            <a:off x="3124200" y="6248400"/>
            <a:ext cx="2895600" cy="457200"/>
          </a:xfrm>
          <a:prstGeom prst="rect">
            <a:avLst/>
          </a:prstGeom>
          <a:ln>
            <a:miter lim="800000"/>
          </a:ln>
        </p:spPr>
        <p:txBody>
          <a:bodyPr vert="horz" wrap="none" lIns="92075" tIns="46038" rIns="92075" bIns="46038" numCol="1" anchor="ctr" anchorCtr="0" compatLnSpc="1"/>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 name="Rectangle 24"/>
          <p:cNvSpPr>
            <a:spLocks noGrp="1" noChangeArrowheads="1"/>
          </p:cNvSpPr>
          <p:nvPr>
            <p:ph type="sldNum" sz="quarter" idx="4"/>
          </p:nvPr>
        </p:nvSpPr>
        <p:spPr bwMode="auto">
          <a:xfrm>
            <a:off x="6553200" y="6248400"/>
            <a:ext cx="1905000" cy="457200"/>
          </a:xfrm>
          <a:prstGeom prst="rect">
            <a:avLst/>
          </a:prstGeom>
          <a:ln>
            <a:miter lim="800000"/>
          </a:ln>
        </p:spPr>
        <p:txBody>
          <a:bodyPr vert="horz" wrap="none" lIns="92075" tIns="46038" rIns="92075" bIns="46038" numCol="1" anchor="ctr"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454C9CA8-436A-485D-B780-12D8516A0FC6}"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4457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485900"/>
            <a:ext cx="3810000" cy="4457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4413" cy="5943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0"/>
            <a:ext cx="6705600" cy="5943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5400000" scaled="1"/>
          <a:tileRect/>
        </a:gradFill>
        <a:effectLst/>
      </p:bgPr>
    </p:bg>
    <p:spTree>
      <p:nvGrpSpPr>
        <p:cNvPr id="1" name=""/>
        <p:cNvGrpSpPr/>
        <p:nvPr/>
      </p:nvGrpSpPr>
      <p:grpSpPr/>
      <p:grpSp>
        <p:nvGrpSpPr>
          <p:cNvPr id="1026" name="Group 17"/>
          <p:cNvGrpSpPr/>
          <p:nvPr/>
        </p:nvGrpSpPr>
        <p:grpSpPr>
          <a:xfrm>
            <a:off x="0" y="5797550"/>
            <a:ext cx="9167813" cy="1076325"/>
            <a:chOff x="0" y="3652"/>
            <a:chExt cx="5775" cy="678"/>
          </a:xfrm>
        </p:grpSpPr>
        <p:sp>
          <p:nvSpPr>
            <p:cNvPr id="1032" name="Rectangle 2"/>
            <p:cNvSpPr/>
            <p:nvPr/>
          </p:nvSpPr>
          <p:spPr>
            <a:xfrm>
              <a:off x="0" y="3676"/>
              <a:ext cx="5774" cy="643"/>
            </a:xfrm>
            <a:prstGeom prst="rect">
              <a:avLst/>
            </a:prstGeom>
            <a:gradFill rotWithShape="0">
              <a:gsLst>
                <a:gs pos="0">
                  <a:schemeClr val="bg1"/>
                </a:gs>
                <a:gs pos="100000">
                  <a:schemeClr val="accent2"/>
                </a:gs>
              </a:gsLst>
              <a:lin ang="5400000" scaled="1"/>
              <a:tileRect/>
            </a:gradFill>
            <a:ln w="9525">
              <a:noFill/>
            </a:ln>
          </p:spPr>
          <p:txBody>
            <a:bodyPr wrap="none" anchor="ctr" anchorCtr="0"/>
            <a:p>
              <a:pPr lvl="0">
                <a:buNone/>
              </a:pPr>
              <a:endParaRPr lang="zh-CN" altLang="en-US" dirty="0">
                <a:latin typeface="Arial" panose="020B0604020202020204" pitchFamily="34" charset="0"/>
                <a:ea typeface="宋体" panose="02010600030101010101" pitchFamily="2" charset="-122"/>
              </a:endParaRPr>
            </a:p>
          </p:txBody>
        </p:sp>
        <p:grpSp>
          <p:nvGrpSpPr>
            <p:cNvPr id="1033" name="Group 16"/>
            <p:cNvGrpSpPr/>
            <p:nvPr/>
          </p:nvGrpSpPr>
          <p:grpSpPr>
            <a:xfrm>
              <a:off x="0" y="3652"/>
              <a:ext cx="5775" cy="678"/>
              <a:chOff x="0" y="3652"/>
              <a:chExt cx="5775" cy="678"/>
            </a:xfrm>
          </p:grpSpPr>
          <p:sp useBgFill="1">
            <p:nvSpPr>
              <p:cNvPr id="1034" name="Freeform 3"/>
              <p:cNvSpPr/>
              <p:nvPr/>
            </p:nvSpPr>
            <p:spPr>
              <a:xfrm>
                <a:off x="0"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5" name="Freeform 4"/>
              <p:cNvSpPr/>
              <p:nvPr/>
            </p:nvSpPr>
            <p:spPr>
              <a:xfrm>
                <a:off x="434"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6" name="Freeform 5"/>
              <p:cNvSpPr/>
              <p:nvPr/>
            </p:nvSpPr>
            <p:spPr>
              <a:xfrm>
                <a:off x="879" y="3652"/>
                <a:ext cx="580" cy="678"/>
              </a:xfrm>
              <a:custGeom>
                <a:avLst/>
                <a:gdLst/>
                <a:ahLst/>
                <a:cxnLst>
                  <a:cxn ang="0">
                    <a:pos x="0" y="677"/>
                  </a:cxn>
                  <a:cxn ang="0">
                    <a:pos x="482" y="0"/>
                  </a:cxn>
                  <a:cxn ang="0">
                    <a:pos x="579" y="0"/>
                  </a:cxn>
                  <a:cxn ang="0">
                    <a:pos x="96" y="677"/>
                  </a:cxn>
                  <a:cxn ang="0">
                    <a:pos x="0" y="677"/>
                  </a:cxn>
                </a:cxnLst>
                <a:pathLst>
                  <a:path w="580" h="678">
                    <a:moveTo>
                      <a:pt x="0" y="677"/>
                    </a:moveTo>
                    <a:lnTo>
                      <a:pt x="482" y="0"/>
                    </a:lnTo>
                    <a:lnTo>
                      <a:pt x="579" y="0"/>
                    </a:lnTo>
                    <a:lnTo>
                      <a:pt x="96" y="677"/>
                    </a:lnTo>
                    <a:lnTo>
                      <a:pt x="0" y="677"/>
                    </a:lnTo>
                  </a:path>
                </a:pathLst>
              </a:custGeom>
              <a:ln w="9525">
                <a:noFill/>
              </a:ln>
            </p:spPr>
            <p:txBody>
              <a:bodyPr/>
              <a:p>
                <a:endParaRPr lang="zh-CN" altLang="en-US"/>
              </a:p>
            </p:txBody>
          </p:sp>
          <p:sp useBgFill="1">
            <p:nvSpPr>
              <p:cNvPr id="1037" name="Freeform 6"/>
              <p:cNvSpPr/>
              <p:nvPr/>
            </p:nvSpPr>
            <p:spPr>
              <a:xfrm>
                <a:off x="1325"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8" name="Freeform 7"/>
              <p:cNvSpPr/>
              <p:nvPr/>
            </p:nvSpPr>
            <p:spPr>
              <a:xfrm>
                <a:off x="1771"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39" name="Freeform 8"/>
              <p:cNvSpPr/>
              <p:nvPr/>
            </p:nvSpPr>
            <p:spPr>
              <a:xfrm>
                <a:off x="2216" y="3652"/>
                <a:ext cx="580" cy="678"/>
              </a:xfrm>
              <a:custGeom>
                <a:avLst/>
                <a:gdLst/>
                <a:ahLst/>
                <a:cxnLst>
                  <a:cxn ang="0">
                    <a:pos x="0" y="677"/>
                  </a:cxn>
                  <a:cxn ang="0">
                    <a:pos x="482" y="0"/>
                  </a:cxn>
                  <a:cxn ang="0">
                    <a:pos x="579" y="0"/>
                  </a:cxn>
                  <a:cxn ang="0">
                    <a:pos x="96" y="677"/>
                  </a:cxn>
                  <a:cxn ang="0">
                    <a:pos x="0" y="677"/>
                  </a:cxn>
                </a:cxnLst>
                <a:pathLst>
                  <a:path w="580" h="678">
                    <a:moveTo>
                      <a:pt x="0" y="677"/>
                    </a:moveTo>
                    <a:lnTo>
                      <a:pt x="482" y="0"/>
                    </a:lnTo>
                    <a:lnTo>
                      <a:pt x="579" y="0"/>
                    </a:lnTo>
                    <a:lnTo>
                      <a:pt x="96" y="677"/>
                    </a:lnTo>
                    <a:lnTo>
                      <a:pt x="0" y="677"/>
                    </a:lnTo>
                  </a:path>
                </a:pathLst>
              </a:custGeom>
              <a:ln w="9525">
                <a:noFill/>
              </a:ln>
            </p:spPr>
            <p:txBody>
              <a:bodyPr/>
              <a:p>
                <a:endParaRPr lang="zh-CN" altLang="en-US"/>
              </a:p>
            </p:txBody>
          </p:sp>
          <p:sp useBgFill="1">
            <p:nvSpPr>
              <p:cNvPr id="1040" name="Freeform 9"/>
              <p:cNvSpPr/>
              <p:nvPr/>
            </p:nvSpPr>
            <p:spPr>
              <a:xfrm>
                <a:off x="2650"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41" name="Freeform 10"/>
              <p:cNvSpPr/>
              <p:nvPr/>
            </p:nvSpPr>
            <p:spPr>
              <a:xfrm>
                <a:off x="3096"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42" name="Freeform 11"/>
              <p:cNvSpPr/>
              <p:nvPr/>
            </p:nvSpPr>
            <p:spPr>
              <a:xfrm>
                <a:off x="3554"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43" name="Freeform 12"/>
              <p:cNvSpPr/>
              <p:nvPr/>
            </p:nvSpPr>
            <p:spPr>
              <a:xfrm>
                <a:off x="4011"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44" name="Freeform 13"/>
              <p:cNvSpPr/>
              <p:nvPr/>
            </p:nvSpPr>
            <p:spPr>
              <a:xfrm>
                <a:off x="4481"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45" name="Freeform 14"/>
              <p:cNvSpPr/>
              <p:nvPr/>
            </p:nvSpPr>
            <p:spPr>
              <a:xfrm>
                <a:off x="4939" y="3652"/>
                <a:ext cx="579" cy="678"/>
              </a:xfrm>
              <a:custGeom>
                <a:avLst/>
                <a:gdLst/>
                <a:ahLst/>
                <a:cxnLst>
                  <a:cxn ang="0">
                    <a:pos x="0" y="677"/>
                  </a:cxn>
                  <a:cxn ang="0">
                    <a:pos x="481" y="0"/>
                  </a:cxn>
                  <a:cxn ang="0">
                    <a:pos x="578" y="0"/>
                  </a:cxn>
                  <a:cxn ang="0">
                    <a:pos x="96" y="677"/>
                  </a:cxn>
                  <a:cxn ang="0">
                    <a:pos x="0" y="677"/>
                  </a:cxn>
                </a:cxnLst>
                <a:pathLst>
                  <a:path w="579" h="678">
                    <a:moveTo>
                      <a:pt x="0" y="677"/>
                    </a:moveTo>
                    <a:lnTo>
                      <a:pt x="481" y="0"/>
                    </a:lnTo>
                    <a:lnTo>
                      <a:pt x="578" y="0"/>
                    </a:lnTo>
                    <a:lnTo>
                      <a:pt x="96" y="677"/>
                    </a:lnTo>
                    <a:lnTo>
                      <a:pt x="0" y="677"/>
                    </a:lnTo>
                  </a:path>
                </a:pathLst>
              </a:custGeom>
              <a:ln w="9525">
                <a:noFill/>
              </a:ln>
            </p:spPr>
            <p:txBody>
              <a:bodyPr/>
              <a:p>
                <a:endParaRPr lang="zh-CN" altLang="en-US"/>
              </a:p>
            </p:txBody>
          </p:sp>
          <p:sp useBgFill="1">
            <p:nvSpPr>
              <p:cNvPr id="1046" name="Freeform 15"/>
              <p:cNvSpPr/>
              <p:nvPr/>
            </p:nvSpPr>
            <p:spPr>
              <a:xfrm>
                <a:off x="5413" y="3825"/>
                <a:ext cx="362" cy="505"/>
              </a:xfrm>
              <a:custGeom>
                <a:avLst/>
                <a:gdLst/>
                <a:ahLst/>
                <a:cxnLst>
                  <a:cxn ang="0">
                    <a:pos x="0" y="504"/>
                  </a:cxn>
                  <a:cxn ang="0">
                    <a:pos x="361" y="0"/>
                  </a:cxn>
                  <a:cxn ang="0">
                    <a:pos x="361" y="122"/>
                  </a:cxn>
                  <a:cxn ang="0">
                    <a:pos x="96" y="504"/>
                  </a:cxn>
                  <a:cxn ang="0">
                    <a:pos x="0" y="504"/>
                  </a:cxn>
                </a:cxnLst>
                <a:pathLst>
                  <a:path w="362" h="505">
                    <a:moveTo>
                      <a:pt x="0" y="504"/>
                    </a:moveTo>
                    <a:lnTo>
                      <a:pt x="361" y="0"/>
                    </a:lnTo>
                    <a:lnTo>
                      <a:pt x="361" y="122"/>
                    </a:lnTo>
                    <a:lnTo>
                      <a:pt x="96" y="504"/>
                    </a:lnTo>
                    <a:lnTo>
                      <a:pt x="0" y="504"/>
                    </a:lnTo>
                  </a:path>
                </a:pathLst>
              </a:custGeom>
              <a:ln w="9525">
                <a:noFill/>
              </a:ln>
            </p:spPr>
            <p:txBody>
              <a:bodyPr/>
              <a:p>
                <a:endParaRPr lang="zh-CN" altLang="en-US"/>
              </a:p>
            </p:txBody>
          </p:sp>
        </p:grpSp>
      </p:grpSp>
      <p:sp>
        <p:nvSpPr>
          <p:cNvPr id="1027" name="Rectangle 18"/>
          <p:cNvSpPr>
            <a:spLocks noGrp="1"/>
          </p:cNvSpPr>
          <p:nvPr>
            <p:ph type="title"/>
          </p:nvPr>
        </p:nvSpPr>
        <p:spPr>
          <a:xfrm>
            <a:off x="0" y="0"/>
            <a:ext cx="9142413" cy="12192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28" name="Rectangle 19"/>
          <p:cNvSpPr>
            <a:spLocks noGrp="1"/>
          </p:cNvSpPr>
          <p:nvPr>
            <p:ph type="body" idx="1"/>
          </p:nvPr>
        </p:nvSpPr>
        <p:spPr>
          <a:xfrm>
            <a:off x="685800" y="1485900"/>
            <a:ext cx="7772400" cy="4457700"/>
          </a:xfrm>
          <a:prstGeom prst="rect">
            <a:avLst/>
          </a:prstGeom>
          <a:noFill/>
          <a:ln w="9525">
            <a:noFill/>
          </a:ln>
        </p:spPr>
        <p:txBody>
          <a:bodyPr lIns="92075" tIns="46038" rIns="92075" bIns="46038"/>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20"/>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none" lIns="92075" tIns="46038" rIns="92075" bIns="46038" numCol="1" anchor="ctr" anchorCtr="0" compatLnSpc="1"/>
          <a:lstStyle>
            <a:lvl1pPr>
              <a:defRPr sz="14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Rectangle 21"/>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none" lIns="92075" tIns="46038" rIns="92075" bIns="46038" numCol="1" anchor="ctr" anchorCtr="0" compatLnSpc="1"/>
          <a:lstStyle>
            <a:lvl1pPr algn="ctr">
              <a:defRPr sz="1400" b="0">
                <a:solidFill>
                  <a:schemeClr val="tx1"/>
                </a:solidFill>
                <a:latin typeface="Arial" panose="020B0604020202020204" pitchFamily="34" charset="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22"/>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r">
              <a:defRPr sz="1400" b="0">
                <a:solidFill>
                  <a:schemeClr val="tx1"/>
                </a:solidFill>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C2FDB0C-D018-4F31-86F6-8D851789829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a:defRPr>
      </a:lvl2pPr>
      <a:lvl3pPr algn="ctr" rtl="0" eaLnBrk="0" fontAlgn="base" hangingPunct="0">
        <a:spcBef>
          <a:spcPct val="0"/>
        </a:spcBef>
        <a:spcAft>
          <a:spcPct val="0"/>
        </a:spcAft>
        <a:defRPr sz="4400">
          <a:solidFill>
            <a:schemeClr val="tx2"/>
          </a:solidFill>
          <a:latin typeface="Times New Roman" panose="02020603050405020304"/>
        </a:defRPr>
      </a:lvl3pPr>
      <a:lvl4pPr algn="ctr" rtl="0" eaLnBrk="0" fontAlgn="base" hangingPunct="0">
        <a:spcBef>
          <a:spcPct val="0"/>
        </a:spcBef>
        <a:spcAft>
          <a:spcPct val="0"/>
        </a:spcAft>
        <a:defRPr sz="4400">
          <a:solidFill>
            <a:schemeClr val="tx2"/>
          </a:solidFill>
          <a:latin typeface="Times New Roman" panose="02020603050405020304"/>
        </a:defRPr>
      </a:lvl4pPr>
      <a:lvl5pPr algn="ctr" rtl="0" eaLnBrk="0" fontAlgn="base" hangingPunct="0">
        <a:spcBef>
          <a:spcPct val="0"/>
        </a:spcBef>
        <a:spcAft>
          <a:spcPct val="0"/>
        </a:spcAft>
        <a:defRPr sz="4400">
          <a:solidFill>
            <a:schemeClr val="tx2"/>
          </a:solidFill>
          <a:latin typeface="Times New Roman" panose="02020603050405020304"/>
        </a:defRPr>
      </a:lvl5pPr>
      <a:lvl6pPr marL="457200" algn="ctr" rtl="0" eaLnBrk="0" fontAlgn="base" hangingPunct="0">
        <a:spcBef>
          <a:spcPct val="0"/>
        </a:spcBef>
        <a:spcAft>
          <a:spcPct val="0"/>
        </a:spcAft>
        <a:defRPr sz="4400">
          <a:solidFill>
            <a:schemeClr val="tx2"/>
          </a:solidFill>
          <a:latin typeface="Times New Roman" panose="02020603050405020304"/>
        </a:defRPr>
      </a:lvl6pPr>
      <a:lvl7pPr marL="914400" algn="ctr" rtl="0" eaLnBrk="0" fontAlgn="base" hangingPunct="0">
        <a:spcBef>
          <a:spcPct val="0"/>
        </a:spcBef>
        <a:spcAft>
          <a:spcPct val="0"/>
        </a:spcAft>
        <a:defRPr sz="4400">
          <a:solidFill>
            <a:schemeClr val="tx2"/>
          </a:solidFill>
          <a:latin typeface="Times New Roman" panose="02020603050405020304"/>
        </a:defRPr>
      </a:lvl7pPr>
      <a:lvl8pPr marL="1371600" algn="ctr" rtl="0" eaLnBrk="0" fontAlgn="base" hangingPunct="0">
        <a:spcBef>
          <a:spcPct val="0"/>
        </a:spcBef>
        <a:spcAft>
          <a:spcPct val="0"/>
        </a:spcAft>
        <a:defRPr sz="4400">
          <a:solidFill>
            <a:schemeClr val="tx2"/>
          </a:solidFill>
          <a:latin typeface="Times New Roman" panose="02020603050405020304"/>
        </a:defRPr>
      </a:lvl8pPr>
      <a:lvl9pPr marL="1828800" algn="ctr" rtl="0" eaLnBrk="0" fontAlgn="base" hangingPunct="0">
        <a:spcBef>
          <a:spcPct val="0"/>
        </a:spcBef>
        <a:spcAft>
          <a:spcPct val="0"/>
        </a:spcAft>
        <a:defRPr sz="4400">
          <a:solidFill>
            <a:schemeClr val="tx2"/>
          </a:solidFill>
          <a:latin typeface="Times New Roman" panose="02020603050405020304"/>
        </a:defRPr>
      </a:lvl9pPr>
    </p:titleStyle>
    <p:body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vl6pPr marL="25146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6pPr>
      <a:lvl7pPr marL="29718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7pPr>
      <a:lvl8pPr marL="34290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8pPr>
      <a:lvl9pPr marL="38862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2.emf"/><Relationship Id="rId1"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6.xml"/><Relationship Id="rId4" Type="http://schemas.openxmlformats.org/officeDocument/2006/relationships/image" Target="../media/image4.emf"/><Relationship Id="rId3" Type="http://schemas.openxmlformats.org/officeDocument/2006/relationships/oleObject" Target="../embeddings/oleObject4.bin"/><Relationship Id="rId2" Type="http://schemas.openxmlformats.org/officeDocument/2006/relationships/image" Target="../media/image3.emf"/><Relationship Id="rId1"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6.xml"/><Relationship Id="rId4" Type="http://schemas.openxmlformats.org/officeDocument/2006/relationships/image" Target="../media/image6.emf"/><Relationship Id="rId3" Type="http://schemas.openxmlformats.org/officeDocument/2006/relationships/oleObject" Target="../embeddings/oleObject6.bin"/><Relationship Id="rId2" Type="http://schemas.openxmlformats.org/officeDocument/2006/relationships/image" Target="../media/image5.emf"/><Relationship Id="rId1"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6.xml"/><Relationship Id="rId4" Type="http://schemas.openxmlformats.org/officeDocument/2006/relationships/image" Target="../media/image8.emf"/><Relationship Id="rId3" Type="http://schemas.openxmlformats.org/officeDocument/2006/relationships/oleObject" Target="../embeddings/oleObject8.bin"/><Relationship Id="rId2" Type="http://schemas.openxmlformats.org/officeDocument/2006/relationships/image" Target="../media/image7.emf"/><Relationship Id="rId1"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6.xml"/><Relationship Id="rId4" Type="http://schemas.openxmlformats.org/officeDocument/2006/relationships/image" Target="../media/image10.emf"/><Relationship Id="rId3" Type="http://schemas.openxmlformats.org/officeDocument/2006/relationships/oleObject" Target="../embeddings/oleObject10.bin"/><Relationship Id="rId2" Type="http://schemas.openxmlformats.org/officeDocument/2006/relationships/image" Target="../media/image9.emf"/><Relationship Id="rId1"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12.emf"/><Relationship Id="rId3" Type="http://schemas.openxmlformats.org/officeDocument/2006/relationships/oleObject" Target="../embeddings/oleObject12.bin"/><Relationship Id="rId2" Type="http://schemas.openxmlformats.org/officeDocument/2006/relationships/image" Target="../media/image11.emf"/><Relationship Id="rId1" Type="http://schemas.openxmlformats.org/officeDocument/2006/relationships/oleObject" Target="../embeddings/oleObject11.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oleObject" Target="../embeddings/oleObject13.bin"/></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oleObject" Target="../embeddings/oleObject16.bin"/><Relationship Id="rId4" Type="http://schemas.openxmlformats.org/officeDocument/2006/relationships/image" Target="../media/image15.emf"/><Relationship Id="rId3" Type="http://schemas.openxmlformats.org/officeDocument/2006/relationships/oleObject" Target="../embeddings/oleObject15.bin"/><Relationship Id="rId2" Type="http://schemas.openxmlformats.org/officeDocument/2006/relationships/image" Target="../media/image14.emf"/><Relationship Id="rId1" Type="http://schemas.openxmlformats.org/officeDocument/2006/relationships/oleObject" Target="../embeddings/oleObject14.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17.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19.emf"/><Relationship Id="rId3" Type="http://schemas.openxmlformats.org/officeDocument/2006/relationships/oleObject" Target="../embeddings/oleObject19.bin"/><Relationship Id="rId2" Type="http://schemas.openxmlformats.org/officeDocument/2006/relationships/image" Target="../media/image18.emf"/><Relationship Id="rId1" Type="http://schemas.openxmlformats.org/officeDocument/2006/relationships/oleObject" Target="../embeddings/oleObject18.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20.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6.xml"/><Relationship Id="rId2" Type="http://schemas.openxmlformats.org/officeDocument/2006/relationships/image" Target="../media/image21.emf"/><Relationship Id="rId1" Type="http://schemas.openxmlformats.org/officeDocument/2006/relationships/oleObject" Target="../embeddings/oleObject21.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6.xml"/><Relationship Id="rId2" Type="http://schemas.openxmlformats.org/officeDocument/2006/relationships/image" Target="../media/image22.emf"/><Relationship Id="rId1" Type="http://schemas.openxmlformats.org/officeDocument/2006/relationships/oleObject" Target="../embeddings/oleObject22.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ctrTitle" sz="quarter"/>
          </p:nvPr>
        </p:nvSpPr>
        <p:spPr>
          <a:ln/>
        </p:spPr>
        <p:txBody>
          <a:bodyPr vert="horz" wrap="square" lIns="92075" tIns="46038" rIns="92075" bIns="46038" anchor="ctr" anchorCtr="0"/>
          <a:p>
            <a:pPr>
              <a:buClrTx/>
              <a:buSzTx/>
              <a:buFontTx/>
            </a:pPr>
            <a:r>
              <a:rPr lang="en-US" altLang="zh-CN" dirty="0">
                <a:latin typeface="+mj-lt"/>
                <a:ea typeface="宋体" panose="02010600030101010101" pitchFamily="2" charset="-122"/>
                <a:cs typeface="+mj-cs"/>
              </a:rPr>
              <a:t>Chapter Twenty-Two</a:t>
            </a:r>
            <a:endParaRPr lang="en-US" altLang="zh-CN" dirty="0">
              <a:latin typeface="+mj-lt"/>
              <a:ea typeface="宋体" panose="02010600030101010101" pitchFamily="2" charset="-122"/>
              <a:cs typeface="+mj-cs"/>
            </a:endParaRPr>
          </a:p>
        </p:txBody>
      </p:sp>
      <p:sp>
        <p:nvSpPr>
          <p:cNvPr id="3075" name="Rectangle 3"/>
          <p:cNvSpPr>
            <a:spLocks noGrp="1"/>
          </p:cNvSpPr>
          <p:nvPr>
            <p:ph type="subTitle" sz="quarter" idx="1"/>
          </p:nvPr>
        </p:nvSpPr>
        <p:spPr>
          <a:ln/>
        </p:spPr>
        <p:txBody>
          <a:bodyPr vert="horz" wrap="square" lIns="92075" tIns="46038" rIns="92075" bIns="46038" anchor="t" anchorCtr="0"/>
          <a:p>
            <a:pPr>
              <a:buSzPct val="75000"/>
            </a:pPr>
            <a:r>
              <a:rPr lang="en-US" altLang="zh-CN" sz="4000" dirty="0">
                <a:latin typeface="+mn-lt"/>
                <a:ea typeface="宋体" panose="02010600030101010101" pitchFamily="2" charset="-122"/>
                <a:cs typeface="+mn-cs"/>
              </a:rPr>
              <a:t>Firm Supply</a:t>
            </a:r>
            <a:endParaRPr lang="en-US" altLang="zh-CN" sz="4000" dirty="0">
              <a:latin typeface="+mn-lt"/>
              <a:ea typeface="宋体" panose="02010600030101010101" pitchFamily="2" charset="-122"/>
              <a:cs typeface="+mn-cs"/>
            </a:endParaRPr>
          </a:p>
          <a:p>
            <a:pPr>
              <a:buSzPct val="75000"/>
            </a:pPr>
            <a:r>
              <a:rPr lang="zh-CN" altLang="en-US" sz="4000" dirty="0">
                <a:latin typeface="+mn-lt"/>
                <a:ea typeface="宋体" panose="02010600030101010101" pitchFamily="2" charset="-122"/>
                <a:cs typeface="+mn-cs"/>
              </a:rPr>
              <a:t>厂商供给  </a:t>
            </a:r>
            <a:endParaRPr lang="en-US" altLang="zh-CN" sz="4000" dirty="0">
              <a:latin typeface="+mn-lt"/>
              <a:ea typeface="宋体" panose="02010600030101010101" pitchFamily="2" charset="-122"/>
              <a:cs typeface="+mn-cs"/>
            </a:endParaRPr>
          </a:p>
        </p:txBody>
      </p:sp>
    </p:spTree>
  </p:cSld>
  <p:clrMapOvr>
    <a:overrideClrMapping bg1="dk2" tx1="lt1" bg2="dk1"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Firm Supply</a:t>
            </a:r>
            <a:endParaRPr lang="en-US" altLang="zh-CN" dirty="0">
              <a:ea typeface="宋体" panose="02010600030101010101" pitchFamily="2" charset="-122"/>
            </a:endParaRPr>
          </a:p>
        </p:txBody>
      </p:sp>
      <p:sp>
        <p:nvSpPr>
          <p:cNvPr id="4099"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How does a firm decide how much product to supply?  This depends upon the firm’s</a:t>
            </a:r>
            <a:endParaRPr lang="en-US" altLang="zh-CN" dirty="0">
              <a:ea typeface="宋体" panose="02010600030101010101" pitchFamily="2" charset="-122"/>
            </a:endParaRPr>
          </a:p>
          <a:p>
            <a:pPr lvl="1"/>
            <a:r>
              <a:rPr lang="en-US" altLang="zh-CN" dirty="0">
                <a:ea typeface="宋体" panose="02010600030101010101" pitchFamily="2" charset="-122"/>
              </a:rPr>
              <a:t> technology</a:t>
            </a:r>
            <a:endParaRPr lang="en-US" altLang="zh-CN" dirty="0">
              <a:ea typeface="宋体" panose="02010600030101010101" pitchFamily="2" charset="-122"/>
            </a:endParaRPr>
          </a:p>
          <a:p>
            <a:pPr lvl="1"/>
            <a:r>
              <a:rPr lang="en-US" altLang="zh-CN" dirty="0">
                <a:ea typeface="宋体" panose="02010600030101010101" pitchFamily="2" charset="-122"/>
              </a:rPr>
              <a:t> market environment</a:t>
            </a:r>
            <a:endParaRPr lang="en-US" altLang="zh-CN" dirty="0">
              <a:ea typeface="宋体" panose="02010600030101010101" pitchFamily="2" charset="-122"/>
            </a:endParaRPr>
          </a:p>
          <a:p>
            <a:pPr lvl="1"/>
            <a:r>
              <a:rPr lang="en-US" altLang="zh-CN" dirty="0">
                <a:ea typeface="宋体" panose="02010600030101010101" pitchFamily="2" charset="-122"/>
              </a:rPr>
              <a:t> goals</a:t>
            </a:r>
            <a:endParaRPr lang="en-US" altLang="zh-CN" dirty="0">
              <a:ea typeface="宋体" panose="02010600030101010101" pitchFamily="2" charset="-122"/>
            </a:endParaRPr>
          </a:p>
          <a:p>
            <a:pPr lvl="1"/>
            <a:r>
              <a:rPr lang="en-US" altLang="zh-CN" dirty="0">
                <a:ea typeface="宋体" panose="02010600030101010101" pitchFamily="2" charset="-122"/>
              </a:rPr>
              <a:t> competitors’ behaviors</a:t>
            </a:r>
            <a:endParaRPr lang="en-US" altLang="zh-CN"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Market Environments</a:t>
            </a:r>
            <a:endParaRPr lang="en-US" altLang="zh-CN" dirty="0">
              <a:ea typeface="宋体" panose="02010600030101010101" pitchFamily="2" charset="-122"/>
            </a:endParaRPr>
          </a:p>
        </p:txBody>
      </p:sp>
      <p:sp>
        <p:nvSpPr>
          <p:cNvPr id="5123"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Are there many other firms, or just a few?</a:t>
            </a:r>
            <a:endParaRPr lang="en-US" altLang="zh-CN" dirty="0">
              <a:ea typeface="宋体" panose="02010600030101010101" pitchFamily="2" charset="-122"/>
            </a:endParaRPr>
          </a:p>
          <a:p>
            <a:r>
              <a:rPr lang="en-US" altLang="zh-CN" dirty="0">
                <a:ea typeface="宋体" panose="02010600030101010101" pitchFamily="2" charset="-122"/>
              </a:rPr>
              <a:t>Do other firms’ decisions affect our firm’s payoffs?</a:t>
            </a:r>
            <a:endParaRPr lang="en-US" altLang="zh-CN" dirty="0">
              <a:ea typeface="宋体" panose="02010600030101010101" pitchFamily="2" charset="-122"/>
            </a:endParaRPr>
          </a:p>
          <a:p>
            <a:r>
              <a:rPr lang="en-US" altLang="zh-CN" dirty="0">
                <a:ea typeface="宋体" panose="02010600030101010101" pitchFamily="2" charset="-122"/>
              </a:rPr>
              <a:t>Is trading anonymous, in a market?  Or are trades arranged with separate buyers by middlemen?</a:t>
            </a:r>
            <a:endParaRPr lang="en-US" altLang="zh-CN"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Market Environments</a:t>
            </a:r>
            <a:endParaRPr lang="en-US" altLang="zh-CN" dirty="0">
              <a:ea typeface="宋体" panose="02010600030101010101" pitchFamily="2" charset="-122"/>
            </a:endParaRPr>
          </a:p>
        </p:txBody>
      </p:sp>
      <p:sp>
        <p:nvSpPr>
          <p:cNvPr id="6147" name="Rectangle 3"/>
          <p:cNvSpPr>
            <a:spLocks noGrp="1"/>
          </p:cNvSpPr>
          <p:nvPr>
            <p:ph idx="1"/>
          </p:nvPr>
        </p:nvSpPr>
        <p:spPr>
          <a:ln/>
        </p:spPr>
        <p:txBody>
          <a:bodyPr vert="horz" wrap="square" lIns="92075" tIns="46038" rIns="92075" bIns="46038" anchor="t" anchorCtr="0"/>
          <a:p>
            <a:r>
              <a:rPr lang="en-US" altLang="zh-CN" dirty="0">
                <a:solidFill>
                  <a:schemeClr val="tx2"/>
                </a:solidFill>
                <a:ea typeface="宋体" panose="02010600030101010101" pitchFamily="2" charset="-122"/>
              </a:rPr>
              <a:t>Monopoly</a:t>
            </a:r>
            <a:r>
              <a:rPr lang="en-US" altLang="zh-CN" dirty="0">
                <a:ea typeface="宋体" panose="02010600030101010101" pitchFamily="2" charset="-122"/>
              </a:rPr>
              <a:t>:  Just one seller that determines the quantity supplied and the market-clearing price.</a:t>
            </a:r>
            <a:endParaRPr lang="en-US" altLang="zh-CN" dirty="0">
              <a:ea typeface="宋体" panose="02010600030101010101" pitchFamily="2" charset="-122"/>
            </a:endParaRPr>
          </a:p>
          <a:p>
            <a:r>
              <a:rPr lang="en-US" altLang="zh-CN" dirty="0">
                <a:solidFill>
                  <a:schemeClr val="tx2"/>
                </a:solidFill>
                <a:ea typeface="宋体" panose="02010600030101010101" pitchFamily="2" charset="-122"/>
              </a:rPr>
              <a:t>Oligopoly</a:t>
            </a:r>
            <a:r>
              <a:rPr lang="en-US" altLang="zh-CN" dirty="0">
                <a:ea typeface="宋体" panose="02010600030101010101" pitchFamily="2" charset="-122"/>
              </a:rPr>
              <a:t>:  A few firms, the decisions of each influencing the payoffs of the others.</a:t>
            </a:r>
            <a:endParaRPr lang="en-US" altLang="zh-CN" dirty="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Market Environments</a:t>
            </a:r>
            <a:endParaRPr lang="en-US" altLang="zh-CN" dirty="0">
              <a:ea typeface="宋体" panose="02010600030101010101" pitchFamily="2" charset="-122"/>
            </a:endParaRPr>
          </a:p>
        </p:txBody>
      </p:sp>
      <p:sp>
        <p:nvSpPr>
          <p:cNvPr id="7171" name="Rectangle 3"/>
          <p:cNvSpPr>
            <a:spLocks noGrp="1"/>
          </p:cNvSpPr>
          <p:nvPr>
            <p:ph idx="1"/>
          </p:nvPr>
        </p:nvSpPr>
        <p:spPr>
          <a:ln/>
        </p:spPr>
        <p:txBody>
          <a:bodyPr vert="horz" wrap="square" lIns="92075" tIns="46038" rIns="92075" bIns="46038" anchor="t" anchorCtr="0"/>
          <a:p>
            <a:r>
              <a:rPr lang="en-US" altLang="zh-CN" dirty="0">
                <a:solidFill>
                  <a:schemeClr val="tx2"/>
                </a:solidFill>
                <a:ea typeface="宋体" panose="02010600030101010101" pitchFamily="2" charset="-122"/>
              </a:rPr>
              <a:t>Dominant Firm</a:t>
            </a:r>
            <a:r>
              <a:rPr lang="en-US" altLang="zh-CN" dirty="0">
                <a:ea typeface="宋体" panose="02010600030101010101" pitchFamily="2" charset="-122"/>
              </a:rPr>
              <a:t>:  Many firms, but one  much larger than the rest.  The large firm’s decisions affect the payoffs of each small firm.  Decisions by any one small firm do not noticeably affect the payoffs of any other firm. </a:t>
            </a:r>
            <a:endParaRPr lang="en-US" altLang="zh-CN" dirty="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Market Environments</a:t>
            </a:r>
            <a:endParaRPr lang="en-US" altLang="zh-CN" dirty="0">
              <a:ea typeface="宋体" panose="02010600030101010101" pitchFamily="2" charset="-122"/>
            </a:endParaRPr>
          </a:p>
        </p:txBody>
      </p:sp>
      <p:sp>
        <p:nvSpPr>
          <p:cNvPr id="8195" name="Rectangle 3"/>
          <p:cNvSpPr>
            <a:spLocks noGrp="1"/>
          </p:cNvSpPr>
          <p:nvPr>
            <p:ph idx="1"/>
          </p:nvPr>
        </p:nvSpPr>
        <p:spPr>
          <a:ln/>
        </p:spPr>
        <p:txBody>
          <a:bodyPr vert="horz" wrap="square" lIns="92075" tIns="46038" rIns="92075" bIns="46038" anchor="t" anchorCtr="0"/>
          <a:p>
            <a:r>
              <a:rPr lang="en-US" altLang="zh-CN" dirty="0">
                <a:solidFill>
                  <a:schemeClr val="tx2"/>
                </a:solidFill>
                <a:ea typeface="宋体" panose="02010600030101010101" pitchFamily="2" charset="-122"/>
              </a:rPr>
              <a:t>Monopolistic Competition</a:t>
            </a:r>
            <a:r>
              <a:rPr lang="en-US" altLang="zh-CN" dirty="0">
                <a:ea typeface="宋体" panose="02010600030101010101" pitchFamily="2" charset="-122"/>
              </a:rPr>
              <a:t>:  Many firms each making a slightly different product.  Each firm’s output level is small relative to the total.</a:t>
            </a:r>
            <a:endParaRPr lang="en-US" altLang="zh-CN" dirty="0">
              <a:ea typeface="宋体" panose="02010600030101010101" pitchFamily="2" charset="-122"/>
            </a:endParaRPr>
          </a:p>
          <a:p>
            <a:r>
              <a:rPr lang="en-US" altLang="zh-CN" dirty="0">
                <a:solidFill>
                  <a:schemeClr val="tx2"/>
                </a:solidFill>
                <a:ea typeface="宋体" panose="02010600030101010101" pitchFamily="2" charset="-122"/>
              </a:rPr>
              <a:t>Pure Competition</a:t>
            </a:r>
            <a:r>
              <a:rPr lang="en-US" altLang="zh-CN" dirty="0">
                <a:ea typeface="宋体" panose="02010600030101010101" pitchFamily="2" charset="-122"/>
              </a:rPr>
              <a:t>:  Many firms, all making the same product.  Each firm’s output level is small relative to the total.</a:t>
            </a:r>
            <a:endParaRPr lang="en-US" altLang="zh-CN" dirty="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Market Environments</a:t>
            </a:r>
            <a:endParaRPr lang="en-US" altLang="zh-CN" dirty="0">
              <a:ea typeface="宋体" panose="02010600030101010101" pitchFamily="2" charset="-122"/>
            </a:endParaRPr>
          </a:p>
        </p:txBody>
      </p:sp>
      <p:sp>
        <p:nvSpPr>
          <p:cNvPr id="9219"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Later chapters examine monopoly, oligopoly, and the dominant firm.</a:t>
            </a:r>
            <a:endParaRPr lang="en-US" altLang="zh-CN" dirty="0">
              <a:ea typeface="宋体" panose="02010600030101010101" pitchFamily="2" charset="-122"/>
            </a:endParaRPr>
          </a:p>
          <a:p>
            <a:r>
              <a:rPr lang="en-US" altLang="zh-CN" dirty="0">
                <a:ea typeface="宋体" panose="02010600030101010101" pitchFamily="2" charset="-122"/>
              </a:rPr>
              <a:t>This chapter explores only pure competition.</a:t>
            </a:r>
            <a:endParaRPr lang="en-US" altLang="zh-CN"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0243"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firm in a perfectly competitive market knows it has no influence over the market price for its product.  The firm is a </a:t>
            </a:r>
            <a:r>
              <a:rPr lang="en-US" altLang="zh-CN" dirty="0">
                <a:solidFill>
                  <a:srgbClr val="20F90F"/>
                </a:solidFill>
                <a:ea typeface="宋体" panose="02010600030101010101" pitchFamily="2" charset="-122"/>
              </a:rPr>
              <a:t>market</a:t>
            </a:r>
            <a:r>
              <a:rPr lang="en-US" altLang="zh-CN" dirty="0">
                <a:ea typeface="宋体" panose="02010600030101010101" pitchFamily="2" charset="-122"/>
              </a:rPr>
              <a:t> </a:t>
            </a:r>
            <a:r>
              <a:rPr lang="en-US" altLang="zh-CN" dirty="0">
                <a:solidFill>
                  <a:schemeClr val="tx2"/>
                </a:solidFill>
                <a:ea typeface="宋体" panose="02010600030101010101" pitchFamily="2" charset="-122"/>
              </a:rPr>
              <a:t>price-taker</a:t>
            </a:r>
            <a:r>
              <a:rPr lang="zh-CN" altLang="en-US" dirty="0">
                <a:solidFill>
                  <a:schemeClr val="tx2"/>
                </a:solidFill>
                <a:ea typeface="宋体" panose="02010600030101010101" pitchFamily="2" charset="-122"/>
              </a:rPr>
              <a:t>价格接受者</a:t>
            </a:r>
            <a:r>
              <a:rPr lang="en-US" altLang="zh-CN" dirty="0">
                <a:ea typeface="宋体" panose="02010600030101010101" pitchFamily="2" charset="-122"/>
              </a:rPr>
              <a:t>.</a:t>
            </a:r>
            <a:endParaRPr lang="en-US" altLang="zh-CN" dirty="0">
              <a:ea typeface="宋体" panose="02010600030101010101" pitchFamily="2" charset="-122"/>
            </a:endParaRPr>
          </a:p>
          <a:p>
            <a:r>
              <a:rPr lang="en-US" altLang="zh-CN" dirty="0">
                <a:ea typeface="宋体" panose="02010600030101010101" pitchFamily="2" charset="-122"/>
              </a:rPr>
              <a:t>The firm is free to vary its own price.</a:t>
            </a:r>
            <a:endParaRPr lang="en-US" altLang="zh-CN"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1267" name="Rectangle 3"/>
          <p:cNvSpPr>
            <a:spLocks noGrp="1"/>
          </p:cNvSpPr>
          <p:nvPr>
            <p:ph idx="1"/>
          </p:nvPr>
        </p:nvSpPr>
        <p:spPr>
          <a:xfrm>
            <a:off x="381000" y="1485900"/>
            <a:ext cx="8229600" cy="4457700"/>
          </a:xfrm>
          <a:ln/>
        </p:spPr>
        <p:txBody>
          <a:bodyPr vert="horz" wrap="square" lIns="92075" tIns="46038" rIns="92075" bIns="46038" anchor="t" anchorCtr="0"/>
          <a:p>
            <a:r>
              <a:rPr lang="en-US" altLang="zh-CN" dirty="0">
                <a:ea typeface="宋体" panose="02010600030101010101" pitchFamily="2" charset="-122"/>
              </a:rPr>
              <a:t>If the firm sets its own price above the market price then the quantity demanded from the firm is zero.</a:t>
            </a:r>
            <a:endParaRPr lang="en-US" altLang="zh-CN" dirty="0">
              <a:ea typeface="宋体" panose="02010600030101010101" pitchFamily="2" charset="-122"/>
            </a:endParaRPr>
          </a:p>
          <a:p>
            <a:r>
              <a:rPr lang="en-US" altLang="zh-CN" dirty="0">
                <a:ea typeface="宋体" panose="02010600030101010101" pitchFamily="2" charset="-122"/>
              </a:rPr>
              <a:t>If the firm sets its own price below the market price  then the quantity demanded from the firm is the entire market quantity-demanded.</a:t>
            </a:r>
            <a:endParaRPr lang="en-US" altLang="zh-CN" dirty="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2291"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So what is the demand curve faced by the individual firm?</a:t>
            </a:r>
            <a:endParaRPr lang="en-US" altLang="zh-CN"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3315" name="Line 3"/>
          <p:cNvSpPr/>
          <p:nvPr/>
        </p:nvSpPr>
        <p:spPr>
          <a:xfrm>
            <a:off x="1371600" y="1447800"/>
            <a:ext cx="0" cy="3429000"/>
          </a:xfrm>
          <a:prstGeom prst="line">
            <a:avLst/>
          </a:prstGeom>
          <a:ln w="12700" cap="flat" cmpd="sng">
            <a:solidFill>
              <a:schemeClr val="tx1"/>
            </a:solidFill>
            <a:prstDash val="solid"/>
            <a:headEnd type="stealth" w="med" len="lg"/>
            <a:tailEnd type="none" w="sm" len="sm"/>
          </a:ln>
        </p:spPr>
      </p:sp>
      <p:sp>
        <p:nvSpPr>
          <p:cNvPr id="13316" name="Line 4"/>
          <p:cNvSpPr/>
          <p:nvPr/>
        </p:nvSpPr>
        <p:spPr>
          <a:xfrm>
            <a:off x="1371600" y="4876800"/>
            <a:ext cx="4800600" cy="0"/>
          </a:xfrm>
          <a:prstGeom prst="line">
            <a:avLst/>
          </a:prstGeom>
          <a:ln w="12700" cap="flat" cmpd="sng">
            <a:solidFill>
              <a:schemeClr val="tx1"/>
            </a:solidFill>
            <a:prstDash val="solid"/>
            <a:headEnd type="none" w="sm" len="sm"/>
            <a:tailEnd type="stealth" w="med" len="lg"/>
          </a:ln>
        </p:spPr>
      </p:sp>
      <p:sp>
        <p:nvSpPr>
          <p:cNvPr id="13317" name="Line 5"/>
          <p:cNvSpPr/>
          <p:nvPr/>
        </p:nvSpPr>
        <p:spPr>
          <a:xfrm>
            <a:off x="1371600" y="1981200"/>
            <a:ext cx="4038600" cy="2895600"/>
          </a:xfrm>
          <a:prstGeom prst="line">
            <a:avLst/>
          </a:prstGeom>
          <a:ln w="25400" cap="flat" cmpd="sng">
            <a:solidFill>
              <a:srgbClr val="20F90F"/>
            </a:solidFill>
            <a:prstDash val="solid"/>
            <a:headEnd type="none" w="sm" len="sm"/>
            <a:tailEnd type="none" w="sm" len="sm"/>
          </a:ln>
        </p:spPr>
      </p:sp>
      <p:sp>
        <p:nvSpPr>
          <p:cNvPr id="13318" name="Line 6"/>
          <p:cNvSpPr/>
          <p:nvPr/>
        </p:nvSpPr>
        <p:spPr>
          <a:xfrm flipV="1">
            <a:off x="1371600" y="2133600"/>
            <a:ext cx="4572000" cy="2286000"/>
          </a:xfrm>
          <a:prstGeom prst="line">
            <a:avLst/>
          </a:prstGeom>
          <a:ln w="25400" cap="flat" cmpd="sng">
            <a:solidFill>
              <a:schemeClr val="tx2"/>
            </a:solidFill>
            <a:prstDash val="solid"/>
            <a:headEnd type="none" w="sm" len="sm"/>
            <a:tailEnd type="none" w="sm" len="sm"/>
          </a:ln>
        </p:spPr>
      </p:sp>
      <p:sp>
        <p:nvSpPr>
          <p:cNvPr id="13319" name="Rectangle 7"/>
          <p:cNvSpPr/>
          <p:nvPr/>
        </p:nvSpPr>
        <p:spPr>
          <a:xfrm>
            <a:off x="6156325" y="4922838"/>
            <a:ext cx="45561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13320" name="Rectangle 8"/>
          <p:cNvSpPr/>
          <p:nvPr/>
        </p:nvSpPr>
        <p:spPr>
          <a:xfrm>
            <a:off x="212725" y="10048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13321" name="Rectangle 9"/>
          <p:cNvSpPr/>
          <p:nvPr/>
        </p:nvSpPr>
        <p:spPr>
          <a:xfrm>
            <a:off x="6003925" y="1843088"/>
            <a:ext cx="261461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tx2"/>
                </a:solidFill>
                <a:ea typeface="宋体" panose="02010600030101010101" pitchFamily="2" charset="-122"/>
              </a:rPr>
              <a:t>Market Supply</a:t>
            </a:r>
            <a:endParaRPr lang="en-US" altLang="zh-CN" sz="2800" dirty="0">
              <a:solidFill>
                <a:schemeClr val="tx2"/>
              </a:solidFill>
              <a:ea typeface="宋体" panose="02010600030101010101" pitchFamily="2" charset="-122"/>
            </a:endParaRPr>
          </a:p>
        </p:txBody>
      </p:sp>
      <p:sp>
        <p:nvSpPr>
          <p:cNvPr id="13322" name="Rectangle 10"/>
          <p:cNvSpPr/>
          <p:nvPr/>
        </p:nvSpPr>
        <p:spPr>
          <a:xfrm>
            <a:off x="5241925" y="4333875"/>
            <a:ext cx="2832100"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Market Demand</a:t>
            </a:r>
            <a:endParaRPr lang="en-US" altLang="zh-CN" sz="2800" dirty="0">
              <a:solidFill>
                <a:srgbClr val="20F90F"/>
              </a:solidFill>
              <a:ea typeface="宋体" panose="02010600030101010101" pitchFamily="2" charset="-122"/>
            </a:endParaRPr>
          </a:p>
        </p:txBody>
      </p:sp>
      <p:sp>
        <p:nvSpPr>
          <p:cNvPr id="13323" name="Line 11"/>
          <p:cNvSpPr/>
          <p:nvPr/>
        </p:nvSpPr>
        <p:spPr>
          <a:xfrm flipH="1">
            <a:off x="1371600" y="3429000"/>
            <a:ext cx="1981200" cy="0"/>
          </a:xfrm>
          <a:prstGeom prst="line">
            <a:avLst/>
          </a:prstGeom>
          <a:ln w="12700" cap="flat" cmpd="sng">
            <a:solidFill>
              <a:schemeClr val="tx1"/>
            </a:solidFill>
            <a:prstDash val="dash"/>
            <a:headEnd type="none" w="sm" len="sm"/>
            <a:tailEnd type="none" w="sm" len="sm"/>
          </a:ln>
        </p:spPr>
      </p:sp>
      <p:sp>
        <p:nvSpPr>
          <p:cNvPr id="13324" name="Rectangle 12"/>
          <p:cNvSpPr/>
          <p:nvPr/>
        </p:nvSpPr>
        <p:spPr>
          <a:xfrm>
            <a:off x="822325" y="3094038"/>
            <a:ext cx="579438"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4339" name="Line 3"/>
          <p:cNvSpPr/>
          <p:nvPr/>
        </p:nvSpPr>
        <p:spPr>
          <a:xfrm>
            <a:off x="1371600" y="1447800"/>
            <a:ext cx="0" cy="3429000"/>
          </a:xfrm>
          <a:prstGeom prst="line">
            <a:avLst/>
          </a:prstGeom>
          <a:ln w="12700" cap="flat" cmpd="sng">
            <a:solidFill>
              <a:schemeClr val="tx1"/>
            </a:solidFill>
            <a:prstDash val="solid"/>
            <a:headEnd type="stealth" w="med" len="lg"/>
            <a:tailEnd type="none" w="sm" len="sm"/>
          </a:ln>
        </p:spPr>
      </p:sp>
      <p:sp>
        <p:nvSpPr>
          <p:cNvPr id="14340" name="Line 4"/>
          <p:cNvSpPr/>
          <p:nvPr/>
        </p:nvSpPr>
        <p:spPr>
          <a:xfrm>
            <a:off x="1371600" y="4876800"/>
            <a:ext cx="4800600" cy="0"/>
          </a:xfrm>
          <a:prstGeom prst="line">
            <a:avLst/>
          </a:prstGeom>
          <a:ln w="12700" cap="flat" cmpd="sng">
            <a:solidFill>
              <a:schemeClr val="tx1"/>
            </a:solidFill>
            <a:prstDash val="solid"/>
            <a:headEnd type="none" w="sm" len="sm"/>
            <a:tailEnd type="stealth" w="med" len="lg"/>
          </a:ln>
        </p:spPr>
      </p:sp>
      <p:sp>
        <p:nvSpPr>
          <p:cNvPr id="14341" name="Line 5"/>
          <p:cNvSpPr/>
          <p:nvPr/>
        </p:nvSpPr>
        <p:spPr>
          <a:xfrm>
            <a:off x="1371600" y="1981200"/>
            <a:ext cx="4038600" cy="2895600"/>
          </a:xfrm>
          <a:prstGeom prst="line">
            <a:avLst/>
          </a:prstGeom>
          <a:ln w="25400" cap="flat" cmpd="sng">
            <a:solidFill>
              <a:srgbClr val="20F90F"/>
            </a:solidFill>
            <a:prstDash val="solid"/>
            <a:headEnd type="none" w="sm" len="sm"/>
            <a:tailEnd type="none" w="sm" len="sm"/>
          </a:ln>
        </p:spPr>
      </p:sp>
      <p:sp>
        <p:nvSpPr>
          <p:cNvPr id="14342" name="Line 6"/>
          <p:cNvSpPr/>
          <p:nvPr/>
        </p:nvSpPr>
        <p:spPr>
          <a:xfrm flipV="1">
            <a:off x="1371600" y="2133600"/>
            <a:ext cx="4572000" cy="2286000"/>
          </a:xfrm>
          <a:prstGeom prst="line">
            <a:avLst/>
          </a:prstGeom>
          <a:ln w="25400" cap="flat" cmpd="sng">
            <a:solidFill>
              <a:schemeClr val="tx2"/>
            </a:solidFill>
            <a:prstDash val="solid"/>
            <a:headEnd type="none" w="sm" len="sm"/>
            <a:tailEnd type="none" w="sm" len="sm"/>
          </a:ln>
        </p:spPr>
      </p:sp>
      <p:sp>
        <p:nvSpPr>
          <p:cNvPr id="14343" name="Rectangle 7"/>
          <p:cNvSpPr/>
          <p:nvPr/>
        </p:nvSpPr>
        <p:spPr>
          <a:xfrm>
            <a:off x="6156325" y="492283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14344" name="Rectangle 8"/>
          <p:cNvSpPr/>
          <p:nvPr/>
        </p:nvSpPr>
        <p:spPr>
          <a:xfrm>
            <a:off x="212725" y="10048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14345" name="Rectangle 9"/>
          <p:cNvSpPr/>
          <p:nvPr/>
        </p:nvSpPr>
        <p:spPr>
          <a:xfrm>
            <a:off x="6003925" y="1843088"/>
            <a:ext cx="261461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tx2"/>
                </a:solidFill>
                <a:ea typeface="宋体" panose="02010600030101010101" pitchFamily="2" charset="-122"/>
              </a:rPr>
              <a:t>Market Supply</a:t>
            </a:r>
            <a:endParaRPr lang="en-US" altLang="zh-CN" sz="2800" dirty="0">
              <a:solidFill>
                <a:schemeClr val="tx2"/>
              </a:solidFill>
              <a:ea typeface="宋体" panose="02010600030101010101" pitchFamily="2" charset="-122"/>
            </a:endParaRPr>
          </a:p>
        </p:txBody>
      </p:sp>
      <p:sp>
        <p:nvSpPr>
          <p:cNvPr id="14346" name="Line 10"/>
          <p:cNvSpPr/>
          <p:nvPr/>
        </p:nvSpPr>
        <p:spPr>
          <a:xfrm flipH="1">
            <a:off x="1371600" y="3429000"/>
            <a:ext cx="1981200" cy="0"/>
          </a:xfrm>
          <a:prstGeom prst="line">
            <a:avLst/>
          </a:prstGeom>
          <a:ln w="12700" cap="flat" cmpd="sng">
            <a:solidFill>
              <a:schemeClr val="tx1"/>
            </a:solidFill>
            <a:prstDash val="dash"/>
            <a:headEnd type="none" w="sm" len="sm"/>
            <a:tailEnd type="none" w="sm" len="sm"/>
          </a:ln>
        </p:spPr>
      </p:sp>
      <p:sp>
        <p:nvSpPr>
          <p:cNvPr id="14347" name="Rectangle 11"/>
          <p:cNvSpPr/>
          <p:nvPr/>
        </p:nvSpPr>
        <p:spPr>
          <a:xfrm>
            <a:off x="822325" y="3094038"/>
            <a:ext cx="579438"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
        <p:nvSpPr>
          <p:cNvPr id="14348" name="Line 12"/>
          <p:cNvSpPr/>
          <p:nvPr/>
        </p:nvSpPr>
        <p:spPr>
          <a:xfrm>
            <a:off x="1371600" y="2743200"/>
            <a:ext cx="1066800" cy="0"/>
          </a:xfrm>
          <a:prstGeom prst="line">
            <a:avLst/>
          </a:prstGeom>
          <a:ln w="12700" cap="flat" cmpd="sng">
            <a:solidFill>
              <a:schemeClr val="tx1"/>
            </a:solidFill>
            <a:prstDash val="dash"/>
            <a:headEnd type="none" w="sm" len="sm"/>
            <a:tailEnd type="none" w="sm" len="sm"/>
          </a:ln>
        </p:spPr>
      </p:sp>
      <p:sp>
        <p:nvSpPr>
          <p:cNvPr id="14349" name="Rectangle 13"/>
          <p:cNvSpPr/>
          <p:nvPr/>
        </p:nvSpPr>
        <p:spPr>
          <a:xfrm>
            <a:off x="822325" y="2408238"/>
            <a:ext cx="5461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14350" name="Oval 14"/>
          <p:cNvSpPr/>
          <p:nvPr/>
        </p:nvSpPr>
        <p:spPr>
          <a:xfrm>
            <a:off x="1252538" y="2619375"/>
            <a:ext cx="228600" cy="228600"/>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14351" name="Rectangle 15"/>
          <p:cNvSpPr/>
          <p:nvPr/>
        </p:nvSpPr>
        <p:spPr>
          <a:xfrm>
            <a:off x="4141788" y="2971800"/>
            <a:ext cx="5002212" cy="1066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a price of p’, zero is demanded from the firm.</a:t>
            </a:r>
            <a:endParaRPr lang="en-US" altLang="zh-CN" dirty="0">
              <a:ea typeface="宋体" panose="02010600030101010101" pitchFamily="2" charset="-122"/>
            </a:endParaRPr>
          </a:p>
        </p:txBody>
      </p:sp>
      <p:sp>
        <p:nvSpPr>
          <p:cNvPr id="14352" name="Rectangle 16"/>
          <p:cNvSpPr/>
          <p:nvPr/>
        </p:nvSpPr>
        <p:spPr>
          <a:xfrm>
            <a:off x="5241925" y="4333875"/>
            <a:ext cx="2832100"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Market Demand</a:t>
            </a:r>
            <a:endParaRPr lang="en-US" altLang="zh-CN" sz="2800" dirty="0">
              <a:solidFill>
                <a:srgbClr val="20F90F"/>
              </a:solidFill>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5363" name="Line 3"/>
          <p:cNvSpPr/>
          <p:nvPr/>
        </p:nvSpPr>
        <p:spPr>
          <a:xfrm>
            <a:off x="1371600" y="1447800"/>
            <a:ext cx="0" cy="3429000"/>
          </a:xfrm>
          <a:prstGeom prst="line">
            <a:avLst/>
          </a:prstGeom>
          <a:ln w="12700" cap="flat" cmpd="sng">
            <a:solidFill>
              <a:schemeClr val="tx1"/>
            </a:solidFill>
            <a:prstDash val="solid"/>
            <a:headEnd type="stealth" w="med" len="lg"/>
            <a:tailEnd type="none" w="sm" len="sm"/>
          </a:ln>
        </p:spPr>
      </p:sp>
      <p:sp>
        <p:nvSpPr>
          <p:cNvPr id="15364" name="Line 4"/>
          <p:cNvSpPr/>
          <p:nvPr/>
        </p:nvSpPr>
        <p:spPr>
          <a:xfrm>
            <a:off x="1371600" y="4876800"/>
            <a:ext cx="4800600" cy="0"/>
          </a:xfrm>
          <a:prstGeom prst="line">
            <a:avLst/>
          </a:prstGeom>
          <a:ln w="12700" cap="flat" cmpd="sng">
            <a:solidFill>
              <a:schemeClr val="tx1"/>
            </a:solidFill>
            <a:prstDash val="solid"/>
            <a:headEnd type="none" w="sm" len="sm"/>
            <a:tailEnd type="stealth" w="med" len="lg"/>
          </a:ln>
        </p:spPr>
      </p:sp>
      <p:sp>
        <p:nvSpPr>
          <p:cNvPr id="15365" name="Line 5"/>
          <p:cNvSpPr/>
          <p:nvPr/>
        </p:nvSpPr>
        <p:spPr>
          <a:xfrm>
            <a:off x="1371600" y="1981200"/>
            <a:ext cx="4038600" cy="2895600"/>
          </a:xfrm>
          <a:prstGeom prst="line">
            <a:avLst/>
          </a:prstGeom>
          <a:ln w="25400" cap="flat" cmpd="sng">
            <a:solidFill>
              <a:srgbClr val="20F90F"/>
            </a:solidFill>
            <a:prstDash val="solid"/>
            <a:headEnd type="none" w="sm" len="sm"/>
            <a:tailEnd type="none" w="sm" len="sm"/>
          </a:ln>
        </p:spPr>
      </p:sp>
      <p:sp>
        <p:nvSpPr>
          <p:cNvPr id="15366" name="Line 6"/>
          <p:cNvSpPr/>
          <p:nvPr/>
        </p:nvSpPr>
        <p:spPr>
          <a:xfrm flipV="1">
            <a:off x="1371600" y="2133600"/>
            <a:ext cx="4572000" cy="2286000"/>
          </a:xfrm>
          <a:prstGeom prst="line">
            <a:avLst/>
          </a:prstGeom>
          <a:ln w="25400" cap="flat" cmpd="sng">
            <a:solidFill>
              <a:schemeClr val="tx2"/>
            </a:solidFill>
            <a:prstDash val="solid"/>
            <a:headEnd type="none" w="sm" len="sm"/>
            <a:tailEnd type="none" w="sm" len="sm"/>
          </a:ln>
        </p:spPr>
      </p:sp>
      <p:sp>
        <p:nvSpPr>
          <p:cNvPr id="15367" name="Rectangle 7"/>
          <p:cNvSpPr/>
          <p:nvPr/>
        </p:nvSpPr>
        <p:spPr>
          <a:xfrm>
            <a:off x="6156325" y="492283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15368" name="Rectangle 8"/>
          <p:cNvSpPr/>
          <p:nvPr/>
        </p:nvSpPr>
        <p:spPr>
          <a:xfrm>
            <a:off x="212725" y="10048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15369" name="Rectangle 9"/>
          <p:cNvSpPr/>
          <p:nvPr/>
        </p:nvSpPr>
        <p:spPr>
          <a:xfrm>
            <a:off x="6003925" y="1843088"/>
            <a:ext cx="261461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tx2"/>
                </a:solidFill>
                <a:ea typeface="宋体" panose="02010600030101010101" pitchFamily="2" charset="-122"/>
              </a:rPr>
              <a:t>Market Supply</a:t>
            </a:r>
            <a:endParaRPr lang="en-US" altLang="zh-CN" sz="2800" dirty="0">
              <a:solidFill>
                <a:schemeClr val="tx2"/>
              </a:solidFill>
              <a:ea typeface="宋体" panose="02010600030101010101" pitchFamily="2" charset="-122"/>
            </a:endParaRPr>
          </a:p>
        </p:txBody>
      </p:sp>
      <p:sp>
        <p:nvSpPr>
          <p:cNvPr id="15370" name="Line 10"/>
          <p:cNvSpPr/>
          <p:nvPr/>
        </p:nvSpPr>
        <p:spPr>
          <a:xfrm flipH="1">
            <a:off x="1371600" y="3429000"/>
            <a:ext cx="1981200" cy="0"/>
          </a:xfrm>
          <a:prstGeom prst="line">
            <a:avLst/>
          </a:prstGeom>
          <a:ln w="12700" cap="flat" cmpd="sng">
            <a:solidFill>
              <a:schemeClr val="tx1"/>
            </a:solidFill>
            <a:prstDash val="dash"/>
            <a:headEnd type="none" w="sm" len="sm"/>
            <a:tailEnd type="none" w="sm" len="sm"/>
          </a:ln>
        </p:spPr>
      </p:sp>
      <p:sp>
        <p:nvSpPr>
          <p:cNvPr id="15371" name="Rectangle 11"/>
          <p:cNvSpPr/>
          <p:nvPr/>
        </p:nvSpPr>
        <p:spPr>
          <a:xfrm>
            <a:off x="822325" y="3094038"/>
            <a:ext cx="579438"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
        <p:nvSpPr>
          <p:cNvPr id="15372" name="Line 12"/>
          <p:cNvSpPr/>
          <p:nvPr/>
        </p:nvSpPr>
        <p:spPr>
          <a:xfrm>
            <a:off x="1371600" y="2743200"/>
            <a:ext cx="1066800" cy="0"/>
          </a:xfrm>
          <a:prstGeom prst="line">
            <a:avLst/>
          </a:prstGeom>
          <a:ln w="12700" cap="flat" cmpd="sng">
            <a:solidFill>
              <a:schemeClr val="tx1"/>
            </a:solidFill>
            <a:prstDash val="dash"/>
            <a:headEnd type="none" w="sm" len="sm"/>
            <a:tailEnd type="none" w="sm" len="sm"/>
          </a:ln>
        </p:spPr>
      </p:sp>
      <p:sp>
        <p:nvSpPr>
          <p:cNvPr id="15373" name="Rectangle 13"/>
          <p:cNvSpPr/>
          <p:nvPr/>
        </p:nvSpPr>
        <p:spPr>
          <a:xfrm>
            <a:off x="822325" y="2408238"/>
            <a:ext cx="5461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15374" name="Oval 14"/>
          <p:cNvSpPr/>
          <p:nvPr/>
        </p:nvSpPr>
        <p:spPr>
          <a:xfrm>
            <a:off x="1252538" y="2619375"/>
            <a:ext cx="228600" cy="228600"/>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15375" name="Line 15"/>
          <p:cNvSpPr/>
          <p:nvPr/>
        </p:nvSpPr>
        <p:spPr>
          <a:xfrm>
            <a:off x="1382713" y="4127500"/>
            <a:ext cx="2932112" cy="0"/>
          </a:xfrm>
          <a:prstGeom prst="line">
            <a:avLst/>
          </a:prstGeom>
          <a:ln w="12700" cap="flat" cmpd="sng">
            <a:solidFill>
              <a:schemeClr val="tx1"/>
            </a:solidFill>
            <a:prstDash val="dash"/>
            <a:headEnd type="none" w="sm" len="sm"/>
            <a:tailEnd type="none" w="sm" len="sm"/>
          </a:ln>
        </p:spPr>
      </p:sp>
      <p:sp>
        <p:nvSpPr>
          <p:cNvPr id="15376" name="Oval 16"/>
          <p:cNvSpPr/>
          <p:nvPr/>
        </p:nvSpPr>
        <p:spPr>
          <a:xfrm>
            <a:off x="4211638" y="3989388"/>
            <a:ext cx="228600" cy="228600"/>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15377" name="Rectangle 17"/>
          <p:cNvSpPr/>
          <p:nvPr/>
        </p:nvSpPr>
        <p:spPr>
          <a:xfrm>
            <a:off x="722313" y="3765550"/>
            <a:ext cx="63500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15378" name="Rectangle 18"/>
          <p:cNvSpPr/>
          <p:nvPr/>
        </p:nvSpPr>
        <p:spPr>
          <a:xfrm>
            <a:off x="455613" y="5399088"/>
            <a:ext cx="8686800" cy="1066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a price of p” the firm faces the entire market demand.</a:t>
            </a:r>
            <a:endParaRPr lang="en-US" altLang="zh-CN" dirty="0">
              <a:ea typeface="宋体" panose="02010600030101010101" pitchFamily="2" charset="-122"/>
            </a:endParaRPr>
          </a:p>
        </p:txBody>
      </p:sp>
      <p:sp>
        <p:nvSpPr>
          <p:cNvPr id="15379" name="Rectangle 19"/>
          <p:cNvSpPr/>
          <p:nvPr/>
        </p:nvSpPr>
        <p:spPr>
          <a:xfrm>
            <a:off x="4141788" y="2971800"/>
            <a:ext cx="5002212" cy="1066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a price of p’, zero is demanded from the firm.</a:t>
            </a:r>
            <a:endParaRPr lang="en-US" altLang="zh-CN" dirty="0">
              <a:ea typeface="宋体" panose="02010600030101010101" pitchFamily="2" charset="-122"/>
            </a:endParaRPr>
          </a:p>
        </p:txBody>
      </p:sp>
      <p:sp>
        <p:nvSpPr>
          <p:cNvPr id="15380" name="Rectangle 20"/>
          <p:cNvSpPr/>
          <p:nvPr/>
        </p:nvSpPr>
        <p:spPr>
          <a:xfrm>
            <a:off x="5241925" y="4333875"/>
            <a:ext cx="2832100"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Market Demand</a:t>
            </a:r>
            <a:endParaRPr lang="en-US" altLang="zh-CN" sz="2800" dirty="0">
              <a:solidFill>
                <a:srgbClr val="20F90F"/>
              </a:solidFill>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6387"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So the demand curve faced by the individual firm is ... </a:t>
            </a:r>
            <a:endParaRPr lang="en-US" altLang="zh-CN"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7411" name="Line 3"/>
          <p:cNvSpPr/>
          <p:nvPr/>
        </p:nvSpPr>
        <p:spPr>
          <a:xfrm>
            <a:off x="1371600" y="1447800"/>
            <a:ext cx="0" cy="3429000"/>
          </a:xfrm>
          <a:prstGeom prst="line">
            <a:avLst/>
          </a:prstGeom>
          <a:ln w="12700" cap="flat" cmpd="sng">
            <a:solidFill>
              <a:schemeClr val="tx1"/>
            </a:solidFill>
            <a:prstDash val="solid"/>
            <a:headEnd type="stealth" w="med" len="lg"/>
            <a:tailEnd type="none" w="sm" len="sm"/>
          </a:ln>
        </p:spPr>
      </p:sp>
      <p:sp>
        <p:nvSpPr>
          <p:cNvPr id="17412" name="Line 4"/>
          <p:cNvSpPr/>
          <p:nvPr/>
        </p:nvSpPr>
        <p:spPr>
          <a:xfrm>
            <a:off x="1371600" y="4876800"/>
            <a:ext cx="4800600" cy="0"/>
          </a:xfrm>
          <a:prstGeom prst="line">
            <a:avLst/>
          </a:prstGeom>
          <a:ln w="12700" cap="flat" cmpd="sng">
            <a:solidFill>
              <a:schemeClr val="tx1"/>
            </a:solidFill>
            <a:prstDash val="solid"/>
            <a:headEnd type="none" w="sm" len="sm"/>
            <a:tailEnd type="stealth" w="med" len="lg"/>
          </a:ln>
        </p:spPr>
      </p:sp>
      <p:sp>
        <p:nvSpPr>
          <p:cNvPr id="17413" name="Line 5"/>
          <p:cNvSpPr/>
          <p:nvPr/>
        </p:nvSpPr>
        <p:spPr>
          <a:xfrm>
            <a:off x="1371600" y="1981200"/>
            <a:ext cx="4038600" cy="2895600"/>
          </a:xfrm>
          <a:prstGeom prst="line">
            <a:avLst/>
          </a:prstGeom>
          <a:ln w="25400" cap="flat" cmpd="sng">
            <a:solidFill>
              <a:srgbClr val="20F90F"/>
            </a:solidFill>
            <a:prstDash val="solid"/>
            <a:headEnd type="none" w="sm" len="sm"/>
            <a:tailEnd type="none" w="sm" len="sm"/>
          </a:ln>
        </p:spPr>
      </p:sp>
      <p:sp>
        <p:nvSpPr>
          <p:cNvPr id="17414" name="Line 6"/>
          <p:cNvSpPr/>
          <p:nvPr/>
        </p:nvSpPr>
        <p:spPr>
          <a:xfrm flipV="1">
            <a:off x="1371600" y="2133600"/>
            <a:ext cx="4572000" cy="2286000"/>
          </a:xfrm>
          <a:prstGeom prst="line">
            <a:avLst/>
          </a:prstGeom>
          <a:ln w="25400" cap="flat" cmpd="sng">
            <a:solidFill>
              <a:schemeClr val="tx2"/>
            </a:solidFill>
            <a:prstDash val="solid"/>
            <a:headEnd type="none" w="sm" len="sm"/>
            <a:tailEnd type="none" w="sm" len="sm"/>
          </a:ln>
        </p:spPr>
      </p:sp>
      <p:sp>
        <p:nvSpPr>
          <p:cNvPr id="17415" name="Rectangle 7"/>
          <p:cNvSpPr/>
          <p:nvPr/>
        </p:nvSpPr>
        <p:spPr>
          <a:xfrm>
            <a:off x="6156325" y="492283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17416" name="Rectangle 8"/>
          <p:cNvSpPr/>
          <p:nvPr/>
        </p:nvSpPr>
        <p:spPr>
          <a:xfrm>
            <a:off x="212725" y="10048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17417" name="Rectangle 9"/>
          <p:cNvSpPr/>
          <p:nvPr/>
        </p:nvSpPr>
        <p:spPr>
          <a:xfrm>
            <a:off x="6003925" y="1843088"/>
            <a:ext cx="261461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tx2"/>
                </a:solidFill>
                <a:ea typeface="宋体" panose="02010600030101010101" pitchFamily="2" charset="-122"/>
              </a:rPr>
              <a:t>Market Supply</a:t>
            </a:r>
            <a:endParaRPr lang="en-US" altLang="zh-CN" sz="2800" dirty="0">
              <a:solidFill>
                <a:schemeClr val="tx2"/>
              </a:solidFill>
              <a:ea typeface="宋体" panose="02010600030101010101" pitchFamily="2" charset="-122"/>
            </a:endParaRPr>
          </a:p>
        </p:txBody>
      </p:sp>
      <p:sp>
        <p:nvSpPr>
          <p:cNvPr id="17418" name="Line 10"/>
          <p:cNvSpPr/>
          <p:nvPr/>
        </p:nvSpPr>
        <p:spPr>
          <a:xfrm flipH="1">
            <a:off x="1371600" y="3429000"/>
            <a:ext cx="1981200" cy="0"/>
          </a:xfrm>
          <a:prstGeom prst="line">
            <a:avLst/>
          </a:prstGeom>
          <a:ln w="12700" cap="flat" cmpd="sng">
            <a:solidFill>
              <a:schemeClr val="tx1"/>
            </a:solidFill>
            <a:prstDash val="dash"/>
            <a:headEnd type="none" w="sm" len="sm"/>
            <a:tailEnd type="none" w="sm" len="sm"/>
          </a:ln>
        </p:spPr>
      </p:sp>
      <p:sp>
        <p:nvSpPr>
          <p:cNvPr id="17419" name="Rectangle 11"/>
          <p:cNvSpPr/>
          <p:nvPr/>
        </p:nvSpPr>
        <p:spPr>
          <a:xfrm>
            <a:off x="822325" y="3094038"/>
            <a:ext cx="579438"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
        <p:nvSpPr>
          <p:cNvPr id="17420" name="Line 12"/>
          <p:cNvSpPr/>
          <p:nvPr/>
        </p:nvSpPr>
        <p:spPr>
          <a:xfrm>
            <a:off x="1371600" y="2743200"/>
            <a:ext cx="1066800" cy="0"/>
          </a:xfrm>
          <a:prstGeom prst="line">
            <a:avLst/>
          </a:prstGeom>
          <a:ln w="12700" cap="flat" cmpd="sng">
            <a:solidFill>
              <a:schemeClr val="tx1"/>
            </a:solidFill>
            <a:prstDash val="dash"/>
            <a:headEnd type="none" w="sm" len="sm"/>
            <a:tailEnd type="none" w="sm" len="sm"/>
          </a:ln>
        </p:spPr>
      </p:sp>
      <p:sp>
        <p:nvSpPr>
          <p:cNvPr id="17421" name="Rectangle 13"/>
          <p:cNvSpPr/>
          <p:nvPr/>
        </p:nvSpPr>
        <p:spPr>
          <a:xfrm>
            <a:off x="822325" y="2408238"/>
            <a:ext cx="5461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17422" name="Oval 14"/>
          <p:cNvSpPr/>
          <p:nvPr/>
        </p:nvSpPr>
        <p:spPr>
          <a:xfrm>
            <a:off x="1252538" y="2619375"/>
            <a:ext cx="228600" cy="228600"/>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17423" name="Line 15"/>
          <p:cNvSpPr/>
          <p:nvPr/>
        </p:nvSpPr>
        <p:spPr>
          <a:xfrm>
            <a:off x="1382713" y="4127500"/>
            <a:ext cx="2932112" cy="0"/>
          </a:xfrm>
          <a:prstGeom prst="line">
            <a:avLst/>
          </a:prstGeom>
          <a:ln w="12700" cap="flat" cmpd="sng">
            <a:solidFill>
              <a:schemeClr val="tx1"/>
            </a:solidFill>
            <a:prstDash val="dash"/>
            <a:headEnd type="none" w="sm" len="sm"/>
            <a:tailEnd type="none" w="sm" len="sm"/>
          </a:ln>
        </p:spPr>
      </p:sp>
      <p:sp>
        <p:nvSpPr>
          <p:cNvPr id="17424" name="Oval 16"/>
          <p:cNvSpPr/>
          <p:nvPr/>
        </p:nvSpPr>
        <p:spPr>
          <a:xfrm>
            <a:off x="4211638" y="3989388"/>
            <a:ext cx="228600" cy="228600"/>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17425" name="Rectangle 17"/>
          <p:cNvSpPr/>
          <p:nvPr/>
        </p:nvSpPr>
        <p:spPr>
          <a:xfrm>
            <a:off x="722313" y="3765550"/>
            <a:ext cx="63500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17426" name="Rectangle 18"/>
          <p:cNvSpPr/>
          <p:nvPr/>
        </p:nvSpPr>
        <p:spPr>
          <a:xfrm>
            <a:off x="455613" y="5399088"/>
            <a:ext cx="8686800" cy="1066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a price of p” the firm faces the entire market demand.</a:t>
            </a:r>
            <a:endParaRPr lang="en-US" altLang="zh-CN" dirty="0">
              <a:ea typeface="宋体" panose="02010600030101010101" pitchFamily="2" charset="-122"/>
            </a:endParaRPr>
          </a:p>
        </p:txBody>
      </p:sp>
      <p:sp>
        <p:nvSpPr>
          <p:cNvPr id="17427" name="Rectangle 19"/>
          <p:cNvSpPr/>
          <p:nvPr/>
        </p:nvSpPr>
        <p:spPr>
          <a:xfrm>
            <a:off x="4141788" y="2971800"/>
            <a:ext cx="5002212" cy="1066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a price of p’, zero is demanded from the firm.</a:t>
            </a:r>
            <a:endParaRPr lang="en-US" altLang="zh-CN" dirty="0">
              <a:ea typeface="宋体" panose="02010600030101010101" pitchFamily="2" charset="-122"/>
            </a:endParaRPr>
          </a:p>
        </p:txBody>
      </p:sp>
      <p:sp>
        <p:nvSpPr>
          <p:cNvPr id="17428" name="Rectangle 20"/>
          <p:cNvSpPr/>
          <p:nvPr/>
        </p:nvSpPr>
        <p:spPr>
          <a:xfrm>
            <a:off x="5241925" y="4333875"/>
            <a:ext cx="2832100"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Market Demand</a:t>
            </a:r>
            <a:endParaRPr lang="en-US" altLang="zh-CN" sz="2800" dirty="0">
              <a:solidFill>
                <a:srgbClr val="20F90F"/>
              </a:solidFill>
              <a:ea typeface="宋体" panose="02010600030101010101" pitchFamily="2" charset="-122"/>
            </a:endParaRPr>
          </a:p>
        </p:txBody>
      </p:sp>
      <p:sp>
        <p:nvSpPr>
          <p:cNvPr id="17429" name="Line 21"/>
          <p:cNvSpPr/>
          <p:nvPr/>
        </p:nvSpPr>
        <p:spPr>
          <a:xfrm>
            <a:off x="3359150" y="3406775"/>
            <a:ext cx="2051050" cy="1470025"/>
          </a:xfrm>
          <a:prstGeom prst="line">
            <a:avLst/>
          </a:prstGeom>
          <a:ln w="50800" cap="flat" cmpd="sng">
            <a:solidFill>
              <a:schemeClr val="hlink"/>
            </a:solidFill>
            <a:prstDash val="solid"/>
            <a:headEnd type="none" w="sm" len="sm"/>
            <a:tailEnd type="none" w="sm" len="sm"/>
          </a:ln>
        </p:spPr>
      </p:sp>
      <p:sp>
        <p:nvSpPr>
          <p:cNvPr id="17430" name="Line 22"/>
          <p:cNvSpPr/>
          <p:nvPr/>
        </p:nvSpPr>
        <p:spPr>
          <a:xfrm flipH="1">
            <a:off x="1371600" y="3429000"/>
            <a:ext cx="1981200" cy="0"/>
          </a:xfrm>
          <a:prstGeom prst="line">
            <a:avLst/>
          </a:prstGeom>
          <a:ln w="50800" cap="flat" cmpd="sng">
            <a:solidFill>
              <a:schemeClr val="hlink"/>
            </a:solidFill>
            <a:prstDash val="solid"/>
            <a:headEnd type="none" w="sm" len="sm"/>
            <a:tailEnd type="none" w="sm" len="sm"/>
          </a:ln>
        </p:spPr>
      </p:sp>
      <p:sp>
        <p:nvSpPr>
          <p:cNvPr id="17431" name="Line 23"/>
          <p:cNvSpPr/>
          <p:nvPr/>
        </p:nvSpPr>
        <p:spPr>
          <a:xfrm flipV="1">
            <a:off x="1368425" y="1784350"/>
            <a:ext cx="0" cy="1644650"/>
          </a:xfrm>
          <a:prstGeom prst="line">
            <a:avLst/>
          </a:prstGeom>
          <a:ln w="50800" cap="flat" cmpd="sng">
            <a:solidFill>
              <a:schemeClr val="hlink"/>
            </a:solidFill>
            <a:prstDash val="solid"/>
            <a:headEnd type="none" w="sm" len="sm"/>
            <a:tailEnd type="none" w="sm" len="sm"/>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Pure Competition</a:t>
            </a:r>
            <a:endParaRPr lang="en-US" altLang="zh-CN" dirty="0">
              <a:ea typeface="宋体" panose="02010600030101010101" pitchFamily="2" charset="-122"/>
            </a:endParaRPr>
          </a:p>
        </p:txBody>
      </p:sp>
      <p:sp>
        <p:nvSpPr>
          <p:cNvPr id="18435" name="Line 3"/>
          <p:cNvSpPr/>
          <p:nvPr/>
        </p:nvSpPr>
        <p:spPr>
          <a:xfrm>
            <a:off x="1371600" y="1447800"/>
            <a:ext cx="0" cy="3429000"/>
          </a:xfrm>
          <a:prstGeom prst="line">
            <a:avLst/>
          </a:prstGeom>
          <a:ln w="12700" cap="flat" cmpd="sng">
            <a:solidFill>
              <a:schemeClr val="tx1"/>
            </a:solidFill>
            <a:prstDash val="solid"/>
            <a:headEnd type="stealth" w="med" len="lg"/>
            <a:tailEnd type="none" w="sm" len="sm"/>
          </a:ln>
        </p:spPr>
      </p:sp>
      <p:sp>
        <p:nvSpPr>
          <p:cNvPr id="18436" name="Line 4"/>
          <p:cNvSpPr/>
          <p:nvPr/>
        </p:nvSpPr>
        <p:spPr>
          <a:xfrm>
            <a:off x="1371600" y="4876800"/>
            <a:ext cx="4800600" cy="0"/>
          </a:xfrm>
          <a:prstGeom prst="line">
            <a:avLst/>
          </a:prstGeom>
          <a:ln w="12700" cap="flat" cmpd="sng">
            <a:solidFill>
              <a:schemeClr val="tx1"/>
            </a:solidFill>
            <a:prstDash val="solid"/>
            <a:headEnd type="none" w="sm" len="sm"/>
            <a:tailEnd type="stealth" w="med" len="lg"/>
          </a:ln>
        </p:spPr>
      </p:sp>
      <p:sp>
        <p:nvSpPr>
          <p:cNvPr id="18437" name="Line 5"/>
          <p:cNvSpPr/>
          <p:nvPr/>
        </p:nvSpPr>
        <p:spPr>
          <a:xfrm>
            <a:off x="3359150" y="3406775"/>
            <a:ext cx="2051050" cy="1470025"/>
          </a:xfrm>
          <a:prstGeom prst="line">
            <a:avLst/>
          </a:prstGeom>
          <a:ln w="50800" cap="flat" cmpd="sng">
            <a:solidFill>
              <a:schemeClr val="hlink"/>
            </a:solidFill>
            <a:prstDash val="solid"/>
            <a:headEnd type="none" w="sm" len="sm"/>
            <a:tailEnd type="none" w="sm" len="sm"/>
          </a:ln>
        </p:spPr>
      </p:sp>
      <p:sp>
        <p:nvSpPr>
          <p:cNvPr id="18438" name="Rectangle 6"/>
          <p:cNvSpPr/>
          <p:nvPr/>
        </p:nvSpPr>
        <p:spPr>
          <a:xfrm>
            <a:off x="6156325" y="4922838"/>
            <a:ext cx="45561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18439" name="Rectangle 7"/>
          <p:cNvSpPr/>
          <p:nvPr/>
        </p:nvSpPr>
        <p:spPr>
          <a:xfrm>
            <a:off x="212725" y="10048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18440" name="Line 8"/>
          <p:cNvSpPr/>
          <p:nvPr/>
        </p:nvSpPr>
        <p:spPr>
          <a:xfrm flipH="1">
            <a:off x="1371600" y="3429000"/>
            <a:ext cx="1981200" cy="0"/>
          </a:xfrm>
          <a:prstGeom prst="line">
            <a:avLst/>
          </a:prstGeom>
          <a:ln w="50800" cap="flat" cmpd="sng">
            <a:solidFill>
              <a:schemeClr val="hlink"/>
            </a:solidFill>
            <a:prstDash val="solid"/>
            <a:headEnd type="none" w="sm" len="sm"/>
            <a:tailEnd type="none" w="sm" len="sm"/>
          </a:ln>
        </p:spPr>
      </p:sp>
      <p:sp>
        <p:nvSpPr>
          <p:cNvPr id="18441" name="Rectangle 9"/>
          <p:cNvSpPr/>
          <p:nvPr/>
        </p:nvSpPr>
        <p:spPr>
          <a:xfrm>
            <a:off x="822325" y="3094038"/>
            <a:ext cx="579438"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
        <p:nvSpPr>
          <p:cNvPr id="18442" name="Rectangle 10"/>
          <p:cNvSpPr/>
          <p:nvPr/>
        </p:nvSpPr>
        <p:spPr>
          <a:xfrm>
            <a:off x="822325" y="2408238"/>
            <a:ext cx="5461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18443" name="Line 11"/>
          <p:cNvSpPr/>
          <p:nvPr/>
        </p:nvSpPr>
        <p:spPr>
          <a:xfrm>
            <a:off x="1382713" y="4127500"/>
            <a:ext cx="2932112" cy="0"/>
          </a:xfrm>
          <a:prstGeom prst="line">
            <a:avLst/>
          </a:prstGeom>
          <a:ln w="12700" cap="flat" cmpd="sng">
            <a:solidFill>
              <a:schemeClr val="tx1"/>
            </a:solidFill>
            <a:prstDash val="dash"/>
            <a:headEnd type="none" w="sm" len="sm"/>
            <a:tailEnd type="none" w="sm" len="sm"/>
          </a:ln>
        </p:spPr>
      </p:sp>
      <p:sp>
        <p:nvSpPr>
          <p:cNvPr id="18444" name="Oval 12"/>
          <p:cNvSpPr/>
          <p:nvPr/>
        </p:nvSpPr>
        <p:spPr>
          <a:xfrm>
            <a:off x="4211638" y="3989388"/>
            <a:ext cx="228600" cy="228600"/>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18445" name="Rectangle 13"/>
          <p:cNvSpPr/>
          <p:nvPr/>
        </p:nvSpPr>
        <p:spPr>
          <a:xfrm>
            <a:off x="722313" y="3765550"/>
            <a:ext cx="63500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18446" name="Line 14"/>
          <p:cNvSpPr/>
          <p:nvPr/>
        </p:nvSpPr>
        <p:spPr>
          <a:xfrm flipV="1">
            <a:off x="1368425" y="1784350"/>
            <a:ext cx="0" cy="1644650"/>
          </a:xfrm>
          <a:prstGeom prst="line">
            <a:avLst/>
          </a:prstGeom>
          <a:ln w="50800" cap="flat" cmpd="sng">
            <a:solidFill>
              <a:schemeClr val="hlink"/>
            </a:solidFill>
            <a:prstDash val="solid"/>
            <a:headEnd type="none" w="sm" len="sm"/>
            <a:tailEnd type="none" w="sm" len="sm"/>
          </a:ln>
        </p:spPr>
      </p:sp>
      <p:sp>
        <p:nvSpPr>
          <p:cNvPr id="18447" name="Oval 15"/>
          <p:cNvSpPr/>
          <p:nvPr/>
        </p:nvSpPr>
        <p:spPr>
          <a:xfrm>
            <a:off x="1252538" y="2619375"/>
            <a:ext cx="228600" cy="228600"/>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18448" name="Rectangle 16"/>
          <p:cNvSpPr/>
          <p:nvPr/>
        </p:nvSpPr>
        <p:spPr>
          <a:xfrm>
            <a:off x="5241925" y="4333875"/>
            <a:ext cx="2832100"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Market Demand</a:t>
            </a:r>
            <a:endParaRPr lang="en-US" altLang="zh-CN" sz="2800" dirty="0">
              <a:solidFill>
                <a:srgbClr val="20F90F"/>
              </a:solidFill>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Smallness</a:t>
            </a:r>
            <a:endParaRPr lang="en-US" altLang="zh-CN" dirty="0">
              <a:ea typeface="宋体" panose="02010600030101010101" pitchFamily="2" charset="-122"/>
            </a:endParaRPr>
          </a:p>
        </p:txBody>
      </p:sp>
      <p:sp>
        <p:nvSpPr>
          <p:cNvPr id="19459"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What does it mean to say that an individual firm is “small relative to the industry”?</a:t>
            </a:r>
            <a:endParaRPr lang="en-US" altLang="zh-CN" dirty="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Smallness</a:t>
            </a:r>
            <a:endParaRPr lang="en-US" altLang="zh-CN" dirty="0">
              <a:ea typeface="宋体" panose="02010600030101010101" pitchFamily="2" charset="-122"/>
            </a:endParaRPr>
          </a:p>
        </p:txBody>
      </p:sp>
      <p:sp>
        <p:nvSpPr>
          <p:cNvPr id="20483" name="Line 3"/>
          <p:cNvSpPr/>
          <p:nvPr/>
        </p:nvSpPr>
        <p:spPr>
          <a:xfrm>
            <a:off x="1238250" y="1500188"/>
            <a:ext cx="0" cy="2024062"/>
          </a:xfrm>
          <a:prstGeom prst="line">
            <a:avLst/>
          </a:prstGeom>
          <a:ln w="12700" cap="flat" cmpd="sng">
            <a:solidFill>
              <a:schemeClr val="tx1"/>
            </a:solidFill>
            <a:prstDash val="solid"/>
            <a:headEnd type="stealth" w="med" len="lg"/>
            <a:tailEnd type="none" w="sm" len="sm"/>
          </a:ln>
        </p:spPr>
      </p:sp>
      <p:sp>
        <p:nvSpPr>
          <p:cNvPr id="20484" name="Line 4"/>
          <p:cNvSpPr/>
          <p:nvPr/>
        </p:nvSpPr>
        <p:spPr>
          <a:xfrm>
            <a:off x="1238250" y="3524250"/>
            <a:ext cx="6786563" cy="0"/>
          </a:xfrm>
          <a:prstGeom prst="line">
            <a:avLst/>
          </a:prstGeom>
          <a:ln w="12700" cap="flat" cmpd="sng">
            <a:solidFill>
              <a:schemeClr val="tx1"/>
            </a:solidFill>
            <a:prstDash val="solid"/>
            <a:headEnd type="none" w="sm" len="sm"/>
            <a:tailEnd type="stealth" w="med" len="lg"/>
          </a:ln>
        </p:spPr>
      </p:sp>
      <p:sp>
        <p:nvSpPr>
          <p:cNvPr id="20485" name="Freeform 5"/>
          <p:cNvSpPr/>
          <p:nvPr/>
        </p:nvSpPr>
        <p:spPr>
          <a:xfrm>
            <a:off x="1238250" y="1833563"/>
            <a:ext cx="6335713" cy="1692275"/>
          </a:xfrm>
          <a:custGeom>
            <a:avLst/>
            <a:gdLst>
              <a:gd name="txL" fmla="*/ 0 w 3991"/>
              <a:gd name="txT" fmla="*/ 0 h 1066"/>
              <a:gd name="txR" fmla="*/ 3991 w 3991"/>
              <a:gd name="txB" fmla="*/ 1066 h 1066"/>
            </a:gdLst>
            <a:ahLst/>
            <a:cxnLst>
              <a:cxn ang="0">
                <a:pos x="2147483646" y="2147483646"/>
              </a:cxn>
              <a:cxn ang="0">
                <a:pos x="2147483646" y="1058465625"/>
              </a:cxn>
              <a:cxn ang="0">
                <a:pos x="0" y="1058465625"/>
              </a:cxn>
              <a:cxn ang="0">
                <a:pos x="0" y="37801550"/>
              </a:cxn>
              <a:cxn ang="0">
                <a:pos x="0" y="0"/>
              </a:cxn>
            </a:cxnLst>
            <a:rect l="txL" t="txT" r="txR" b="txB"/>
            <a:pathLst>
              <a:path w="3991" h="1066">
                <a:moveTo>
                  <a:pt x="3990" y="1065"/>
                </a:moveTo>
                <a:lnTo>
                  <a:pt x="3555" y="420"/>
                </a:lnTo>
                <a:lnTo>
                  <a:pt x="0" y="420"/>
                </a:lnTo>
                <a:lnTo>
                  <a:pt x="0" y="15"/>
                </a:lnTo>
                <a:lnTo>
                  <a:pt x="0" y="0"/>
                </a:lnTo>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20486" name="Arc 6"/>
          <p:cNvSpPr/>
          <p:nvPr/>
        </p:nvSpPr>
        <p:spPr>
          <a:xfrm>
            <a:off x="1262063" y="1833563"/>
            <a:ext cx="168275" cy="1238250"/>
          </a:xfrm>
          <a:custGeom>
            <a:avLst/>
            <a:gdLst>
              <a:gd name="txL" fmla="*/ 0 w 34683"/>
              <a:gd name="txT" fmla="*/ 0 h 21600"/>
              <a:gd name="txR" fmla="*/ 34683 w 34683"/>
              <a:gd name="txB" fmla="*/ 21600 h 21600"/>
            </a:gdLst>
            <a:ahLst/>
            <a:cxnLst>
              <a:cxn ang="0">
                <a:pos x="3961190" y="0"/>
              </a:cxn>
              <a:cxn ang="0">
                <a:pos x="0" y="2147483646"/>
              </a:cxn>
              <a:cxn ang="0">
                <a:pos x="1494224" y="0"/>
              </a:cxn>
            </a:cxnLst>
            <a:rect l="txL" t="txT" r="txR" b="txB"/>
            <a:pathLst>
              <a:path w="34683" h="21600" fill="none">
                <a:moveTo>
                  <a:pt x="34683" y="0"/>
                </a:moveTo>
                <a:cubicBezTo>
                  <a:pt x="34683" y="11929"/>
                  <a:pt x="25012" y="21600"/>
                  <a:pt x="13083" y="21600"/>
                </a:cubicBezTo>
                <a:cubicBezTo>
                  <a:pt x="8356" y="21600"/>
                  <a:pt x="3760" y="20049"/>
                  <a:pt x="-1" y="17187"/>
                </a:cubicBezTo>
              </a:path>
              <a:path w="34683" h="21600" stroke="0">
                <a:moveTo>
                  <a:pt x="34683" y="0"/>
                </a:moveTo>
                <a:cubicBezTo>
                  <a:pt x="34683" y="11929"/>
                  <a:pt x="25012" y="21600"/>
                  <a:pt x="13083" y="21600"/>
                </a:cubicBezTo>
                <a:cubicBezTo>
                  <a:pt x="8356" y="21600"/>
                  <a:pt x="3760" y="20049"/>
                  <a:pt x="-1" y="17187"/>
                </a:cubicBezTo>
                <a:lnTo>
                  <a:pt x="13083" y="0"/>
                </a:lnTo>
                <a:lnTo>
                  <a:pt x="34683" y="0"/>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20487" name="Rectangle 7"/>
          <p:cNvSpPr/>
          <p:nvPr/>
        </p:nvSpPr>
        <p:spPr>
          <a:xfrm>
            <a:off x="241300" y="9667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20488" name="Rectangle 8"/>
          <p:cNvSpPr/>
          <p:nvPr/>
        </p:nvSpPr>
        <p:spPr>
          <a:xfrm>
            <a:off x="7813675" y="3470275"/>
            <a:ext cx="4095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0489" name="Rectangle 9"/>
          <p:cNvSpPr/>
          <p:nvPr/>
        </p:nvSpPr>
        <p:spPr>
          <a:xfrm>
            <a:off x="1431925" y="1514475"/>
            <a:ext cx="1903413"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Firm’s MC</a:t>
            </a:r>
            <a:endParaRPr lang="en-US" altLang="zh-CN" sz="2800" dirty="0">
              <a:solidFill>
                <a:srgbClr val="20F90F"/>
              </a:solidFill>
              <a:ea typeface="宋体" panose="02010600030101010101" pitchFamily="2" charset="-122"/>
            </a:endParaRPr>
          </a:p>
        </p:txBody>
      </p:sp>
      <p:sp>
        <p:nvSpPr>
          <p:cNvPr id="20490" name="Rectangle 10"/>
          <p:cNvSpPr/>
          <p:nvPr/>
        </p:nvSpPr>
        <p:spPr>
          <a:xfrm>
            <a:off x="327025" y="3946525"/>
            <a:ext cx="8704263" cy="155416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The individual firm’s technology causes it</a:t>
            </a:r>
            <a:br>
              <a:rPr lang="en-US" altLang="zh-CN" dirty="0">
                <a:ea typeface="宋体" panose="02010600030101010101" pitchFamily="2" charset="-122"/>
              </a:rPr>
            </a:br>
            <a:r>
              <a:rPr lang="en-US" altLang="zh-CN" dirty="0">
                <a:ea typeface="宋体" panose="02010600030101010101" pitchFamily="2" charset="-122"/>
              </a:rPr>
              <a:t>always to supply only a small part of the </a:t>
            </a:r>
            <a:endParaRPr lang="en-US" altLang="zh-CN" dirty="0">
              <a:ea typeface="宋体" panose="02010600030101010101" pitchFamily="2" charset="-122"/>
            </a:endParaRPr>
          </a:p>
          <a:p>
            <a:pPr marL="0" lvl="0" indent="0">
              <a:spcBef>
                <a:spcPct val="0"/>
              </a:spcBef>
              <a:buClrTx/>
              <a:buSzTx/>
              <a:buFontTx/>
              <a:buNone/>
            </a:pPr>
            <a:r>
              <a:rPr lang="en-US" altLang="zh-CN" dirty="0">
                <a:ea typeface="宋体" panose="02010600030101010101" pitchFamily="2" charset="-122"/>
              </a:rPr>
              <a:t>total quantity demanded at the market price.</a:t>
            </a:r>
            <a:endParaRPr lang="en-US" altLang="zh-CN" dirty="0">
              <a:ea typeface="宋体" panose="02010600030101010101" pitchFamily="2" charset="-122"/>
            </a:endParaRPr>
          </a:p>
        </p:txBody>
      </p:sp>
      <p:sp>
        <p:nvSpPr>
          <p:cNvPr id="20491" name="Rectangle 11"/>
          <p:cNvSpPr/>
          <p:nvPr/>
        </p:nvSpPr>
        <p:spPr>
          <a:xfrm>
            <a:off x="6313488" y="2038350"/>
            <a:ext cx="2713037" cy="94615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Firm’s demand</a:t>
            </a:r>
            <a:br>
              <a:rPr lang="en-US" altLang="zh-CN" sz="2800" dirty="0">
                <a:solidFill>
                  <a:schemeClr val="hlink"/>
                </a:solidFill>
                <a:ea typeface="宋体" panose="02010600030101010101" pitchFamily="2" charset="-122"/>
              </a:rPr>
            </a:br>
            <a:r>
              <a:rPr lang="en-US" altLang="zh-CN" sz="2800" dirty="0">
                <a:solidFill>
                  <a:schemeClr val="hlink"/>
                </a:solidFill>
                <a:ea typeface="宋体" panose="02010600030101010101" pitchFamily="2" charset="-122"/>
              </a:rPr>
              <a:t>          curve</a:t>
            </a:r>
            <a:endParaRPr lang="en-US" altLang="zh-CN" sz="2800" dirty="0">
              <a:solidFill>
                <a:schemeClr val="hlink"/>
              </a:solidFill>
              <a:ea typeface="宋体" panose="02010600030101010101" pitchFamily="2" charset="-122"/>
            </a:endParaRPr>
          </a:p>
        </p:txBody>
      </p:sp>
      <p:sp>
        <p:nvSpPr>
          <p:cNvPr id="20492" name="Rectangle 12"/>
          <p:cNvSpPr/>
          <p:nvPr/>
        </p:nvSpPr>
        <p:spPr>
          <a:xfrm>
            <a:off x="631825" y="2189163"/>
            <a:ext cx="579438"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21507"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Each firm is a profit-maximizer and in a short-run.</a:t>
            </a:r>
            <a:endParaRPr lang="en-US" altLang="zh-CN" dirty="0">
              <a:ea typeface="宋体" panose="02010600030101010101" pitchFamily="2" charset="-122"/>
            </a:endParaRPr>
          </a:p>
          <a:p>
            <a:r>
              <a:rPr lang="en-US" altLang="zh-CN" dirty="0">
                <a:ea typeface="宋体" panose="02010600030101010101" pitchFamily="2" charset="-122"/>
              </a:rPr>
              <a:t>Q: How does each firm choose its output level?</a:t>
            </a:r>
            <a:endParaRPr lang="en-US" altLang="zh-CN"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1026"/>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22531" name="Rectangle 1027"/>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Each firm is a profit-maximizer and in a short-run.</a:t>
            </a:r>
            <a:endParaRPr lang="en-US" altLang="zh-CN" dirty="0">
              <a:ea typeface="宋体" panose="02010600030101010101" pitchFamily="2" charset="-122"/>
            </a:endParaRPr>
          </a:p>
          <a:p>
            <a:r>
              <a:rPr lang="en-US" altLang="zh-CN" dirty="0">
                <a:ea typeface="宋体" panose="02010600030101010101" pitchFamily="2" charset="-122"/>
              </a:rPr>
              <a:t>Q: How does each firm choose its output level?</a:t>
            </a:r>
            <a:endParaRPr lang="en-US" altLang="zh-CN" dirty="0">
              <a:ea typeface="宋体" panose="02010600030101010101" pitchFamily="2" charset="-122"/>
            </a:endParaRPr>
          </a:p>
          <a:p>
            <a:r>
              <a:rPr lang="en-US" altLang="zh-CN" dirty="0">
                <a:ea typeface="宋体" panose="02010600030101010101" pitchFamily="2" charset="-122"/>
              </a:rPr>
              <a:t>A: By solving</a:t>
            </a:r>
            <a:endParaRPr lang="en-US" altLang="zh-CN" dirty="0">
              <a:ea typeface="宋体" panose="02010600030101010101" pitchFamily="2" charset="-122"/>
            </a:endParaRPr>
          </a:p>
        </p:txBody>
      </p:sp>
      <p:graphicFrame>
        <p:nvGraphicFramePr>
          <p:cNvPr id="22532" name="Object 1028"/>
          <p:cNvGraphicFramePr/>
          <p:nvPr/>
        </p:nvGraphicFramePr>
        <p:xfrm>
          <a:off x="2298700" y="4360863"/>
          <a:ext cx="4511675" cy="860425"/>
        </p:xfrm>
        <a:graphic>
          <a:graphicData uri="http://schemas.openxmlformats.org/presentationml/2006/ole">
            <mc:AlternateContent xmlns:mc="http://schemas.openxmlformats.org/markup-compatibility/2006">
              <mc:Choice xmlns:v="urn:schemas-microsoft-com:vml" Requires="v">
                <p:oleObj spid="_x0000_s3082" name="" r:id="rId1" imgW="2847975" imgH="557530" progId="Equation.2">
                  <p:embed/>
                </p:oleObj>
              </mc:Choice>
              <mc:Fallback>
                <p:oleObj name="" r:id="rId1" imgW="2847975" imgH="557530" progId="Equation.2">
                  <p:embed/>
                  <p:pic>
                    <p:nvPicPr>
                      <p:cNvPr id="0" name="图片 3081"/>
                      <p:cNvPicPr/>
                      <p:nvPr/>
                    </p:nvPicPr>
                    <p:blipFill>
                      <a:blip r:embed="rId2">
                        <a:clrChange>
                          <a:clrFrom>
                            <a:srgbClr val="000000"/>
                          </a:clrFrom>
                          <a:clrTo>
                            <a:srgbClr val="000000"/>
                          </a:clrTo>
                        </a:clrChange>
                      </a:blip>
                      <a:stretch>
                        <a:fillRect/>
                      </a:stretch>
                    </p:blipFill>
                    <p:spPr>
                      <a:xfrm>
                        <a:off x="2298700" y="4360863"/>
                        <a:ext cx="4511675" cy="860425"/>
                      </a:xfrm>
                      <a:prstGeom prst="rect">
                        <a:avLst/>
                      </a:prstGeom>
                      <a:no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graphicFrame>
        <p:nvGraphicFramePr>
          <p:cNvPr id="23555" name="Object 3"/>
          <p:cNvGraphicFramePr/>
          <p:nvPr/>
        </p:nvGraphicFramePr>
        <p:xfrm>
          <a:off x="1965325" y="1193800"/>
          <a:ext cx="4511675" cy="860425"/>
        </p:xfrm>
        <a:graphic>
          <a:graphicData uri="http://schemas.openxmlformats.org/presentationml/2006/ole">
            <mc:AlternateContent xmlns:mc="http://schemas.openxmlformats.org/markup-compatibility/2006">
              <mc:Choice xmlns:v="urn:schemas-microsoft-com:vml" Requires="v">
                <p:oleObj spid="_x0000_s3084" name="" r:id="rId1" imgW="2847975" imgH="557530" progId="Equation.2">
                  <p:embed/>
                </p:oleObj>
              </mc:Choice>
              <mc:Fallback>
                <p:oleObj name="" r:id="rId1" imgW="2847975" imgH="557530" progId="Equation.2">
                  <p:embed/>
                  <p:pic>
                    <p:nvPicPr>
                      <p:cNvPr id="0" name="图片 3083"/>
                      <p:cNvPicPr/>
                      <p:nvPr/>
                    </p:nvPicPr>
                    <p:blipFill>
                      <a:blip r:embed="rId2">
                        <a:clrChange>
                          <a:clrFrom>
                            <a:srgbClr val="000000"/>
                          </a:clrFrom>
                          <a:clrTo>
                            <a:srgbClr val="000000"/>
                          </a:clrTo>
                        </a:clrChange>
                      </a:blip>
                      <a:stretch>
                        <a:fillRect/>
                      </a:stretch>
                    </p:blipFill>
                    <p:spPr>
                      <a:xfrm>
                        <a:off x="1965325" y="1193800"/>
                        <a:ext cx="4511675" cy="860425"/>
                      </a:xfrm>
                      <a:prstGeom prst="rect">
                        <a:avLst/>
                      </a:prstGeom>
                      <a:noFill/>
                      <a:ln w="38100">
                        <a:noFill/>
                        <a:miter/>
                      </a:ln>
                    </p:spPr>
                  </p:pic>
                </p:oleObj>
              </mc:Fallback>
            </mc:AlternateContent>
          </a:graphicData>
        </a:graphic>
      </p:graphicFrame>
      <p:sp>
        <p:nvSpPr>
          <p:cNvPr id="23556" name="Rectangle 4"/>
          <p:cNvSpPr/>
          <p:nvPr/>
        </p:nvSpPr>
        <p:spPr>
          <a:xfrm>
            <a:off x="812800" y="2374900"/>
            <a:ext cx="7024688"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What can the solution y</a:t>
            </a:r>
            <a:r>
              <a:rPr lang="en-US" altLang="zh-CN" baseline="-25000" dirty="0">
                <a:ea typeface="宋体" panose="02010600030101010101" pitchFamily="2" charset="-122"/>
              </a:rPr>
              <a:t>s</a:t>
            </a:r>
            <a:r>
              <a:rPr lang="en-US" altLang="zh-CN" dirty="0">
                <a:ea typeface="宋体" panose="02010600030101010101" pitchFamily="2" charset="-122"/>
              </a:rPr>
              <a:t>* look like?</a:t>
            </a:r>
            <a:endParaRPr lang="en-US" altLang="zh-CN" dirty="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graphicFrame>
        <p:nvGraphicFramePr>
          <p:cNvPr id="24579" name="Object 3"/>
          <p:cNvGraphicFramePr/>
          <p:nvPr/>
        </p:nvGraphicFramePr>
        <p:xfrm>
          <a:off x="1965325" y="1193800"/>
          <a:ext cx="4511675" cy="860425"/>
        </p:xfrm>
        <a:graphic>
          <a:graphicData uri="http://schemas.openxmlformats.org/presentationml/2006/ole">
            <mc:AlternateContent xmlns:mc="http://schemas.openxmlformats.org/markup-compatibility/2006">
              <mc:Choice xmlns:v="urn:schemas-microsoft-com:vml" Requires="v">
                <p:oleObj spid="_x0000_s3083" name="" r:id="rId1" imgW="2847975" imgH="557530" progId="Equation.2">
                  <p:embed/>
                </p:oleObj>
              </mc:Choice>
              <mc:Fallback>
                <p:oleObj name="" r:id="rId1" imgW="2847975" imgH="557530" progId="Equation.2">
                  <p:embed/>
                  <p:pic>
                    <p:nvPicPr>
                      <p:cNvPr id="0" name="图片 3082"/>
                      <p:cNvPicPr/>
                      <p:nvPr/>
                    </p:nvPicPr>
                    <p:blipFill>
                      <a:blip r:embed="rId2">
                        <a:clrChange>
                          <a:clrFrom>
                            <a:srgbClr val="000000"/>
                          </a:clrFrom>
                          <a:clrTo>
                            <a:srgbClr val="000000"/>
                          </a:clrTo>
                        </a:clrChange>
                      </a:blip>
                      <a:stretch>
                        <a:fillRect/>
                      </a:stretch>
                    </p:blipFill>
                    <p:spPr>
                      <a:xfrm>
                        <a:off x="1965325" y="1193800"/>
                        <a:ext cx="4511675" cy="860425"/>
                      </a:xfrm>
                      <a:prstGeom prst="rect">
                        <a:avLst/>
                      </a:prstGeom>
                      <a:noFill/>
                      <a:ln w="38100">
                        <a:noFill/>
                        <a:miter/>
                      </a:ln>
                    </p:spPr>
                  </p:pic>
                </p:oleObj>
              </mc:Fallback>
            </mc:AlternateContent>
          </a:graphicData>
        </a:graphic>
      </p:graphicFrame>
      <p:sp>
        <p:nvSpPr>
          <p:cNvPr id="24580" name="Rectangle 4"/>
          <p:cNvSpPr/>
          <p:nvPr/>
        </p:nvSpPr>
        <p:spPr>
          <a:xfrm>
            <a:off x="812800" y="2374900"/>
            <a:ext cx="7024688"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What can the solution y</a:t>
            </a:r>
            <a:r>
              <a:rPr lang="en-US" altLang="zh-CN" baseline="-25000" dirty="0">
                <a:ea typeface="宋体" panose="02010600030101010101" pitchFamily="2" charset="-122"/>
              </a:rPr>
              <a:t>s</a:t>
            </a:r>
            <a:r>
              <a:rPr lang="en-US" altLang="zh-CN" dirty="0">
                <a:ea typeface="宋体" panose="02010600030101010101" pitchFamily="2" charset="-122"/>
              </a:rPr>
              <a:t>* look like?</a:t>
            </a:r>
            <a:br>
              <a:rPr lang="en-US" altLang="zh-CN" dirty="0">
                <a:ea typeface="宋体" panose="02010600030101010101" pitchFamily="2" charset="-122"/>
              </a:rPr>
            </a:br>
            <a:r>
              <a:rPr lang="en-US" altLang="zh-CN" dirty="0">
                <a:ea typeface="宋体" panose="02010600030101010101" pitchFamily="2" charset="-122"/>
              </a:rPr>
              <a:t>(a) y</a:t>
            </a:r>
            <a:r>
              <a:rPr lang="en-US" altLang="zh-CN" baseline="-25000" dirty="0">
                <a:ea typeface="宋体" panose="02010600030101010101" pitchFamily="2" charset="-122"/>
              </a:rPr>
              <a:t>s</a:t>
            </a:r>
            <a:r>
              <a:rPr lang="en-US" altLang="zh-CN" dirty="0">
                <a:ea typeface="宋体" panose="02010600030101010101" pitchFamily="2" charset="-122"/>
              </a:rPr>
              <a:t>* &gt; 0:</a:t>
            </a:r>
            <a:endParaRPr lang="en-US" altLang="zh-CN" dirty="0">
              <a:ea typeface="宋体" panose="02010600030101010101" pitchFamily="2" charset="-122"/>
            </a:endParaRPr>
          </a:p>
        </p:txBody>
      </p:sp>
      <p:sp>
        <p:nvSpPr>
          <p:cNvPr id="24581" name="Line 5"/>
          <p:cNvSpPr/>
          <p:nvPr/>
        </p:nvSpPr>
        <p:spPr>
          <a:xfrm>
            <a:off x="1357313" y="3690938"/>
            <a:ext cx="0" cy="2190750"/>
          </a:xfrm>
          <a:prstGeom prst="line">
            <a:avLst/>
          </a:prstGeom>
          <a:ln w="12700" cap="flat" cmpd="sng">
            <a:solidFill>
              <a:schemeClr val="tx1"/>
            </a:solidFill>
            <a:prstDash val="solid"/>
            <a:headEnd type="stealth" w="med" len="lg"/>
            <a:tailEnd type="none" w="sm" len="sm"/>
          </a:ln>
        </p:spPr>
      </p:sp>
      <p:sp>
        <p:nvSpPr>
          <p:cNvPr id="24582" name="Line 6"/>
          <p:cNvSpPr/>
          <p:nvPr/>
        </p:nvSpPr>
        <p:spPr>
          <a:xfrm>
            <a:off x="1357313" y="5334000"/>
            <a:ext cx="3119437" cy="0"/>
          </a:xfrm>
          <a:prstGeom prst="line">
            <a:avLst/>
          </a:prstGeom>
          <a:ln w="12700" cap="flat" cmpd="sng">
            <a:solidFill>
              <a:schemeClr val="tx1"/>
            </a:solidFill>
            <a:prstDash val="solid"/>
            <a:headEnd type="none" w="sm" len="sm"/>
            <a:tailEnd type="stealth" w="med" len="lg"/>
          </a:ln>
        </p:spPr>
      </p:sp>
      <p:sp>
        <p:nvSpPr>
          <p:cNvPr id="24583" name="Arc 7"/>
          <p:cNvSpPr/>
          <p:nvPr/>
        </p:nvSpPr>
        <p:spPr>
          <a:xfrm rot="-9780000">
            <a:off x="1511300" y="4459288"/>
            <a:ext cx="2284413" cy="1693862"/>
          </a:xfrm>
          <a:custGeom>
            <a:avLst/>
            <a:gdLst>
              <a:gd name="txL" fmla="*/ 0 w 35471"/>
              <a:gd name="txT" fmla="*/ 0 h 21600"/>
              <a:gd name="txR" fmla="*/ 35471 w 35471"/>
              <a:gd name="txB" fmla="*/ 21600 h 21600"/>
            </a:gdLst>
            <a:ahLst/>
            <a:cxnLst>
              <a:cxn ang="0">
                <a:pos x="2147483646" y="1064807372"/>
              </a:cxn>
              <a:cxn ang="0">
                <a:pos x="0" y="2147483646"/>
              </a:cxn>
              <a:cxn ang="0">
                <a:pos x="2147483646" y="0"/>
              </a:cxn>
            </a:cxnLst>
            <a:rect l="txL" t="txT" r="txR" b="txB"/>
            <a:pathLst>
              <a:path w="35471" h="21600" fill="none">
                <a:moveTo>
                  <a:pt x="35470" y="2207"/>
                </a:moveTo>
                <a:cubicBezTo>
                  <a:pt x="34338" y="13224"/>
                  <a:pt x="25058" y="21599"/>
                  <a:pt x="13984" y="21600"/>
                </a:cubicBezTo>
                <a:cubicBezTo>
                  <a:pt x="8860" y="21600"/>
                  <a:pt x="3904" y="19779"/>
                  <a:pt x="-1" y="16462"/>
                </a:cubicBezTo>
              </a:path>
              <a:path w="35471" h="21600" stroke="0">
                <a:moveTo>
                  <a:pt x="35470" y="2207"/>
                </a:moveTo>
                <a:cubicBezTo>
                  <a:pt x="34338" y="13224"/>
                  <a:pt x="25058" y="21599"/>
                  <a:pt x="13984" y="21600"/>
                </a:cubicBezTo>
                <a:cubicBezTo>
                  <a:pt x="8860" y="21600"/>
                  <a:pt x="3904" y="19779"/>
                  <a:pt x="-1" y="16462"/>
                </a:cubicBezTo>
                <a:lnTo>
                  <a:pt x="13984" y="0"/>
                </a:lnTo>
                <a:lnTo>
                  <a:pt x="35470" y="2207"/>
                </a:lnTo>
                <a:close/>
              </a:path>
            </a:pathLst>
          </a:custGeom>
          <a:noFill/>
          <a:ln w="25400" cap="rnd" cmpd="sng">
            <a:solidFill>
              <a:schemeClr val="tx1">
                <a:alpha val="100000"/>
              </a:schemeClr>
            </a:solidFill>
            <a:prstDash val="solid"/>
            <a:round/>
            <a:headEnd type="none" w="sm" len="sm"/>
            <a:tailEnd type="none" w="sm" len="sm"/>
          </a:ln>
        </p:spPr>
        <p:txBody>
          <a:bodyPr/>
          <a:p>
            <a:endParaRPr lang="zh-CN" altLang="en-US"/>
          </a:p>
        </p:txBody>
      </p:sp>
      <p:sp>
        <p:nvSpPr>
          <p:cNvPr id="24584" name="Rectangle 8"/>
          <p:cNvSpPr/>
          <p:nvPr/>
        </p:nvSpPr>
        <p:spPr>
          <a:xfrm>
            <a:off x="265113" y="3565525"/>
            <a:ext cx="9937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latin typeface="Symbol" panose="05050102010706020507" pitchFamily="18" charset="2"/>
                <a:ea typeface="宋体" panose="02010600030101010101" pitchFamily="2" charset="-122"/>
              </a:rPr>
              <a:t>P</a:t>
            </a: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4585" name="Rectangle 9"/>
          <p:cNvSpPr/>
          <p:nvPr/>
        </p:nvSpPr>
        <p:spPr>
          <a:xfrm>
            <a:off x="4313238" y="5375275"/>
            <a:ext cx="4095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4586" name="Line 10"/>
          <p:cNvSpPr/>
          <p:nvPr/>
        </p:nvSpPr>
        <p:spPr>
          <a:xfrm>
            <a:off x="2782888" y="4568825"/>
            <a:ext cx="0" cy="750888"/>
          </a:xfrm>
          <a:prstGeom prst="line">
            <a:avLst/>
          </a:prstGeom>
          <a:ln w="12700" cap="flat" cmpd="sng">
            <a:solidFill>
              <a:schemeClr val="tx1"/>
            </a:solidFill>
            <a:prstDash val="dash"/>
            <a:headEnd type="none" w="sm" len="sm"/>
            <a:tailEnd type="none" w="sm" len="sm"/>
          </a:ln>
        </p:spPr>
      </p:sp>
      <p:sp>
        <p:nvSpPr>
          <p:cNvPr id="24587" name="Rectangle 11"/>
          <p:cNvSpPr/>
          <p:nvPr/>
        </p:nvSpPr>
        <p:spPr>
          <a:xfrm>
            <a:off x="2513013" y="5375275"/>
            <a:ext cx="7159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a:t>
            </a:r>
            <a:endParaRPr lang="en-US" altLang="zh-CN" dirty="0">
              <a:ea typeface="宋体" panose="02010600030101010101" pitchFamily="2" charset="-122"/>
            </a:endParaRPr>
          </a:p>
        </p:txBody>
      </p:sp>
      <p:graphicFrame>
        <p:nvGraphicFramePr>
          <p:cNvPr id="24588" name="Object 12"/>
          <p:cNvGraphicFramePr/>
          <p:nvPr/>
        </p:nvGraphicFramePr>
        <p:xfrm>
          <a:off x="3660775" y="2895600"/>
          <a:ext cx="5327650" cy="2455863"/>
        </p:xfrm>
        <a:graphic>
          <a:graphicData uri="http://schemas.openxmlformats.org/presentationml/2006/ole">
            <mc:AlternateContent xmlns:mc="http://schemas.openxmlformats.org/markup-compatibility/2006">
              <mc:Choice xmlns:v="urn:schemas-microsoft-com:vml" Requires="v">
                <p:oleObj spid="_x0000_s3089" name="" r:id="rId3" imgW="3378835" imgH="1584960" progId="Equation.2">
                  <p:embed/>
                </p:oleObj>
              </mc:Choice>
              <mc:Fallback>
                <p:oleObj name="" r:id="rId3" imgW="3378835" imgH="1584960" progId="Equation.2">
                  <p:embed/>
                  <p:pic>
                    <p:nvPicPr>
                      <p:cNvPr id="0" name="图片 3088"/>
                      <p:cNvPicPr/>
                      <p:nvPr/>
                    </p:nvPicPr>
                    <p:blipFill>
                      <a:blip r:embed="rId4">
                        <a:clrChange>
                          <a:clrFrom>
                            <a:srgbClr val="000000"/>
                          </a:clrFrom>
                          <a:clrTo>
                            <a:srgbClr val="000000"/>
                          </a:clrTo>
                        </a:clrChange>
                      </a:blip>
                      <a:stretch>
                        <a:fillRect/>
                      </a:stretch>
                    </p:blipFill>
                    <p:spPr>
                      <a:xfrm>
                        <a:off x="3660775" y="2895600"/>
                        <a:ext cx="5327650" cy="2455863"/>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graphicFrame>
        <p:nvGraphicFramePr>
          <p:cNvPr id="25603" name="Object 0"/>
          <p:cNvGraphicFramePr/>
          <p:nvPr/>
        </p:nvGraphicFramePr>
        <p:xfrm>
          <a:off x="1965325" y="1193800"/>
          <a:ext cx="4511675" cy="860425"/>
        </p:xfrm>
        <a:graphic>
          <a:graphicData uri="http://schemas.openxmlformats.org/presentationml/2006/ole">
            <mc:AlternateContent xmlns:mc="http://schemas.openxmlformats.org/markup-compatibility/2006">
              <mc:Choice xmlns:v="urn:schemas-microsoft-com:vml" Requires="v">
                <p:oleObj spid="_x0000_s3086" name="" r:id="rId1" imgW="2847975" imgH="557530" progId="Equation.2">
                  <p:embed/>
                </p:oleObj>
              </mc:Choice>
              <mc:Fallback>
                <p:oleObj name="" r:id="rId1" imgW="2847975" imgH="557530" progId="Equation.2">
                  <p:embed/>
                  <p:pic>
                    <p:nvPicPr>
                      <p:cNvPr id="0" name="图片 3085"/>
                      <p:cNvPicPr/>
                      <p:nvPr/>
                    </p:nvPicPr>
                    <p:blipFill>
                      <a:blip r:embed="rId2">
                        <a:clrChange>
                          <a:clrFrom>
                            <a:srgbClr val="000000"/>
                          </a:clrFrom>
                          <a:clrTo>
                            <a:srgbClr val="000000"/>
                          </a:clrTo>
                        </a:clrChange>
                      </a:blip>
                      <a:stretch>
                        <a:fillRect/>
                      </a:stretch>
                    </p:blipFill>
                    <p:spPr>
                      <a:xfrm>
                        <a:off x="1965325" y="1193800"/>
                        <a:ext cx="4511675" cy="860425"/>
                      </a:xfrm>
                      <a:prstGeom prst="rect">
                        <a:avLst/>
                      </a:prstGeom>
                      <a:noFill/>
                      <a:ln w="38100">
                        <a:noFill/>
                        <a:miter/>
                      </a:ln>
                    </p:spPr>
                  </p:pic>
                </p:oleObj>
              </mc:Fallback>
            </mc:AlternateContent>
          </a:graphicData>
        </a:graphic>
      </p:graphicFrame>
      <p:sp>
        <p:nvSpPr>
          <p:cNvPr id="25604" name="Rectangle 4"/>
          <p:cNvSpPr/>
          <p:nvPr/>
        </p:nvSpPr>
        <p:spPr>
          <a:xfrm>
            <a:off x="812800" y="2374900"/>
            <a:ext cx="6877050"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What can the solution y* look like?</a:t>
            </a:r>
            <a:br>
              <a:rPr lang="en-US" altLang="zh-CN" dirty="0">
                <a:ea typeface="宋体" panose="02010600030101010101" pitchFamily="2" charset="-122"/>
              </a:rPr>
            </a:br>
            <a:r>
              <a:rPr lang="en-US" altLang="zh-CN" dirty="0">
                <a:ea typeface="宋体" panose="02010600030101010101" pitchFamily="2" charset="-122"/>
              </a:rPr>
              <a:t>(b) y</a:t>
            </a:r>
            <a:r>
              <a:rPr lang="en-US" altLang="zh-CN" baseline="-25000" dirty="0">
                <a:ea typeface="宋体" panose="02010600030101010101" pitchFamily="2" charset="-122"/>
              </a:rPr>
              <a:t>s</a:t>
            </a:r>
            <a:r>
              <a:rPr lang="en-US" altLang="zh-CN" dirty="0">
                <a:ea typeface="宋体" panose="02010600030101010101" pitchFamily="2" charset="-122"/>
              </a:rPr>
              <a:t>* = 0:</a:t>
            </a:r>
            <a:endParaRPr lang="en-US" altLang="zh-CN" dirty="0">
              <a:ea typeface="宋体" panose="02010600030101010101" pitchFamily="2" charset="-122"/>
            </a:endParaRPr>
          </a:p>
        </p:txBody>
      </p:sp>
      <p:sp>
        <p:nvSpPr>
          <p:cNvPr id="25605" name="Line 5"/>
          <p:cNvSpPr/>
          <p:nvPr/>
        </p:nvSpPr>
        <p:spPr>
          <a:xfrm>
            <a:off x="1357313" y="3690938"/>
            <a:ext cx="0" cy="2190750"/>
          </a:xfrm>
          <a:prstGeom prst="line">
            <a:avLst/>
          </a:prstGeom>
          <a:ln w="12700" cap="flat" cmpd="sng">
            <a:solidFill>
              <a:schemeClr val="tx1"/>
            </a:solidFill>
            <a:prstDash val="solid"/>
            <a:headEnd type="stealth" w="med" len="lg"/>
            <a:tailEnd type="none" w="sm" len="sm"/>
          </a:ln>
        </p:spPr>
      </p:sp>
      <p:sp>
        <p:nvSpPr>
          <p:cNvPr id="25606" name="Line 6"/>
          <p:cNvSpPr/>
          <p:nvPr/>
        </p:nvSpPr>
        <p:spPr>
          <a:xfrm>
            <a:off x="1357313" y="5334000"/>
            <a:ext cx="3119437" cy="0"/>
          </a:xfrm>
          <a:prstGeom prst="line">
            <a:avLst/>
          </a:prstGeom>
          <a:ln w="12700" cap="flat" cmpd="sng">
            <a:solidFill>
              <a:schemeClr val="tx1"/>
            </a:solidFill>
            <a:prstDash val="solid"/>
            <a:headEnd type="none" w="sm" len="sm"/>
            <a:tailEnd type="stealth" w="med" len="lg"/>
          </a:ln>
        </p:spPr>
      </p:sp>
      <p:sp>
        <p:nvSpPr>
          <p:cNvPr id="25607" name="Rectangle 7"/>
          <p:cNvSpPr/>
          <p:nvPr/>
        </p:nvSpPr>
        <p:spPr>
          <a:xfrm>
            <a:off x="265113" y="3565525"/>
            <a:ext cx="9937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latin typeface="Symbol" panose="05050102010706020507" pitchFamily="18" charset="2"/>
                <a:ea typeface="宋体" panose="02010600030101010101" pitchFamily="2" charset="-122"/>
              </a:rPr>
              <a:t>P</a:t>
            </a: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5608" name="Rectangle 8"/>
          <p:cNvSpPr/>
          <p:nvPr/>
        </p:nvSpPr>
        <p:spPr>
          <a:xfrm>
            <a:off x="4313238" y="5375275"/>
            <a:ext cx="4095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5609" name="Rectangle 9"/>
          <p:cNvSpPr/>
          <p:nvPr/>
        </p:nvSpPr>
        <p:spPr>
          <a:xfrm>
            <a:off x="703263" y="5875338"/>
            <a:ext cx="14049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 0</a:t>
            </a:r>
            <a:endParaRPr lang="en-US" altLang="zh-CN" dirty="0">
              <a:ea typeface="宋体" panose="02010600030101010101" pitchFamily="2" charset="-122"/>
            </a:endParaRPr>
          </a:p>
        </p:txBody>
      </p:sp>
      <p:graphicFrame>
        <p:nvGraphicFramePr>
          <p:cNvPr id="25610" name="Object 1"/>
          <p:cNvGraphicFramePr/>
          <p:nvPr/>
        </p:nvGraphicFramePr>
        <p:xfrm>
          <a:off x="3783013" y="3201988"/>
          <a:ext cx="4718050" cy="1719262"/>
        </p:xfrm>
        <a:graphic>
          <a:graphicData uri="http://schemas.openxmlformats.org/presentationml/2006/ole">
            <mc:AlternateContent xmlns:mc="http://schemas.openxmlformats.org/markup-compatibility/2006">
              <mc:Choice xmlns:v="urn:schemas-microsoft-com:vml" Requires="v">
                <p:oleObj spid="_x0000_s3085" name="" r:id="rId3" imgW="3013075" imgH="1141095" progId="Equation.2">
                  <p:embed/>
                </p:oleObj>
              </mc:Choice>
              <mc:Fallback>
                <p:oleObj name="" r:id="rId3" imgW="3013075" imgH="1141095" progId="Equation.2">
                  <p:embed/>
                  <p:pic>
                    <p:nvPicPr>
                      <p:cNvPr id="0" name="图片 3084"/>
                      <p:cNvPicPr/>
                      <p:nvPr/>
                    </p:nvPicPr>
                    <p:blipFill>
                      <a:blip r:embed="rId4">
                        <a:clrChange>
                          <a:clrFrom>
                            <a:srgbClr val="000000"/>
                          </a:clrFrom>
                          <a:clrTo>
                            <a:srgbClr val="000000"/>
                          </a:clrTo>
                        </a:clrChange>
                      </a:blip>
                      <a:stretch>
                        <a:fillRect/>
                      </a:stretch>
                    </p:blipFill>
                    <p:spPr>
                      <a:xfrm>
                        <a:off x="3783013" y="3201988"/>
                        <a:ext cx="4718050" cy="1719262"/>
                      </a:xfrm>
                      <a:prstGeom prst="rect">
                        <a:avLst/>
                      </a:prstGeom>
                      <a:noFill/>
                      <a:ln w="38100">
                        <a:noFill/>
                        <a:miter/>
                      </a:ln>
                    </p:spPr>
                  </p:pic>
                </p:oleObj>
              </mc:Fallback>
            </mc:AlternateContent>
          </a:graphicData>
        </a:graphic>
      </p:graphicFrame>
      <p:sp>
        <p:nvSpPr>
          <p:cNvPr id="25611" name="Arc 11"/>
          <p:cNvSpPr/>
          <p:nvPr/>
        </p:nvSpPr>
        <p:spPr>
          <a:xfrm rot="600000">
            <a:off x="1241425" y="4321175"/>
            <a:ext cx="2459038" cy="1547813"/>
          </a:xfrm>
          <a:custGeom>
            <a:avLst/>
            <a:gdLst>
              <a:gd name="txL" fmla="*/ 0 w 20280"/>
              <a:gd name="txT" fmla="*/ 0 h 21600"/>
              <a:gd name="txR" fmla="*/ 20280 w 20280"/>
              <a:gd name="txB" fmla="*/ 21600 h 21600"/>
            </a:gdLst>
            <a:ahLst/>
            <a:cxnLst>
              <a:cxn ang="0">
                <a:pos x="0" y="0"/>
              </a:cxn>
              <a:cxn ang="0">
                <a:pos x="2147483646" y="2147483646"/>
              </a:cxn>
              <a:cxn ang="0">
                <a:pos x="23171340" y="2147483646"/>
              </a:cxn>
            </a:cxnLst>
            <a:rect l="txL" t="txT" r="txR" b="txB"/>
            <a:pathLst>
              <a:path w="20280" h="21600" fill="none">
                <a:moveTo>
                  <a:pt x="0" y="0"/>
                </a:moveTo>
                <a:cubicBezTo>
                  <a:pt x="4" y="0"/>
                  <a:pt x="8" y="-1"/>
                  <a:pt x="13" y="0"/>
                </a:cubicBezTo>
                <a:cubicBezTo>
                  <a:pt x="9061" y="0"/>
                  <a:pt x="17151" y="5640"/>
                  <a:pt x="20280" y="14130"/>
                </a:cubicBezTo>
              </a:path>
              <a:path w="20280" h="21600" stroke="0">
                <a:moveTo>
                  <a:pt x="0" y="0"/>
                </a:moveTo>
                <a:cubicBezTo>
                  <a:pt x="4" y="0"/>
                  <a:pt x="8" y="-1"/>
                  <a:pt x="13" y="0"/>
                </a:cubicBezTo>
                <a:cubicBezTo>
                  <a:pt x="9061" y="0"/>
                  <a:pt x="17151" y="5640"/>
                  <a:pt x="20280" y="14130"/>
                </a:cubicBezTo>
                <a:lnTo>
                  <a:pt x="13" y="21600"/>
                </a:lnTo>
                <a:lnTo>
                  <a:pt x="0" y="0"/>
                </a:lnTo>
                <a:close/>
              </a:path>
            </a:pathLst>
          </a:custGeom>
          <a:noFill/>
          <a:ln w="12700" cap="rnd" cmpd="sng">
            <a:solidFill>
              <a:schemeClr val="tx1">
                <a:alpha val="100000"/>
              </a:schemeClr>
            </a:solidFill>
            <a:prstDash val="solid"/>
            <a:round/>
            <a:headEnd type="none" w="sm" len="sm"/>
            <a:tailEnd type="none" w="sm" len="sm"/>
          </a:ln>
        </p:spPr>
        <p:txBody>
          <a:bodyPr/>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26627" name="Rectangle 3"/>
          <p:cNvSpPr/>
          <p:nvPr/>
        </p:nvSpPr>
        <p:spPr>
          <a:xfrm>
            <a:off x="550863" y="1350963"/>
            <a:ext cx="7761287"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For the interior case of y</a:t>
            </a:r>
            <a:r>
              <a:rPr lang="en-US" altLang="zh-CN" baseline="-25000" dirty="0">
                <a:ea typeface="宋体" panose="02010600030101010101" pitchFamily="2" charset="-122"/>
              </a:rPr>
              <a:t>s</a:t>
            </a:r>
            <a:r>
              <a:rPr lang="en-US" altLang="zh-CN" dirty="0">
                <a:ea typeface="宋体" panose="02010600030101010101" pitchFamily="2" charset="-122"/>
              </a:rPr>
              <a:t>* &gt; 0, the </a:t>
            </a:r>
            <a:r>
              <a:rPr lang="en-US" altLang="zh-CN" dirty="0">
                <a:solidFill>
                  <a:srgbClr val="20F90F"/>
                </a:solidFill>
                <a:ea typeface="宋体" panose="02010600030101010101" pitchFamily="2" charset="-122"/>
              </a:rPr>
              <a:t>first-</a:t>
            </a:r>
            <a:br>
              <a:rPr lang="en-US" altLang="zh-CN" dirty="0">
                <a:solidFill>
                  <a:srgbClr val="20F90F"/>
                </a:solidFill>
                <a:ea typeface="宋体" panose="02010600030101010101" pitchFamily="2" charset="-122"/>
              </a:rPr>
            </a:br>
            <a:r>
              <a:rPr lang="en-US" altLang="zh-CN" dirty="0">
                <a:solidFill>
                  <a:srgbClr val="20F90F"/>
                </a:solidFill>
                <a:ea typeface="宋体" panose="02010600030101010101" pitchFamily="2" charset="-122"/>
              </a:rPr>
              <a:t>order maximum profit condition</a:t>
            </a:r>
            <a:r>
              <a:rPr lang="en-US" altLang="zh-CN" dirty="0">
                <a:ea typeface="宋体" panose="02010600030101010101" pitchFamily="2" charset="-122"/>
              </a:rPr>
              <a:t> is</a:t>
            </a:r>
            <a:endParaRPr lang="en-US" altLang="zh-CN" dirty="0">
              <a:ea typeface="宋体" panose="02010600030101010101" pitchFamily="2" charset="-122"/>
            </a:endParaRPr>
          </a:p>
        </p:txBody>
      </p:sp>
      <p:graphicFrame>
        <p:nvGraphicFramePr>
          <p:cNvPr id="26628" name="Object 4"/>
          <p:cNvGraphicFramePr/>
          <p:nvPr/>
        </p:nvGraphicFramePr>
        <p:xfrm>
          <a:off x="2251075" y="2530475"/>
          <a:ext cx="4829175" cy="1054100"/>
        </p:xfrm>
        <a:graphic>
          <a:graphicData uri="http://schemas.openxmlformats.org/presentationml/2006/ole">
            <mc:AlternateContent xmlns:mc="http://schemas.openxmlformats.org/markup-compatibility/2006">
              <mc:Choice xmlns:v="urn:schemas-microsoft-com:vml" Requires="v">
                <p:oleObj spid="_x0000_s3087" name="" r:id="rId1" imgW="3082925" imgH="705485" progId="Equation.2">
                  <p:embed/>
                </p:oleObj>
              </mc:Choice>
              <mc:Fallback>
                <p:oleObj name="" r:id="rId1" imgW="3082925" imgH="705485" progId="Equation.2">
                  <p:embed/>
                  <p:pic>
                    <p:nvPicPr>
                      <p:cNvPr id="0" name="图片 3086"/>
                      <p:cNvPicPr/>
                      <p:nvPr/>
                    </p:nvPicPr>
                    <p:blipFill>
                      <a:blip r:embed="rId2">
                        <a:clrChange>
                          <a:clrFrom>
                            <a:srgbClr val="000000"/>
                          </a:clrFrom>
                          <a:clrTo>
                            <a:srgbClr val="000000"/>
                          </a:clrTo>
                        </a:clrChange>
                      </a:blip>
                      <a:stretch>
                        <a:fillRect/>
                      </a:stretch>
                    </p:blipFill>
                    <p:spPr>
                      <a:xfrm>
                        <a:off x="2251075" y="2530475"/>
                        <a:ext cx="4829175" cy="1054100"/>
                      </a:xfrm>
                      <a:prstGeom prst="rect">
                        <a:avLst/>
                      </a:prstGeom>
                      <a:noFill/>
                      <a:ln w="38100">
                        <a:noFill/>
                        <a:miter/>
                      </a:ln>
                    </p:spPr>
                  </p:pic>
                </p:oleObj>
              </mc:Fallback>
            </mc:AlternateContent>
          </a:graphicData>
        </a:graphic>
      </p:graphicFrame>
      <p:sp>
        <p:nvSpPr>
          <p:cNvPr id="26629" name="Rectangle 5"/>
          <p:cNvSpPr/>
          <p:nvPr/>
        </p:nvSpPr>
        <p:spPr>
          <a:xfrm>
            <a:off x="550863" y="3732213"/>
            <a:ext cx="160655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That is,</a:t>
            </a:r>
            <a:endParaRPr lang="en-US" altLang="zh-CN" dirty="0">
              <a:ea typeface="宋体" panose="02010600030101010101" pitchFamily="2" charset="-122"/>
            </a:endParaRPr>
          </a:p>
        </p:txBody>
      </p:sp>
      <p:graphicFrame>
        <p:nvGraphicFramePr>
          <p:cNvPr id="26630" name="Object 6"/>
          <p:cNvGraphicFramePr/>
          <p:nvPr/>
        </p:nvGraphicFramePr>
        <p:xfrm>
          <a:off x="2292350" y="3679825"/>
          <a:ext cx="2492375" cy="603250"/>
        </p:xfrm>
        <a:graphic>
          <a:graphicData uri="http://schemas.openxmlformats.org/presentationml/2006/ole">
            <mc:AlternateContent xmlns:mc="http://schemas.openxmlformats.org/markup-compatibility/2006">
              <mc:Choice xmlns:v="urn:schemas-microsoft-com:vml" Requires="v">
                <p:oleObj spid="_x0000_s3088" name="" r:id="rId3" imgW="1610995" imgH="426720" progId="Equation.2">
                  <p:embed/>
                </p:oleObj>
              </mc:Choice>
              <mc:Fallback>
                <p:oleObj name="" r:id="rId3" imgW="1610995" imgH="426720" progId="Equation.2">
                  <p:embed/>
                  <p:pic>
                    <p:nvPicPr>
                      <p:cNvPr id="0" name="图片 3087"/>
                      <p:cNvPicPr/>
                      <p:nvPr/>
                    </p:nvPicPr>
                    <p:blipFill>
                      <a:blip r:embed="rId4">
                        <a:clrChange>
                          <a:clrFrom>
                            <a:srgbClr val="000000"/>
                          </a:clrFrom>
                          <a:clrTo>
                            <a:srgbClr val="000000"/>
                          </a:clrTo>
                        </a:clrChange>
                      </a:blip>
                      <a:stretch>
                        <a:fillRect/>
                      </a:stretch>
                    </p:blipFill>
                    <p:spPr>
                      <a:xfrm>
                        <a:off x="2292350" y="3679825"/>
                        <a:ext cx="2492375" cy="603250"/>
                      </a:xfrm>
                      <a:prstGeom prst="rect">
                        <a:avLst/>
                      </a:prstGeom>
                      <a:noFill/>
                      <a:ln w="38100">
                        <a:noFill/>
                        <a:miter/>
                      </a:ln>
                    </p:spPr>
                  </p:pic>
                </p:oleObj>
              </mc:Fallback>
            </mc:AlternateContent>
          </a:graphicData>
        </a:graphic>
      </p:graphicFrame>
      <p:sp>
        <p:nvSpPr>
          <p:cNvPr id="26631" name="Rectangle 7"/>
          <p:cNvSpPr/>
          <p:nvPr/>
        </p:nvSpPr>
        <p:spPr>
          <a:xfrm>
            <a:off x="550863" y="4422775"/>
            <a:ext cx="7764462" cy="155416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So at a profit maximum with y</a:t>
            </a:r>
            <a:r>
              <a:rPr lang="en-US" altLang="zh-CN" baseline="-25000" dirty="0">
                <a:ea typeface="宋体" panose="02010600030101010101" pitchFamily="2" charset="-122"/>
              </a:rPr>
              <a:t>s</a:t>
            </a:r>
            <a:r>
              <a:rPr lang="en-US" altLang="zh-CN" dirty="0">
                <a:ea typeface="宋体" panose="02010600030101010101" pitchFamily="2" charset="-122"/>
              </a:rPr>
              <a:t>* &gt; 0, the</a:t>
            </a:r>
            <a:br>
              <a:rPr lang="en-US" altLang="zh-CN" dirty="0">
                <a:ea typeface="宋体" panose="02010600030101010101" pitchFamily="2" charset="-122"/>
              </a:rPr>
            </a:br>
            <a:r>
              <a:rPr lang="en-US" altLang="zh-CN" dirty="0">
                <a:ea typeface="宋体" panose="02010600030101010101" pitchFamily="2" charset="-122"/>
              </a:rPr>
              <a:t>market price p equals the marginal</a:t>
            </a:r>
            <a:br>
              <a:rPr lang="en-US" altLang="zh-CN" dirty="0">
                <a:ea typeface="宋体" panose="02010600030101010101" pitchFamily="2" charset="-122"/>
              </a:rPr>
            </a:br>
            <a:r>
              <a:rPr lang="en-US" altLang="zh-CN" dirty="0">
                <a:ea typeface="宋体" panose="02010600030101010101" pitchFamily="2" charset="-122"/>
              </a:rPr>
              <a:t>cost of production at y = y</a:t>
            </a:r>
            <a:r>
              <a:rPr lang="en-US" altLang="zh-CN" baseline="-25000" dirty="0">
                <a:ea typeface="宋体" panose="02010600030101010101" pitchFamily="2" charset="-122"/>
              </a:rPr>
              <a:t>s</a:t>
            </a:r>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27651" name="Rectangle 3"/>
          <p:cNvSpPr/>
          <p:nvPr/>
        </p:nvSpPr>
        <p:spPr>
          <a:xfrm>
            <a:off x="550863" y="1350963"/>
            <a:ext cx="8413750"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For the interior case of y</a:t>
            </a:r>
            <a:r>
              <a:rPr lang="en-US" altLang="zh-CN" baseline="-25000" dirty="0">
                <a:ea typeface="宋体" panose="02010600030101010101" pitchFamily="2" charset="-122"/>
              </a:rPr>
              <a:t>s</a:t>
            </a:r>
            <a:r>
              <a:rPr lang="en-US" altLang="zh-CN" dirty="0">
                <a:ea typeface="宋体" panose="02010600030101010101" pitchFamily="2" charset="-122"/>
              </a:rPr>
              <a:t>* &gt; 0, the </a:t>
            </a:r>
            <a:r>
              <a:rPr lang="en-US" altLang="zh-CN" dirty="0">
                <a:solidFill>
                  <a:srgbClr val="20F90F"/>
                </a:solidFill>
                <a:ea typeface="宋体" panose="02010600030101010101" pitchFamily="2" charset="-122"/>
              </a:rPr>
              <a:t>second-</a:t>
            </a:r>
            <a:br>
              <a:rPr lang="en-US" altLang="zh-CN" dirty="0">
                <a:solidFill>
                  <a:srgbClr val="20F90F"/>
                </a:solidFill>
                <a:ea typeface="宋体" panose="02010600030101010101" pitchFamily="2" charset="-122"/>
              </a:rPr>
            </a:br>
            <a:r>
              <a:rPr lang="en-US" altLang="zh-CN" dirty="0">
                <a:solidFill>
                  <a:srgbClr val="20F90F"/>
                </a:solidFill>
                <a:ea typeface="宋体" panose="02010600030101010101" pitchFamily="2" charset="-122"/>
              </a:rPr>
              <a:t>order maximum profit condition</a:t>
            </a:r>
            <a:r>
              <a:rPr lang="en-US" altLang="zh-CN" dirty="0">
                <a:ea typeface="宋体" panose="02010600030101010101" pitchFamily="2" charset="-122"/>
              </a:rPr>
              <a:t> is</a:t>
            </a:r>
            <a:endParaRPr lang="en-US" altLang="zh-CN" dirty="0">
              <a:ea typeface="宋体" panose="02010600030101010101" pitchFamily="2" charset="-122"/>
            </a:endParaRPr>
          </a:p>
        </p:txBody>
      </p:sp>
      <p:graphicFrame>
        <p:nvGraphicFramePr>
          <p:cNvPr id="27652" name="Object 4"/>
          <p:cNvGraphicFramePr/>
          <p:nvPr/>
        </p:nvGraphicFramePr>
        <p:xfrm>
          <a:off x="446088" y="2403475"/>
          <a:ext cx="8448675" cy="1317625"/>
        </p:xfrm>
        <a:graphic>
          <a:graphicData uri="http://schemas.openxmlformats.org/presentationml/2006/ole">
            <mc:AlternateContent xmlns:mc="http://schemas.openxmlformats.org/markup-compatibility/2006">
              <mc:Choice xmlns:v="urn:schemas-microsoft-com:vml" Requires="v">
                <p:oleObj spid="_x0000_s3090" name="" r:id="rId1" imgW="5373370" imgH="870585" progId="Equation.2">
                  <p:embed/>
                </p:oleObj>
              </mc:Choice>
              <mc:Fallback>
                <p:oleObj name="" r:id="rId1" imgW="5373370" imgH="870585" progId="Equation.2">
                  <p:embed/>
                  <p:pic>
                    <p:nvPicPr>
                      <p:cNvPr id="0" name="图片 3089"/>
                      <p:cNvPicPr/>
                      <p:nvPr/>
                    </p:nvPicPr>
                    <p:blipFill>
                      <a:blip r:embed="rId2">
                        <a:clrChange>
                          <a:clrFrom>
                            <a:srgbClr val="000000"/>
                          </a:clrFrom>
                          <a:clrTo>
                            <a:srgbClr val="000000"/>
                          </a:clrTo>
                        </a:clrChange>
                      </a:blip>
                      <a:stretch>
                        <a:fillRect/>
                      </a:stretch>
                    </p:blipFill>
                    <p:spPr>
                      <a:xfrm>
                        <a:off x="446088" y="2403475"/>
                        <a:ext cx="8448675" cy="1317625"/>
                      </a:xfrm>
                      <a:prstGeom prst="rect">
                        <a:avLst/>
                      </a:prstGeom>
                      <a:noFill/>
                      <a:ln w="38100">
                        <a:noFill/>
                        <a:miter/>
                      </a:ln>
                    </p:spPr>
                  </p:pic>
                </p:oleObj>
              </mc:Fallback>
            </mc:AlternateContent>
          </a:graphicData>
        </a:graphic>
      </p:graphicFrame>
      <p:sp>
        <p:nvSpPr>
          <p:cNvPr id="27653" name="Rectangle 5"/>
          <p:cNvSpPr/>
          <p:nvPr/>
        </p:nvSpPr>
        <p:spPr>
          <a:xfrm>
            <a:off x="550863" y="3922713"/>
            <a:ext cx="160655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That is,</a:t>
            </a:r>
            <a:endParaRPr lang="en-US" altLang="zh-CN" dirty="0">
              <a:ea typeface="宋体" panose="02010600030101010101" pitchFamily="2" charset="-122"/>
            </a:endParaRPr>
          </a:p>
        </p:txBody>
      </p:sp>
      <p:graphicFrame>
        <p:nvGraphicFramePr>
          <p:cNvPr id="27654" name="Object 6"/>
          <p:cNvGraphicFramePr/>
          <p:nvPr/>
        </p:nvGraphicFramePr>
        <p:xfrm>
          <a:off x="2163763" y="3605213"/>
          <a:ext cx="2760662" cy="1190625"/>
        </p:xfrm>
        <a:graphic>
          <a:graphicData uri="http://schemas.openxmlformats.org/presentationml/2006/ole">
            <mc:AlternateContent xmlns:mc="http://schemas.openxmlformats.org/markup-compatibility/2006">
              <mc:Choice xmlns:v="urn:schemas-microsoft-com:vml" Requires="v">
                <p:oleObj spid="_x0000_s3091" name="" r:id="rId3" imgW="1776730" imgH="809625" progId="Equation.2">
                  <p:embed/>
                </p:oleObj>
              </mc:Choice>
              <mc:Fallback>
                <p:oleObj name="" r:id="rId3" imgW="1776730" imgH="809625" progId="Equation.2">
                  <p:embed/>
                  <p:pic>
                    <p:nvPicPr>
                      <p:cNvPr id="0" name="图片 3090"/>
                      <p:cNvPicPr/>
                      <p:nvPr/>
                    </p:nvPicPr>
                    <p:blipFill>
                      <a:blip r:embed="rId4">
                        <a:clrChange>
                          <a:clrFrom>
                            <a:srgbClr val="000000"/>
                          </a:clrFrom>
                          <a:clrTo>
                            <a:srgbClr val="000000"/>
                          </a:clrTo>
                        </a:clrChange>
                      </a:blip>
                      <a:stretch>
                        <a:fillRect/>
                      </a:stretch>
                    </p:blipFill>
                    <p:spPr>
                      <a:xfrm>
                        <a:off x="2163763" y="3605213"/>
                        <a:ext cx="2760662" cy="1190625"/>
                      </a:xfrm>
                      <a:prstGeom prst="rect">
                        <a:avLst/>
                      </a:prstGeom>
                      <a:noFill/>
                      <a:ln w="38100">
                        <a:noFill/>
                        <a:miter/>
                      </a:ln>
                    </p:spPr>
                  </p:pic>
                </p:oleObj>
              </mc:Fallback>
            </mc:AlternateContent>
          </a:graphicData>
        </a:graphic>
      </p:graphicFrame>
      <p:sp>
        <p:nvSpPr>
          <p:cNvPr id="27655" name="Rectangle 7"/>
          <p:cNvSpPr/>
          <p:nvPr/>
        </p:nvSpPr>
        <p:spPr>
          <a:xfrm>
            <a:off x="550863" y="4732338"/>
            <a:ext cx="8143875"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So at a profit maximum with y</a:t>
            </a:r>
            <a:r>
              <a:rPr lang="en-US" altLang="zh-CN" baseline="-25000" dirty="0">
                <a:ea typeface="宋体" panose="02010600030101010101" pitchFamily="2" charset="-122"/>
              </a:rPr>
              <a:t>s</a:t>
            </a:r>
            <a:r>
              <a:rPr lang="en-US" altLang="zh-CN" dirty="0">
                <a:ea typeface="宋体" panose="02010600030101010101" pitchFamily="2" charset="-122"/>
              </a:rPr>
              <a:t>* &gt; 0, the</a:t>
            </a:r>
            <a:br>
              <a:rPr lang="en-US" altLang="zh-CN" dirty="0">
                <a:ea typeface="宋体" panose="02010600030101010101" pitchFamily="2" charset="-122"/>
              </a:rPr>
            </a:br>
            <a:r>
              <a:rPr lang="en-US" altLang="zh-CN" dirty="0">
                <a:ea typeface="宋体" panose="02010600030101010101" pitchFamily="2" charset="-122"/>
              </a:rPr>
              <a:t>firm’s MC curve must be upward-sloping.</a:t>
            </a:r>
            <a:endParaRPr lang="en-US" altLang="zh-CN"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28675" name="Line 3"/>
          <p:cNvSpPr/>
          <p:nvPr/>
        </p:nvSpPr>
        <p:spPr>
          <a:xfrm>
            <a:off x="1524000" y="1785938"/>
            <a:ext cx="0" cy="3190875"/>
          </a:xfrm>
          <a:prstGeom prst="line">
            <a:avLst/>
          </a:prstGeom>
          <a:ln w="12700" cap="flat" cmpd="sng">
            <a:solidFill>
              <a:schemeClr val="tx1"/>
            </a:solidFill>
            <a:prstDash val="solid"/>
            <a:headEnd type="stealth" w="med" len="lg"/>
            <a:tailEnd type="none" w="sm" len="sm"/>
          </a:ln>
        </p:spPr>
      </p:sp>
      <p:sp>
        <p:nvSpPr>
          <p:cNvPr id="28676" name="Line 4"/>
          <p:cNvSpPr/>
          <p:nvPr/>
        </p:nvSpPr>
        <p:spPr>
          <a:xfrm>
            <a:off x="1524000" y="4976813"/>
            <a:ext cx="4500563" cy="0"/>
          </a:xfrm>
          <a:prstGeom prst="line">
            <a:avLst/>
          </a:prstGeom>
          <a:ln w="12700" cap="flat" cmpd="sng">
            <a:solidFill>
              <a:schemeClr val="tx1"/>
            </a:solidFill>
            <a:prstDash val="solid"/>
            <a:headEnd type="none" w="sm" len="sm"/>
            <a:tailEnd type="stealth" w="med" len="lg"/>
          </a:ln>
        </p:spPr>
      </p:sp>
      <p:sp>
        <p:nvSpPr>
          <p:cNvPr id="28677" name="Line 5"/>
          <p:cNvSpPr/>
          <p:nvPr/>
        </p:nvSpPr>
        <p:spPr>
          <a:xfrm>
            <a:off x="1524000" y="3262313"/>
            <a:ext cx="4119563" cy="0"/>
          </a:xfrm>
          <a:prstGeom prst="line">
            <a:avLst/>
          </a:prstGeom>
          <a:ln w="25400" cap="flat" cmpd="sng">
            <a:solidFill>
              <a:schemeClr val="tx1"/>
            </a:solidFill>
            <a:prstDash val="solid"/>
            <a:headEnd type="none" w="sm" len="sm"/>
            <a:tailEnd type="none" w="sm" len="sm"/>
          </a:ln>
        </p:spPr>
      </p:sp>
      <p:sp>
        <p:nvSpPr>
          <p:cNvPr id="28678" name="Arc 6"/>
          <p:cNvSpPr/>
          <p:nvPr/>
        </p:nvSpPr>
        <p:spPr>
          <a:xfrm>
            <a:off x="1525588" y="1066800"/>
            <a:ext cx="3427412" cy="3095625"/>
          </a:xfrm>
          <a:custGeom>
            <a:avLst/>
            <a:gdLst>
              <a:gd name="txL" fmla="*/ 0 w 38379"/>
              <a:gd name="txT" fmla="*/ 0 h 21600"/>
              <a:gd name="txR" fmla="*/ 38379 w 38379"/>
              <a:gd name="txB" fmla="*/ 21600 h 21600"/>
            </a:gdLst>
            <a:ahLst/>
            <a:cxnLst>
              <a:cxn ang="0">
                <a:pos x="2147483646" y="2147483646"/>
              </a:cxn>
              <a:cxn ang="0">
                <a:pos x="0" y="2147483646"/>
              </a:cxn>
              <a:cxn ang="0">
                <a:pos x="2147483646" y="0"/>
              </a:cxn>
            </a:cxnLst>
            <a:rect l="txL" t="txT" r="txR" b="txB"/>
            <a:pathLst>
              <a:path w="38379" h="21600" fill="none">
                <a:moveTo>
                  <a:pt x="38379" y="9256"/>
                </a:moveTo>
                <a:cubicBezTo>
                  <a:pt x="34803" y="16794"/>
                  <a:pt x="27206" y="21599"/>
                  <a:pt x="18863" y="21600"/>
                </a:cubicBezTo>
                <a:cubicBezTo>
                  <a:pt x="11032" y="21600"/>
                  <a:pt x="3815" y="17362"/>
                  <a:pt x="0" y="10523"/>
                </a:cubicBezTo>
              </a:path>
              <a:path w="38379" h="21600" stroke="0">
                <a:moveTo>
                  <a:pt x="38379" y="9256"/>
                </a:moveTo>
                <a:cubicBezTo>
                  <a:pt x="34803" y="16794"/>
                  <a:pt x="27206" y="21599"/>
                  <a:pt x="18863" y="21600"/>
                </a:cubicBezTo>
                <a:cubicBezTo>
                  <a:pt x="11032" y="21600"/>
                  <a:pt x="3815" y="17362"/>
                  <a:pt x="0" y="10523"/>
                </a:cubicBezTo>
                <a:lnTo>
                  <a:pt x="18863" y="0"/>
                </a:lnTo>
                <a:lnTo>
                  <a:pt x="38379" y="9256"/>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28679" name="Rectangle 7"/>
          <p:cNvSpPr/>
          <p:nvPr/>
        </p:nvSpPr>
        <p:spPr>
          <a:xfrm>
            <a:off x="217488" y="130016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28680" name="Rectangle 8"/>
          <p:cNvSpPr/>
          <p:nvPr/>
        </p:nvSpPr>
        <p:spPr>
          <a:xfrm>
            <a:off x="5818188" y="5041900"/>
            <a:ext cx="4095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8681" name="Rectangle 9"/>
          <p:cNvSpPr/>
          <p:nvPr/>
        </p:nvSpPr>
        <p:spPr>
          <a:xfrm>
            <a:off x="836613" y="3017838"/>
            <a:ext cx="579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
        <p:nvSpPr>
          <p:cNvPr id="28682" name="Line 10"/>
          <p:cNvSpPr/>
          <p:nvPr/>
        </p:nvSpPr>
        <p:spPr>
          <a:xfrm>
            <a:off x="1830388" y="3241675"/>
            <a:ext cx="0" cy="1730375"/>
          </a:xfrm>
          <a:prstGeom prst="line">
            <a:avLst/>
          </a:prstGeom>
          <a:ln w="12700" cap="flat" cmpd="sng">
            <a:solidFill>
              <a:schemeClr val="tx1"/>
            </a:solidFill>
            <a:prstDash val="dash"/>
            <a:headEnd type="none" w="sm" len="sm"/>
            <a:tailEnd type="none" w="sm" len="sm"/>
          </a:ln>
        </p:spPr>
      </p:sp>
      <p:sp>
        <p:nvSpPr>
          <p:cNvPr id="28683" name="Line 11"/>
          <p:cNvSpPr/>
          <p:nvPr/>
        </p:nvSpPr>
        <p:spPr>
          <a:xfrm>
            <a:off x="4572000" y="3255963"/>
            <a:ext cx="0" cy="1730375"/>
          </a:xfrm>
          <a:prstGeom prst="line">
            <a:avLst/>
          </a:prstGeom>
          <a:ln w="12700" cap="flat" cmpd="sng">
            <a:solidFill>
              <a:schemeClr val="tx1"/>
            </a:solidFill>
            <a:prstDash val="dash"/>
            <a:headEnd type="none" w="sm" len="sm"/>
            <a:tailEnd type="none" w="sm" len="sm"/>
          </a:ln>
        </p:spPr>
      </p:sp>
      <p:sp>
        <p:nvSpPr>
          <p:cNvPr id="28684" name="Oval 12"/>
          <p:cNvSpPr/>
          <p:nvPr/>
        </p:nvSpPr>
        <p:spPr>
          <a:xfrm>
            <a:off x="1744663" y="3168650"/>
            <a:ext cx="173037" cy="173038"/>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28685" name="Oval 13"/>
          <p:cNvSpPr/>
          <p:nvPr/>
        </p:nvSpPr>
        <p:spPr>
          <a:xfrm>
            <a:off x="4487863" y="3168650"/>
            <a:ext cx="173037" cy="173038"/>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28686" name="Rectangle 14"/>
          <p:cNvSpPr/>
          <p:nvPr/>
        </p:nvSpPr>
        <p:spPr>
          <a:xfrm>
            <a:off x="4322763" y="5041900"/>
            <a:ext cx="7159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28687" name="Rectangle 15"/>
          <p:cNvSpPr/>
          <p:nvPr/>
        </p:nvSpPr>
        <p:spPr>
          <a:xfrm>
            <a:off x="1581150" y="5041900"/>
            <a:ext cx="5238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8688" name="Rectangle 16"/>
          <p:cNvSpPr/>
          <p:nvPr/>
        </p:nvSpPr>
        <p:spPr>
          <a:xfrm>
            <a:off x="3074988" y="4160838"/>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29699" name="Line 3"/>
          <p:cNvSpPr/>
          <p:nvPr/>
        </p:nvSpPr>
        <p:spPr>
          <a:xfrm>
            <a:off x="1524000" y="1785938"/>
            <a:ext cx="0" cy="3190875"/>
          </a:xfrm>
          <a:prstGeom prst="line">
            <a:avLst/>
          </a:prstGeom>
          <a:ln w="12700" cap="flat" cmpd="sng">
            <a:solidFill>
              <a:schemeClr val="tx1"/>
            </a:solidFill>
            <a:prstDash val="solid"/>
            <a:headEnd type="stealth" w="med" len="lg"/>
            <a:tailEnd type="none" w="sm" len="sm"/>
          </a:ln>
        </p:spPr>
      </p:sp>
      <p:sp>
        <p:nvSpPr>
          <p:cNvPr id="29700" name="Line 4"/>
          <p:cNvSpPr/>
          <p:nvPr/>
        </p:nvSpPr>
        <p:spPr>
          <a:xfrm>
            <a:off x="1524000" y="4976813"/>
            <a:ext cx="4500563" cy="0"/>
          </a:xfrm>
          <a:prstGeom prst="line">
            <a:avLst/>
          </a:prstGeom>
          <a:ln w="12700" cap="flat" cmpd="sng">
            <a:solidFill>
              <a:schemeClr val="tx1"/>
            </a:solidFill>
            <a:prstDash val="solid"/>
            <a:headEnd type="none" w="sm" len="sm"/>
            <a:tailEnd type="stealth" w="med" len="lg"/>
          </a:ln>
        </p:spPr>
      </p:sp>
      <p:sp>
        <p:nvSpPr>
          <p:cNvPr id="29701" name="Line 5"/>
          <p:cNvSpPr/>
          <p:nvPr/>
        </p:nvSpPr>
        <p:spPr>
          <a:xfrm>
            <a:off x="1524000" y="3262313"/>
            <a:ext cx="4119563" cy="0"/>
          </a:xfrm>
          <a:prstGeom prst="line">
            <a:avLst/>
          </a:prstGeom>
          <a:ln w="25400" cap="flat" cmpd="sng">
            <a:solidFill>
              <a:schemeClr val="tx1"/>
            </a:solidFill>
            <a:prstDash val="solid"/>
            <a:headEnd type="none" w="sm" len="sm"/>
            <a:tailEnd type="none" w="sm" len="sm"/>
          </a:ln>
        </p:spPr>
      </p:sp>
      <p:sp>
        <p:nvSpPr>
          <p:cNvPr id="29702" name="Arc 6"/>
          <p:cNvSpPr/>
          <p:nvPr/>
        </p:nvSpPr>
        <p:spPr>
          <a:xfrm>
            <a:off x="1525588" y="1066800"/>
            <a:ext cx="3427412" cy="3095625"/>
          </a:xfrm>
          <a:custGeom>
            <a:avLst/>
            <a:gdLst>
              <a:gd name="txL" fmla="*/ 0 w 38379"/>
              <a:gd name="txT" fmla="*/ 0 h 21600"/>
              <a:gd name="txR" fmla="*/ 38379 w 38379"/>
              <a:gd name="txB" fmla="*/ 21600 h 21600"/>
            </a:gdLst>
            <a:ahLst/>
            <a:cxnLst>
              <a:cxn ang="0">
                <a:pos x="2147483646" y="2147483646"/>
              </a:cxn>
              <a:cxn ang="0">
                <a:pos x="0" y="2147483646"/>
              </a:cxn>
              <a:cxn ang="0">
                <a:pos x="2147483646" y="0"/>
              </a:cxn>
            </a:cxnLst>
            <a:rect l="txL" t="txT" r="txR" b="txB"/>
            <a:pathLst>
              <a:path w="38379" h="21600" fill="none">
                <a:moveTo>
                  <a:pt x="38379" y="9256"/>
                </a:moveTo>
                <a:cubicBezTo>
                  <a:pt x="34803" y="16794"/>
                  <a:pt x="27206" y="21599"/>
                  <a:pt x="18863" y="21600"/>
                </a:cubicBezTo>
                <a:cubicBezTo>
                  <a:pt x="11032" y="21600"/>
                  <a:pt x="3815" y="17362"/>
                  <a:pt x="0" y="10523"/>
                </a:cubicBezTo>
              </a:path>
              <a:path w="38379" h="21600" stroke="0">
                <a:moveTo>
                  <a:pt x="38379" y="9256"/>
                </a:moveTo>
                <a:cubicBezTo>
                  <a:pt x="34803" y="16794"/>
                  <a:pt x="27206" y="21599"/>
                  <a:pt x="18863" y="21600"/>
                </a:cubicBezTo>
                <a:cubicBezTo>
                  <a:pt x="11032" y="21600"/>
                  <a:pt x="3815" y="17362"/>
                  <a:pt x="0" y="10523"/>
                </a:cubicBezTo>
                <a:lnTo>
                  <a:pt x="18863" y="0"/>
                </a:lnTo>
                <a:lnTo>
                  <a:pt x="38379" y="9256"/>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29703" name="Rectangle 7"/>
          <p:cNvSpPr/>
          <p:nvPr/>
        </p:nvSpPr>
        <p:spPr>
          <a:xfrm>
            <a:off x="217488" y="130016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29704" name="Rectangle 8"/>
          <p:cNvSpPr/>
          <p:nvPr/>
        </p:nvSpPr>
        <p:spPr>
          <a:xfrm>
            <a:off x="5818188" y="5041900"/>
            <a:ext cx="4095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9705" name="Rectangle 9"/>
          <p:cNvSpPr/>
          <p:nvPr/>
        </p:nvSpPr>
        <p:spPr>
          <a:xfrm>
            <a:off x="836613" y="3017838"/>
            <a:ext cx="579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
        <p:nvSpPr>
          <p:cNvPr id="29706" name="Line 10"/>
          <p:cNvSpPr/>
          <p:nvPr/>
        </p:nvSpPr>
        <p:spPr>
          <a:xfrm>
            <a:off x="1830388" y="3241675"/>
            <a:ext cx="0" cy="1730375"/>
          </a:xfrm>
          <a:prstGeom prst="line">
            <a:avLst/>
          </a:prstGeom>
          <a:ln w="12700" cap="flat" cmpd="sng">
            <a:solidFill>
              <a:schemeClr val="tx1"/>
            </a:solidFill>
            <a:prstDash val="dash"/>
            <a:headEnd type="none" w="sm" len="sm"/>
            <a:tailEnd type="none" w="sm" len="sm"/>
          </a:ln>
        </p:spPr>
      </p:sp>
      <p:sp>
        <p:nvSpPr>
          <p:cNvPr id="29707" name="Line 11"/>
          <p:cNvSpPr/>
          <p:nvPr/>
        </p:nvSpPr>
        <p:spPr>
          <a:xfrm>
            <a:off x="4572000" y="3255963"/>
            <a:ext cx="0" cy="1730375"/>
          </a:xfrm>
          <a:prstGeom prst="line">
            <a:avLst/>
          </a:prstGeom>
          <a:ln w="12700" cap="flat" cmpd="sng">
            <a:solidFill>
              <a:schemeClr val="tx1"/>
            </a:solidFill>
            <a:prstDash val="dash"/>
            <a:headEnd type="none" w="sm" len="sm"/>
            <a:tailEnd type="none" w="sm" len="sm"/>
          </a:ln>
        </p:spPr>
      </p:sp>
      <p:sp>
        <p:nvSpPr>
          <p:cNvPr id="29708" name="Oval 12"/>
          <p:cNvSpPr/>
          <p:nvPr/>
        </p:nvSpPr>
        <p:spPr>
          <a:xfrm>
            <a:off x="1744663" y="3168650"/>
            <a:ext cx="173037" cy="173038"/>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29709" name="Oval 13"/>
          <p:cNvSpPr/>
          <p:nvPr/>
        </p:nvSpPr>
        <p:spPr>
          <a:xfrm>
            <a:off x="4487863" y="3168650"/>
            <a:ext cx="173037" cy="173038"/>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29710" name="Rectangle 14"/>
          <p:cNvSpPr/>
          <p:nvPr/>
        </p:nvSpPr>
        <p:spPr>
          <a:xfrm>
            <a:off x="4322763" y="5041900"/>
            <a:ext cx="7159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29711" name="Rectangle 15"/>
          <p:cNvSpPr/>
          <p:nvPr/>
        </p:nvSpPr>
        <p:spPr>
          <a:xfrm>
            <a:off x="1581150" y="5041900"/>
            <a:ext cx="5238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29712" name="Rectangle 16"/>
          <p:cNvSpPr/>
          <p:nvPr/>
        </p:nvSpPr>
        <p:spPr>
          <a:xfrm>
            <a:off x="3290888" y="1255713"/>
            <a:ext cx="5595937" cy="155416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y = y</a:t>
            </a:r>
            <a:r>
              <a:rPr lang="en-US" altLang="zh-CN" baseline="-25000" dirty="0">
                <a:ea typeface="宋体" panose="02010600030101010101" pitchFamily="2" charset="-122"/>
              </a:rPr>
              <a:t>s</a:t>
            </a:r>
            <a:r>
              <a:rPr lang="en-US" altLang="zh-CN" dirty="0">
                <a:ea typeface="宋体" panose="02010600030101010101" pitchFamily="2" charset="-122"/>
              </a:rPr>
              <a:t>*, p = MC and MC</a:t>
            </a:r>
            <a:br>
              <a:rPr lang="en-US" altLang="zh-CN" dirty="0">
                <a:ea typeface="宋体" panose="02010600030101010101" pitchFamily="2" charset="-122"/>
              </a:rPr>
            </a:br>
            <a:r>
              <a:rPr lang="en-US" altLang="zh-CN" dirty="0">
                <a:ea typeface="宋体" panose="02010600030101010101" pitchFamily="2" charset="-122"/>
              </a:rPr>
              <a:t>slopes upwards.  y = y</a:t>
            </a:r>
            <a:r>
              <a:rPr lang="en-US" altLang="zh-CN" baseline="-25000" dirty="0">
                <a:ea typeface="宋体" panose="02010600030101010101" pitchFamily="2" charset="-122"/>
              </a:rPr>
              <a:t>s</a:t>
            </a:r>
            <a:r>
              <a:rPr lang="en-US" altLang="zh-CN" dirty="0">
                <a:ea typeface="宋体" panose="02010600030101010101" pitchFamily="2" charset="-122"/>
              </a:rPr>
              <a:t>* is</a:t>
            </a:r>
            <a:br>
              <a:rPr lang="en-US" altLang="zh-CN" dirty="0">
                <a:ea typeface="宋体" panose="02010600030101010101" pitchFamily="2" charset="-122"/>
              </a:rPr>
            </a:br>
            <a:r>
              <a:rPr lang="en-US" altLang="zh-CN" dirty="0">
                <a:ea typeface="宋体" panose="02010600030101010101" pitchFamily="2" charset="-122"/>
              </a:rPr>
              <a:t>                 profit-maximizing.</a:t>
            </a:r>
            <a:endParaRPr lang="en-US" altLang="zh-CN" dirty="0">
              <a:ea typeface="宋体" panose="02010600030101010101" pitchFamily="2" charset="-122"/>
            </a:endParaRPr>
          </a:p>
        </p:txBody>
      </p:sp>
      <p:sp>
        <p:nvSpPr>
          <p:cNvPr id="29713" name="Rectangle 17"/>
          <p:cNvSpPr/>
          <p:nvPr/>
        </p:nvSpPr>
        <p:spPr>
          <a:xfrm>
            <a:off x="3074988" y="4160838"/>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0723" name="Line 3"/>
          <p:cNvSpPr/>
          <p:nvPr/>
        </p:nvSpPr>
        <p:spPr>
          <a:xfrm>
            <a:off x="1524000" y="1785938"/>
            <a:ext cx="0" cy="3190875"/>
          </a:xfrm>
          <a:prstGeom prst="line">
            <a:avLst/>
          </a:prstGeom>
          <a:ln w="12700" cap="flat" cmpd="sng">
            <a:solidFill>
              <a:schemeClr val="tx1"/>
            </a:solidFill>
            <a:prstDash val="solid"/>
            <a:headEnd type="stealth" w="med" len="lg"/>
            <a:tailEnd type="none" w="sm" len="sm"/>
          </a:ln>
        </p:spPr>
      </p:sp>
      <p:sp>
        <p:nvSpPr>
          <p:cNvPr id="30724" name="Line 4"/>
          <p:cNvSpPr/>
          <p:nvPr/>
        </p:nvSpPr>
        <p:spPr>
          <a:xfrm>
            <a:off x="1524000" y="4976813"/>
            <a:ext cx="4500563" cy="0"/>
          </a:xfrm>
          <a:prstGeom prst="line">
            <a:avLst/>
          </a:prstGeom>
          <a:ln w="12700" cap="flat" cmpd="sng">
            <a:solidFill>
              <a:schemeClr val="tx1"/>
            </a:solidFill>
            <a:prstDash val="solid"/>
            <a:headEnd type="none" w="sm" len="sm"/>
            <a:tailEnd type="stealth" w="med" len="lg"/>
          </a:ln>
        </p:spPr>
      </p:sp>
      <p:sp>
        <p:nvSpPr>
          <p:cNvPr id="30725" name="Line 5"/>
          <p:cNvSpPr/>
          <p:nvPr/>
        </p:nvSpPr>
        <p:spPr>
          <a:xfrm>
            <a:off x="1524000" y="3262313"/>
            <a:ext cx="4119563" cy="0"/>
          </a:xfrm>
          <a:prstGeom prst="line">
            <a:avLst/>
          </a:prstGeom>
          <a:ln w="25400" cap="flat" cmpd="sng">
            <a:solidFill>
              <a:schemeClr val="tx1"/>
            </a:solidFill>
            <a:prstDash val="solid"/>
            <a:headEnd type="none" w="sm" len="sm"/>
            <a:tailEnd type="none" w="sm" len="sm"/>
          </a:ln>
        </p:spPr>
      </p:sp>
      <p:sp>
        <p:nvSpPr>
          <p:cNvPr id="30726" name="Arc 6"/>
          <p:cNvSpPr/>
          <p:nvPr/>
        </p:nvSpPr>
        <p:spPr>
          <a:xfrm>
            <a:off x="1525588" y="1066800"/>
            <a:ext cx="3427412" cy="3095625"/>
          </a:xfrm>
          <a:custGeom>
            <a:avLst/>
            <a:gdLst>
              <a:gd name="txL" fmla="*/ 0 w 38379"/>
              <a:gd name="txT" fmla="*/ 0 h 21600"/>
              <a:gd name="txR" fmla="*/ 38379 w 38379"/>
              <a:gd name="txB" fmla="*/ 21600 h 21600"/>
            </a:gdLst>
            <a:ahLst/>
            <a:cxnLst>
              <a:cxn ang="0">
                <a:pos x="2147483646" y="2147483646"/>
              </a:cxn>
              <a:cxn ang="0">
                <a:pos x="0" y="2147483646"/>
              </a:cxn>
              <a:cxn ang="0">
                <a:pos x="2147483646" y="0"/>
              </a:cxn>
            </a:cxnLst>
            <a:rect l="txL" t="txT" r="txR" b="txB"/>
            <a:pathLst>
              <a:path w="38379" h="21600" fill="none">
                <a:moveTo>
                  <a:pt x="38379" y="9256"/>
                </a:moveTo>
                <a:cubicBezTo>
                  <a:pt x="34803" y="16794"/>
                  <a:pt x="27206" y="21599"/>
                  <a:pt x="18863" y="21600"/>
                </a:cubicBezTo>
                <a:cubicBezTo>
                  <a:pt x="11032" y="21600"/>
                  <a:pt x="3815" y="17362"/>
                  <a:pt x="0" y="10523"/>
                </a:cubicBezTo>
              </a:path>
              <a:path w="38379" h="21600" stroke="0">
                <a:moveTo>
                  <a:pt x="38379" y="9256"/>
                </a:moveTo>
                <a:cubicBezTo>
                  <a:pt x="34803" y="16794"/>
                  <a:pt x="27206" y="21599"/>
                  <a:pt x="18863" y="21600"/>
                </a:cubicBezTo>
                <a:cubicBezTo>
                  <a:pt x="11032" y="21600"/>
                  <a:pt x="3815" y="17362"/>
                  <a:pt x="0" y="10523"/>
                </a:cubicBezTo>
                <a:lnTo>
                  <a:pt x="18863" y="0"/>
                </a:lnTo>
                <a:lnTo>
                  <a:pt x="38379" y="9256"/>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30727" name="Rectangle 7"/>
          <p:cNvSpPr/>
          <p:nvPr/>
        </p:nvSpPr>
        <p:spPr>
          <a:xfrm>
            <a:off x="217488" y="130016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30728" name="Rectangle 8"/>
          <p:cNvSpPr/>
          <p:nvPr/>
        </p:nvSpPr>
        <p:spPr>
          <a:xfrm>
            <a:off x="5818188" y="5041900"/>
            <a:ext cx="4095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30729" name="Rectangle 9"/>
          <p:cNvSpPr/>
          <p:nvPr/>
        </p:nvSpPr>
        <p:spPr>
          <a:xfrm>
            <a:off x="836613" y="3017838"/>
            <a:ext cx="579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
        <p:nvSpPr>
          <p:cNvPr id="30730" name="Line 10"/>
          <p:cNvSpPr/>
          <p:nvPr/>
        </p:nvSpPr>
        <p:spPr>
          <a:xfrm>
            <a:off x="1830388" y="3241675"/>
            <a:ext cx="0" cy="1730375"/>
          </a:xfrm>
          <a:prstGeom prst="line">
            <a:avLst/>
          </a:prstGeom>
          <a:ln w="12700" cap="flat" cmpd="sng">
            <a:solidFill>
              <a:schemeClr val="tx1"/>
            </a:solidFill>
            <a:prstDash val="dash"/>
            <a:headEnd type="none" w="sm" len="sm"/>
            <a:tailEnd type="none" w="sm" len="sm"/>
          </a:ln>
        </p:spPr>
      </p:sp>
      <p:sp>
        <p:nvSpPr>
          <p:cNvPr id="30731" name="Line 11"/>
          <p:cNvSpPr/>
          <p:nvPr/>
        </p:nvSpPr>
        <p:spPr>
          <a:xfrm>
            <a:off x="4572000" y="3255963"/>
            <a:ext cx="0" cy="1730375"/>
          </a:xfrm>
          <a:prstGeom prst="line">
            <a:avLst/>
          </a:prstGeom>
          <a:ln w="12700" cap="flat" cmpd="sng">
            <a:solidFill>
              <a:schemeClr val="tx1"/>
            </a:solidFill>
            <a:prstDash val="dash"/>
            <a:headEnd type="none" w="sm" len="sm"/>
            <a:tailEnd type="none" w="sm" len="sm"/>
          </a:ln>
        </p:spPr>
      </p:sp>
      <p:sp>
        <p:nvSpPr>
          <p:cNvPr id="30732" name="Oval 12"/>
          <p:cNvSpPr/>
          <p:nvPr/>
        </p:nvSpPr>
        <p:spPr>
          <a:xfrm>
            <a:off x="1744663" y="3168650"/>
            <a:ext cx="173037" cy="173038"/>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0733" name="Oval 13"/>
          <p:cNvSpPr/>
          <p:nvPr/>
        </p:nvSpPr>
        <p:spPr>
          <a:xfrm>
            <a:off x="4487863" y="3168650"/>
            <a:ext cx="173037" cy="173038"/>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0734" name="Rectangle 14"/>
          <p:cNvSpPr/>
          <p:nvPr/>
        </p:nvSpPr>
        <p:spPr>
          <a:xfrm>
            <a:off x="4322763" y="5041900"/>
            <a:ext cx="7159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30735" name="Rectangle 15"/>
          <p:cNvSpPr/>
          <p:nvPr/>
        </p:nvSpPr>
        <p:spPr>
          <a:xfrm>
            <a:off x="1581150" y="5041900"/>
            <a:ext cx="5238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30736" name="Rectangle 16"/>
          <p:cNvSpPr/>
          <p:nvPr/>
        </p:nvSpPr>
        <p:spPr>
          <a:xfrm>
            <a:off x="3290888" y="1255713"/>
            <a:ext cx="5595937" cy="155416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y = y</a:t>
            </a:r>
            <a:r>
              <a:rPr lang="en-US" altLang="zh-CN" baseline="-25000" dirty="0">
                <a:ea typeface="宋体" panose="02010600030101010101" pitchFamily="2" charset="-122"/>
              </a:rPr>
              <a:t>s</a:t>
            </a:r>
            <a:r>
              <a:rPr lang="en-US" altLang="zh-CN" dirty="0">
                <a:ea typeface="宋体" panose="02010600030101010101" pitchFamily="2" charset="-122"/>
              </a:rPr>
              <a:t>*, p = MC and MC</a:t>
            </a:r>
            <a:br>
              <a:rPr lang="en-US" altLang="zh-CN" dirty="0">
                <a:ea typeface="宋体" panose="02010600030101010101" pitchFamily="2" charset="-122"/>
              </a:rPr>
            </a:br>
            <a:r>
              <a:rPr lang="en-US" altLang="zh-CN" dirty="0">
                <a:ea typeface="宋体" panose="02010600030101010101" pitchFamily="2" charset="-122"/>
              </a:rPr>
              <a:t>slopes upwards.  y = y</a:t>
            </a:r>
            <a:r>
              <a:rPr lang="en-US" altLang="zh-CN" baseline="-25000" dirty="0">
                <a:ea typeface="宋体" panose="02010600030101010101" pitchFamily="2" charset="-122"/>
              </a:rPr>
              <a:t>s</a:t>
            </a:r>
            <a:r>
              <a:rPr lang="en-US" altLang="zh-CN" dirty="0">
                <a:ea typeface="宋体" panose="02010600030101010101" pitchFamily="2" charset="-122"/>
              </a:rPr>
              <a:t>* is</a:t>
            </a:r>
            <a:br>
              <a:rPr lang="en-US" altLang="zh-CN" dirty="0">
                <a:ea typeface="宋体" panose="02010600030101010101" pitchFamily="2" charset="-122"/>
              </a:rPr>
            </a:br>
            <a:r>
              <a:rPr lang="en-US" altLang="zh-CN" dirty="0">
                <a:ea typeface="宋体" panose="02010600030101010101" pitchFamily="2" charset="-122"/>
              </a:rPr>
              <a:t>                 profit-maximizing.</a:t>
            </a:r>
            <a:endParaRPr lang="en-US" altLang="zh-CN" dirty="0">
              <a:ea typeface="宋体" panose="02010600030101010101" pitchFamily="2" charset="-122"/>
            </a:endParaRPr>
          </a:p>
        </p:txBody>
      </p:sp>
      <p:sp>
        <p:nvSpPr>
          <p:cNvPr id="30737" name="Rectangle 17"/>
          <p:cNvSpPr/>
          <p:nvPr/>
        </p:nvSpPr>
        <p:spPr>
          <a:xfrm>
            <a:off x="265113" y="5565775"/>
            <a:ext cx="8764587"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y = y’, p = MC and MC slopes downwards.</a:t>
            </a:r>
            <a:br>
              <a:rPr lang="en-US" altLang="zh-CN" dirty="0">
                <a:ea typeface="宋体" panose="02010600030101010101" pitchFamily="2" charset="-122"/>
              </a:rPr>
            </a:br>
            <a:r>
              <a:rPr lang="en-US" altLang="zh-CN" dirty="0">
                <a:ea typeface="宋体" panose="02010600030101010101" pitchFamily="2" charset="-122"/>
              </a:rPr>
              <a:t>y = y’ is profit-minimizing.</a:t>
            </a:r>
            <a:endParaRPr lang="en-US" altLang="zh-CN" dirty="0">
              <a:ea typeface="宋体" panose="02010600030101010101" pitchFamily="2" charset="-122"/>
            </a:endParaRPr>
          </a:p>
        </p:txBody>
      </p:sp>
      <p:sp>
        <p:nvSpPr>
          <p:cNvPr id="30738" name="Rectangle 18"/>
          <p:cNvSpPr/>
          <p:nvPr/>
        </p:nvSpPr>
        <p:spPr>
          <a:xfrm>
            <a:off x="3074988" y="4160838"/>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1747" name="Line 3"/>
          <p:cNvSpPr/>
          <p:nvPr/>
        </p:nvSpPr>
        <p:spPr>
          <a:xfrm>
            <a:off x="1524000" y="1785938"/>
            <a:ext cx="0" cy="3190875"/>
          </a:xfrm>
          <a:prstGeom prst="line">
            <a:avLst/>
          </a:prstGeom>
          <a:ln w="12700" cap="flat" cmpd="sng">
            <a:solidFill>
              <a:schemeClr val="tx1"/>
            </a:solidFill>
            <a:prstDash val="solid"/>
            <a:headEnd type="stealth" w="med" len="lg"/>
            <a:tailEnd type="none" w="sm" len="sm"/>
          </a:ln>
        </p:spPr>
      </p:sp>
      <p:sp>
        <p:nvSpPr>
          <p:cNvPr id="31748" name="Line 4"/>
          <p:cNvSpPr/>
          <p:nvPr/>
        </p:nvSpPr>
        <p:spPr>
          <a:xfrm>
            <a:off x="1524000" y="4976813"/>
            <a:ext cx="4500563" cy="0"/>
          </a:xfrm>
          <a:prstGeom prst="line">
            <a:avLst/>
          </a:prstGeom>
          <a:ln w="12700" cap="flat" cmpd="sng">
            <a:solidFill>
              <a:schemeClr val="tx1"/>
            </a:solidFill>
            <a:prstDash val="solid"/>
            <a:headEnd type="none" w="sm" len="sm"/>
            <a:tailEnd type="stealth" w="med" len="lg"/>
          </a:ln>
        </p:spPr>
      </p:sp>
      <p:sp>
        <p:nvSpPr>
          <p:cNvPr id="31749" name="Line 5"/>
          <p:cNvSpPr/>
          <p:nvPr/>
        </p:nvSpPr>
        <p:spPr>
          <a:xfrm>
            <a:off x="1524000" y="3262313"/>
            <a:ext cx="4119563" cy="0"/>
          </a:xfrm>
          <a:prstGeom prst="line">
            <a:avLst/>
          </a:prstGeom>
          <a:ln w="25400" cap="flat" cmpd="sng">
            <a:solidFill>
              <a:schemeClr val="tx1"/>
            </a:solidFill>
            <a:prstDash val="solid"/>
            <a:headEnd type="none" w="sm" len="sm"/>
            <a:tailEnd type="none" w="sm" len="sm"/>
          </a:ln>
        </p:spPr>
      </p:sp>
      <p:sp>
        <p:nvSpPr>
          <p:cNvPr id="31750" name="Arc 6"/>
          <p:cNvSpPr/>
          <p:nvPr/>
        </p:nvSpPr>
        <p:spPr>
          <a:xfrm>
            <a:off x="1525588" y="1066800"/>
            <a:ext cx="3427412" cy="3095625"/>
          </a:xfrm>
          <a:custGeom>
            <a:avLst/>
            <a:gdLst>
              <a:gd name="txL" fmla="*/ 0 w 38379"/>
              <a:gd name="txT" fmla="*/ 0 h 21600"/>
              <a:gd name="txR" fmla="*/ 38379 w 38379"/>
              <a:gd name="txB" fmla="*/ 21600 h 21600"/>
            </a:gdLst>
            <a:ahLst/>
            <a:cxnLst>
              <a:cxn ang="0">
                <a:pos x="2147483646" y="2147483646"/>
              </a:cxn>
              <a:cxn ang="0">
                <a:pos x="0" y="2147483646"/>
              </a:cxn>
              <a:cxn ang="0">
                <a:pos x="2147483646" y="0"/>
              </a:cxn>
            </a:cxnLst>
            <a:rect l="txL" t="txT" r="txR" b="txB"/>
            <a:pathLst>
              <a:path w="38379" h="21600" fill="none">
                <a:moveTo>
                  <a:pt x="38379" y="9256"/>
                </a:moveTo>
                <a:cubicBezTo>
                  <a:pt x="34803" y="16794"/>
                  <a:pt x="27206" y="21599"/>
                  <a:pt x="18863" y="21600"/>
                </a:cubicBezTo>
                <a:cubicBezTo>
                  <a:pt x="11032" y="21600"/>
                  <a:pt x="3815" y="17362"/>
                  <a:pt x="0" y="10523"/>
                </a:cubicBezTo>
              </a:path>
              <a:path w="38379" h="21600" stroke="0">
                <a:moveTo>
                  <a:pt x="38379" y="9256"/>
                </a:moveTo>
                <a:cubicBezTo>
                  <a:pt x="34803" y="16794"/>
                  <a:pt x="27206" y="21599"/>
                  <a:pt x="18863" y="21600"/>
                </a:cubicBezTo>
                <a:cubicBezTo>
                  <a:pt x="11032" y="21600"/>
                  <a:pt x="3815" y="17362"/>
                  <a:pt x="0" y="10523"/>
                </a:cubicBezTo>
                <a:lnTo>
                  <a:pt x="18863" y="0"/>
                </a:lnTo>
                <a:lnTo>
                  <a:pt x="38379" y="9256"/>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31751" name="Rectangle 7"/>
          <p:cNvSpPr/>
          <p:nvPr/>
        </p:nvSpPr>
        <p:spPr>
          <a:xfrm>
            <a:off x="217488" y="130016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31752" name="Rectangle 8"/>
          <p:cNvSpPr/>
          <p:nvPr/>
        </p:nvSpPr>
        <p:spPr>
          <a:xfrm>
            <a:off x="5818188" y="5041900"/>
            <a:ext cx="4095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31753" name="Rectangle 9"/>
          <p:cNvSpPr/>
          <p:nvPr/>
        </p:nvSpPr>
        <p:spPr>
          <a:xfrm>
            <a:off x="836613" y="3017838"/>
            <a:ext cx="579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r>
              <a:rPr lang="en-US" altLang="zh-CN" baseline="30000" dirty="0">
                <a:ea typeface="宋体" panose="02010600030101010101" pitchFamily="2" charset="-122"/>
              </a:rPr>
              <a:t>e</a:t>
            </a:r>
            <a:endParaRPr lang="en-US" altLang="zh-CN" baseline="30000" dirty="0">
              <a:ea typeface="宋体" panose="02010600030101010101" pitchFamily="2" charset="-122"/>
            </a:endParaRPr>
          </a:p>
        </p:txBody>
      </p:sp>
      <p:sp>
        <p:nvSpPr>
          <p:cNvPr id="31754" name="Line 10"/>
          <p:cNvSpPr/>
          <p:nvPr/>
        </p:nvSpPr>
        <p:spPr>
          <a:xfrm>
            <a:off x="1830388" y="3241675"/>
            <a:ext cx="0" cy="1730375"/>
          </a:xfrm>
          <a:prstGeom prst="line">
            <a:avLst/>
          </a:prstGeom>
          <a:ln w="12700" cap="flat" cmpd="sng">
            <a:solidFill>
              <a:schemeClr val="tx1"/>
            </a:solidFill>
            <a:prstDash val="dash"/>
            <a:headEnd type="none" w="sm" len="sm"/>
            <a:tailEnd type="none" w="sm" len="sm"/>
          </a:ln>
        </p:spPr>
      </p:sp>
      <p:sp>
        <p:nvSpPr>
          <p:cNvPr id="31755" name="Line 11"/>
          <p:cNvSpPr/>
          <p:nvPr/>
        </p:nvSpPr>
        <p:spPr>
          <a:xfrm>
            <a:off x="4572000" y="3255963"/>
            <a:ext cx="0" cy="1730375"/>
          </a:xfrm>
          <a:prstGeom prst="line">
            <a:avLst/>
          </a:prstGeom>
          <a:ln w="12700" cap="flat" cmpd="sng">
            <a:solidFill>
              <a:schemeClr val="tx1"/>
            </a:solidFill>
            <a:prstDash val="dash"/>
            <a:headEnd type="none" w="sm" len="sm"/>
            <a:tailEnd type="none" w="sm" len="sm"/>
          </a:ln>
        </p:spPr>
      </p:sp>
      <p:sp>
        <p:nvSpPr>
          <p:cNvPr id="31756" name="Oval 12"/>
          <p:cNvSpPr/>
          <p:nvPr/>
        </p:nvSpPr>
        <p:spPr>
          <a:xfrm>
            <a:off x="1744663" y="3168650"/>
            <a:ext cx="173037" cy="173038"/>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1757" name="Oval 13"/>
          <p:cNvSpPr/>
          <p:nvPr/>
        </p:nvSpPr>
        <p:spPr>
          <a:xfrm>
            <a:off x="4487863" y="3168650"/>
            <a:ext cx="173037" cy="173038"/>
          </a:xfrm>
          <a:prstGeom prst="ellipse">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1758" name="Rectangle 14"/>
          <p:cNvSpPr/>
          <p:nvPr/>
        </p:nvSpPr>
        <p:spPr>
          <a:xfrm>
            <a:off x="1581150" y="5041900"/>
            <a:ext cx="52387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31759" name="Rectangle 15"/>
          <p:cNvSpPr/>
          <p:nvPr/>
        </p:nvSpPr>
        <p:spPr>
          <a:xfrm>
            <a:off x="3290888" y="1255713"/>
            <a:ext cx="5843587" cy="49657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At y = y</a:t>
            </a:r>
            <a:r>
              <a:rPr lang="en-US" altLang="zh-CN" baseline="-25000" dirty="0">
                <a:ea typeface="宋体" panose="02010600030101010101" pitchFamily="2" charset="-122"/>
              </a:rPr>
              <a:t>s</a:t>
            </a:r>
            <a:r>
              <a:rPr lang="en-US" altLang="zh-CN" dirty="0">
                <a:ea typeface="宋体" panose="02010600030101010101" pitchFamily="2" charset="-122"/>
              </a:rPr>
              <a:t>*, p = MC and MC</a:t>
            </a:r>
            <a:br>
              <a:rPr lang="en-US" altLang="zh-CN" dirty="0">
                <a:ea typeface="宋体" panose="02010600030101010101" pitchFamily="2" charset="-122"/>
              </a:rPr>
            </a:br>
            <a:r>
              <a:rPr lang="en-US" altLang="zh-CN" dirty="0">
                <a:ea typeface="宋体" panose="02010600030101010101" pitchFamily="2" charset="-122"/>
              </a:rPr>
              <a:t>slopes upwards.  y = y</a:t>
            </a:r>
            <a:r>
              <a:rPr lang="en-US" altLang="zh-CN" baseline="-25000" dirty="0">
                <a:ea typeface="宋体" panose="02010600030101010101" pitchFamily="2" charset="-122"/>
              </a:rPr>
              <a:t>s</a:t>
            </a:r>
            <a:r>
              <a:rPr lang="en-US" altLang="zh-CN" dirty="0">
                <a:ea typeface="宋体" panose="02010600030101010101" pitchFamily="2" charset="-122"/>
              </a:rPr>
              <a:t>* is</a:t>
            </a:r>
            <a:br>
              <a:rPr lang="en-US" altLang="zh-CN" dirty="0">
                <a:ea typeface="宋体" panose="02010600030101010101" pitchFamily="2" charset="-122"/>
              </a:rPr>
            </a:br>
            <a:r>
              <a:rPr lang="en-US" altLang="zh-CN" dirty="0">
                <a:ea typeface="宋体" panose="02010600030101010101" pitchFamily="2" charset="-122"/>
              </a:rPr>
              <a:t>                 profit-maximizing.</a:t>
            </a:r>
            <a:br>
              <a:rPr lang="en-US" altLang="zh-CN" dirty="0">
                <a:ea typeface="宋体" panose="02010600030101010101" pitchFamily="2" charset="-122"/>
              </a:rPr>
            </a:br>
            <a:r>
              <a:rPr lang="en-US" altLang="zh-CN" dirty="0">
                <a:ea typeface="宋体" panose="02010600030101010101" pitchFamily="2" charset="-122"/>
              </a:rPr>
              <a:t>                       So a profit-max.</a:t>
            </a:r>
            <a:br>
              <a:rPr lang="en-US" altLang="zh-CN" dirty="0">
                <a:ea typeface="宋体" panose="02010600030101010101" pitchFamily="2" charset="-122"/>
              </a:rPr>
            </a:br>
            <a:r>
              <a:rPr lang="en-US" altLang="zh-CN" dirty="0">
                <a:ea typeface="宋体" panose="02010600030101010101" pitchFamily="2" charset="-122"/>
              </a:rPr>
              <a:t>                       supply level</a:t>
            </a:r>
            <a:br>
              <a:rPr lang="en-US" altLang="zh-CN" dirty="0">
                <a:ea typeface="宋体" panose="02010600030101010101" pitchFamily="2" charset="-122"/>
              </a:rPr>
            </a:br>
            <a:r>
              <a:rPr lang="en-US" altLang="zh-CN" dirty="0">
                <a:ea typeface="宋体" panose="02010600030101010101" pitchFamily="2" charset="-122"/>
              </a:rPr>
              <a:t>                       can lie only on</a:t>
            </a:r>
            <a:endParaRPr lang="en-US" altLang="zh-CN" dirty="0">
              <a:ea typeface="宋体" panose="02010600030101010101" pitchFamily="2" charset="-122"/>
            </a:endParaRPr>
          </a:p>
          <a:p>
            <a:pPr marL="0" lvl="0" indent="0">
              <a:spcBef>
                <a:spcPct val="0"/>
              </a:spcBef>
              <a:buClrTx/>
              <a:buSzTx/>
              <a:buFontTx/>
              <a:buNone/>
            </a:pPr>
            <a:r>
              <a:rPr lang="en-US" altLang="zh-CN" dirty="0">
                <a:ea typeface="宋体" panose="02010600030101010101" pitchFamily="2" charset="-122"/>
              </a:rPr>
              <a:t>                       the upwards</a:t>
            </a:r>
            <a:br>
              <a:rPr lang="en-US" altLang="zh-CN" dirty="0">
                <a:ea typeface="宋体" panose="02010600030101010101" pitchFamily="2" charset="-122"/>
              </a:rPr>
            </a:br>
            <a:r>
              <a:rPr lang="en-US" altLang="zh-CN" dirty="0">
                <a:ea typeface="宋体" panose="02010600030101010101" pitchFamily="2" charset="-122"/>
              </a:rPr>
              <a:t>                          sloping part</a:t>
            </a:r>
            <a:br>
              <a:rPr lang="en-US" altLang="zh-CN" dirty="0">
                <a:ea typeface="宋体" panose="02010600030101010101" pitchFamily="2" charset="-122"/>
              </a:rPr>
            </a:br>
            <a:r>
              <a:rPr lang="en-US" altLang="zh-CN" dirty="0">
                <a:ea typeface="宋体" panose="02010600030101010101" pitchFamily="2" charset="-122"/>
              </a:rPr>
              <a:t>                          of the firm’s</a:t>
            </a:r>
            <a:br>
              <a:rPr lang="en-US" altLang="zh-CN" dirty="0">
                <a:ea typeface="宋体" panose="02010600030101010101" pitchFamily="2" charset="-122"/>
              </a:rPr>
            </a:br>
            <a:r>
              <a:rPr lang="en-US" altLang="zh-CN" dirty="0">
                <a:ea typeface="宋体" panose="02010600030101010101" pitchFamily="2" charset="-122"/>
              </a:rPr>
              <a:t>                          MC curve.</a:t>
            </a:r>
            <a:endParaRPr lang="en-US" altLang="zh-CN" dirty="0">
              <a:ea typeface="宋体" panose="02010600030101010101" pitchFamily="2" charset="-122"/>
            </a:endParaRPr>
          </a:p>
        </p:txBody>
      </p:sp>
      <p:sp>
        <p:nvSpPr>
          <p:cNvPr id="31760" name="Rectangle 16"/>
          <p:cNvSpPr/>
          <p:nvPr/>
        </p:nvSpPr>
        <p:spPr>
          <a:xfrm>
            <a:off x="3074988" y="4160838"/>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31761" name="Arc 17"/>
          <p:cNvSpPr/>
          <p:nvPr/>
        </p:nvSpPr>
        <p:spPr>
          <a:xfrm>
            <a:off x="3219450" y="1076325"/>
            <a:ext cx="1743075" cy="3095625"/>
          </a:xfrm>
          <a:custGeom>
            <a:avLst/>
            <a:gdLst>
              <a:gd name="txL" fmla="*/ 0 w 19516"/>
              <a:gd name="txT" fmla="*/ 0 h 21599"/>
              <a:gd name="txR" fmla="*/ 19516 w 19516"/>
              <a:gd name="txB" fmla="*/ 21599 h 21599"/>
            </a:gdLst>
            <a:ahLst/>
            <a:cxnLst>
              <a:cxn ang="0">
                <a:pos x="2147483646" y="2147483646"/>
              </a:cxn>
              <a:cxn ang="0">
                <a:pos x="139648924" y="2147483646"/>
              </a:cxn>
              <a:cxn ang="0">
                <a:pos x="0" y="0"/>
              </a:cxn>
            </a:cxnLst>
            <a:rect l="txL" t="txT" r="txR" b="txB"/>
            <a:pathLst>
              <a:path w="19516" h="21599" fill="none">
                <a:moveTo>
                  <a:pt x="19516" y="9256"/>
                </a:moveTo>
                <a:cubicBezTo>
                  <a:pt x="15971" y="16730"/>
                  <a:pt x="8468" y="21524"/>
                  <a:pt x="196" y="21599"/>
                </a:cubicBezTo>
              </a:path>
              <a:path w="19516" h="21599" stroke="0">
                <a:moveTo>
                  <a:pt x="19516" y="9256"/>
                </a:moveTo>
                <a:cubicBezTo>
                  <a:pt x="15971" y="16730"/>
                  <a:pt x="8468" y="21524"/>
                  <a:pt x="196" y="21599"/>
                </a:cubicBezTo>
                <a:lnTo>
                  <a:pt x="0" y="0"/>
                </a:lnTo>
                <a:lnTo>
                  <a:pt x="19516" y="9256"/>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31762" name="Rectangle 18"/>
          <p:cNvSpPr/>
          <p:nvPr/>
        </p:nvSpPr>
        <p:spPr>
          <a:xfrm>
            <a:off x="4322763" y="5041900"/>
            <a:ext cx="7159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2771"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But not every point on the upward-sloping part of the firm’s MC curve represents a profit-maximum.</a:t>
            </a:r>
            <a:endParaRPr lang="en-US" altLang="zh-CN" dirty="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3795"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But not every point on the upward-sloping part of the firm’s MC curve represents a profit-maximum.</a:t>
            </a:r>
            <a:endParaRPr lang="en-US" altLang="zh-CN" dirty="0">
              <a:ea typeface="宋体" panose="02010600030101010101" pitchFamily="2" charset="-122"/>
            </a:endParaRPr>
          </a:p>
          <a:p>
            <a:r>
              <a:rPr lang="en-US" altLang="zh-CN" dirty="0">
                <a:ea typeface="宋体" panose="02010600030101010101" pitchFamily="2" charset="-122"/>
              </a:rPr>
              <a:t>The firm’s profit function is</a:t>
            </a:r>
            <a:br>
              <a:rPr lang="en-US" altLang="zh-CN" dirty="0">
                <a:ea typeface="宋体" panose="02010600030101010101" pitchFamily="2" charset="-122"/>
              </a:rPr>
            </a:br>
            <a:endParaRPr lang="en-US" altLang="zh-CN" dirty="0">
              <a:ea typeface="宋体" panose="02010600030101010101" pitchFamily="2" charset="-122"/>
            </a:endParaRPr>
          </a:p>
          <a:p>
            <a:r>
              <a:rPr lang="en-US" altLang="zh-CN" dirty="0">
                <a:ea typeface="宋体" panose="02010600030101010101" pitchFamily="2" charset="-122"/>
              </a:rPr>
              <a:t>If the firm chooses y = 0 then its profit is</a:t>
            </a:r>
            <a:endParaRPr lang="en-US" altLang="zh-CN" dirty="0">
              <a:ea typeface="宋体" panose="02010600030101010101" pitchFamily="2" charset="-122"/>
            </a:endParaRPr>
          </a:p>
        </p:txBody>
      </p:sp>
      <p:graphicFrame>
        <p:nvGraphicFramePr>
          <p:cNvPr id="33796" name="Object 4"/>
          <p:cNvGraphicFramePr/>
          <p:nvPr/>
        </p:nvGraphicFramePr>
        <p:xfrm>
          <a:off x="1206500" y="3592513"/>
          <a:ext cx="6829425" cy="481012"/>
        </p:xfrm>
        <a:graphic>
          <a:graphicData uri="http://schemas.openxmlformats.org/presentationml/2006/ole">
            <mc:AlternateContent xmlns:mc="http://schemas.openxmlformats.org/markup-compatibility/2006">
              <mc:Choice xmlns:v="urn:schemas-microsoft-com:vml" Requires="v">
                <p:oleObj spid="_x0000_s3094" name="" r:id="rId1" imgW="4311015" imgH="321945" progId="Equation.2">
                  <p:embed/>
                </p:oleObj>
              </mc:Choice>
              <mc:Fallback>
                <p:oleObj name="" r:id="rId1" imgW="4311015" imgH="321945" progId="Equation.2">
                  <p:embed/>
                  <p:pic>
                    <p:nvPicPr>
                      <p:cNvPr id="0" name="图片 3093"/>
                      <p:cNvPicPr/>
                      <p:nvPr/>
                    </p:nvPicPr>
                    <p:blipFill>
                      <a:blip r:embed="rId2">
                        <a:clrChange>
                          <a:clrFrom>
                            <a:srgbClr val="000000"/>
                          </a:clrFrom>
                          <a:clrTo>
                            <a:srgbClr val="000000"/>
                          </a:clrTo>
                        </a:clrChange>
                      </a:blip>
                      <a:stretch>
                        <a:fillRect/>
                      </a:stretch>
                    </p:blipFill>
                    <p:spPr>
                      <a:xfrm>
                        <a:off x="1206500" y="3592513"/>
                        <a:ext cx="6829425" cy="481012"/>
                      </a:xfrm>
                      <a:prstGeom prst="rect">
                        <a:avLst/>
                      </a:prstGeom>
                      <a:noFill/>
                      <a:ln w="38100">
                        <a:noFill/>
                        <a:miter/>
                      </a:ln>
                    </p:spPr>
                  </p:pic>
                </p:oleObj>
              </mc:Fallback>
            </mc:AlternateContent>
          </a:graphicData>
        </a:graphic>
      </p:graphicFrame>
      <p:graphicFrame>
        <p:nvGraphicFramePr>
          <p:cNvPr id="33797" name="Object 5"/>
          <p:cNvGraphicFramePr/>
          <p:nvPr/>
        </p:nvGraphicFramePr>
        <p:xfrm>
          <a:off x="1973263" y="5140325"/>
          <a:ext cx="5294312" cy="481013"/>
        </p:xfrm>
        <a:graphic>
          <a:graphicData uri="http://schemas.openxmlformats.org/presentationml/2006/ole">
            <mc:AlternateContent xmlns:mc="http://schemas.openxmlformats.org/markup-compatibility/2006">
              <mc:Choice xmlns:v="urn:schemas-microsoft-com:vml" Requires="v">
                <p:oleObj spid="_x0000_s3093" name="" r:id="rId3" imgW="3343910" imgH="321945" progId="Equation.2">
                  <p:embed/>
                </p:oleObj>
              </mc:Choice>
              <mc:Fallback>
                <p:oleObj name="" r:id="rId3" imgW="3343910" imgH="321945" progId="Equation.2">
                  <p:embed/>
                  <p:pic>
                    <p:nvPicPr>
                      <p:cNvPr id="0" name="图片 3092"/>
                      <p:cNvPicPr/>
                      <p:nvPr/>
                    </p:nvPicPr>
                    <p:blipFill>
                      <a:blip r:embed="rId4">
                        <a:clrChange>
                          <a:clrFrom>
                            <a:srgbClr val="000000"/>
                          </a:clrFrom>
                          <a:clrTo>
                            <a:srgbClr val="000000"/>
                          </a:clrTo>
                        </a:clrChange>
                      </a:blip>
                      <a:stretch>
                        <a:fillRect/>
                      </a:stretch>
                    </p:blipFill>
                    <p:spPr>
                      <a:xfrm>
                        <a:off x="1973263" y="5140325"/>
                        <a:ext cx="5294312" cy="481013"/>
                      </a:xfrm>
                      <a:prstGeom prst="rect">
                        <a:avLst/>
                      </a:prstGeom>
                      <a:noFill/>
                      <a:ln w="38100">
                        <a:noFill/>
                        <a:miter/>
                      </a:ln>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4819"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So the firm will choose an output level y &gt; 0 only if</a:t>
            </a:r>
            <a:endParaRPr lang="en-US" altLang="zh-CN" dirty="0">
              <a:ea typeface="宋体" panose="02010600030101010101" pitchFamily="2" charset="-122"/>
            </a:endParaRPr>
          </a:p>
        </p:txBody>
      </p:sp>
      <p:graphicFrame>
        <p:nvGraphicFramePr>
          <p:cNvPr id="34820" name="Object 4"/>
          <p:cNvGraphicFramePr/>
          <p:nvPr/>
        </p:nvGraphicFramePr>
        <p:xfrm>
          <a:off x="1593850" y="2520950"/>
          <a:ext cx="5527675" cy="481013"/>
        </p:xfrm>
        <a:graphic>
          <a:graphicData uri="http://schemas.openxmlformats.org/presentationml/2006/ole">
            <mc:AlternateContent xmlns:mc="http://schemas.openxmlformats.org/markup-compatibility/2006">
              <mc:Choice xmlns:v="urn:schemas-microsoft-com:vml" Requires="v">
                <p:oleObj spid="_x0000_s3095" name="" r:id="rId1" imgW="3491865" imgH="321945" progId="Equation.2">
                  <p:embed/>
                </p:oleObj>
              </mc:Choice>
              <mc:Fallback>
                <p:oleObj name="" r:id="rId1" imgW="3491865" imgH="321945" progId="Equation.2">
                  <p:embed/>
                  <p:pic>
                    <p:nvPicPr>
                      <p:cNvPr id="0" name="图片 3094"/>
                      <p:cNvPicPr/>
                      <p:nvPr/>
                    </p:nvPicPr>
                    <p:blipFill>
                      <a:blip r:embed="rId2">
                        <a:clrChange>
                          <a:clrFrom>
                            <a:srgbClr val="000000"/>
                          </a:clrFrom>
                          <a:clrTo>
                            <a:srgbClr val="000000"/>
                          </a:clrTo>
                        </a:clrChange>
                      </a:blip>
                      <a:stretch>
                        <a:fillRect/>
                      </a:stretch>
                    </p:blipFill>
                    <p:spPr>
                      <a:xfrm>
                        <a:off x="1593850" y="2520950"/>
                        <a:ext cx="5527675" cy="481013"/>
                      </a:xfrm>
                      <a:prstGeom prst="rect">
                        <a:avLst/>
                      </a:prstGeom>
                      <a:noFill/>
                      <a:ln w="38100">
                        <a:noFill/>
                        <a:miter/>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5843"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So the firm will choose an output level y &gt; 0 only if</a:t>
            </a:r>
            <a:br>
              <a:rPr lang="en-US" altLang="zh-CN" dirty="0">
                <a:ea typeface="宋体" panose="02010600030101010101" pitchFamily="2" charset="-122"/>
              </a:rPr>
            </a:br>
            <a:endParaRPr lang="en-US" altLang="zh-CN" dirty="0">
              <a:ea typeface="宋体" panose="02010600030101010101" pitchFamily="2" charset="-122"/>
            </a:endParaRPr>
          </a:p>
          <a:p>
            <a:r>
              <a:rPr lang="en-US" altLang="zh-CN" dirty="0">
                <a:ea typeface="宋体" panose="02010600030101010101" pitchFamily="2" charset="-122"/>
              </a:rPr>
              <a:t>I.e., only if</a:t>
            </a:r>
            <a:br>
              <a:rPr lang="en-US" altLang="zh-CN" dirty="0">
                <a:ea typeface="宋体" panose="02010600030101010101" pitchFamily="2" charset="-122"/>
              </a:rPr>
            </a:br>
            <a:br>
              <a:rPr lang="en-US" altLang="zh-CN" dirty="0">
                <a:ea typeface="宋体" panose="02010600030101010101" pitchFamily="2" charset="-122"/>
              </a:rPr>
            </a:br>
            <a:r>
              <a:rPr lang="en-US" altLang="zh-CN" dirty="0">
                <a:ea typeface="宋体" panose="02010600030101010101" pitchFamily="2" charset="-122"/>
              </a:rPr>
              <a:t>Equivalently, only if</a:t>
            </a:r>
            <a:endParaRPr lang="en-US" altLang="zh-CN" dirty="0">
              <a:ea typeface="宋体" panose="02010600030101010101" pitchFamily="2" charset="-122"/>
            </a:endParaRPr>
          </a:p>
        </p:txBody>
      </p:sp>
      <p:graphicFrame>
        <p:nvGraphicFramePr>
          <p:cNvPr id="35844" name="Object 4"/>
          <p:cNvGraphicFramePr/>
          <p:nvPr/>
        </p:nvGraphicFramePr>
        <p:xfrm>
          <a:off x="1593850" y="2520950"/>
          <a:ext cx="5527675" cy="481013"/>
        </p:xfrm>
        <a:graphic>
          <a:graphicData uri="http://schemas.openxmlformats.org/presentationml/2006/ole">
            <mc:AlternateContent xmlns:mc="http://schemas.openxmlformats.org/markup-compatibility/2006">
              <mc:Choice xmlns:v="urn:schemas-microsoft-com:vml" Requires="v">
                <p:oleObj spid="_x0000_s3092" name="" r:id="rId1" imgW="3491865" imgH="321945" progId="Equation.2">
                  <p:embed/>
                </p:oleObj>
              </mc:Choice>
              <mc:Fallback>
                <p:oleObj name="" r:id="rId1" imgW="3491865" imgH="321945" progId="Equation.2">
                  <p:embed/>
                  <p:pic>
                    <p:nvPicPr>
                      <p:cNvPr id="0" name="图片 3091"/>
                      <p:cNvPicPr/>
                      <p:nvPr/>
                    </p:nvPicPr>
                    <p:blipFill>
                      <a:blip r:embed="rId2">
                        <a:clrChange>
                          <a:clrFrom>
                            <a:srgbClr val="000000"/>
                          </a:clrFrom>
                          <a:clrTo>
                            <a:srgbClr val="000000"/>
                          </a:clrTo>
                        </a:clrChange>
                      </a:blip>
                      <a:stretch>
                        <a:fillRect/>
                      </a:stretch>
                    </p:blipFill>
                    <p:spPr>
                      <a:xfrm>
                        <a:off x="1593850" y="2520950"/>
                        <a:ext cx="5527675" cy="481013"/>
                      </a:xfrm>
                      <a:prstGeom prst="rect">
                        <a:avLst/>
                      </a:prstGeom>
                      <a:noFill/>
                      <a:ln w="38100">
                        <a:noFill/>
                        <a:miter/>
                      </a:ln>
                    </p:spPr>
                  </p:pic>
                </p:oleObj>
              </mc:Fallback>
            </mc:AlternateContent>
          </a:graphicData>
        </a:graphic>
      </p:graphicFrame>
      <p:graphicFrame>
        <p:nvGraphicFramePr>
          <p:cNvPr id="35845" name="Object 5"/>
          <p:cNvGraphicFramePr/>
          <p:nvPr/>
        </p:nvGraphicFramePr>
        <p:xfrm>
          <a:off x="3189288" y="3521075"/>
          <a:ext cx="2765425" cy="481013"/>
        </p:xfrm>
        <a:graphic>
          <a:graphicData uri="http://schemas.openxmlformats.org/presentationml/2006/ole">
            <mc:AlternateContent xmlns:mc="http://schemas.openxmlformats.org/markup-compatibility/2006">
              <mc:Choice xmlns:v="urn:schemas-microsoft-com:vml" Requires="v">
                <p:oleObj spid="_x0000_s3076" name="" r:id="rId3" imgW="1750695" imgH="321945" progId="Equation.2">
                  <p:embed/>
                </p:oleObj>
              </mc:Choice>
              <mc:Fallback>
                <p:oleObj name="" r:id="rId3" imgW="1750695" imgH="321945" progId="Equation.2">
                  <p:embed/>
                  <p:pic>
                    <p:nvPicPr>
                      <p:cNvPr id="0" name="图片 3075"/>
                      <p:cNvPicPr/>
                      <p:nvPr/>
                    </p:nvPicPr>
                    <p:blipFill>
                      <a:blip r:embed="rId4">
                        <a:clrChange>
                          <a:clrFrom>
                            <a:srgbClr val="000000"/>
                          </a:clrFrom>
                          <a:clrTo>
                            <a:srgbClr val="000000"/>
                          </a:clrTo>
                        </a:clrChange>
                      </a:blip>
                      <a:stretch>
                        <a:fillRect/>
                      </a:stretch>
                    </p:blipFill>
                    <p:spPr>
                      <a:xfrm>
                        <a:off x="3189288" y="3521075"/>
                        <a:ext cx="2765425" cy="481013"/>
                      </a:xfrm>
                      <a:prstGeom prst="rect">
                        <a:avLst/>
                      </a:prstGeom>
                      <a:noFill/>
                      <a:ln w="38100">
                        <a:noFill/>
                        <a:miter/>
                      </a:ln>
                    </p:spPr>
                  </p:pic>
                </p:oleObj>
              </mc:Fallback>
            </mc:AlternateContent>
          </a:graphicData>
        </a:graphic>
      </p:graphicFrame>
      <p:graphicFrame>
        <p:nvGraphicFramePr>
          <p:cNvPr id="35846" name="Object 6"/>
          <p:cNvGraphicFramePr/>
          <p:nvPr/>
        </p:nvGraphicFramePr>
        <p:xfrm>
          <a:off x="2460625" y="4592638"/>
          <a:ext cx="4203700" cy="1033462"/>
        </p:xfrm>
        <a:graphic>
          <a:graphicData uri="http://schemas.openxmlformats.org/presentationml/2006/ole">
            <mc:AlternateContent xmlns:mc="http://schemas.openxmlformats.org/markup-compatibility/2006">
              <mc:Choice xmlns:v="urn:schemas-microsoft-com:vml" Requires="v">
                <p:oleObj spid="_x0000_s3077" name="" r:id="rId5" imgW="2673350" imgH="705485" progId="Equation.2">
                  <p:embed/>
                </p:oleObj>
              </mc:Choice>
              <mc:Fallback>
                <p:oleObj name="" r:id="rId5" imgW="2673350" imgH="705485" progId="Equation.2">
                  <p:embed/>
                  <p:pic>
                    <p:nvPicPr>
                      <p:cNvPr id="0" name="图片 3076"/>
                      <p:cNvPicPr/>
                      <p:nvPr/>
                    </p:nvPicPr>
                    <p:blipFill>
                      <a:blip r:embed="rId6">
                        <a:clrChange>
                          <a:clrFrom>
                            <a:srgbClr val="000000"/>
                          </a:clrFrom>
                          <a:clrTo>
                            <a:srgbClr val="000000"/>
                          </a:clrTo>
                        </a:clrChange>
                      </a:blip>
                      <a:stretch>
                        <a:fillRect/>
                      </a:stretch>
                    </p:blipFill>
                    <p:spPr>
                      <a:xfrm>
                        <a:off x="2460625" y="4592638"/>
                        <a:ext cx="4203700" cy="1033462"/>
                      </a:xfrm>
                      <a:prstGeom prst="rect">
                        <a:avLst/>
                      </a:prstGeom>
                      <a:noFill/>
                      <a:ln w="38100">
                        <a:noFill/>
                        <a:miter/>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6867" name="Line 3"/>
          <p:cNvSpPr/>
          <p:nvPr/>
        </p:nvSpPr>
        <p:spPr>
          <a:xfrm>
            <a:off x="1500188" y="1428750"/>
            <a:ext cx="0" cy="3381375"/>
          </a:xfrm>
          <a:prstGeom prst="line">
            <a:avLst/>
          </a:prstGeom>
          <a:ln w="12700" cap="flat" cmpd="sng">
            <a:solidFill>
              <a:schemeClr val="tx1"/>
            </a:solidFill>
            <a:prstDash val="solid"/>
            <a:headEnd type="stealth" w="med" len="lg"/>
            <a:tailEnd type="none" w="sm" len="sm"/>
          </a:ln>
        </p:spPr>
      </p:sp>
      <p:sp>
        <p:nvSpPr>
          <p:cNvPr id="36868" name="Line 4"/>
          <p:cNvSpPr/>
          <p:nvPr/>
        </p:nvSpPr>
        <p:spPr>
          <a:xfrm>
            <a:off x="1500188" y="4833938"/>
            <a:ext cx="4429125" cy="0"/>
          </a:xfrm>
          <a:prstGeom prst="line">
            <a:avLst/>
          </a:prstGeom>
          <a:ln w="12700" cap="flat" cmpd="sng">
            <a:solidFill>
              <a:schemeClr val="tx1"/>
            </a:solidFill>
            <a:prstDash val="solid"/>
            <a:headEnd type="none" w="sm" len="sm"/>
            <a:tailEnd type="stealth" w="med" len="lg"/>
          </a:ln>
        </p:spPr>
      </p:sp>
      <p:sp>
        <p:nvSpPr>
          <p:cNvPr id="36869" name="Arc 5"/>
          <p:cNvSpPr/>
          <p:nvPr/>
        </p:nvSpPr>
        <p:spPr>
          <a:xfrm rot="10800000">
            <a:off x="1936750" y="1287463"/>
            <a:ext cx="3043238" cy="2428875"/>
          </a:xfrm>
          <a:custGeom>
            <a:avLst/>
            <a:gdLst>
              <a:gd name="txL" fmla="*/ 0 w 38509"/>
              <a:gd name="txT" fmla="*/ 0 h 21600"/>
              <a:gd name="txR" fmla="*/ 38509 w 38509"/>
              <a:gd name="txB" fmla="*/ 21600 h 21600"/>
            </a:gdLst>
            <a:ahLst/>
            <a:cxnLst>
              <a:cxn ang="0">
                <a:pos x="0" y="2147483646"/>
              </a:cxn>
              <a:cxn ang="0">
                <a:pos x="2147483646" y="2147483646"/>
              </a:cxn>
              <a:cxn ang="0">
                <a:pos x="2147483646" y="2147483646"/>
              </a:cxn>
            </a:cxnLst>
            <a:rect l="txL" t="txT" r="txR" b="txB"/>
            <a:pathLst>
              <a:path w="38509" h="21600" fill="none">
                <a:moveTo>
                  <a:pt x="0" y="8891"/>
                </a:moveTo>
                <a:cubicBezTo>
                  <a:pt x="4065" y="3304"/>
                  <a:pt x="10557" y="-1"/>
                  <a:pt x="17466" y="0"/>
                </a:cubicBezTo>
                <a:cubicBezTo>
                  <a:pt x="27518" y="0"/>
                  <a:pt x="36241" y="6934"/>
                  <a:pt x="38509" y="16727"/>
                </a:cubicBezTo>
              </a:path>
              <a:path w="38509" h="21600" stroke="0">
                <a:moveTo>
                  <a:pt x="0" y="8891"/>
                </a:moveTo>
                <a:cubicBezTo>
                  <a:pt x="4065" y="3304"/>
                  <a:pt x="10557" y="-1"/>
                  <a:pt x="17466" y="0"/>
                </a:cubicBezTo>
                <a:cubicBezTo>
                  <a:pt x="27518" y="0"/>
                  <a:pt x="36241" y="6934"/>
                  <a:pt x="38509" y="16727"/>
                </a:cubicBezTo>
                <a:lnTo>
                  <a:pt x="17466" y="21600"/>
                </a:lnTo>
                <a:lnTo>
                  <a:pt x="0" y="8891"/>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36870" name="Arc 6"/>
          <p:cNvSpPr/>
          <p:nvPr/>
        </p:nvSpPr>
        <p:spPr>
          <a:xfrm rot="10800000">
            <a:off x="1520825" y="1504950"/>
            <a:ext cx="3663950" cy="2667000"/>
          </a:xfrm>
          <a:custGeom>
            <a:avLst/>
            <a:gdLst>
              <a:gd name="txL" fmla="*/ 0 w 33175"/>
              <a:gd name="txT" fmla="*/ 0 h 21600"/>
              <a:gd name="txR" fmla="*/ 33175 w 33175"/>
              <a:gd name="txB" fmla="*/ 21600 h 21600"/>
            </a:gdLst>
            <a:ahLst/>
            <a:cxnLst>
              <a:cxn ang="0">
                <a:pos x="0" y="2147483646"/>
              </a:cxn>
              <a:cxn ang="0">
                <a:pos x="2147483646" y="2147483646"/>
              </a:cxn>
              <a:cxn ang="0">
                <a:pos x="2147483646" y="2147483646"/>
              </a:cxn>
            </a:cxnLst>
            <a:rect l="txL" t="txT" r="txR" b="txB"/>
            <a:pathLst>
              <a:path w="33175" h="21600" fill="none">
                <a:moveTo>
                  <a:pt x="0" y="8980"/>
                </a:moveTo>
                <a:cubicBezTo>
                  <a:pt x="4059" y="3341"/>
                  <a:pt x="10582" y="-1"/>
                  <a:pt x="17530" y="0"/>
                </a:cubicBezTo>
                <a:cubicBezTo>
                  <a:pt x="23443" y="0"/>
                  <a:pt x="29098" y="2424"/>
                  <a:pt x="33175" y="6707"/>
                </a:cubicBezTo>
              </a:path>
              <a:path w="33175" h="21600" stroke="0">
                <a:moveTo>
                  <a:pt x="0" y="8980"/>
                </a:moveTo>
                <a:cubicBezTo>
                  <a:pt x="4059" y="3341"/>
                  <a:pt x="10582" y="-1"/>
                  <a:pt x="17530" y="0"/>
                </a:cubicBezTo>
                <a:cubicBezTo>
                  <a:pt x="23443" y="0"/>
                  <a:pt x="29098" y="2424"/>
                  <a:pt x="33175" y="6707"/>
                </a:cubicBezTo>
                <a:lnTo>
                  <a:pt x="17530" y="21600"/>
                </a:lnTo>
                <a:lnTo>
                  <a:pt x="0" y="8980"/>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36871" name="Arc 7"/>
          <p:cNvSpPr/>
          <p:nvPr/>
        </p:nvSpPr>
        <p:spPr>
          <a:xfrm rot="10800000">
            <a:off x="1509713" y="1716088"/>
            <a:ext cx="2514600" cy="2714625"/>
          </a:xfrm>
          <a:custGeom>
            <a:avLst/>
            <a:gdLst>
              <a:gd name="txL" fmla="*/ 0 w 38747"/>
              <a:gd name="txT" fmla="*/ 0 h 21600"/>
              <a:gd name="txR" fmla="*/ 38747 w 38747"/>
              <a:gd name="txB" fmla="*/ 21600 h 21600"/>
            </a:gdLst>
            <a:ahLst/>
            <a:cxnLst>
              <a:cxn ang="0">
                <a:pos x="0" y="2147483646"/>
              </a:cxn>
              <a:cxn ang="0">
                <a:pos x="2147483646" y="2147483646"/>
              </a:cxn>
              <a:cxn ang="0">
                <a:pos x="2147483646" y="2147483646"/>
              </a:cxn>
            </a:cxnLst>
            <a:rect l="txL" t="txT" r="txR" b="txB"/>
            <a:pathLst>
              <a:path w="38747" h="21600" fill="none">
                <a:moveTo>
                  <a:pt x="-1" y="18054"/>
                </a:moveTo>
                <a:cubicBezTo>
                  <a:pt x="1733" y="7636"/>
                  <a:pt x="10745" y="-1"/>
                  <a:pt x="21307" y="0"/>
                </a:cubicBezTo>
                <a:cubicBezTo>
                  <a:pt x="28200" y="0"/>
                  <a:pt x="34679" y="3290"/>
                  <a:pt x="38746" y="8856"/>
                </a:cubicBezTo>
              </a:path>
              <a:path w="38747" h="21600" stroke="0">
                <a:moveTo>
                  <a:pt x="-1" y="18054"/>
                </a:moveTo>
                <a:cubicBezTo>
                  <a:pt x="1733" y="7636"/>
                  <a:pt x="10745" y="-1"/>
                  <a:pt x="21307" y="0"/>
                </a:cubicBezTo>
                <a:cubicBezTo>
                  <a:pt x="28200" y="0"/>
                  <a:pt x="34679" y="3290"/>
                  <a:pt x="38746" y="8856"/>
                </a:cubicBezTo>
                <a:lnTo>
                  <a:pt x="21307" y="21600"/>
                </a:lnTo>
                <a:lnTo>
                  <a:pt x="-1" y="18054"/>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36872" name="Rectangle 8"/>
          <p:cNvSpPr/>
          <p:nvPr/>
        </p:nvSpPr>
        <p:spPr>
          <a:xfrm>
            <a:off x="5129213" y="278765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36873" name="Rectangle 9"/>
          <p:cNvSpPr/>
          <p:nvPr/>
        </p:nvSpPr>
        <p:spPr>
          <a:xfrm>
            <a:off x="4956175" y="2138363"/>
            <a:ext cx="141446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36874" name="Rectangle 10"/>
          <p:cNvSpPr/>
          <p:nvPr/>
        </p:nvSpPr>
        <p:spPr>
          <a:xfrm>
            <a:off x="3917950" y="1619250"/>
            <a:ext cx="14589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36875" name="Rectangle 11"/>
          <p:cNvSpPr/>
          <p:nvPr/>
        </p:nvSpPr>
        <p:spPr>
          <a:xfrm>
            <a:off x="265113" y="9667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36876" name="Rectangle 12"/>
          <p:cNvSpPr/>
          <p:nvPr/>
        </p:nvSpPr>
        <p:spPr>
          <a:xfrm>
            <a:off x="5765800" y="4827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7891" name="Line 3"/>
          <p:cNvSpPr/>
          <p:nvPr/>
        </p:nvSpPr>
        <p:spPr>
          <a:xfrm>
            <a:off x="1500188" y="1428750"/>
            <a:ext cx="0" cy="3381375"/>
          </a:xfrm>
          <a:prstGeom prst="line">
            <a:avLst/>
          </a:prstGeom>
          <a:ln w="12700" cap="flat" cmpd="sng">
            <a:solidFill>
              <a:schemeClr val="tx1"/>
            </a:solidFill>
            <a:prstDash val="solid"/>
            <a:headEnd type="stealth" w="med" len="lg"/>
            <a:tailEnd type="none" w="sm" len="sm"/>
          </a:ln>
        </p:spPr>
      </p:sp>
      <p:sp>
        <p:nvSpPr>
          <p:cNvPr id="37892" name="Line 4"/>
          <p:cNvSpPr/>
          <p:nvPr/>
        </p:nvSpPr>
        <p:spPr>
          <a:xfrm>
            <a:off x="1500188" y="4833938"/>
            <a:ext cx="4429125" cy="0"/>
          </a:xfrm>
          <a:prstGeom prst="line">
            <a:avLst/>
          </a:prstGeom>
          <a:ln w="12700" cap="flat" cmpd="sng">
            <a:solidFill>
              <a:schemeClr val="tx1"/>
            </a:solidFill>
            <a:prstDash val="solid"/>
            <a:headEnd type="none" w="sm" len="sm"/>
            <a:tailEnd type="stealth" w="med" len="lg"/>
          </a:ln>
        </p:spPr>
      </p:sp>
      <p:sp>
        <p:nvSpPr>
          <p:cNvPr id="37893" name="Arc 5"/>
          <p:cNvSpPr/>
          <p:nvPr/>
        </p:nvSpPr>
        <p:spPr>
          <a:xfrm rot="10800000">
            <a:off x="1936750" y="1287463"/>
            <a:ext cx="3043238" cy="2428875"/>
          </a:xfrm>
          <a:custGeom>
            <a:avLst/>
            <a:gdLst>
              <a:gd name="txL" fmla="*/ 0 w 38509"/>
              <a:gd name="txT" fmla="*/ 0 h 21600"/>
              <a:gd name="txR" fmla="*/ 38509 w 38509"/>
              <a:gd name="txB" fmla="*/ 21600 h 21600"/>
            </a:gdLst>
            <a:ahLst/>
            <a:cxnLst>
              <a:cxn ang="0">
                <a:pos x="0" y="2147483646"/>
              </a:cxn>
              <a:cxn ang="0">
                <a:pos x="2147483646" y="2147483646"/>
              </a:cxn>
              <a:cxn ang="0">
                <a:pos x="2147483646" y="2147483646"/>
              </a:cxn>
            </a:cxnLst>
            <a:rect l="txL" t="txT" r="txR" b="txB"/>
            <a:pathLst>
              <a:path w="38509" h="21600" fill="none">
                <a:moveTo>
                  <a:pt x="0" y="8891"/>
                </a:moveTo>
                <a:cubicBezTo>
                  <a:pt x="4065" y="3304"/>
                  <a:pt x="10557" y="-1"/>
                  <a:pt x="17466" y="0"/>
                </a:cubicBezTo>
                <a:cubicBezTo>
                  <a:pt x="27518" y="0"/>
                  <a:pt x="36241" y="6934"/>
                  <a:pt x="38509" y="16727"/>
                </a:cubicBezTo>
              </a:path>
              <a:path w="38509" h="21600" stroke="0">
                <a:moveTo>
                  <a:pt x="0" y="8891"/>
                </a:moveTo>
                <a:cubicBezTo>
                  <a:pt x="4065" y="3304"/>
                  <a:pt x="10557" y="-1"/>
                  <a:pt x="17466" y="0"/>
                </a:cubicBezTo>
                <a:cubicBezTo>
                  <a:pt x="27518" y="0"/>
                  <a:pt x="36241" y="6934"/>
                  <a:pt x="38509" y="16727"/>
                </a:cubicBezTo>
                <a:lnTo>
                  <a:pt x="17466" y="21600"/>
                </a:lnTo>
                <a:lnTo>
                  <a:pt x="0" y="8891"/>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37894" name="Arc 6"/>
          <p:cNvSpPr/>
          <p:nvPr/>
        </p:nvSpPr>
        <p:spPr>
          <a:xfrm rot="10800000">
            <a:off x="1520825" y="1504950"/>
            <a:ext cx="3663950" cy="2667000"/>
          </a:xfrm>
          <a:custGeom>
            <a:avLst/>
            <a:gdLst>
              <a:gd name="txL" fmla="*/ 0 w 33175"/>
              <a:gd name="txT" fmla="*/ 0 h 21600"/>
              <a:gd name="txR" fmla="*/ 33175 w 33175"/>
              <a:gd name="txB" fmla="*/ 21600 h 21600"/>
            </a:gdLst>
            <a:ahLst/>
            <a:cxnLst>
              <a:cxn ang="0">
                <a:pos x="0" y="2147483646"/>
              </a:cxn>
              <a:cxn ang="0">
                <a:pos x="2147483646" y="2147483646"/>
              </a:cxn>
              <a:cxn ang="0">
                <a:pos x="2147483646" y="2147483646"/>
              </a:cxn>
            </a:cxnLst>
            <a:rect l="txL" t="txT" r="txR" b="txB"/>
            <a:pathLst>
              <a:path w="33175" h="21600" fill="none">
                <a:moveTo>
                  <a:pt x="0" y="8980"/>
                </a:moveTo>
                <a:cubicBezTo>
                  <a:pt x="4059" y="3341"/>
                  <a:pt x="10582" y="-1"/>
                  <a:pt x="17530" y="0"/>
                </a:cubicBezTo>
                <a:cubicBezTo>
                  <a:pt x="23443" y="0"/>
                  <a:pt x="29098" y="2424"/>
                  <a:pt x="33175" y="6707"/>
                </a:cubicBezTo>
              </a:path>
              <a:path w="33175" h="21600" stroke="0">
                <a:moveTo>
                  <a:pt x="0" y="8980"/>
                </a:moveTo>
                <a:cubicBezTo>
                  <a:pt x="4059" y="3341"/>
                  <a:pt x="10582" y="-1"/>
                  <a:pt x="17530" y="0"/>
                </a:cubicBezTo>
                <a:cubicBezTo>
                  <a:pt x="23443" y="0"/>
                  <a:pt x="29098" y="2424"/>
                  <a:pt x="33175" y="6707"/>
                </a:cubicBezTo>
                <a:lnTo>
                  <a:pt x="17530" y="21600"/>
                </a:lnTo>
                <a:lnTo>
                  <a:pt x="0" y="8980"/>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37895" name="Arc 7"/>
          <p:cNvSpPr/>
          <p:nvPr/>
        </p:nvSpPr>
        <p:spPr>
          <a:xfrm rot="10800000">
            <a:off x="1509713" y="1716088"/>
            <a:ext cx="2514600" cy="2714625"/>
          </a:xfrm>
          <a:custGeom>
            <a:avLst/>
            <a:gdLst>
              <a:gd name="txL" fmla="*/ 0 w 38747"/>
              <a:gd name="txT" fmla="*/ 0 h 21600"/>
              <a:gd name="txR" fmla="*/ 38747 w 38747"/>
              <a:gd name="txB" fmla="*/ 21600 h 21600"/>
            </a:gdLst>
            <a:ahLst/>
            <a:cxnLst>
              <a:cxn ang="0">
                <a:pos x="0" y="2147483646"/>
              </a:cxn>
              <a:cxn ang="0">
                <a:pos x="2147483646" y="2147483646"/>
              </a:cxn>
              <a:cxn ang="0">
                <a:pos x="2147483646" y="2147483646"/>
              </a:cxn>
            </a:cxnLst>
            <a:rect l="txL" t="txT" r="txR" b="txB"/>
            <a:pathLst>
              <a:path w="38747" h="21600" fill="none">
                <a:moveTo>
                  <a:pt x="-1" y="18054"/>
                </a:moveTo>
                <a:cubicBezTo>
                  <a:pt x="1733" y="7636"/>
                  <a:pt x="10745" y="-1"/>
                  <a:pt x="21307" y="0"/>
                </a:cubicBezTo>
                <a:cubicBezTo>
                  <a:pt x="28200" y="0"/>
                  <a:pt x="34679" y="3290"/>
                  <a:pt x="38746" y="8856"/>
                </a:cubicBezTo>
              </a:path>
              <a:path w="38747" h="21600" stroke="0">
                <a:moveTo>
                  <a:pt x="-1" y="18054"/>
                </a:moveTo>
                <a:cubicBezTo>
                  <a:pt x="1733" y="7636"/>
                  <a:pt x="10745" y="-1"/>
                  <a:pt x="21307" y="0"/>
                </a:cubicBezTo>
                <a:cubicBezTo>
                  <a:pt x="28200" y="0"/>
                  <a:pt x="34679" y="3290"/>
                  <a:pt x="38746" y="8856"/>
                </a:cubicBezTo>
                <a:lnTo>
                  <a:pt x="21307" y="21600"/>
                </a:lnTo>
                <a:lnTo>
                  <a:pt x="-1" y="18054"/>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37896" name="Rectangle 8"/>
          <p:cNvSpPr/>
          <p:nvPr/>
        </p:nvSpPr>
        <p:spPr>
          <a:xfrm>
            <a:off x="5129213" y="278765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37897" name="Rectangle 9"/>
          <p:cNvSpPr/>
          <p:nvPr/>
        </p:nvSpPr>
        <p:spPr>
          <a:xfrm>
            <a:off x="4956175" y="2138363"/>
            <a:ext cx="141446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37898" name="Rectangle 10"/>
          <p:cNvSpPr/>
          <p:nvPr/>
        </p:nvSpPr>
        <p:spPr>
          <a:xfrm>
            <a:off x="3917950" y="1619250"/>
            <a:ext cx="14589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37899" name="Arc 11"/>
          <p:cNvSpPr/>
          <p:nvPr/>
        </p:nvSpPr>
        <p:spPr>
          <a:xfrm rot="10800000">
            <a:off x="2654300" y="1701800"/>
            <a:ext cx="1382713" cy="2714625"/>
          </a:xfrm>
          <a:custGeom>
            <a:avLst/>
            <a:gdLst>
              <a:gd name="txL" fmla="*/ 0 w 21307"/>
              <a:gd name="txT" fmla="*/ 0 h 21594"/>
              <a:gd name="txR" fmla="*/ 21307 w 21307"/>
              <a:gd name="txB" fmla="*/ 21594 h 21594"/>
            </a:gdLst>
            <a:ahLst/>
            <a:cxnLst>
              <a:cxn ang="0">
                <a:pos x="0" y="2147483646"/>
              </a:cxn>
              <a:cxn ang="0">
                <a:pos x="2147483646" y="0"/>
              </a:cxn>
              <a:cxn ang="0">
                <a:pos x="2147483646" y="2147483646"/>
              </a:cxn>
            </a:cxnLst>
            <a:rect l="txL" t="txT" r="txR" b="txB"/>
            <a:pathLst>
              <a:path w="21307" h="21594" fill="none">
                <a:moveTo>
                  <a:pt x="-1" y="18048"/>
                </a:moveTo>
                <a:cubicBezTo>
                  <a:pt x="1702" y="7813"/>
                  <a:pt x="10443" y="234"/>
                  <a:pt x="20817" y="-1"/>
                </a:cubicBezTo>
              </a:path>
              <a:path w="21307" h="21594" stroke="0">
                <a:moveTo>
                  <a:pt x="-1" y="18048"/>
                </a:moveTo>
                <a:cubicBezTo>
                  <a:pt x="1702" y="7813"/>
                  <a:pt x="10443" y="234"/>
                  <a:pt x="20817" y="-1"/>
                </a:cubicBezTo>
                <a:lnTo>
                  <a:pt x="21307" y="21594"/>
                </a:lnTo>
                <a:lnTo>
                  <a:pt x="-1" y="18048"/>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37900" name="Rectangle 12"/>
          <p:cNvSpPr/>
          <p:nvPr/>
        </p:nvSpPr>
        <p:spPr>
          <a:xfrm>
            <a:off x="265113" y="9667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37901" name="Rectangle 13"/>
          <p:cNvSpPr/>
          <p:nvPr/>
        </p:nvSpPr>
        <p:spPr>
          <a:xfrm>
            <a:off x="5765800" y="4827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8915" name="Line 3"/>
          <p:cNvSpPr/>
          <p:nvPr/>
        </p:nvSpPr>
        <p:spPr>
          <a:xfrm>
            <a:off x="1500188" y="1428750"/>
            <a:ext cx="0" cy="3381375"/>
          </a:xfrm>
          <a:prstGeom prst="line">
            <a:avLst/>
          </a:prstGeom>
          <a:ln w="12700" cap="flat" cmpd="sng">
            <a:solidFill>
              <a:schemeClr val="tx1"/>
            </a:solidFill>
            <a:prstDash val="solid"/>
            <a:headEnd type="stealth" w="med" len="lg"/>
            <a:tailEnd type="none" w="sm" len="sm"/>
          </a:ln>
        </p:spPr>
      </p:sp>
      <p:sp>
        <p:nvSpPr>
          <p:cNvPr id="38916" name="Line 4"/>
          <p:cNvSpPr/>
          <p:nvPr/>
        </p:nvSpPr>
        <p:spPr>
          <a:xfrm>
            <a:off x="1500188" y="4833938"/>
            <a:ext cx="4429125" cy="0"/>
          </a:xfrm>
          <a:prstGeom prst="line">
            <a:avLst/>
          </a:prstGeom>
          <a:ln w="12700" cap="flat" cmpd="sng">
            <a:solidFill>
              <a:schemeClr val="tx1"/>
            </a:solidFill>
            <a:prstDash val="solid"/>
            <a:headEnd type="none" w="sm" len="sm"/>
            <a:tailEnd type="stealth" w="med" len="lg"/>
          </a:ln>
        </p:spPr>
      </p:sp>
      <p:sp>
        <p:nvSpPr>
          <p:cNvPr id="38917" name="Arc 5"/>
          <p:cNvSpPr/>
          <p:nvPr/>
        </p:nvSpPr>
        <p:spPr>
          <a:xfrm rot="10800000">
            <a:off x="1936750" y="1287463"/>
            <a:ext cx="3043238" cy="2428875"/>
          </a:xfrm>
          <a:custGeom>
            <a:avLst/>
            <a:gdLst>
              <a:gd name="txL" fmla="*/ 0 w 38509"/>
              <a:gd name="txT" fmla="*/ 0 h 21600"/>
              <a:gd name="txR" fmla="*/ 38509 w 38509"/>
              <a:gd name="txB" fmla="*/ 21600 h 21600"/>
            </a:gdLst>
            <a:ahLst/>
            <a:cxnLst>
              <a:cxn ang="0">
                <a:pos x="0" y="2147483646"/>
              </a:cxn>
              <a:cxn ang="0">
                <a:pos x="2147483646" y="2147483646"/>
              </a:cxn>
              <a:cxn ang="0">
                <a:pos x="2147483646" y="2147483646"/>
              </a:cxn>
            </a:cxnLst>
            <a:rect l="txL" t="txT" r="txR" b="txB"/>
            <a:pathLst>
              <a:path w="38509" h="21600" fill="none">
                <a:moveTo>
                  <a:pt x="0" y="8891"/>
                </a:moveTo>
                <a:cubicBezTo>
                  <a:pt x="4065" y="3304"/>
                  <a:pt x="10557" y="-1"/>
                  <a:pt x="17466" y="0"/>
                </a:cubicBezTo>
                <a:cubicBezTo>
                  <a:pt x="27518" y="0"/>
                  <a:pt x="36241" y="6934"/>
                  <a:pt x="38509" y="16727"/>
                </a:cubicBezTo>
              </a:path>
              <a:path w="38509" h="21600" stroke="0">
                <a:moveTo>
                  <a:pt x="0" y="8891"/>
                </a:moveTo>
                <a:cubicBezTo>
                  <a:pt x="4065" y="3304"/>
                  <a:pt x="10557" y="-1"/>
                  <a:pt x="17466" y="0"/>
                </a:cubicBezTo>
                <a:cubicBezTo>
                  <a:pt x="27518" y="0"/>
                  <a:pt x="36241" y="6934"/>
                  <a:pt x="38509" y="16727"/>
                </a:cubicBezTo>
                <a:lnTo>
                  <a:pt x="17466" y="21600"/>
                </a:lnTo>
                <a:lnTo>
                  <a:pt x="0" y="8891"/>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38918" name="Arc 6"/>
          <p:cNvSpPr/>
          <p:nvPr/>
        </p:nvSpPr>
        <p:spPr>
          <a:xfrm rot="10800000">
            <a:off x="1520825" y="1504950"/>
            <a:ext cx="3663950" cy="2667000"/>
          </a:xfrm>
          <a:custGeom>
            <a:avLst/>
            <a:gdLst>
              <a:gd name="txL" fmla="*/ 0 w 33175"/>
              <a:gd name="txT" fmla="*/ 0 h 21600"/>
              <a:gd name="txR" fmla="*/ 33175 w 33175"/>
              <a:gd name="txB" fmla="*/ 21600 h 21600"/>
            </a:gdLst>
            <a:ahLst/>
            <a:cxnLst>
              <a:cxn ang="0">
                <a:pos x="0" y="2147483646"/>
              </a:cxn>
              <a:cxn ang="0">
                <a:pos x="2147483646" y="2147483646"/>
              </a:cxn>
              <a:cxn ang="0">
                <a:pos x="2147483646" y="2147483646"/>
              </a:cxn>
            </a:cxnLst>
            <a:rect l="txL" t="txT" r="txR" b="txB"/>
            <a:pathLst>
              <a:path w="33175" h="21600" fill="none">
                <a:moveTo>
                  <a:pt x="0" y="8980"/>
                </a:moveTo>
                <a:cubicBezTo>
                  <a:pt x="4059" y="3341"/>
                  <a:pt x="10582" y="-1"/>
                  <a:pt x="17530" y="0"/>
                </a:cubicBezTo>
                <a:cubicBezTo>
                  <a:pt x="23443" y="0"/>
                  <a:pt x="29098" y="2424"/>
                  <a:pt x="33175" y="6707"/>
                </a:cubicBezTo>
              </a:path>
              <a:path w="33175" h="21600" stroke="0">
                <a:moveTo>
                  <a:pt x="0" y="8980"/>
                </a:moveTo>
                <a:cubicBezTo>
                  <a:pt x="4059" y="3341"/>
                  <a:pt x="10582" y="-1"/>
                  <a:pt x="17530" y="0"/>
                </a:cubicBezTo>
                <a:cubicBezTo>
                  <a:pt x="23443" y="0"/>
                  <a:pt x="29098" y="2424"/>
                  <a:pt x="33175" y="6707"/>
                </a:cubicBezTo>
                <a:lnTo>
                  <a:pt x="17530" y="21600"/>
                </a:lnTo>
                <a:lnTo>
                  <a:pt x="0" y="8980"/>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38919" name="Arc 7"/>
          <p:cNvSpPr/>
          <p:nvPr/>
        </p:nvSpPr>
        <p:spPr>
          <a:xfrm rot="10800000">
            <a:off x="1509713" y="1716088"/>
            <a:ext cx="2514600" cy="2714625"/>
          </a:xfrm>
          <a:custGeom>
            <a:avLst/>
            <a:gdLst>
              <a:gd name="txL" fmla="*/ 0 w 38747"/>
              <a:gd name="txT" fmla="*/ 0 h 21600"/>
              <a:gd name="txR" fmla="*/ 38747 w 38747"/>
              <a:gd name="txB" fmla="*/ 21600 h 21600"/>
            </a:gdLst>
            <a:ahLst/>
            <a:cxnLst>
              <a:cxn ang="0">
                <a:pos x="0" y="2147483646"/>
              </a:cxn>
              <a:cxn ang="0">
                <a:pos x="2147483646" y="2147483646"/>
              </a:cxn>
              <a:cxn ang="0">
                <a:pos x="2147483646" y="2147483646"/>
              </a:cxn>
            </a:cxnLst>
            <a:rect l="txL" t="txT" r="txR" b="txB"/>
            <a:pathLst>
              <a:path w="38747" h="21600" fill="none">
                <a:moveTo>
                  <a:pt x="-1" y="18054"/>
                </a:moveTo>
                <a:cubicBezTo>
                  <a:pt x="1733" y="7636"/>
                  <a:pt x="10745" y="-1"/>
                  <a:pt x="21307" y="0"/>
                </a:cubicBezTo>
                <a:cubicBezTo>
                  <a:pt x="28200" y="0"/>
                  <a:pt x="34679" y="3290"/>
                  <a:pt x="38746" y="8856"/>
                </a:cubicBezTo>
              </a:path>
              <a:path w="38747" h="21600" stroke="0">
                <a:moveTo>
                  <a:pt x="-1" y="18054"/>
                </a:moveTo>
                <a:cubicBezTo>
                  <a:pt x="1733" y="7636"/>
                  <a:pt x="10745" y="-1"/>
                  <a:pt x="21307" y="0"/>
                </a:cubicBezTo>
                <a:cubicBezTo>
                  <a:pt x="28200" y="0"/>
                  <a:pt x="34679" y="3290"/>
                  <a:pt x="38746" y="8856"/>
                </a:cubicBezTo>
                <a:lnTo>
                  <a:pt x="21307" y="21600"/>
                </a:lnTo>
                <a:lnTo>
                  <a:pt x="-1" y="18054"/>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38920" name="Rectangle 8"/>
          <p:cNvSpPr/>
          <p:nvPr/>
        </p:nvSpPr>
        <p:spPr>
          <a:xfrm>
            <a:off x="5129213" y="278765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38921" name="Rectangle 9"/>
          <p:cNvSpPr/>
          <p:nvPr/>
        </p:nvSpPr>
        <p:spPr>
          <a:xfrm>
            <a:off x="4956175" y="2138363"/>
            <a:ext cx="141446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38922" name="Rectangle 10"/>
          <p:cNvSpPr/>
          <p:nvPr/>
        </p:nvSpPr>
        <p:spPr>
          <a:xfrm>
            <a:off x="3917950" y="1619250"/>
            <a:ext cx="14589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38923" name="Line 11"/>
          <p:cNvSpPr/>
          <p:nvPr/>
        </p:nvSpPr>
        <p:spPr>
          <a:xfrm flipH="1">
            <a:off x="1498600" y="4149725"/>
            <a:ext cx="1687513" cy="0"/>
          </a:xfrm>
          <a:prstGeom prst="line">
            <a:avLst/>
          </a:prstGeom>
          <a:ln w="12700" cap="flat" cmpd="sng">
            <a:solidFill>
              <a:schemeClr val="tx1"/>
            </a:solidFill>
            <a:prstDash val="dash"/>
            <a:headEnd type="none" w="sm" len="sm"/>
            <a:tailEnd type="none" w="sm" len="sm"/>
          </a:ln>
        </p:spPr>
      </p:sp>
      <p:sp>
        <p:nvSpPr>
          <p:cNvPr id="38924" name="AutoShape 12"/>
          <p:cNvSpPr/>
          <p:nvPr/>
        </p:nvSpPr>
        <p:spPr>
          <a:xfrm>
            <a:off x="2292350" y="1554163"/>
            <a:ext cx="288925" cy="2595562"/>
          </a:xfrm>
          <a:prstGeom prst="upArrow">
            <a:avLst>
              <a:gd name="adj1" fmla="val 50000"/>
              <a:gd name="adj2" fmla="val 449134"/>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8925" name="Arc 13"/>
          <p:cNvSpPr/>
          <p:nvPr/>
        </p:nvSpPr>
        <p:spPr>
          <a:xfrm rot="10800000">
            <a:off x="2654300" y="1701800"/>
            <a:ext cx="1382713" cy="2714625"/>
          </a:xfrm>
          <a:custGeom>
            <a:avLst/>
            <a:gdLst>
              <a:gd name="txL" fmla="*/ 0 w 21307"/>
              <a:gd name="txT" fmla="*/ 0 h 21594"/>
              <a:gd name="txR" fmla="*/ 21307 w 21307"/>
              <a:gd name="txB" fmla="*/ 21594 h 21594"/>
            </a:gdLst>
            <a:ahLst/>
            <a:cxnLst>
              <a:cxn ang="0">
                <a:pos x="0" y="2147483646"/>
              </a:cxn>
              <a:cxn ang="0">
                <a:pos x="2147483646" y="0"/>
              </a:cxn>
              <a:cxn ang="0">
                <a:pos x="2147483646" y="2147483646"/>
              </a:cxn>
            </a:cxnLst>
            <a:rect l="txL" t="txT" r="txR" b="txB"/>
            <a:pathLst>
              <a:path w="21307" h="21594" fill="none">
                <a:moveTo>
                  <a:pt x="-1" y="18048"/>
                </a:moveTo>
                <a:cubicBezTo>
                  <a:pt x="1702" y="7813"/>
                  <a:pt x="10443" y="234"/>
                  <a:pt x="20817" y="-1"/>
                </a:cubicBezTo>
              </a:path>
              <a:path w="21307" h="21594" stroke="0">
                <a:moveTo>
                  <a:pt x="-1" y="18048"/>
                </a:moveTo>
                <a:cubicBezTo>
                  <a:pt x="1702" y="7813"/>
                  <a:pt x="10443" y="234"/>
                  <a:pt x="20817" y="-1"/>
                </a:cubicBezTo>
                <a:lnTo>
                  <a:pt x="21307" y="21594"/>
                </a:lnTo>
                <a:lnTo>
                  <a:pt x="-1" y="18048"/>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38926" name="Oval 14"/>
          <p:cNvSpPr/>
          <p:nvPr/>
        </p:nvSpPr>
        <p:spPr>
          <a:xfrm>
            <a:off x="3128963" y="4049713"/>
            <a:ext cx="173037" cy="173037"/>
          </a:xfrm>
          <a:prstGeom prst="ellipse">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8927" name="Rectangle 15"/>
          <p:cNvSpPr/>
          <p:nvPr/>
        </p:nvSpPr>
        <p:spPr>
          <a:xfrm>
            <a:off x="265113" y="9667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38928" name="Rectangle 16"/>
          <p:cNvSpPr/>
          <p:nvPr/>
        </p:nvSpPr>
        <p:spPr>
          <a:xfrm>
            <a:off x="5765800" y="4827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38929" name="Rectangle 17"/>
          <p:cNvSpPr/>
          <p:nvPr/>
        </p:nvSpPr>
        <p:spPr>
          <a:xfrm>
            <a:off x="3024188" y="911225"/>
            <a:ext cx="2382837"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 </a:t>
            </a:r>
            <a:r>
              <a:rPr lang="en-US" altLang="zh-CN" dirty="0">
                <a:latin typeface="Symbol" panose="05050102010706020507" pitchFamily="18" charset="2"/>
                <a:ea typeface="宋体" panose="02010600030101010101" pitchFamily="2" charset="-122"/>
              </a:rPr>
              <a:t>&gt;</a:t>
            </a:r>
            <a:r>
              <a:rPr lang="en-US" altLang="zh-CN" dirty="0">
                <a:ea typeface="宋体" panose="02010600030101010101" pitchFamily="2" charset="-122"/>
              </a:rPr>
              <a:t> AVC</a:t>
            </a:r>
            <a:r>
              <a:rPr lang="en-US" altLang="zh-CN" baseline="-25000" dirty="0">
                <a:ea typeface="宋体" panose="02010600030101010101" pitchFamily="2" charset="-122"/>
              </a:rPr>
              <a:t>s</a:t>
            </a:r>
            <a:r>
              <a:rPr lang="en-US" altLang="zh-CN" dirty="0">
                <a:ea typeface="宋体" panose="02010600030101010101" pitchFamily="2" charset="-122"/>
              </a:rPr>
              <a:t>(y)</a:t>
            </a:r>
            <a:endParaRPr lang="en-US" altLang="zh-CN" dirty="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39939" name="Line 3"/>
          <p:cNvSpPr/>
          <p:nvPr/>
        </p:nvSpPr>
        <p:spPr>
          <a:xfrm>
            <a:off x="1500188" y="1428750"/>
            <a:ext cx="0" cy="3381375"/>
          </a:xfrm>
          <a:prstGeom prst="line">
            <a:avLst/>
          </a:prstGeom>
          <a:ln w="12700" cap="flat" cmpd="sng">
            <a:solidFill>
              <a:schemeClr val="tx1"/>
            </a:solidFill>
            <a:prstDash val="solid"/>
            <a:headEnd type="stealth" w="med" len="lg"/>
            <a:tailEnd type="none" w="sm" len="sm"/>
          </a:ln>
        </p:spPr>
      </p:sp>
      <p:sp>
        <p:nvSpPr>
          <p:cNvPr id="39940" name="Line 4"/>
          <p:cNvSpPr/>
          <p:nvPr/>
        </p:nvSpPr>
        <p:spPr>
          <a:xfrm>
            <a:off x="1500188" y="4833938"/>
            <a:ext cx="4429125" cy="0"/>
          </a:xfrm>
          <a:prstGeom prst="line">
            <a:avLst/>
          </a:prstGeom>
          <a:ln w="12700" cap="flat" cmpd="sng">
            <a:solidFill>
              <a:schemeClr val="tx1"/>
            </a:solidFill>
            <a:prstDash val="solid"/>
            <a:headEnd type="none" w="sm" len="sm"/>
            <a:tailEnd type="stealth" w="med" len="lg"/>
          </a:ln>
        </p:spPr>
      </p:sp>
      <p:sp>
        <p:nvSpPr>
          <p:cNvPr id="39941" name="Arc 5"/>
          <p:cNvSpPr/>
          <p:nvPr/>
        </p:nvSpPr>
        <p:spPr>
          <a:xfrm rot="10800000">
            <a:off x="1936750" y="1287463"/>
            <a:ext cx="3043238" cy="2428875"/>
          </a:xfrm>
          <a:custGeom>
            <a:avLst/>
            <a:gdLst>
              <a:gd name="txL" fmla="*/ 0 w 38509"/>
              <a:gd name="txT" fmla="*/ 0 h 21600"/>
              <a:gd name="txR" fmla="*/ 38509 w 38509"/>
              <a:gd name="txB" fmla="*/ 21600 h 21600"/>
            </a:gdLst>
            <a:ahLst/>
            <a:cxnLst>
              <a:cxn ang="0">
                <a:pos x="0" y="2147483646"/>
              </a:cxn>
              <a:cxn ang="0">
                <a:pos x="2147483646" y="2147483646"/>
              </a:cxn>
              <a:cxn ang="0">
                <a:pos x="2147483646" y="2147483646"/>
              </a:cxn>
            </a:cxnLst>
            <a:rect l="txL" t="txT" r="txR" b="txB"/>
            <a:pathLst>
              <a:path w="38509" h="21600" fill="none">
                <a:moveTo>
                  <a:pt x="0" y="8891"/>
                </a:moveTo>
                <a:cubicBezTo>
                  <a:pt x="4065" y="3304"/>
                  <a:pt x="10557" y="-1"/>
                  <a:pt x="17466" y="0"/>
                </a:cubicBezTo>
                <a:cubicBezTo>
                  <a:pt x="27518" y="0"/>
                  <a:pt x="36241" y="6934"/>
                  <a:pt x="38509" y="16727"/>
                </a:cubicBezTo>
              </a:path>
              <a:path w="38509" h="21600" stroke="0">
                <a:moveTo>
                  <a:pt x="0" y="8891"/>
                </a:moveTo>
                <a:cubicBezTo>
                  <a:pt x="4065" y="3304"/>
                  <a:pt x="10557" y="-1"/>
                  <a:pt x="17466" y="0"/>
                </a:cubicBezTo>
                <a:cubicBezTo>
                  <a:pt x="27518" y="0"/>
                  <a:pt x="36241" y="6934"/>
                  <a:pt x="38509" y="16727"/>
                </a:cubicBezTo>
                <a:lnTo>
                  <a:pt x="17466" y="21600"/>
                </a:lnTo>
                <a:lnTo>
                  <a:pt x="0" y="8891"/>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39942" name="Arc 6"/>
          <p:cNvSpPr/>
          <p:nvPr/>
        </p:nvSpPr>
        <p:spPr>
          <a:xfrm rot="10800000">
            <a:off x="1520825" y="1504950"/>
            <a:ext cx="3663950" cy="2667000"/>
          </a:xfrm>
          <a:custGeom>
            <a:avLst/>
            <a:gdLst>
              <a:gd name="txL" fmla="*/ 0 w 33175"/>
              <a:gd name="txT" fmla="*/ 0 h 21600"/>
              <a:gd name="txR" fmla="*/ 33175 w 33175"/>
              <a:gd name="txB" fmla="*/ 21600 h 21600"/>
            </a:gdLst>
            <a:ahLst/>
            <a:cxnLst>
              <a:cxn ang="0">
                <a:pos x="0" y="2147483646"/>
              </a:cxn>
              <a:cxn ang="0">
                <a:pos x="2147483646" y="2147483646"/>
              </a:cxn>
              <a:cxn ang="0">
                <a:pos x="2147483646" y="2147483646"/>
              </a:cxn>
            </a:cxnLst>
            <a:rect l="txL" t="txT" r="txR" b="txB"/>
            <a:pathLst>
              <a:path w="33175" h="21600" fill="none">
                <a:moveTo>
                  <a:pt x="0" y="8980"/>
                </a:moveTo>
                <a:cubicBezTo>
                  <a:pt x="4059" y="3341"/>
                  <a:pt x="10582" y="-1"/>
                  <a:pt x="17530" y="0"/>
                </a:cubicBezTo>
                <a:cubicBezTo>
                  <a:pt x="23443" y="0"/>
                  <a:pt x="29098" y="2424"/>
                  <a:pt x="33175" y="6707"/>
                </a:cubicBezTo>
              </a:path>
              <a:path w="33175" h="21600" stroke="0">
                <a:moveTo>
                  <a:pt x="0" y="8980"/>
                </a:moveTo>
                <a:cubicBezTo>
                  <a:pt x="4059" y="3341"/>
                  <a:pt x="10582" y="-1"/>
                  <a:pt x="17530" y="0"/>
                </a:cubicBezTo>
                <a:cubicBezTo>
                  <a:pt x="23443" y="0"/>
                  <a:pt x="29098" y="2424"/>
                  <a:pt x="33175" y="6707"/>
                </a:cubicBezTo>
                <a:lnTo>
                  <a:pt x="17530" y="21600"/>
                </a:lnTo>
                <a:lnTo>
                  <a:pt x="0" y="8980"/>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39943" name="Arc 7"/>
          <p:cNvSpPr/>
          <p:nvPr/>
        </p:nvSpPr>
        <p:spPr>
          <a:xfrm rot="10800000">
            <a:off x="1509713" y="1716088"/>
            <a:ext cx="2514600" cy="2714625"/>
          </a:xfrm>
          <a:custGeom>
            <a:avLst/>
            <a:gdLst>
              <a:gd name="txL" fmla="*/ 0 w 38747"/>
              <a:gd name="txT" fmla="*/ 0 h 21600"/>
              <a:gd name="txR" fmla="*/ 38747 w 38747"/>
              <a:gd name="txB" fmla="*/ 21600 h 21600"/>
            </a:gdLst>
            <a:ahLst/>
            <a:cxnLst>
              <a:cxn ang="0">
                <a:pos x="0" y="2147483646"/>
              </a:cxn>
              <a:cxn ang="0">
                <a:pos x="2147483646" y="2147483646"/>
              </a:cxn>
              <a:cxn ang="0">
                <a:pos x="2147483646" y="2147483646"/>
              </a:cxn>
            </a:cxnLst>
            <a:rect l="txL" t="txT" r="txR" b="txB"/>
            <a:pathLst>
              <a:path w="38747" h="21600" fill="none">
                <a:moveTo>
                  <a:pt x="-1" y="18054"/>
                </a:moveTo>
                <a:cubicBezTo>
                  <a:pt x="1733" y="7636"/>
                  <a:pt x="10745" y="-1"/>
                  <a:pt x="21307" y="0"/>
                </a:cubicBezTo>
                <a:cubicBezTo>
                  <a:pt x="28200" y="0"/>
                  <a:pt x="34679" y="3290"/>
                  <a:pt x="38746" y="8856"/>
                </a:cubicBezTo>
              </a:path>
              <a:path w="38747" h="21600" stroke="0">
                <a:moveTo>
                  <a:pt x="-1" y="18054"/>
                </a:moveTo>
                <a:cubicBezTo>
                  <a:pt x="1733" y="7636"/>
                  <a:pt x="10745" y="-1"/>
                  <a:pt x="21307" y="0"/>
                </a:cubicBezTo>
                <a:cubicBezTo>
                  <a:pt x="28200" y="0"/>
                  <a:pt x="34679" y="3290"/>
                  <a:pt x="38746" y="8856"/>
                </a:cubicBezTo>
                <a:lnTo>
                  <a:pt x="21307" y="21600"/>
                </a:lnTo>
                <a:lnTo>
                  <a:pt x="-1" y="18054"/>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39944" name="Rectangle 8"/>
          <p:cNvSpPr/>
          <p:nvPr/>
        </p:nvSpPr>
        <p:spPr>
          <a:xfrm>
            <a:off x="5129213" y="278765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39945" name="Rectangle 9"/>
          <p:cNvSpPr/>
          <p:nvPr/>
        </p:nvSpPr>
        <p:spPr>
          <a:xfrm>
            <a:off x="4956175" y="2138363"/>
            <a:ext cx="141446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39946" name="Rectangle 10"/>
          <p:cNvSpPr/>
          <p:nvPr/>
        </p:nvSpPr>
        <p:spPr>
          <a:xfrm>
            <a:off x="3917950" y="1619250"/>
            <a:ext cx="14589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39947" name="Line 11"/>
          <p:cNvSpPr/>
          <p:nvPr/>
        </p:nvSpPr>
        <p:spPr>
          <a:xfrm flipH="1">
            <a:off x="1498600" y="4149725"/>
            <a:ext cx="1687513" cy="0"/>
          </a:xfrm>
          <a:prstGeom prst="line">
            <a:avLst/>
          </a:prstGeom>
          <a:ln w="12700" cap="flat" cmpd="sng">
            <a:solidFill>
              <a:schemeClr val="tx1"/>
            </a:solidFill>
            <a:prstDash val="dash"/>
            <a:headEnd type="none" w="sm" len="sm"/>
            <a:tailEnd type="none" w="sm" len="sm"/>
          </a:ln>
        </p:spPr>
      </p:sp>
      <p:sp>
        <p:nvSpPr>
          <p:cNvPr id="39948" name="Rectangle 12"/>
          <p:cNvSpPr/>
          <p:nvPr/>
        </p:nvSpPr>
        <p:spPr>
          <a:xfrm>
            <a:off x="3024188" y="911225"/>
            <a:ext cx="563245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 </a:t>
            </a:r>
            <a:r>
              <a:rPr lang="en-US" altLang="zh-CN" dirty="0">
                <a:latin typeface="Symbol" panose="05050102010706020507" pitchFamily="18" charset="2"/>
                <a:ea typeface="宋体" panose="02010600030101010101" pitchFamily="2" charset="-122"/>
              </a:rPr>
              <a:t>&gt;</a:t>
            </a:r>
            <a:r>
              <a:rPr lang="en-US" altLang="zh-CN" dirty="0">
                <a:ea typeface="宋体" panose="02010600030101010101" pitchFamily="2" charset="-122"/>
              </a:rPr>
              <a:t> AVC</a:t>
            </a:r>
            <a:r>
              <a:rPr lang="en-US" altLang="zh-CN" baseline="-25000" dirty="0">
                <a:ea typeface="宋体" panose="02010600030101010101" pitchFamily="2" charset="-122"/>
              </a:rPr>
              <a:t>s</a:t>
            </a:r>
            <a:r>
              <a:rPr lang="en-US" altLang="zh-CN" dirty="0">
                <a:ea typeface="宋体" panose="02010600030101010101" pitchFamily="2" charset="-122"/>
              </a:rPr>
              <a:t>(y)                y</a:t>
            </a:r>
            <a:r>
              <a:rPr lang="en-US" altLang="zh-CN" baseline="-25000" dirty="0">
                <a:ea typeface="宋体" panose="02010600030101010101" pitchFamily="2" charset="-122"/>
              </a:rPr>
              <a:t>s</a:t>
            </a:r>
            <a:r>
              <a:rPr lang="en-US" altLang="zh-CN" dirty="0">
                <a:ea typeface="宋体" panose="02010600030101010101" pitchFamily="2" charset="-122"/>
              </a:rPr>
              <a:t>* &gt; 0. </a:t>
            </a:r>
            <a:endParaRPr lang="en-US" altLang="zh-CN" dirty="0">
              <a:ea typeface="宋体" panose="02010600030101010101" pitchFamily="2" charset="-122"/>
            </a:endParaRPr>
          </a:p>
        </p:txBody>
      </p:sp>
      <p:sp>
        <p:nvSpPr>
          <p:cNvPr id="39949" name="Arc 13"/>
          <p:cNvSpPr/>
          <p:nvPr/>
        </p:nvSpPr>
        <p:spPr>
          <a:xfrm rot="10800000">
            <a:off x="2654300" y="1701800"/>
            <a:ext cx="1382713" cy="2714625"/>
          </a:xfrm>
          <a:custGeom>
            <a:avLst/>
            <a:gdLst>
              <a:gd name="txL" fmla="*/ 0 w 21307"/>
              <a:gd name="txT" fmla="*/ 0 h 21594"/>
              <a:gd name="txR" fmla="*/ 21307 w 21307"/>
              <a:gd name="txB" fmla="*/ 21594 h 21594"/>
            </a:gdLst>
            <a:ahLst/>
            <a:cxnLst>
              <a:cxn ang="0">
                <a:pos x="0" y="2147483646"/>
              </a:cxn>
              <a:cxn ang="0">
                <a:pos x="2147483646" y="0"/>
              </a:cxn>
              <a:cxn ang="0">
                <a:pos x="2147483646" y="2147483646"/>
              </a:cxn>
            </a:cxnLst>
            <a:rect l="txL" t="txT" r="txR" b="txB"/>
            <a:pathLst>
              <a:path w="21307" h="21594" fill="none">
                <a:moveTo>
                  <a:pt x="-1" y="18048"/>
                </a:moveTo>
                <a:cubicBezTo>
                  <a:pt x="1702" y="7813"/>
                  <a:pt x="10443" y="234"/>
                  <a:pt x="20817" y="-1"/>
                </a:cubicBezTo>
              </a:path>
              <a:path w="21307" h="21594" stroke="0">
                <a:moveTo>
                  <a:pt x="-1" y="18048"/>
                </a:moveTo>
                <a:cubicBezTo>
                  <a:pt x="1702" y="7813"/>
                  <a:pt x="10443" y="234"/>
                  <a:pt x="20817" y="-1"/>
                </a:cubicBezTo>
                <a:lnTo>
                  <a:pt x="21307" y="21594"/>
                </a:lnTo>
                <a:lnTo>
                  <a:pt x="-1" y="18048"/>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39950" name="AutoShape 14"/>
          <p:cNvSpPr/>
          <p:nvPr/>
        </p:nvSpPr>
        <p:spPr>
          <a:xfrm>
            <a:off x="5632450" y="1060450"/>
            <a:ext cx="1212850" cy="284163"/>
          </a:xfrm>
          <a:prstGeom prst="rightArrow">
            <a:avLst>
              <a:gd name="adj1" fmla="val 50000"/>
              <a:gd name="adj2" fmla="val 213427"/>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9951" name="Oval 15"/>
          <p:cNvSpPr/>
          <p:nvPr/>
        </p:nvSpPr>
        <p:spPr>
          <a:xfrm>
            <a:off x="3128963" y="4049713"/>
            <a:ext cx="173037" cy="173037"/>
          </a:xfrm>
          <a:prstGeom prst="ellipse">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9952" name="AutoShape 16"/>
          <p:cNvSpPr/>
          <p:nvPr/>
        </p:nvSpPr>
        <p:spPr>
          <a:xfrm>
            <a:off x="2292350" y="1554163"/>
            <a:ext cx="288925" cy="2595562"/>
          </a:xfrm>
          <a:prstGeom prst="upArrow">
            <a:avLst>
              <a:gd name="adj1" fmla="val 50000"/>
              <a:gd name="adj2" fmla="val 449134"/>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39953" name="Rectangle 17"/>
          <p:cNvSpPr/>
          <p:nvPr/>
        </p:nvSpPr>
        <p:spPr>
          <a:xfrm>
            <a:off x="265113" y="9667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39954" name="Rectangle 18"/>
          <p:cNvSpPr/>
          <p:nvPr/>
        </p:nvSpPr>
        <p:spPr>
          <a:xfrm>
            <a:off x="5765800" y="4827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40963" name="Line 3"/>
          <p:cNvSpPr/>
          <p:nvPr/>
        </p:nvSpPr>
        <p:spPr>
          <a:xfrm>
            <a:off x="1500188" y="1428750"/>
            <a:ext cx="0" cy="3381375"/>
          </a:xfrm>
          <a:prstGeom prst="line">
            <a:avLst/>
          </a:prstGeom>
          <a:ln w="12700" cap="flat" cmpd="sng">
            <a:solidFill>
              <a:schemeClr val="tx1"/>
            </a:solidFill>
            <a:prstDash val="solid"/>
            <a:headEnd type="stealth" w="med" len="lg"/>
            <a:tailEnd type="none" w="sm" len="sm"/>
          </a:ln>
        </p:spPr>
      </p:sp>
      <p:sp>
        <p:nvSpPr>
          <p:cNvPr id="40964" name="Line 4"/>
          <p:cNvSpPr/>
          <p:nvPr/>
        </p:nvSpPr>
        <p:spPr>
          <a:xfrm>
            <a:off x="1500188" y="4833938"/>
            <a:ext cx="4429125" cy="0"/>
          </a:xfrm>
          <a:prstGeom prst="line">
            <a:avLst/>
          </a:prstGeom>
          <a:ln w="12700" cap="flat" cmpd="sng">
            <a:solidFill>
              <a:schemeClr val="tx1"/>
            </a:solidFill>
            <a:prstDash val="solid"/>
            <a:headEnd type="none" w="sm" len="sm"/>
            <a:tailEnd type="stealth" w="med" len="lg"/>
          </a:ln>
        </p:spPr>
      </p:sp>
      <p:sp>
        <p:nvSpPr>
          <p:cNvPr id="40965" name="Arc 5"/>
          <p:cNvSpPr/>
          <p:nvPr/>
        </p:nvSpPr>
        <p:spPr>
          <a:xfrm rot="10800000">
            <a:off x="1936750" y="1287463"/>
            <a:ext cx="3043238" cy="2428875"/>
          </a:xfrm>
          <a:custGeom>
            <a:avLst/>
            <a:gdLst>
              <a:gd name="txL" fmla="*/ 0 w 38509"/>
              <a:gd name="txT" fmla="*/ 0 h 21600"/>
              <a:gd name="txR" fmla="*/ 38509 w 38509"/>
              <a:gd name="txB" fmla="*/ 21600 h 21600"/>
            </a:gdLst>
            <a:ahLst/>
            <a:cxnLst>
              <a:cxn ang="0">
                <a:pos x="0" y="2147483646"/>
              </a:cxn>
              <a:cxn ang="0">
                <a:pos x="2147483646" y="2147483646"/>
              </a:cxn>
              <a:cxn ang="0">
                <a:pos x="2147483646" y="2147483646"/>
              </a:cxn>
            </a:cxnLst>
            <a:rect l="txL" t="txT" r="txR" b="txB"/>
            <a:pathLst>
              <a:path w="38509" h="21600" fill="none">
                <a:moveTo>
                  <a:pt x="0" y="8891"/>
                </a:moveTo>
                <a:cubicBezTo>
                  <a:pt x="4065" y="3304"/>
                  <a:pt x="10557" y="-1"/>
                  <a:pt x="17466" y="0"/>
                </a:cubicBezTo>
                <a:cubicBezTo>
                  <a:pt x="27518" y="0"/>
                  <a:pt x="36241" y="6934"/>
                  <a:pt x="38509" y="16727"/>
                </a:cubicBezTo>
              </a:path>
              <a:path w="38509" h="21600" stroke="0">
                <a:moveTo>
                  <a:pt x="0" y="8891"/>
                </a:moveTo>
                <a:cubicBezTo>
                  <a:pt x="4065" y="3304"/>
                  <a:pt x="10557" y="-1"/>
                  <a:pt x="17466" y="0"/>
                </a:cubicBezTo>
                <a:cubicBezTo>
                  <a:pt x="27518" y="0"/>
                  <a:pt x="36241" y="6934"/>
                  <a:pt x="38509" y="16727"/>
                </a:cubicBezTo>
                <a:lnTo>
                  <a:pt x="17466" y="21600"/>
                </a:lnTo>
                <a:lnTo>
                  <a:pt x="0" y="8891"/>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40966" name="Arc 6"/>
          <p:cNvSpPr/>
          <p:nvPr/>
        </p:nvSpPr>
        <p:spPr>
          <a:xfrm rot="10800000">
            <a:off x="1520825" y="1504950"/>
            <a:ext cx="3663950" cy="2667000"/>
          </a:xfrm>
          <a:custGeom>
            <a:avLst/>
            <a:gdLst>
              <a:gd name="txL" fmla="*/ 0 w 33175"/>
              <a:gd name="txT" fmla="*/ 0 h 21600"/>
              <a:gd name="txR" fmla="*/ 33175 w 33175"/>
              <a:gd name="txB" fmla="*/ 21600 h 21600"/>
            </a:gdLst>
            <a:ahLst/>
            <a:cxnLst>
              <a:cxn ang="0">
                <a:pos x="0" y="2147483646"/>
              </a:cxn>
              <a:cxn ang="0">
                <a:pos x="2147483646" y="2147483646"/>
              </a:cxn>
              <a:cxn ang="0">
                <a:pos x="2147483646" y="2147483646"/>
              </a:cxn>
            </a:cxnLst>
            <a:rect l="txL" t="txT" r="txR" b="txB"/>
            <a:pathLst>
              <a:path w="33175" h="21600" fill="none">
                <a:moveTo>
                  <a:pt x="0" y="8980"/>
                </a:moveTo>
                <a:cubicBezTo>
                  <a:pt x="4059" y="3341"/>
                  <a:pt x="10582" y="-1"/>
                  <a:pt x="17530" y="0"/>
                </a:cubicBezTo>
                <a:cubicBezTo>
                  <a:pt x="23443" y="0"/>
                  <a:pt x="29098" y="2424"/>
                  <a:pt x="33175" y="6707"/>
                </a:cubicBezTo>
              </a:path>
              <a:path w="33175" h="21600" stroke="0">
                <a:moveTo>
                  <a:pt x="0" y="8980"/>
                </a:moveTo>
                <a:cubicBezTo>
                  <a:pt x="4059" y="3341"/>
                  <a:pt x="10582" y="-1"/>
                  <a:pt x="17530" y="0"/>
                </a:cubicBezTo>
                <a:cubicBezTo>
                  <a:pt x="23443" y="0"/>
                  <a:pt x="29098" y="2424"/>
                  <a:pt x="33175" y="6707"/>
                </a:cubicBezTo>
                <a:lnTo>
                  <a:pt x="17530" y="21600"/>
                </a:lnTo>
                <a:lnTo>
                  <a:pt x="0" y="8980"/>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40967" name="Arc 7"/>
          <p:cNvSpPr/>
          <p:nvPr/>
        </p:nvSpPr>
        <p:spPr>
          <a:xfrm rot="10800000">
            <a:off x="1509713" y="1716088"/>
            <a:ext cx="2514600" cy="2714625"/>
          </a:xfrm>
          <a:custGeom>
            <a:avLst/>
            <a:gdLst>
              <a:gd name="txL" fmla="*/ 0 w 38747"/>
              <a:gd name="txT" fmla="*/ 0 h 21600"/>
              <a:gd name="txR" fmla="*/ 38747 w 38747"/>
              <a:gd name="txB" fmla="*/ 21600 h 21600"/>
            </a:gdLst>
            <a:ahLst/>
            <a:cxnLst>
              <a:cxn ang="0">
                <a:pos x="0" y="2147483646"/>
              </a:cxn>
              <a:cxn ang="0">
                <a:pos x="2147483646" y="2147483646"/>
              </a:cxn>
              <a:cxn ang="0">
                <a:pos x="2147483646" y="2147483646"/>
              </a:cxn>
            </a:cxnLst>
            <a:rect l="txL" t="txT" r="txR" b="txB"/>
            <a:pathLst>
              <a:path w="38747" h="21600" fill="none">
                <a:moveTo>
                  <a:pt x="-1" y="18054"/>
                </a:moveTo>
                <a:cubicBezTo>
                  <a:pt x="1733" y="7636"/>
                  <a:pt x="10745" y="-1"/>
                  <a:pt x="21307" y="0"/>
                </a:cubicBezTo>
                <a:cubicBezTo>
                  <a:pt x="28200" y="0"/>
                  <a:pt x="34679" y="3290"/>
                  <a:pt x="38746" y="8856"/>
                </a:cubicBezTo>
              </a:path>
              <a:path w="38747" h="21600" stroke="0">
                <a:moveTo>
                  <a:pt x="-1" y="18054"/>
                </a:moveTo>
                <a:cubicBezTo>
                  <a:pt x="1733" y="7636"/>
                  <a:pt x="10745" y="-1"/>
                  <a:pt x="21307" y="0"/>
                </a:cubicBezTo>
                <a:cubicBezTo>
                  <a:pt x="28200" y="0"/>
                  <a:pt x="34679" y="3290"/>
                  <a:pt x="38746" y="8856"/>
                </a:cubicBezTo>
                <a:lnTo>
                  <a:pt x="21307" y="21600"/>
                </a:lnTo>
                <a:lnTo>
                  <a:pt x="-1" y="18054"/>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40968" name="Rectangle 8"/>
          <p:cNvSpPr/>
          <p:nvPr/>
        </p:nvSpPr>
        <p:spPr>
          <a:xfrm>
            <a:off x="5129213" y="278765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40969" name="Rectangle 9"/>
          <p:cNvSpPr/>
          <p:nvPr/>
        </p:nvSpPr>
        <p:spPr>
          <a:xfrm>
            <a:off x="4956175" y="2138363"/>
            <a:ext cx="141446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40970" name="Rectangle 10"/>
          <p:cNvSpPr/>
          <p:nvPr/>
        </p:nvSpPr>
        <p:spPr>
          <a:xfrm>
            <a:off x="3917950" y="1619250"/>
            <a:ext cx="14589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40971" name="Line 11"/>
          <p:cNvSpPr/>
          <p:nvPr/>
        </p:nvSpPr>
        <p:spPr>
          <a:xfrm flipH="1">
            <a:off x="1498600" y="4149725"/>
            <a:ext cx="1687513" cy="0"/>
          </a:xfrm>
          <a:prstGeom prst="line">
            <a:avLst/>
          </a:prstGeom>
          <a:ln w="12700" cap="flat" cmpd="sng">
            <a:solidFill>
              <a:schemeClr val="tx1"/>
            </a:solidFill>
            <a:prstDash val="dash"/>
            <a:headEnd type="none" w="sm" len="sm"/>
            <a:tailEnd type="none" w="sm" len="sm"/>
          </a:ln>
        </p:spPr>
      </p:sp>
      <p:sp>
        <p:nvSpPr>
          <p:cNvPr id="40972" name="Arc 12"/>
          <p:cNvSpPr/>
          <p:nvPr/>
        </p:nvSpPr>
        <p:spPr>
          <a:xfrm rot="10800000">
            <a:off x="2654300" y="1704975"/>
            <a:ext cx="1382713" cy="2498725"/>
          </a:xfrm>
          <a:custGeom>
            <a:avLst/>
            <a:gdLst>
              <a:gd name="txL" fmla="*/ 0 w 21307"/>
              <a:gd name="txT" fmla="*/ 0 h 19885"/>
              <a:gd name="txR" fmla="*/ 21307 w 21307"/>
              <a:gd name="txB" fmla="*/ 19885 h 19885"/>
            </a:gdLst>
            <a:ahLst/>
            <a:cxnLst>
              <a:cxn ang="0">
                <a:pos x="0" y="2147483646"/>
              </a:cxn>
              <a:cxn ang="0">
                <a:pos x="2147483646" y="0"/>
              </a:cxn>
              <a:cxn ang="0">
                <a:pos x="2147483646" y="2147483646"/>
              </a:cxn>
            </a:cxnLst>
            <a:rect l="txL" t="txT" r="txR" b="txB"/>
            <a:pathLst>
              <a:path w="21307" h="19885" fill="none">
                <a:moveTo>
                  <a:pt x="-1" y="16339"/>
                </a:moveTo>
                <a:cubicBezTo>
                  <a:pt x="1212" y="9049"/>
                  <a:pt x="6068" y="2886"/>
                  <a:pt x="12872" y="0"/>
                </a:cubicBezTo>
              </a:path>
              <a:path w="21307" h="19885" stroke="0">
                <a:moveTo>
                  <a:pt x="-1" y="16339"/>
                </a:moveTo>
                <a:cubicBezTo>
                  <a:pt x="1212" y="9049"/>
                  <a:pt x="6068" y="2886"/>
                  <a:pt x="12872" y="0"/>
                </a:cubicBezTo>
                <a:lnTo>
                  <a:pt x="21307" y="19885"/>
                </a:lnTo>
                <a:lnTo>
                  <a:pt x="-1" y="16339"/>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40973" name="Rectangle 13"/>
          <p:cNvSpPr/>
          <p:nvPr/>
        </p:nvSpPr>
        <p:spPr>
          <a:xfrm>
            <a:off x="1738313" y="5268913"/>
            <a:ext cx="563245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 </a:t>
            </a:r>
            <a:r>
              <a:rPr lang="en-US" altLang="zh-CN" dirty="0">
                <a:latin typeface="Symbol" panose="05050102010706020507" pitchFamily="18" charset="2"/>
                <a:ea typeface="宋体" panose="02010600030101010101" pitchFamily="2" charset="-122"/>
              </a:rPr>
              <a:t>&lt;</a:t>
            </a:r>
            <a:r>
              <a:rPr lang="en-US" altLang="zh-CN" dirty="0">
                <a:ea typeface="宋体" panose="02010600030101010101" pitchFamily="2" charset="-122"/>
              </a:rPr>
              <a:t> AVC</a:t>
            </a:r>
            <a:r>
              <a:rPr lang="en-US" altLang="zh-CN" baseline="-25000" dirty="0">
                <a:ea typeface="宋体" panose="02010600030101010101" pitchFamily="2" charset="-122"/>
              </a:rPr>
              <a:t>s</a:t>
            </a:r>
            <a:r>
              <a:rPr lang="en-US" altLang="zh-CN" dirty="0">
                <a:ea typeface="宋体" panose="02010600030101010101" pitchFamily="2" charset="-122"/>
              </a:rPr>
              <a:t>(y)                y</a:t>
            </a:r>
            <a:r>
              <a:rPr lang="en-US" altLang="zh-CN" baseline="-25000" dirty="0">
                <a:ea typeface="宋体" panose="02010600030101010101" pitchFamily="2" charset="-122"/>
              </a:rPr>
              <a:t>s</a:t>
            </a:r>
            <a:r>
              <a:rPr lang="en-US" altLang="zh-CN" dirty="0">
                <a:ea typeface="宋体" panose="02010600030101010101" pitchFamily="2" charset="-122"/>
              </a:rPr>
              <a:t>* = 0. </a:t>
            </a:r>
            <a:endParaRPr lang="en-US" altLang="zh-CN" dirty="0">
              <a:ea typeface="宋体" panose="02010600030101010101" pitchFamily="2" charset="-122"/>
            </a:endParaRPr>
          </a:p>
        </p:txBody>
      </p:sp>
      <p:sp>
        <p:nvSpPr>
          <p:cNvPr id="40974" name="AutoShape 14"/>
          <p:cNvSpPr/>
          <p:nvPr/>
        </p:nvSpPr>
        <p:spPr>
          <a:xfrm>
            <a:off x="4346575" y="5414963"/>
            <a:ext cx="1212850" cy="284162"/>
          </a:xfrm>
          <a:prstGeom prst="rightArrow">
            <a:avLst>
              <a:gd name="adj1" fmla="val 50000"/>
              <a:gd name="adj2" fmla="val 213427"/>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40975" name="Oval 15"/>
          <p:cNvSpPr/>
          <p:nvPr/>
        </p:nvSpPr>
        <p:spPr>
          <a:xfrm>
            <a:off x="3128963" y="4049713"/>
            <a:ext cx="173037" cy="173037"/>
          </a:xfrm>
          <a:prstGeom prst="ellipse">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40976" name="Line 16"/>
          <p:cNvSpPr/>
          <p:nvPr/>
        </p:nvSpPr>
        <p:spPr>
          <a:xfrm>
            <a:off x="1512888" y="4149725"/>
            <a:ext cx="0" cy="663575"/>
          </a:xfrm>
          <a:prstGeom prst="line">
            <a:avLst/>
          </a:prstGeom>
          <a:ln w="76200" cap="flat" cmpd="sng">
            <a:solidFill>
              <a:schemeClr val="tx2"/>
            </a:solidFill>
            <a:prstDash val="solid"/>
            <a:headEnd type="none" w="sm" len="sm"/>
            <a:tailEnd type="none" w="sm" len="sm"/>
          </a:ln>
        </p:spPr>
      </p:sp>
      <p:sp>
        <p:nvSpPr>
          <p:cNvPr id="40977" name="AutoShape 17"/>
          <p:cNvSpPr/>
          <p:nvPr/>
        </p:nvSpPr>
        <p:spPr>
          <a:xfrm>
            <a:off x="2292350" y="1554163"/>
            <a:ext cx="288925" cy="2595562"/>
          </a:xfrm>
          <a:prstGeom prst="upArrow">
            <a:avLst>
              <a:gd name="adj1" fmla="val 50000"/>
              <a:gd name="adj2" fmla="val 449134"/>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40978" name="Rectangle 18"/>
          <p:cNvSpPr/>
          <p:nvPr/>
        </p:nvSpPr>
        <p:spPr>
          <a:xfrm>
            <a:off x="265113" y="9667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40979" name="Rectangle 19"/>
          <p:cNvSpPr/>
          <p:nvPr/>
        </p:nvSpPr>
        <p:spPr>
          <a:xfrm>
            <a:off x="5765800" y="4827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40980" name="Rectangle 20"/>
          <p:cNvSpPr/>
          <p:nvPr/>
        </p:nvSpPr>
        <p:spPr>
          <a:xfrm>
            <a:off x="3024188" y="911225"/>
            <a:ext cx="563245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 </a:t>
            </a:r>
            <a:r>
              <a:rPr lang="en-US" altLang="zh-CN" dirty="0">
                <a:latin typeface="Symbol" panose="05050102010706020507" pitchFamily="18" charset="2"/>
                <a:ea typeface="宋体" panose="02010600030101010101" pitchFamily="2" charset="-122"/>
              </a:rPr>
              <a:t>&gt;</a:t>
            </a:r>
            <a:r>
              <a:rPr lang="en-US" altLang="zh-CN" dirty="0">
                <a:ea typeface="宋体" panose="02010600030101010101" pitchFamily="2" charset="-122"/>
              </a:rPr>
              <a:t> AVC</a:t>
            </a:r>
            <a:r>
              <a:rPr lang="en-US" altLang="zh-CN" baseline="-25000" dirty="0">
                <a:ea typeface="宋体" panose="02010600030101010101" pitchFamily="2" charset="-122"/>
              </a:rPr>
              <a:t>s</a:t>
            </a:r>
            <a:r>
              <a:rPr lang="en-US" altLang="zh-CN" dirty="0">
                <a:ea typeface="宋体" panose="02010600030101010101" pitchFamily="2" charset="-122"/>
              </a:rPr>
              <a:t>(y)                y</a:t>
            </a:r>
            <a:r>
              <a:rPr lang="en-US" altLang="zh-CN" baseline="-25000" dirty="0">
                <a:ea typeface="宋体" panose="02010600030101010101" pitchFamily="2" charset="-122"/>
              </a:rPr>
              <a:t>s</a:t>
            </a:r>
            <a:r>
              <a:rPr lang="en-US" altLang="zh-CN" dirty="0">
                <a:ea typeface="宋体" panose="02010600030101010101" pitchFamily="2" charset="-122"/>
              </a:rPr>
              <a:t>* &gt; 0. </a:t>
            </a:r>
            <a:endParaRPr lang="en-US" altLang="zh-CN" dirty="0">
              <a:ea typeface="宋体" panose="02010600030101010101" pitchFamily="2" charset="-122"/>
            </a:endParaRPr>
          </a:p>
        </p:txBody>
      </p:sp>
      <p:sp>
        <p:nvSpPr>
          <p:cNvPr id="40981" name="AutoShape 21"/>
          <p:cNvSpPr/>
          <p:nvPr/>
        </p:nvSpPr>
        <p:spPr>
          <a:xfrm>
            <a:off x="5632450" y="1060450"/>
            <a:ext cx="1212850" cy="284163"/>
          </a:xfrm>
          <a:prstGeom prst="rightArrow">
            <a:avLst>
              <a:gd name="adj1" fmla="val 50000"/>
              <a:gd name="adj2" fmla="val 213427"/>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41987" name="Line 3"/>
          <p:cNvSpPr/>
          <p:nvPr/>
        </p:nvSpPr>
        <p:spPr>
          <a:xfrm>
            <a:off x="1500188" y="1428750"/>
            <a:ext cx="0" cy="3381375"/>
          </a:xfrm>
          <a:prstGeom prst="line">
            <a:avLst/>
          </a:prstGeom>
          <a:ln w="12700" cap="flat" cmpd="sng">
            <a:solidFill>
              <a:schemeClr val="tx1"/>
            </a:solidFill>
            <a:prstDash val="solid"/>
            <a:headEnd type="stealth" w="med" len="lg"/>
            <a:tailEnd type="none" w="sm" len="sm"/>
          </a:ln>
        </p:spPr>
      </p:sp>
      <p:sp>
        <p:nvSpPr>
          <p:cNvPr id="41988" name="Line 4"/>
          <p:cNvSpPr/>
          <p:nvPr/>
        </p:nvSpPr>
        <p:spPr>
          <a:xfrm>
            <a:off x="1500188" y="4833938"/>
            <a:ext cx="4429125" cy="0"/>
          </a:xfrm>
          <a:prstGeom prst="line">
            <a:avLst/>
          </a:prstGeom>
          <a:ln w="12700" cap="flat" cmpd="sng">
            <a:solidFill>
              <a:schemeClr val="tx1"/>
            </a:solidFill>
            <a:prstDash val="solid"/>
            <a:headEnd type="none" w="sm" len="sm"/>
            <a:tailEnd type="stealth" w="med" len="lg"/>
          </a:ln>
        </p:spPr>
      </p:sp>
      <p:sp>
        <p:nvSpPr>
          <p:cNvPr id="41989" name="Arc 5"/>
          <p:cNvSpPr/>
          <p:nvPr/>
        </p:nvSpPr>
        <p:spPr>
          <a:xfrm rot="10800000">
            <a:off x="1936750" y="1287463"/>
            <a:ext cx="3043238" cy="2428875"/>
          </a:xfrm>
          <a:custGeom>
            <a:avLst/>
            <a:gdLst>
              <a:gd name="txL" fmla="*/ 0 w 38509"/>
              <a:gd name="txT" fmla="*/ 0 h 21600"/>
              <a:gd name="txR" fmla="*/ 38509 w 38509"/>
              <a:gd name="txB" fmla="*/ 21600 h 21600"/>
            </a:gdLst>
            <a:ahLst/>
            <a:cxnLst>
              <a:cxn ang="0">
                <a:pos x="0" y="2147483646"/>
              </a:cxn>
              <a:cxn ang="0">
                <a:pos x="2147483646" y="2147483646"/>
              </a:cxn>
              <a:cxn ang="0">
                <a:pos x="2147483646" y="2147483646"/>
              </a:cxn>
            </a:cxnLst>
            <a:rect l="txL" t="txT" r="txR" b="txB"/>
            <a:pathLst>
              <a:path w="38509" h="21600" fill="none">
                <a:moveTo>
                  <a:pt x="0" y="8891"/>
                </a:moveTo>
                <a:cubicBezTo>
                  <a:pt x="4065" y="3304"/>
                  <a:pt x="10557" y="-1"/>
                  <a:pt x="17466" y="0"/>
                </a:cubicBezTo>
                <a:cubicBezTo>
                  <a:pt x="27518" y="0"/>
                  <a:pt x="36241" y="6934"/>
                  <a:pt x="38509" y="16727"/>
                </a:cubicBezTo>
              </a:path>
              <a:path w="38509" h="21600" stroke="0">
                <a:moveTo>
                  <a:pt x="0" y="8891"/>
                </a:moveTo>
                <a:cubicBezTo>
                  <a:pt x="4065" y="3304"/>
                  <a:pt x="10557" y="-1"/>
                  <a:pt x="17466" y="0"/>
                </a:cubicBezTo>
                <a:cubicBezTo>
                  <a:pt x="27518" y="0"/>
                  <a:pt x="36241" y="6934"/>
                  <a:pt x="38509" y="16727"/>
                </a:cubicBezTo>
                <a:lnTo>
                  <a:pt x="17466" y="21600"/>
                </a:lnTo>
                <a:lnTo>
                  <a:pt x="0" y="8891"/>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41990" name="Arc 6"/>
          <p:cNvSpPr/>
          <p:nvPr/>
        </p:nvSpPr>
        <p:spPr>
          <a:xfrm rot="10800000">
            <a:off x="1520825" y="1504950"/>
            <a:ext cx="3663950" cy="2667000"/>
          </a:xfrm>
          <a:custGeom>
            <a:avLst/>
            <a:gdLst>
              <a:gd name="txL" fmla="*/ 0 w 33175"/>
              <a:gd name="txT" fmla="*/ 0 h 21600"/>
              <a:gd name="txR" fmla="*/ 33175 w 33175"/>
              <a:gd name="txB" fmla="*/ 21600 h 21600"/>
            </a:gdLst>
            <a:ahLst/>
            <a:cxnLst>
              <a:cxn ang="0">
                <a:pos x="0" y="2147483646"/>
              </a:cxn>
              <a:cxn ang="0">
                <a:pos x="2147483646" y="2147483646"/>
              </a:cxn>
              <a:cxn ang="0">
                <a:pos x="2147483646" y="2147483646"/>
              </a:cxn>
            </a:cxnLst>
            <a:rect l="txL" t="txT" r="txR" b="txB"/>
            <a:pathLst>
              <a:path w="33175" h="21600" fill="none">
                <a:moveTo>
                  <a:pt x="0" y="8980"/>
                </a:moveTo>
                <a:cubicBezTo>
                  <a:pt x="4059" y="3341"/>
                  <a:pt x="10582" y="-1"/>
                  <a:pt x="17530" y="0"/>
                </a:cubicBezTo>
                <a:cubicBezTo>
                  <a:pt x="23443" y="0"/>
                  <a:pt x="29098" y="2424"/>
                  <a:pt x="33175" y="6707"/>
                </a:cubicBezTo>
              </a:path>
              <a:path w="33175" h="21600" stroke="0">
                <a:moveTo>
                  <a:pt x="0" y="8980"/>
                </a:moveTo>
                <a:cubicBezTo>
                  <a:pt x="4059" y="3341"/>
                  <a:pt x="10582" y="-1"/>
                  <a:pt x="17530" y="0"/>
                </a:cubicBezTo>
                <a:cubicBezTo>
                  <a:pt x="23443" y="0"/>
                  <a:pt x="29098" y="2424"/>
                  <a:pt x="33175" y="6707"/>
                </a:cubicBezTo>
                <a:lnTo>
                  <a:pt x="17530" y="21600"/>
                </a:lnTo>
                <a:lnTo>
                  <a:pt x="0" y="8980"/>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41991" name="Arc 7"/>
          <p:cNvSpPr/>
          <p:nvPr/>
        </p:nvSpPr>
        <p:spPr>
          <a:xfrm rot="10800000">
            <a:off x="1509713" y="1716088"/>
            <a:ext cx="2514600" cy="2714625"/>
          </a:xfrm>
          <a:custGeom>
            <a:avLst/>
            <a:gdLst>
              <a:gd name="txL" fmla="*/ 0 w 38747"/>
              <a:gd name="txT" fmla="*/ 0 h 21600"/>
              <a:gd name="txR" fmla="*/ 38747 w 38747"/>
              <a:gd name="txB" fmla="*/ 21600 h 21600"/>
            </a:gdLst>
            <a:ahLst/>
            <a:cxnLst>
              <a:cxn ang="0">
                <a:pos x="0" y="2147483646"/>
              </a:cxn>
              <a:cxn ang="0">
                <a:pos x="2147483646" y="2147483646"/>
              </a:cxn>
              <a:cxn ang="0">
                <a:pos x="2147483646" y="2147483646"/>
              </a:cxn>
            </a:cxnLst>
            <a:rect l="txL" t="txT" r="txR" b="txB"/>
            <a:pathLst>
              <a:path w="38747" h="21600" fill="none">
                <a:moveTo>
                  <a:pt x="-1" y="18054"/>
                </a:moveTo>
                <a:cubicBezTo>
                  <a:pt x="1733" y="7636"/>
                  <a:pt x="10745" y="-1"/>
                  <a:pt x="21307" y="0"/>
                </a:cubicBezTo>
                <a:cubicBezTo>
                  <a:pt x="28200" y="0"/>
                  <a:pt x="34679" y="3290"/>
                  <a:pt x="38746" y="8856"/>
                </a:cubicBezTo>
              </a:path>
              <a:path w="38747" h="21600" stroke="0">
                <a:moveTo>
                  <a:pt x="-1" y="18054"/>
                </a:moveTo>
                <a:cubicBezTo>
                  <a:pt x="1733" y="7636"/>
                  <a:pt x="10745" y="-1"/>
                  <a:pt x="21307" y="0"/>
                </a:cubicBezTo>
                <a:cubicBezTo>
                  <a:pt x="28200" y="0"/>
                  <a:pt x="34679" y="3290"/>
                  <a:pt x="38746" y="8856"/>
                </a:cubicBezTo>
                <a:lnTo>
                  <a:pt x="21307" y="21600"/>
                </a:lnTo>
                <a:lnTo>
                  <a:pt x="-1" y="18054"/>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41992" name="Rectangle 8"/>
          <p:cNvSpPr/>
          <p:nvPr/>
        </p:nvSpPr>
        <p:spPr>
          <a:xfrm>
            <a:off x="5129213" y="278765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41993" name="Rectangle 9"/>
          <p:cNvSpPr/>
          <p:nvPr/>
        </p:nvSpPr>
        <p:spPr>
          <a:xfrm>
            <a:off x="4956175" y="2138363"/>
            <a:ext cx="141446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41994" name="Rectangle 10"/>
          <p:cNvSpPr/>
          <p:nvPr/>
        </p:nvSpPr>
        <p:spPr>
          <a:xfrm>
            <a:off x="3917950" y="1619250"/>
            <a:ext cx="14589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41995" name="Line 11"/>
          <p:cNvSpPr/>
          <p:nvPr/>
        </p:nvSpPr>
        <p:spPr>
          <a:xfrm flipH="1">
            <a:off x="1498600" y="4149725"/>
            <a:ext cx="1687513" cy="0"/>
          </a:xfrm>
          <a:prstGeom prst="line">
            <a:avLst/>
          </a:prstGeom>
          <a:ln w="12700" cap="flat" cmpd="sng">
            <a:solidFill>
              <a:schemeClr val="tx1"/>
            </a:solidFill>
            <a:prstDash val="dash"/>
            <a:headEnd type="none" w="sm" len="sm"/>
            <a:tailEnd type="none" w="sm" len="sm"/>
          </a:ln>
        </p:spPr>
      </p:sp>
      <p:sp>
        <p:nvSpPr>
          <p:cNvPr id="41996" name="Arc 12"/>
          <p:cNvSpPr/>
          <p:nvPr/>
        </p:nvSpPr>
        <p:spPr>
          <a:xfrm rot="10800000">
            <a:off x="2654300" y="1704975"/>
            <a:ext cx="1382713" cy="2498725"/>
          </a:xfrm>
          <a:custGeom>
            <a:avLst/>
            <a:gdLst>
              <a:gd name="txL" fmla="*/ 0 w 21307"/>
              <a:gd name="txT" fmla="*/ 0 h 19885"/>
              <a:gd name="txR" fmla="*/ 21307 w 21307"/>
              <a:gd name="txB" fmla="*/ 19885 h 19885"/>
            </a:gdLst>
            <a:ahLst/>
            <a:cxnLst>
              <a:cxn ang="0">
                <a:pos x="0" y="2147483646"/>
              </a:cxn>
              <a:cxn ang="0">
                <a:pos x="2147483646" y="0"/>
              </a:cxn>
              <a:cxn ang="0">
                <a:pos x="2147483646" y="2147483646"/>
              </a:cxn>
            </a:cxnLst>
            <a:rect l="txL" t="txT" r="txR" b="txB"/>
            <a:pathLst>
              <a:path w="21307" h="19885" fill="none">
                <a:moveTo>
                  <a:pt x="-1" y="16339"/>
                </a:moveTo>
                <a:cubicBezTo>
                  <a:pt x="1212" y="9049"/>
                  <a:pt x="6068" y="2886"/>
                  <a:pt x="12872" y="0"/>
                </a:cubicBezTo>
              </a:path>
              <a:path w="21307" h="19885" stroke="0">
                <a:moveTo>
                  <a:pt x="-1" y="16339"/>
                </a:moveTo>
                <a:cubicBezTo>
                  <a:pt x="1212" y="9049"/>
                  <a:pt x="6068" y="2886"/>
                  <a:pt x="12872" y="0"/>
                </a:cubicBezTo>
                <a:lnTo>
                  <a:pt x="21307" y="19885"/>
                </a:lnTo>
                <a:lnTo>
                  <a:pt x="-1" y="16339"/>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41997" name="Rectangle 13"/>
          <p:cNvSpPr/>
          <p:nvPr/>
        </p:nvSpPr>
        <p:spPr>
          <a:xfrm>
            <a:off x="1738313" y="5268913"/>
            <a:ext cx="563245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 </a:t>
            </a:r>
            <a:r>
              <a:rPr lang="en-US" altLang="zh-CN" dirty="0">
                <a:latin typeface="Symbol" panose="05050102010706020507" pitchFamily="18" charset="2"/>
                <a:ea typeface="宋体" panose="02010600030101010101" pitchFamily="2" charset="-122"/>
              </a:rPr>
              <a:t>&lt;</a:t>
            </a:r>
            <a:r>
              <a:rPr lang="en-US" altLang="zh-CN" dirty="0">
                <a:ea typeface="宋体" panose="02010600030101010101" pitchFamily="2" charset="-122"/>
              </a:rPr>
              <a:t> AVC</a:t>
            </a:r>
            <a:r>
              <a:rPr lang="en-US" altLang="zh-CN" baseline="-25000" dirty="0">
                <a:ea typeface="宋体" panose="02010600030101010101" pitchFamily="2" charset="-122"/>
              </a:rPr>
              <a:t>s</a:t>
            </a:r>
            <a:r>
              <a:rPr lang="en-US" altLang="zh-CN" dirty="0">
                <a:ea typeface="宋体" panose="02010600030101010101" pitchFamily="2" charset="-122"/>
              </a:rPr>
              <a:t>(y)                y</a:t>
            </a:r>
            <a:r>
              <a:rPr lang="en-US" altLang="zh-CN" baseline="-25000" dirty="0">
                <a:ea typeface="宋体" panose="02010600030101010101" pitchFamily="2" charset="-122"/>
              </a:rPr>
              <a:t>s</a:t>
            </a:r>
            <a:r>
              <a:rPr lang="en-US" altLang="zh-CN" dirty="0">
                <a:ea typeface="宋体" panose="02010600030101010101" pitchFamily="2" charset="-122"/>
              </a:rPr>
              <a:t>* = 0. </a:t>
            </a:r>
            <a:endParaRPr lang="en-US" altLang="zh-CN" dirty="0">
              <a:ea typeface="宋体" panose="02010600030101010101" pitchFamily="2" charset="-122"/>
            </a:endParaRPr>
          </a:p>
        </p:txBody>
      </p:sp>
      <p:sp>
        <p:nvSpPr>
          <p:cNvPr id="41998" name="AutoShape 14"/>
          <p:cNvSpPr/>
          <p:nvPr/>
        </p:nvSpPr>
        <p:spPr>
          <a:xfrm>
            <a:off x="4346575" y="5414963"/>
            <a:ext cx="1212850" cy="284162"/>
          </a:xfrm>
          <a:prstGeom prst="rightArrow">
            <a:avLst>
              <a:gd name="adj1" fmla="val 50000"/>
              <a:gd name="adj2" fmla="val 213427"/>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41999" name="Oval 15"/>
          <p:cNvSpPr/>
          <p:nvPr/>
        </p:nvSpPr>
        <p:spPr>
          <a:xfrm>
            <a:off x="3128963" y="4049713"/>
            <a:ext cx="173037" cy="173037"/>
          </a:xfrm>
          <a:prstGeom prst="ellipse">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42000" name="Line 16"/>
          <p:cNvSpPr/>
          <p:nvPr/>
        </p:nvSpPr>
        <p:spPr>
          <a:xfrm>
            <a:off x="1512888" y="4149725"/>
            <a:ext cx="0" cy="663575"/>
          </a:xfrm>
          <a:prstGeom prst="line">
            <a:avLst/>
          </a:prstGeom>
          <a:ln w="76200" cap="flat" cmpd="sng">
            <a:solidFill>
              <a:schemeClr val="tx2"/>
            </a:solidFill>
            <a:prstDash val="solid"/>
            <a:headEnd type="none" w="sm" len="sm"/>
            <a:tailEnd type="none" w="sm" len="sm"/>
          </a:ln>
        </p:spPr>
      </p:sp>
      <p:sp>
        <p:nvSpPr>
          <p:cNvPr id="42001" name="Rectangle 17"/>
          <p:cNvSpPr/>
          <p:nvPr/>
        </p:nvSpPr>
        <p:spPr>
          <a:xfrm>
            <a:off x="4503738" y="3779838"/>
            <a:ext cx="4044950"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tx2"/>
                </a:solidFill>
                <a:ea typeface="宋体" panose="02010600030101010101" pitchFamily="2" charset="-122"/>
              </a:rPr>
              <a:t>The firm’s short-run</a:t>
            </a:r>
            <a:br>
              <a:rPr lang="en-US" altLang="zh-CN" dirty="0">
                <a:solidFill>
                  <a:schemeClr val="tx2"/>
                </a:solidFill>
                <a:ea typeface="宋体" panose="02010600030101010101" pitchFamily="2" charset="-122"/>
              </a:rPr>
            </a:br>
            <a:r>
              <a:rPr lang="en-US" altLang="zh-CN" dirty="0">
                <a:solidFill>
                  <a:schemeClr val="tx2"/>
                </a:solidFill>
                <a:ea typeface="宋体" panose="02010600030101010101" pitchFamily="2" charset="-122"/>
              </a:rPr>
              <a:t>supply curve</a:t>
            </a:r>
            <a:endParaRPr lang="en-US" altLang="zh-CN" dirty="0">
              <a:solidFill>
                <a:schemeClr val="tx2"/>
              </a:solidFill>
              <a:ea typeface="宋体" panose="02010600030101010101" pitchFamily="2" charset="-122"/>
            </a:endParaRPr>
          </a:p>
        </p:txBody>
      </p:sp>
      <p:sp>
        <p:nvSpPr>
          <p:cNvPr id="42002" name="Line 18"/>
          <p:cNvSpPr/>
          <p:nvPr/>
        </p:nvSpPr>
        <p:spPr>
          <a:xfrm flipH="1" flipV="1">
            <a:off x="3905250" y="3095625"/>
            <a:ext cx="547688" cy="1333500"/>
          </a:xfrm>
          <a:prstGeom prst="line">
            <a:avLst/>
          </a:prstGeom>
          <a:ln w="12700" cap="flat" cmpd="sng">
            <a:solidFill>
              <a:schemeClr val="tx1"/>
            </a:solidFill>
            <a:prstDash val="solid"/>
            <a:headEnd type="none" w="sm" len="sm"/>
            <a:tailEnd type="stealth" w="med" len="lg"/>
          </a:ln>
        </p:spPr>
      </p:sp>
      <p:sp>
        <p:nvSpPr>
          <p:cNvPr id="42003" name="Line 19"/>
          <p:cNvSpPr/>
          <p:nvPr/>
        </p:nvSpPr>
        <p:spPr>
          <a:xfrm flipH="1">
            <a:off x="1619250" y="4572000"/>
            <a:ext cx="2833688" cy="0"/>
          </a:xfrm>
          <a:prstGeom prst="line">
            <a:avLst/>
          </a:prstGeom>
          <a:ln w="12700" cap="flat" cmpd="sng">
            <a:solidFill>
              <a:schemeClr val="tx1"/>
            </a:solidFill>
            <a:prstDash val="solid"/>
            <a:headEnd type="none" w="sm" len="sm"/>
            <a:tailEnd type="stealth" w="med" len="lg"/>
          </a:ln>
        </p:spPr>
      </p:sp>
      <p:sp>
        <p:nvSpPr>
          <p:cNvPr id="42004" name="Rectangle 20"/>
          <p:cNvSpPr/>
          <p:nvPr/>
        </p:nvSpPr>
        <p:spPr>
          <a:xfrm>
            <a:off x="265113" y="9667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42005" name="Rectangle 21"/>
          <p:cNvSpPr/>
          <p:nvPr/>
        </p:nvSpPr>
        <p:spPr>
          <a:xfrm>
            <a:off x="5765800" y="4827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42006" name="Rectangle 22"/>
          <p:cNvSpPr/>
          <p:nvPr/>
        </p:nvSpPr>
        <p:spPr>
          <a:xfrm>
            <a:off x="3024188" y="911225"/>
            <a:ext cx="563245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 </a:t>
            </a:r>
            <a:r>
              <a:rPr lang="en-US" altLang="zh-CN" dirty="0">
                <a:latin typeface="Symbol" panose="05050102010706020507" pitchFamily="18" charset="2"/>
                <a:ea typeface="宋体" panose="02010600030101010101" pitchFamily="2" charset="-122"/>
              </a:rPr>
              <a:t>&gt;</a:t>
            </a:r>
            <a:r>
              <a:rPr lang="en-US" altLang="zh-CN" dirty="0">
                <a:ea typeface="宋体" panose="02010600030101010101" pitchFamily="2" charset="-122"/>
              </a:rPr>
              <a:t> AVC</a:t>
            </a:r>
            <a:r>
              <a:rPr lang="en-US" altLang="zh-CN" baseline="-25000" dirty="0">
                <a:ea typeface="宋体" panose="02010600030101010101" pitchFamily="2" charset="-122"/>
              </a:rPr>
              <a:t>s</a:t>
            </a:r>
            <a:r>
              <a:rPr lang="en-US" altLang="zh-CN" dirty="0">
                <a:ea typeface="宋体" panose="02010600030101010101" pitchFamily="2" charset="-122"/>
              </a:rPr>
              <a:t>(y)                y</a:t>
            </a:r>
            <a:r>
              <a:rPr lang="en-US" altLang="zh-CN" baseline="-25000" dirty="0">
                <a:ea typeface="宋体" panose="02010600030101010101" pitchFamily="2" charset="-122"/>
              </a:rPr>
              <a:t>s</a:t>
            </a:r>
            <a:r>
              <a:rPr lang="en-US" altLang="zh-CN" dirty="0">
                <a:ea typeface="宋体" panose="02010600030101010101" pitchFamily="2" charset="-122"/>
              </a:rPr>
              <a:t>* &gt; 0. </a:t>
            </a:r>
            <a:endParaRPr lang="en-US" altLang="zh-CN" dirty="0">
              <a:ea typeface="宋体" panose="02010600030101010101" pitchFamily="2" charset="-122"/>
            </a:endParaRPr>
          </a:p>
        </p:txBody>
      </p:sp>
      <p:sp>
        <p:nvSpPr>
          <p:cNvPr id="42007" name="AutoShape 23"/>
          <p:cNvSpPr/>
          <p:nvPr/>
        </p:nvSpPr>
        <p:spPr>
          <a:xfrm>
            <a:off x="5632450" y="1060450"/>
            <a:ext cx="1212850" cy="284163"/>
          </a:xfrm>
          <a:prstGeom prst="rightArrow">
            <a:avLst>
              <a:gd name="adj1" fmla="val 50000"/>
              <a:gd name="adj2" fmla="val 213427"/>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43011" name="Line 3"/>
          <p:cNvSpPr/>
          <p:nvPr/>
        </p:nvSpPr>
        <p:spPr>
          <a:xfrm>
            <a:off x="1500188" y="1428750"/>
            <a:ext cx="0" cy="3381375"/>
          </a:xfrm>
          <a:prstGeom prst="line">
            <a:avLst/>
          </a:prstGeom>
          <a:ln w="12700" cap="flat" cmpd="sng">
            <a:solidFill>
              <a:schemeClr val="tx1"/>
            </a:solidFill>
            <a:prstDash val="solid"/>
            <a:headEnd type="stealth" w="med" len="lg"/>
            <a:tailEnd type="none" w="sm" len="sm"/>
          </a:ln>
        </p:spPr>
      </p:sp>
      <p:sp>
        <p:nvSpPr>
          <p:cNvPr id="43012" name="Line 4"/>
          <p:cNvSpPr/>
          <p:nvPr/>
        </p:nvSpPr>
        <p:spPr>
          <a:xfrm>
            <a:off x="1500188" y="4833938"/>
            <a:ext cx="4429125" cy="0"/>
          </a:xfrm>
          <a:prstGeom prst="line">
            <a:avLst/>
          </a:prstGeom>
          <a:ln w="12700" cap="flat" cmpd="sng">
            <a:solidFill>
              <a:schemeClr val="tx1"/>
            </a:solidFill>
            <a:prstDash val="solid"/>
            <a:headEnd type="none" w="sm" len="sm"/>
            <a:tailEnd type="stealth" w="med" len="lg"/>
          </a:ln>
        </p:spPr>
      </p:sp>
      <p:sp>
        <p:nvSpPr>
          <p:cNvPr id="43013" name="Arc 5"/>
          <p:cNvSpPr/>
          <p:nvPr/>
        </p:nvSpPr>
        <p:spPr>
          <a:xfrm rot="10800000">
            <a:off x="1936750" y="1287463"/>
            <a:ext cx="3043238" cy="2428875"/>
          </a:xfrm>
          <a:custGeom>
            <a:avLst/>
            <a:gdLst>
              <a:gd name="txL" fmla="*/ 0 w 38509"/>
              <a:gd name="txT" fmla="*/ 0 h 21600"/>
              <a:gd name="txR" fmla="*/ 38509 w 38509"/>
              <a:gd name="txB" fmla="*/ 21600 h 21600"/>
            </a:gdLst>
            <a:ahLst/>
            <a:cxnLst>
              <a:cxn ang="0">
                <a:pos x="0" y="2147483646"/>
              </a:cxn>
              <a:cxn ang="0">
                <a:pos x="2147483646" y="2147483646"/>
              </a:cxn>
              <a:cxn ang="0">
                <a:pos x="2147483646" y="2147483646"/>
              </a:cxn>
            </a:cxnLst>
            <a:rect l="txL" t="txT" r="txR" b="txB"/>
            <a:pathLst>
              <a:path w="38509" h="21600" fill="none">
                <a:moveTo>
                  <a:pt x="0" y="8891"/>
                </a:moveTo>
                <a:cubicBezTo>
                  <a:pt x="4065" y="3304"/>
                  <a:pt x="10557" y="-1"/>
                  <a:pt x="17466" y="0"/>
                </a:cubicBezTo>
                <a:cubicBezTo>
                  <a:pt x="27518" y="0"/>
                  <a:pt x="36241" y="6934"/>
                  <a:pt x="38509" y="16727"/>
                </a:cubicBezTo>
              </a:path>
              <a:path w="38509" h="21600" stroke="0">
                <a:moveTo>
                  <a:pt x="0" y="8891"/>
                </a:moveTo>
                <a:cubicBezTo>
                  <a:pt x="4065" y="3304"/>
                  <a:pt x="10557" y="-1"/>
                  <a:pt x="17466" y="0"/>
                </a:cubicBezTo>
                <a:cubicBezTo>
                  <a:pt x="27518" y="0"/>
                  <a:pt x="36241" y="6934"/>
                  <a:pt x="38509" y="16727"/>
                </a:cubicBezTo>
                <a:lnTo>
                  <a:pt x="17466" y="21600"/>
                </a:lnTo>
                <a:lnTo>
                  <a:pt x="0" y="8891"/>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43014" name="Arc 6"/>
          <p:cNvSpPr/>
          <p:nvPr/>
        </p:nvSpPr>
        <p:spPr>
          <a:xfrm rot="10800000">
            <a:off x="1520825" y="1504950"/>
            <a:ext cx="3663950" cy="2667000"/>
          </a:xfrm>
          <a:custGeom>
            <a:avLst/>
            <a:gdLst>
              <a:gd name="txL" fmla="*/ 0 w 33175"/>
              <a:gd name="txT" fmla="*/ 0 h 21600"/>
              <a:gd name="txR" fmla="*/ 33175 w 33175"/>
              <a:gd name="txB" fmla="*/ 21600 h 21600"/>
            </a:gdLst>
            <a:ahLst/>
            <a:cxnLst>
              <a:cxn ang="0">
                <a:pos x="0" y="2147483646"/>
              </a:cxn>
              <a:cxn ang="0">
                <a:pos x="2147483646" y="2147483646"/>
              </a:cxn>
              <a:cxn ang="0">
                <a:pos x="2147483646" y="2147483646"/>
              </a:cxn>
            </a:cxnLst>
            <a:rect l="txL" t="txT" r="txR" b="txB"/>
            <a:pathLst>
              <a:path w="33175" h="21600" fill="none">
                <a:moveTo>
                  <a:pt x="0" y="8980"/>
                </a:moveTo>
                <a:cubicBezTo>
                  <a:pt x="4059" y="3341"/>
                  <a:pt x="10582" y="-1"/>
                  <a:pt x="17530" y="0"/>
                </a:cubicBezTo>
                <a:cubicBezTo>
                  <a:pt x="23443" y="0"/>
                  <a:pt x="29098" y="2424"/>
                  <a:pt x="33175" y="6707"/>
                </a:cubicBezTo>
              </a:path>
              <a:path w="33175" h="21600" stroke="0">
                <a:moveTo>
                  <a:pt x="0" y="8980"/>
                </a:moveTo>
                <a:cubicBezTo>
                  <a:pt x="4059" y="3341"/>
                  <a:pt x="10582" y="-1"/>
                  <a:pt x="17530" y="0"/>
                </a:cubicBezTo>
                <a:cubicBezTo>
                  <a:pt x="23443" y="0"/>
                  <a:pt x="29098" y="2424"/>
                  <a:pt x="33175" y="6707"/>
                </a:cubicBezTo>
                <a:lnTo>
                  <a:pt x="17530" y="21600"/>
                </a:lnTo>
                <a:lnTo>
                  <a:pt x="0" y="8980"/>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43015" name="Arc 7"/>
          <p:cNvSpPr/>
          <p:nvPr/>
        </p:nvSpPr>
        <p:spPr>
          <a:xfrm rot="10800000">
            <a:off x="1509713" y="1716088"/>
            <a:ext cx="2514600" cy="2714625"/>
          </a:xfrm>
          <a:custGeom>
            <a:avLst/>
            <a:gdLst>
              <a:gd name="txL" fmla="*/ 0 w 38747"/>
              <a:gd name="txT" fmla="*/ 0 h 21600"/>
              <a:gd name="txR" fmla="*/ 38747 w 38747"/>
              <a:gd name="txB" fmla="*/ 21600 h 21600"/>
            </a:gdLst>
            <a:ahLst/>
            <a:cxnLst>
              <a:cxn ang="0">
                <a:pos x="0" y="2147483646"/>
              </a:cxn>
              <a:cxn ang="0">
                <a:pos x="2147483646" y="2147483646"/>
              </a:cxn>
              <a:cxn ang="0">
                <a:pos x="2147483646" y="2147483646"/>
              </a:cxn>
            </a:cxnLst>
            <a:rect l="txL" t="txT" r="txR" b="txB"/>
            <a:pathLst>
              <a:path w="38747" h="21600" fill="none">
                <a:moveTo>
                  <a:pt x="-1" y="18054"/>
                </a:moveTo>
                <a:cubicBezTo>
                  <a:pt x="1733" y="7636"/>
                  <a:pt x="10745" y="-1"/>
                  <a:pt x="21307" y="0"/>
                </a:cubicBezTo>
                <a:cubicBezTo>
                  <a:pt x="28200" y="0"/>
                  <a:pt x="34679" y="3290"/>
                  <a:pt x="38746" y="8856"/>
                </a:cubicBezTo>
              </a:path>
              <a:path w="38747" h="21600" stroke="0">
                <a:moveTo>
                  <a:pt x="-1" y="18054"/>
                </a:moveTo>
                <a:cubicBezTo>
                  <a:pt x="1733" y="7636"/>
                  <a:pt x="10745" y="-1"/>
                  <a:pt x="21307" y="0"/>
                </a:cubicBezTo>
                <a:cubicBezTo>
                  <a:pt x="28200" y="0"/>
                  <a:pt x="34679" y="3290"/>
                  <a:pt x="38746" y="8856"/>
                </a:cubicBezTo>
                <a:lnTo>
                  <a:pt x="21307" y="21600"/>
                </a:lnTo>
                <a:lnTo>
                  <a:pt x="-1" y="18054"/>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43016" name="Rectangle 8"/>
          <p:cNvSpPr/>
          <p:nvPr/>
        </p:nvSpPr>
        <p:spPr>
          <a:xfrm>
            <a:off x="5129213" y="278765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43017" name="Rectangle 9"/>
          <p:cNvSpPr/>
          <p:nvPr/>
        </p:nvSpPr>
        <p:spPr>
          <a:xfrm>
            <a:off x="4956175" y="2138363"/>
            <a:ext cx="1414463"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43018" name="Rectangle 10"/>
          <p:cNvSpPr/>
          <p:nvPr/>
        </p:nvSpPr>
        <p:spPr>
          <a:xfrm>
            <a:off x="3917950" y="1619250"/>
            <a:ext cx="14589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43019" name="Line 11"/>
          <p:cNvSpPr/>
          <p:nvPr/>
        </p:nvSpPr>
        <p:spPr>
          <a:xfrm flipH="1">
            <a:off x="1498600" y="4149725"/>
            <a:ext cx="1687513" cy="0"/>
          </a:xfrm>
          <a:prstGeom prst="line">
            <a:avLst/>
          </a:prstGeom>
          <a:ln w="12700" cap="flat" cmpd="sng">
            <a:solidFill>
              <a:schemeClr val="tx1"/>
            </a:solidFill>
            <a:prstDash val="dash"/>
            <a:headEnd type="none" w="sm" len="sm"/>
            <a:tailEnd type="none" w="sm" len="sm"/>
          </a:ln>
        </p:spPr>
      </p:sp>
      <p:sp>
        <p:nvSpPr>
          <p:cNvPr id="43020" name="Arc 12"/>
          <p:cNvSpPr/>
          <p:nvPr/>
        </p:nvSpPr>
        <p:spPr>
          <a:xfrm rot="10800000">
            <a:off x="2654300" y="1704975"/>
            <a:ext cx="1382713" cy="2498725"/>
          </a:xfrm>
          <a:custGeom>
            <a:avLst/>
            <a:gdLst>
              <a:gd name="txL" fmla="*/ 0 w 21307"/>
              <a:gd name="txT" fmla="*/ 0 h 19885"/>
              <a:gd name="txR" fmla="*/ 21307 w 21307"/>
              <a:gd name="txB" fmla="*/ 19885 h 19885"/>
            </a:gdLst>
            <a:ahLst/>
            <a:cxnLst>
              <a:cxn ang="0">
                <a:pos x="0" y="2147483646"/>
              </a:cxn>
              <a:cxn ang="0">
                <a:pos x="2147483646" y="0"/>
              </a:cxn>
              <a:cxn ang="0">
                <a:pos x="2147483646" y="2147483646"/>
              </a:cxn>
            </a:cxnLst>
            <a:rect l="txL" t="txT" r="txR" b="txB"/>
            <a:pathLst>
              <a:path w="21307" h="19885" fill="none">
                <a:moveTo>
                  <a:pt x="-1" y="16339"/>
                </a:moveTo>
                <a:cubicBezTo>
                  <a:pt x="1212" y="9049"/>
                  <a:pt x="6068" y="2886"/>
                  <a:pt x="12872" y="0"/>
                </a:cubicBezTo>
              </a:path>
              <a:path w="21307" h="19885" stroke="0">
                <a:moveTo>
                  <a:pt x="-1" y="16339"/>
                </a:moveTo>
                <a:cubicBezTo>
                  <a:pt x="1212" y="9049"/>
                  <a:pt x="6068" y="2886"/>
                  <a:pt x="12872" y="0"/>
                </a:cubicBezTo>
                <a:lnTo>
                  <a:pt x="21307" y="19885"/>
                </a:lnTo>
                <a:lnTo>
                  <a:pt x="-1" y="16339"/>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43021" name="Oval 13"/>
          <p:cNvSpPr/>
          <p:nvPr/>
        </p:nvSpPr>
        <p:spPr>
          <a:xfrm>
            <a:off x="3128963" y="4049713"/>
            <a:ext cx="173037" cy="173037"/>
          </a:xfrm>
          <a:prstGeom prst="ellipse">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43022" name="Line 14"/>
          <p:cNvSpPr/>
          <p:nvPr/>
        </p:nvSpPr>
        <p:spPr>
          <a:xfrm>
            <a:off x="1512888" y="4149725"/>
            <a:ext cx="0" cy="663575"/>
          </a:xfrm>
          <a:prstGeom prst="line">
            <a:avLst/>
          </a:prstGeom>
          <a:ln w="76200" cap="flat" cmpd="sng">
            <a:solidFill>
              <a:schemeClr val="tx2"/>
            </a:solidFill>
            <a:prstDash val="solid"/>
            <a:headEnd type="none" w="sm" len="sm"/>
            <a:tailEnd type="none" w="sm" len="sm"/>
          </a:ln>
        </p:spPr>
      </p:sp>
      <p:sp>
        <p:nvSpPr>
          <p:cNvPr id="43023" name="Rectangle 15"/>
          <p:cNvSpPr/>
          <p:nvPr/>
        </p:nvSpPr>
        <p:spPr>
          <a:xfrm>
            <a:off x="4503738" y="3779838"/>
            <a:ext cx="4044950"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tx2"/>
                </a:solidFill>
                <a:ea typeface="宋体" panose="02010600030101010101" pitchFamily="2" charset="-122"/>
              </a:rPr>
              <a:t>The firm’s short-run</a:t>
            </a:r>
            <a:br>
              <a:rPr lang="en-US" altLang="zh-CN" dirty="0">
                <a:solidFill>
                  <a:schemeClr val="tx2"/>
                </a:solidFill>
                <a:ea typeface="宋体" panose="02010600030101010101" pitchFamily="2" charset="-122"/>
              </a:rPr>
            </a:br>
            <a:r>
              <a:rPr lang="en-US" altLang="zh-CN" dirty="0">
                <a:solidFill>
                  <a:schemeClr val="tx2"/>
                </a:solidFill>
                <a:ea typeface="宋体" panose="02010600030101010101" pitchFamily="2" charset="-122"/>
              </a:rPr>
              <a:t>supply curve</a:t>
            </a:r>
            <a:endParaRPr lang="en-US" altLang="zh-CN" dirty="0">
              <a:solidFill>
                <a:schemeClr val="tx2"/>
              </a:solidFill>
              <a:ea typeface="宋体" panose="02010600030101010101" pitchFamily="2" charset="-122"/>
            </a:endParaRPr>
          </a:p>
        </p:txBody>
      </p:sp>
      <p:sp>
        <p:nvSpPr>
          <p:cNvPr id="43024" name="Line 16"/>
          <p:cNvSpPr/>
          <p:nvPr/>
        </p:nvSpPr>
        <p:spPr>
          <a:xfrm flipH="1" flipV="1">
            <a:off x="3905250" y="3095625"/>
            <a:ext cx="547688" cy="1333500"/>
          </a:xfrm>
          <a:prstGeom prst="line">
            <a:avLst/>
          </a:prstGeom>
          <a:ln w="12700" cap="flat" cmpd="sng">
            <a:solidFill>
              <a:schemeClr val="tx1"/>
            </a:solidFill>
            <a:prstDash val="solid"/>
            <a:headEnd type="none" w="sm" len="sm"/>
            <a:tailEnd type="stealth" w="med" len="lg"/>
          </a:ln>
        </p:spPr>
      </p:sp>
      <p:sp>
        <p:nvSpPr>
          <p:cNvPr id="43025" name="Line 17"/>
          <p:cNvSpPr/>
          <p:nvPr/>
        </p:nvSpPr>
        <p:spPr>
          <a:xfrm flipH="1">
            <a:off x="1619250" y="4572000"/>
            <a:ext cx="2833688" cy="0"/>
          </a:xfrm>
          <a:prstGeom prst="line">
            <a:avLst/>
          </a:prstGeom>
          <a:ln w="12700" cap="flat" cmpd="sng">
            <a:solidFill>
              <a:schemeClr val="tx1"/>
            </a:solidFill>
            <a:prstDash val="solid"/>
            <a:headEnd type="none" w="sm" len="sm"/>
            <a:tailEnd type="stealth" w="med" len="lg"/>
          </a:ln>
        </p:spPr>
      </p:sp>
      <p:sp>
        <p:nvSpPr>
          <p:cNvPr id="43026" name="Rectangle 18"/>
          <p:cNvSpPr/>
          <p:nvPr/>
        </p:nvSpPr>
        <p:spPr>
          <a:xfrm>
            <a:off x="1789113" y="1327150"/>
            <a:ext cx="2147887"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Shutdown</a:t>
            </a:r>
            <a:br>
              <a:rPr lang="en-US" altLang="zh-CN" dirty="0">
                <a:ea typeface="宋体" panose="02010600030101010101" pitchFamily="2" charset="-122"/>
              </a:rPr>
            </a:br>
            <a:r>
              <a:rPr lang="en-US" altLang="zh-CN" dirty="0">
                <a:ea typeface="宋体" panose="02010600030101010101" pitchFamily="2" charset="-122"/>
              </a:rPr>
              <a:t>    point</a:t>
            </a:r>
            <a:endParaRPr lang="en-US" altLang="zh-CN" dirty="0">
              <a:ea typeface="宋体" panose="02010600030101010101" pitchFamily="2" charset="-122"/>
            </a:endParaRPr>
          </a:p>
        </p:txBody>
      </p:sp>
      <p:sp>
        <p:nvSpPr>
          <p:cNvPr id="43027" name="Line 19"/>
          <p:cNvSpPr/>
          <p:nvPr/>
        </p:nvSpPr>
        <p:spPr>
          <a:xfrm>
            <a:off x="2976563" y="2286000"/>
            <a:ext cx="238125" cy="1738313"/>
          </a:xfrm>
          <a:prstGeom prst="line">
            <a:avLst/>
          </a:prstGeom>
          <a:ln w="12700" cap="flat" cmpd="sng">
            <a:solidFill>
              <a:schemeClr val="tx1"/>
            </a:solidFill>
            <a:prstDash val="solid"/>
            <a:headEnd type="none" w="sm" len="sm"/>
            <a:tailEnd type="stealth" w="med" len="lg"/>
          </a:ln>
        </p:spPr>
      </p:sp>
      <p:sp>
        <p:nvSpPr>
          <p:cNvPr id="43028" name="Rectangle 20"/>
          <p:cNvSpPr/>
          <p:nvPr/>
        </p:nvSpPr>
        <p:spPr>
          <a:xfrm>
            <a:off x="265113" y="966788"/>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43029" name="Rectangle 21"/>
          <p:cNvSpPr/>
          <p:nvPr/>
        </p:nvSpPr>
        <p:spPr>
          <a:xfrm>
            <a:off x="5765800" y="4827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Short-Run Supply Decision</a:t>
            </a:r>
            <a:endParaRPr lang="en-US" altLang="zh-CN" dirty="0">
              <a:ea typeface="宋体" panose="02010600030101010101" pitchFamily="2" charset="-122"/>
            </a:endParaRPr>
          </a:p>
        </p:txBody>
      </p:sp>
      <p:sp>
        <p:nvSpPr>
          <p:cNvPr id="44035"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Shut-down is not the same as exit.</a:t>
            </a:r>
            <a:endParaRPr lang="en-US" altLang="zh-CN" dirty="0">
              <a:ea typeface="宋体" panose="02010600030101010101" pitchFamily="2" charset="-122"/>
            </a:endParaRPr>
          </a:p>
          <a:p>
            <a:r>
              <a:rPr lang="en-US" altLang="zh-CN" dirty="0">
                <a:ea typeface="宋体" panose="02010600030101010101" pitchFamily="2" charset="-122"/>
              </a:rPr>
              <a:t>Shutting-down means producing no output (but the firm is still in the industry and suffers its fixed cost).</a:t>
            </a:r>
            <a:endParaRPr lang="en-US" altLang="zh-CN" dirty="0">
              <a:ea typeface="宋体" panose="02010600030101010101" pitchFamily="2" charset="-122"/>
            </a:endParaRPr>
          </a:p>
          <a:p>
            <a:r>
              <a:rPr lang="en-US" altLang="zh-CN" dirty="0">
                <a:ea typeface="宋体" panose="02010600030101010101" pitchFamily="2" charset="-122"/>
              </a:rPr>
              <a:t>Exiting means leaving the industry, which the firm can do only in the long-run.</a:t>
            </a:r>
            <a:endParaRPr lang="en-US" altLang="zh-CN" dirty="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45059"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The long-run is the circumstance in which the firm can choose amongst all of its short-run circumstances.</a:t>
            </a:r>
            <a:endParaRPr lang="en-US" altLang="zh-CN" dirty="0">
              <a:ea typeface="宋体" panose="02010600030101010101" pitchFamily="2" charset="-122"/>
            </a:endParaRPr>
          </a:p>
          <a:p>
            <a:r>
              <a:rPr lang="en-US" altLang="zh-CN" dirty="0">
                <a:ea typeface="宋体" panose="02010600030101010101" pitchFamily="2" charset="-122"/>
              </a:rPr>
              <a:t>How does the firm’s long-run supply decision compare to its short-run supply decisions?</a:t>
            </a:r>
            <a:endParaRPr lang="en-US" altLang="zh-CN" dirty="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46083"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 competitive firm’s long-run profit function is</a:t>
            </a:r>
            <a:br>
              <a:rPr lang="en-US" altLang="zh-CN" dirty="0">
                <a:ea typeface="宋体" panose="02010600030101010101" pitchFamily="2" charset="-122"/>
              </a:rPr>
            </a:br>
            <a:endParaRPr lang="en-US" altLang="zh-CN" dirty="0">
              <a:ea typeface="宋体" panose="02010600030101010101" pitchFamily="2" charset="-122"/>
            </a:endParaRPr>
          </a:p>
          <a:p>
            <a:r>
              <a:rPr lang="en-US" altLang="zh-CN" dirty="0">
                <a:ea typeface="宋体" panose="02010600030101010101" pitchFamily="2" charset="-122"/>
              </a:rPr>
              <a:t>The long-run cost c(y) of producing y units of output consists only of variable costs since all inputs are variable in the long-run.</a:t>
            </a:r>
            <a:endParaRPr lang="en-US" altLang="zh-CN" dirty="0">
              <a:ea typeface="宋体" panose="02010600030101010101" pitchFamily="2" charset="-122"/>
            </a:endParaRPr>
          </a:p>
        </p:txBody>
      </p:sp>
      <p:graphicFrame>
        <p:nvGraphicFramePr>
          <p:cNvPr id="46084" name="Object 4"/>
          <p:cNvGraphicFramePr/>
          <p:nvPr/>
        </p:nvGraphicFramePr>
        <p:xfrm>
          <a:off x="2786063" y="2568575"/>
          <a:ext cx="3192462" cy="433388"/>
        </p:xfrm>
        <a:graphic>
          <a:graphicData uri="http://schemas.openxmlformats.org/presentationml/2006/ole">
            <mc:AlternateContent xmlns:mc="http://schemas.openxmlformats.org/markup-compatibility/2006">
              <mc:Choice xmlns:v="urn:schemas-microsoft-com:vml" Requires="v">
                <p:oleObj spid="_x0000_s3078" name="" r:id="rId1" imgW="2020570" imgH="287655" progId="Equation.2">
                  <p:embed/>
                </p:oleObj>
              </mc:Choice>
              <mc:Fallback>
                <p:oleObj name="" r:id="rId1" imgW="2020570" imgH="287655" progId="Equation.2">
                  <p:embed/>
                  <p:pic>
                    <p:nvPicPr>
                      <p:cNvPr id="0" name="图片 3077"/>
                      <p:cNvPicPr/>
                      <p:nvPr/>
                    </p:nvPicPr>
                    <p:blipFill>
                      <a:blip r:embed="rId2">
                        <a:clrChange>
                          <a:clrFrom>
                            <a:srgbClr val="000000"/>
                          </a:clrFrom>
                          <a:clrTo>
                            <a:srgbClr val="000000"/>
                          </a:clrTo>
                        </a:clrChange>
                      </a:blip>
                      <a:stretch>
                        <a:fillRect/>
                      </a:stretch>
                    </p:blipFill>
                    <p:spPr>
                      <a:xfrm>
                        <a:off x="2786063" y="2568575"/>
                        <a:ext cx="3192462" cy="433388"/>
                      </a:xfrm>
                      <a:prstGeom prst="rect">
                        <a:avLst/>
                      </a:prstGeom>
                      <a:noFill/>
                      <a:ln w="38100">
                        <a:noFill/>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47107"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The firm’s long-run supply level decision is to</a:t>
            </a:r>
            <a:br>
              <a:rPr lang="en-US" altLang="zh-CN" dirty="0">
                <a:ea typeface="宋体" panose="02010600030101010101" pitchFamily="2" charset="-122"/>
              </a:rPr>
            </a:br>
            <a:br>
              <a:rPr lang="en-US" altLang="zh-CN" dirty="0">
                <a:ea typeface="宋体" panose="02010600030101010101" pitchFamily="2" charset="-122"/>
              </a:rPr>
            </a:br>
            <a:endParaRPr lang="en-US" altLang="zh-CN" dirty="0">
              <a:ea typeface="宋体" panose="02010600030101010101" pitchFamily="2" charset="-122"/>
            </a:endParaRPr>
          </a:p>
          <a:p>
            <a:r>
              <a:rPr lang="en-US" altLang="zh-CN" dirty="0">
                <a:ea typeface="宋体" panose="02010600030101010101" pitchFamily="2" charset="-122"/>
              </a:rPr>
              <a:t>The 1st and 2nd-order maximization conditions are, for y* &gt; 0,</a:t>
            </a:r>
            <a:endParaRPr lang="en-US" altLang="zh-CN" dirty="0">
              <a:ea typeface="宋体" panose="02010600030101010101" pitchFamily="2" charset="-122"/>
            </a:endParaRPr>
          </a:p>
        </p:txBody>
      </p:sp>
      <p:graphicFrame>
        <p:nvGraphicFramePr>
          <p:cNvPr id="47108" name="Object 4"/>
          <p:cNvGraphicFramePr/>
          <p:nvPr/>
        </p:nvGraphicFramePr>
        <p:xfrm>
          <a:off x="2171700" y="2527300"/>
          <a:ext cx="4087813" cy="850900"/>
        </p:xfrm>
        <a:graphic>
          <a:graphicData uri="http://schemas.openxmlformats.org/presentationml/2006/ole">
            <mc:AlternateContent xmlns:mc="http://schemas.openxmlformats.org/markup-compatibility/2006">
              <mc:Choice xmlns:v="urn:schemas-microsoft-com:vml" Requires="v">
                <p:oleObj spid="_x0000_s3079" name="" r:id="rId1" imgW="2586355" imgH="557530" progId="Equation.2">
                  <p:embed/>
                </p:oleObj>
              </mc:Choice>
              <mc:Fallback>
                <p:oleObj name="" r:id="rId1" imgW="2586355" imgH="557530" progId="Equation.2">
                  <p:embed/>
                  <p:pic>
                    <p:nvPicPr>
                      <p:cNvPr id="0" name="图片 3078"/>
                      <p:cNvPicPr/>
                      <p:nvPr/>
                    </p:nvPicPr>
                    <p:blipFill>
                      <a:blip r:embed="rId2">
                        <a:clrChange>
                          <a:clrFrom>
                            <a:srgbClr val="000000"/>
                          </a:clrFrom>
                          <a:clrTo>
                            <a:srgbClr val="000000"/>
                          </a:clrTo>
                        </a:clrChange>
                      </a:blip>
                      <a:stretch>
                        <a:fillRect/>
                      </a:stretch>
                    </p:blipFill>
                    <p:spPr>
                      <a:xfrm>
                        <a:off x="2171700" y="2527300"/>
                        <a:ext cx="4087813" cy="850900"/>
                      </a:xfrm>
                      <a:prstGeom prst="rect">
                        <a:avLst/>
                      </a:prstGeom>
                      <a:noFill/>
                      <a:ln w="38100">
                        <a:noFill/>
                        <a:miter/>
                      </a:ln>
                    </p:spPr>
                  </p:pic>
                </p:oleObj>
              </mc:Fallback>
            </mc:AlternateContent>
          </a:graphicData>
        </a:graphic>
      </p:graphicFrame>
      <p:graphicFrame>
        <p:nvGraphicFramePr>
          <p:cNvPr id="47109" name="Object 5"/>
          <p:cNvGraphicFramePr/>
          <p:nvPr/>
        </p:nvGraphicFramePr>
        <p:xfrm>
          <a:off x="2868613" y="4594225"/>
          <a:ext cx="2825750" cy="1519238"/>
        </p:xfrm>
        <a:graphic>
          <a:graphicData uri="http://schemas.openxmlformats.org/presentationml/2006/ole">
            <mc:AlternateContent xmlns:mc="http://schemas.openxmlformats.org/markup-compatibility/2006">
              <mc:Choice xmlns:v="urn:schemas-microsoft-com:vml" Requires="v">
                <p:oleObj spid="_x0000_s3080" name="" r:id="rId3" imgW="1793875" imgH="1001395" progId="Equation.2">
                  <p:embed/>
                </p:oleObj>
              </mc:Choice>
              <mc:Fallback>
                <p:oleObj name="" r:id="rId3" imgW="1793875" imgH="1001395" progId="Equation.2">
                  <p:embed/>
                  <p:pic>
                    <p:nvPicPr>
                      <p:cNvPr id="0" name="图片 3079"/>
                      <p:cNvPicPr/>
                      <p:nvPr/>
                    </p:nvPicPr>
                    <p:blipFill>
                      <a:blip r:embed="rId4">
                        <a:clrChange>
                          <a:clrFrom>
                            <a:srgbClr val="000000"/>
                          </a:clrFrom>
                          <a:clrTo>
                            <a:srgbClr val="000000"/>
                          </a:clrTo>
                        </a:clrChange>
                      </a:blip>
                      <a:stretch>
                        <a:fillRect/>
                      </a:stretch>
                    </p:blipFill>
                    <p:spPr>
                      <a:xfrm>
                        <a:off x="2868613" y="4594225"/>
                        <a:ext cx="2825750" cy="1519238"/>
                      </a:xfrm>
                      <a:prstGeom prst="rect">
                        <a:avLst/>
                      </a:prstGeom>
                      <a:noFill/>
                      <a:ln w="38100">
                        <a:noFill/>
                        <a:miter/>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48131"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Additionally, the firm’s economic profit level must not be negative since then the firm would exit the industry.  So,</a:t>
            </a:r>
            <a:endParaRPr lang="en-US" altLang="zh-CN" dirty="0">
              <a:ea typeface="宋体" panose="02010600030101010101" pitchFamily="2" charset="-122"/>
            </a:endParaRPr>
          </a:p>
        </p:txBody>
      </p:sp>
      <p:graphicFrame>
        <p:nvGraphicFramePr>
          <p:cNvPr id="48132" name="Object 4"/>
          <p:cNvGraphicFramePr/>
          <p:nvPr/>
        </p:nvGraphicFramePr>
        <p:xfrm>
          <a:off x="2243138" y="3633788"/>
          <a:ext cx="4078287" cy="1533525"/>
        </p:xfrm>
        <a:graphic>
          <a:graphicData uri="http://schemas.openxmlformats.org/presentationml/2006/ole">
            <mc:AlternateContent xmlns:mc="http://schemas.openxmlformats.org/markup-compatibility/2006">
              <mc:Choice xmlns:v="urn:schemas-microsoft-com:vml" Requires="v">
                <p:oleObj spid="_x0000_s3081" name="" r:id="rId1" imgW="2586355" imgH="1010285" progId="Equation.2">
                  <p:embed/>
                </p:oleObj>
              </mc:Choice>
              <mc:Fallback>
                <p:oleObj name="" r:id="rId1" imgW="2586355" imgH="1010285" progId="Equation.2">
                  <p:embed/>
                  <p:pic>
                    <p:nvPicPr>
                      <p:cNvPr id="0" name="图片 3080"/>
                      <p:cNvPicPr/>
                      <p:nvPr/>
                    </p:nvPicPr>
                    <p:blipFill>
                      <a:blip r:embed="rId2">
                        <a:clrChange>
                          <a:clrFrom>
                            <a:srgbClr val="000000"/>
                          </a:clrFrom>
                          <a:clrTo>
                            <a:srgbClr val="000000"/>
                          </a:clrTo>
                        </a:clrChange>
                      </a:blip>
                      <a:stretch>
                        <a:fillRect/>
                      </a:stretch>
                    </p:blipFill>
                    <p:spPr>
                      <a:xfrm>
                        <a:off x="2243138" y="3633788"/>
                        <a:ext cx="4078287" cy="1533525"/>
                      </a:xfrm>
                      <a:prstGeom prst="rect">
                        <a:avLst/>
                      </a:prstGeom>
                      <a:noFill/>
                      <a:ln w="38100">
                        <a:noFill/>
                        <a:miter/>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49155"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49156"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49157"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49158"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49159" name="Line 7"/>
          <p:cNvSpPr/>
          <p:nvPr/>
        </p:nvSpPr>
        <p:spPr>
          <a:xfrm flipV="1">
            <a:off x="4240213" y="4251325"/>
            <a:ext cx="0" cy="798513"/>
          </a:xfrm>
          <a:prstGeom prst="line">
            <a:avLst/>
          </a:prstGeom>
          <a:ln w="12700" cap="flat" cmpd="sng">
            <a:solidFill>
              <a:schemeClr val="tx1"/>
            </a:solidFill>
            <a:prstDash val="dash"/>
            <a:headEnd type="none" w="sm" len="sm"/>
            <a:tailEnd type="none" w="sm" len="sm"/>
          </a:ln>
        </p:spPr>
      </p:sp>
      <p:sp>
        <p:nvSpPr>
          <p:cNvPr id="49160" name="Rectangle 8"/>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49161" name="Rectangle 9"/>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49162" name="Rectangle 10"/>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49163" name="Rectangle 11"/>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50179"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0180"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0181"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0182"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0183" name="Line 7"/>
          <p:cNvSpPr/>
          <p:nvPr/>
        </p:nvSpPr>
        <p:spPr>
          <a:xfrm flipV="1">
            <a:off x="4240213" y="4251325"/>
            <a:ext cx="0" cy="798513"/>
          </a:xfrm>
          <a:prstGeom prst="line">
            <a:avLst/>
          </a:prstGeom>
          <a:ln w="12700" cap="flat" cmpd="sng">
            <a:solidFill>
              <a:schemeClr val="tx1"/>
            </a:solidFill>
            <a:prstDash val="dash"/>
            <a:headEnd type="none" w="sm" len="sm"/>
            <a:tailEnd type="none" w="sm" len="sm"/>
          </a:ln>
        </p:spPr>
      </p:sp>
      <p:sp>
        <p:nvSpPr>
          <p:cNvPr id="50184" name="Rectangle 8"/>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0185" name="Rectangle 9"/>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0186" name="Rectangle 10"/>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0187" name="Rectangle 11"/>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0188" name="Line 12"/>
          <p:cNvSpPr/>
          <p:nvPr/>
        </p:nvSpPr>
        <p:spPr>
          <a:xfrm flipH="1">
            <a:off x="1382713" y="4222750"/>
            <a:ext cx="2857500" cy="0"/>
          </a:xfrm>
          <a:prstGeom prst="line">
            <a:avLst/>
          </a:prstGeom>
          <a:ln w="12700" cap="flat" cmpd="sng">
            <a:solidFill>
              <a:schemeClr val="tx1"/>
            </a:solidFill>
            <a:prstDash val="dash"/>
            <a:headEnd type="none" w="sm" len="sm"/>
            <a:tailEnd type="none" w="sm" len="sm"/>
          </a:ln>
        </p:spPr>
      </p:sp>
      <p:sp>
        <p:nvSpPr>
          <p:cNvPr id="50189" name="AutoShape 13"/>
          <p:cNvSpPr/>
          <p:nvPr/>
        </p:nvSpPr>
        <p:spPr>
          <a:xfrm>
            <a:off x="2133600" y="2317750"/>
            <a:ext cx="215900" cy="1905000"/>
          </a:xfrm>
          <a:prstGeom prst="upArrow">
            <a:avLst>
              <a:gd name="adj1" fmla="val 50000"/>
              <a:gd name="adj2" fmla="val 441135"/>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50190" name="Rectangle 14"/>
          <p:cNvSpPr/>
          <p:nvPr/>
        </p:nvSpPr>
        <p:spPr>
          <a:xfrm>
            <a:off x="1479550" y="1879600"/>
            <a:ext cx="17541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 &gt; AC(y)</a:t>
            </a:r>
            <a:endParaRPr lang="en-US" altLang="zh-CN" sz="2800" dirty="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51203"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1204"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1205"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1206"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1207" name="Line 7"/>
          <p:cNvSpPr/>
          <p:nvPr/>
        </p:nvSpPr>
        <p:spPr>
          <a:xfrm flipV="1">
            <a:off x="4240213" y="4251325"/>
            <a:ext cx="0" cy="798513"/>
          </a:xfrm>
          <a:prstGeom prst="line">
            <a:avLst/>
          </a:prstGeom>
          <a:ln w="12700" cap="flat" cmpd="sng">
            <a:solidFill>
              <a:schemeClr val="tx1"/>
            </a:solidFill>
            <a:prstDash val="dash"/>
            <a:headEnd type="none" w="sm" len="sm"/>
            <a:tailEnd type="none" w="sm" len="sm"/>
          </a:ln>
        </p:spPr>
      </p:sp>
      <p:sp>
        <p:nvSpPr>
          <p:cNvPr id="51208" name="Rectangle 8"/>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1209" name="Rectangle 9"/>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1210" name="Rectangle 10"/>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1211" name="Rectangle 11"/>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1212" name="Arc 12"/>
          <p:cNvSpPr/>
          <p:nvPr/>
        </p:nvSpPr>
        <p:spPr>
          <a:xfrm>
            <a:off x="1128713" y="876300"/>
            <a:ext cx="5749925" cy="3340100"/>
          </a:xfrm>
          <a:custGeom>
            <a:avLst/>
            <a:gdLst>
              <a:gd name="txL" fmla="*/ 0 w 21203"/>
              <a:gd name="txT" fmla="*/ 0 h 18255"/>
              <a:gd name="txR" fmla="*/ 21203 w 21203"/>
              <a:gd name="txB" fmla="*/ 18255 h 18255"/>
            </a:gdLst>
            <a:ahLst/>
            <a:cxnLst>
              <a:cxn ang="0">
                <a:pos x="2147483646" y="2147483646"/>
              </a:cxn>
              <a:cxn ang="0">
                <a:pos x="2147483646" y="2147483646"/>
              </a:cxn>
              <a:cxn ang="0">
                <a:pos x="0" y="0"/>
              </a:cxn>
            </a:cxnLst>
            <a:rect l="txL" t="txT" r="txR" b="txB"/>
            <a:pathLst>
              <a:path w="21203" h="18255" fill="none">
                <a:moveTo>
                  <a:pt x="21203" y="4121"/>
                </a:moveTo>
                <a:cubicBezTo>
                  <a:pt x="20068" y="9961"/>
                  <a:pt x="16574" y="15074"/>
                  <a:pt x="11546" y="18255"/>
                </a:cubicBezTo>
              </a:path>
              <a:path w="21203" h="18255" stroke="0">
                <a:moveTo>
                  <a:pt x="21203" y="4121"/>
                </a:moveTo>
                <a:cubicBezTo>
                  <a:pt x="20068" y="9961"/>
                  <a:pt x="16574" y="15074"/>
                  <a:pt x="11546" y="18255"/>
                </a:cubicBezTo>
                <a:lnTo>
                  <a:pt x="0" y="0"/>
                </a:lnTo>
                <a:lnTo>
                  <a:pt x="21203" y="412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51213" name="Line 13"/>
          <p:cNvSpPr/>
          <p:nvPr/>
        </p:nvSpPr>
        <p:spPr>
          <a:xfrm flipH="1">
            <a:off x="1382713" y="4222750"/>
            <a:ext cx="2857500" cy="0"/>
          </a:xfrm>
          <a:prstGeom prst="line">
            <a:avLst/>
          </a:prstGeom>
          <a:ln w="12700" cap="flat" cmpd="sng">
            <a:solidFill>
              <a:schemeClr val="tx1"/>
            </a:solidFill>
            <a:prstDash val="dash"/>
            <a:headEnd type="none" w="sm" len="sm"/>
            <a:tailEnd type="none" w="sm" len="sm"/>
          </a:ln>
        </p:spPr>
      </p:sp>
      <p:sp>
        <p:nvSpPr>
          <p:cNvPr id="51214" name="AutoShape 14"/>
          <p:cNvSpPr/>
          <p:nvPr/>
        </p:nvSpPr>
        <p:spPr>
          <a:xfrm>
            <a:off x="2133600" y="2317750"/>
            <a:ext cx="215900" cy="1905000"/>
          </a:xfrm>
          <a:prstGeom prst="upArrow">
            <a:avLst>
              <a:gd name="adj1" fmla="val 50000"/>
              <a:gd name="adj2" fmla="val 441135"/>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51215" name="Rectangle 15"/>
          <p:cNvSpPr/>
          <p:nvPr/>
        </p:nvSpPr>
        <p:spPr>
          <a:xfrm>
            <a:off x="1479550" y="1879600"/>
            <a:ext cx="17541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 &gt; AC(y)</a:t>
            </a:r>
            <a:endParaRPr lang="en-US" altLang="zh-CN" sz="2800" dirty="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52227"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2228"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2229"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2230"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2231" name="Rectangle 7"/>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2232" name="Rectangle 8"/>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2233" name="Rectangle 9"/>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2234" name="Rectangle 10"/>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2235" name="Arc 11"/>
          <p:cNvSpPr/>
          <p:nvPr/>
        </p:nvSpPr>
        <p:spPr>
          <a:xfrm>
            <a:off x="1128713" y="876300"/>
            <a:ext cx="5749925" cy="3340100"/>
          </a:xfrm>
          <a:custGeom>
            <a:avLst/>
            <a:gdLst>
              <a:gd name="txL" fmla="*/ 0 w 21203"/>
              <a:gd name="txT" fmla="*/ 0 h 18255"/>
              <a:gd name="txR" fmla="*/ 21203 w 21203"/>
              <a:gd name="txB" fmla="*/ 18255 h 18255"/>
            </a:gdLst>
            <a:ahLst/>
            <a:cxnLst>
              <a:cxn ang="0">
                <a:pos x="2147483646" y="2147483646"/>
              </a:cxn>
              <a:cxn ang="0">
                <a:pos x="2147483646" y="2147483646"/>
              </a:cxn>
              <a:cxn ang="0">
                <a:pos x="0" y="0"/>
              </a:cxn>
            </a:cxnLst>
            <a:rect l="txL" t="txT" r="txR" b="txB"/>
            <a:pathLst>
              <a:path w="21203" h="18255" fill="none">
                <a:moveTo>
                  <a:pt x="21203" y="4121"/>
                </a:moveTo>
                <a:cubicBezTo>
                  <a:pt x="20068" y="9961"/>
                  <a:pt x="16574" y="15074"/>
                  <a:pt x="11546" y="18255"/>
                </a:cubicBezTo>
              </a:path>
              <a:path w="21203" h="18255" stroke="0">
                <a:moveTo>
                  <a:pt x="21203" y="4121"/>
                </a:moveTo>
                <a:cubicBezTo>
                  <a:pt x="20068" y="9961"/>
                  <a:pt x="16574" y="15074"/>
                  <a:pt x="11546" y="18255"/>
                </a:cubicBezTo>
                <a:lnTo>
                  <a:pt x="0" y="0"/>
                </a:lnTo>
                <a:lnTo>
                  <a:pt x="21203" y="4121"/>
                </a:lnTo>
                <a:close/>
              </a:path>
            </a:pathLst>
          </a:custGeom>
          <a:noFill/>
          <a:ln w="57150" cap="rnd" cmpd="sng">
            <a:solidFill>
              <a:schemeClr val="tx2">
                <a:alpha val="100000"/>
              </a:schemeClr>
            </a:solidFill>
            <a:prstDash val="solid"/>
            <a:round/>
            <a:headEnd type="none" w="sm" len="sm"/>
            <a:tailEnd type="none" w="sm" len="sm"/>
          </a:ln>
        </p:spPr>
        <p:txBody>
          <a:bodyPr/>
          <a:p>
            <a:endParaRPr lang="zh-CN" altLang="en-US"/>
          </a:p>
        </p:txBody>
      </p:sp>
      <p:sp>
        <p:nvSpPr>
          <p:cNvPr id="52236" name="Rectangle 12"/>
          <p:cNvSpPr/>
          <p:nvPr/>
        </p:nvSpPr>
        <p:spPr>
          <a:xfrm>
            <a:off x="1836738" y="1681163"/>
            <a:ext cx="3424237" cy="94615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tx2"/>
                </a:solidFill>
                <a:ea typeface="宋体" panose="02010600030101010101" pitchFamily="2" charset="-122"/>
              </a:rPr>
              <a:t>The firm’s long-run</a:t>
            </a:r>
            <a:br>
              <a:rPr lang="en-US" altLang="zh-CN" sz="2800" dirty="0">
                <a:solidFill>
                  <a:schemeClr val="tx2"/>
                </a:solidFill>
                <a:ea typeface="宋体" panose="02010600030101010101" pitchFamily="2" charset="-122"/>
              </a:rPr>
            </a:br>
            <a:r>
              <a:rPr lang="en-US" altLang="zh-CN" sz="2800" dirty="0">
                <a:solidFill>
                  <a:schemeClr val="tx2"/>
                </a:solidFill>
                <a:ea typeface="宋体" panose="02010600030101010101" pitchFamily="2" charset="-122"/>
              </a:rPr>
              <a:t>supply curve</a:t>
            </a:r>
            <a:endParaRPr lang="en-US" altLang="zh-CN" sz="2800" dirty="0">
              <a:solidFill>
                <a:schemeClr val="tx2"/>
              </a:solidFill>
              <a:ea typeface="宋体" panose="02010600030101010101" pitchFamily="2" charset="-122"/>
            </a:endParaRPr>
          </a:p>
        </p:txBody>
      </p:sp>
      <p:sp>
        <p:nvSpPr>
          <p:cNvPr id="52237" name="Line 13"/>
          <p:cNvSpPr/>
          <p:nvPr/>
        </p:nvSpPr>
        <p:spPr>
          <a:xfrm>
            <a:off x="4333875" y="2309813"/>
            <a:ext cx="1381125" cy="857250"/>
          </a:xfrm>
          <a:prstGeom prst="line">
            <a:avLst/>
          </a:prstGeom>
          <a:ln w="12700" cap="flat" cmpd="sng">
            <a:solidFill>
              <a:schemeClr val="tx1"/>
            </a:solidFill>
            <a:prstDash val="solid"/>
            <a:headEnd type="none" w="sm" len="sm"/>
            <a:tailEnd type="stealth" w="med" len="lg"/>
          </a:ln>
        </p:spPr>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Long-Run Supply Decision</a:t>
            </a:r>
            <a:endParaRPr lang="en-US" altLang="zh-CN" dirty="0">
              <a:ea typeface="宋体" panose="02010600030101010101" pitchFamily="2" charset="-122"/>
            </a:endParaRPr>
          </a:p>
        </p:txBody>
      </p:sp>
      <p:sp>
        <p:nvSpPr>
          <p:cNvPr id="53251"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How is the firm’s long-run supply curve related to all of its short-run supply curves?</a:t>
            </a:r>
            <a:endParaRPr lang="en-US" altLang="zh-CN" dirty="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54275"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4276"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4277"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4278"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4279" name="Arc 7"/>
          <p:cNvSpPr/>
          <p:nvPr/>
        </p:nvSpPr>
        <p:spPr>
          <a:xfrm rot="10800000">
            <a:off x="1771650" y="1479550"/>
            <a:ext cx="2078038" cy="2547938"/>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54280" name="Arc 8"/>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54281"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4282"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4283"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4284"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4285" name="Rectangle 13"/>
          <p:cNvSpPr/>
          <p:nvPr/>
        </p:nvSpPr>
        <p:spPr>
          <a:xfrm>
            <a:off x="3455988" y="1395413"/>
            <a:ext cx="12700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AC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4286" name="Rectangle 14"/>
          <p:cNvSpPr/>
          <p:nvPr/>
        </p:nvSpPr>
        <p:spPr>
          <a:xfrm>
            <a:off x="2241550" y="2705100"/>
            <a:ext cx="13096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MC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55299"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5300"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5301"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5302"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5303" name="Arc 7"/>
          <p:cNvSpPr/>
          <p:nvPr/>
        </p:nvSpPr>
        <p:spPr>
          <a:xfrm rot="10800000">
            <a:off x="1771650" y="1479550"/>
            <a:ext cx="2078038" cy="2547938"/>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55304" name="Arc 8"/>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55305"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5306"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5307"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5308"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5309" name="Rectangle 13"/>
          <p:cNvSpPr/>
          <p:nvPr/>
        </p:nvSpPr>
        <p:spPr>
          <a:xfrm>
            <a:off x="3455988" y="1395413"/>
            <a:ext cx="12700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AC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5310" name="Rectangle 14"/>
          <p:cNvSpPr/>
          <p:nvPr/>
        </p:nvSpPr>
        <p:spPr>
          <a:xfrm>
            <a:off x="2241550" y="2705100"/>
            <a:ext cx="13096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MC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5311" name="Line 15"/>
          <p:cNvSpPr/>
          <p:nvPr/>
        </p:nvSpPr>
        <p:spPr>
          <a:xfrm>
            <a:off x="1381125" y="3548063"/>
            <a:ext cx="4024313" cy="0"/>
          </a:xfrm>
          <a:prstGeom prst="line">
            <a:avLst/>
          </a:prstGeom>
          <a:ln w="25400" cap="flat" cmpd="sng">
            <a:solidFill>
              <a:schemeClr val="tx1"/>
            </a:solidFill>
            <a:prstDash val="solid"/>
            <a:headEnd type="none" w="sm" len="sm"/>
            <a:tailEnd type="none" w="sm" len="sm"/>
          </a:ln>
        </p:spPr>
      </p:sp>
      <p:sp>
        <p:nvSpPr>
          <p:cNvPr id="55312" name="Line 16"/>
          <p:cNvSpPr/>
          <p:nvPr/>
        </p:nvSpPr>
        <p:spPr>
          <a:xfrm>
            <a:off x="5429250" y="3548063"/>
            <a:ext cx="0" cy="1476375"/>
          </a:xfrm>
          <a:prstGeom prst="line">
            <a:avLst/>
          </a:prstGeom>
          <a:ln w="12700" cap="flat" cmpd="sng">
            <a:solidFill>
              <a:schemeClr val="tx1"/>
            </a:solidFill>
            <a:prstDash val="dash"/>
            <a:headEnd type="none" w="sm" len="sm"/>
            <a:tailEnd type="none" w="sm" len="sm"/>
          </a:ln>
        </p:spPr>
      </p:sp>
      <p:sp>
        <p:nvSpPr>
          <p:cNvPr id="55313" name="Line 17"/>
          <p:cNvSpPr/>
          <p:nvPr/>
        </p:nvSpPr>
        <p:spPr>
          <a:xfrm>
            <a:off x="2905125" y="3571875"/>
            <a:ext cx="0" cy="1476375"/>
          </a:xfrm>
          <a:prstGeom prst="line">
            <a:avLst/>
          </a:prstGeom>
          <a:ln w="12700" cap="flat" cmpd="sng">
            <a:solidFill>
              <a:schemeClr val="tx1"/>
            </a:solidFill>
            <a:prstDash val="dash"/>
            <a:headEnd type="none" w="sm" len="sm"/>
            <a:tailEnd type="none" w="sm" len="sm"/>
          </a:ln>
        </p:spPr>
      </p:sp>
      <p:sp>
        <p:nvSpPr>
          <p:cNvPr id="55314" name="Rectangle 18"/>
          <p:cNvSpPr/>
          <p:nvPr/>
        </p:nvSpPr>
        <p:spPr>
          <a:xfrm>
            <a:off x="887413" y="3278188"/>
            <a:ext cx="500062"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55315" name="Rectangle 19"/>
          <p:cNvSpPr/>
          <p:nvPr/>
        </p:nvSpPr>
        <p:spPr>
          <a:xfrm>
            <a:off x="2646363" y="5133975"/>
            <a:ext cx="65563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55316" name="Rectangle 20"/>
          <p:cNvSpPr/>
          <p:nvPr/>
        </p:nvSpPr>
        <p:spPr>
          <a:xfrm>
            <a:off x="5194300" y="5133975"/>
            <a:ext cx="520700"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5317" name="Rectangle 21"/>
          <p:cNvSpPr/>
          <p:nvPr/>
        </p:nvSpPr>
        <p:spPr>
          <a:xfrm>
            <a:off x="598488" y="5613400"/>
            <a:ext cx="79978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is profit-maximizing in this short-run.</a:t>
            </a:r>
            <a:endParaRPr lang="en-US" altLang="zh-CN" dirty="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56323"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6324"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6325"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6326"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6327" name="Arc 7"/>
          <p:cNvSpPr/>
          <p:nvPr/>
        </p:nvSpPr>
        <p:spPr>
          <a:xfrm rot="10800000">
            <a:off x="1771650" y="1479550"/>
            <a:ext cx="2078038" cy="2547938"/>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56328" name="Arc 8"/>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56329"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6330"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6331"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6332"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6333" name="Rectangle 13"/>
          <p:cNvSpPr/>
          <p:nvPr/>
        </p:nvSpPr>
        <p:spPr>
          <a:xfrm>
            <a:off x="3455988" y="1395413"/>
            <a:ext cx="12700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AC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6334" name="Rectangle 14"/>
          <p:cNvSpPr/>
          <p:nvPr/>
        </p:nvSpPr>
        <p:spPr>
          <a:xfrm>
            <a:off x="2241550" y="2705100"/>
            <a:ext cx="13096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MC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6335" name="Line 15"/>
          <p:cNvSpPr/>
          <p:nvPr/>
        </p:nvSpPr>
        <p:spPr>
          <a:xfrm>
            <a:off x="1381125" y="3548063"/>
            <a:ext cx="4024313" cy="0"/>
          </a:xfrm>
          <a:prstGeom prst="line">
            <a:avLst/>
          </a:prstGeom>
          <a:ln w="25400" cap="flat" cmpd="sng">
            <a:solidFill>
              <a:schemeClr val="tx1"/>
            </a:solidFill>
            <a:prstDash val="solid"/>
            <a:headEnd type="none" w="sm" len="sm"/>
            <a:tailEnd type="none" w="sm" len="sm"/>
          </a:ln>
        </p:spPr>
      </p:sp>
      <p:sp>
        <p:nvSpPr>
          <p:cNvPr id="56336" name="Line 16"/>
          <p:cNvSpPr/>
          <p:nvPr/>
        </p:nvSpPr>
        <p:spPr>
          <a:xfrm>
            <a:off x="5429250" y="3548063"/>
            <a:ext cx="0" cy="1476375"/>
          </a:xfrm>
          <a:prstGeom prst="line">
            <a:avLst/>
          </a:prstGeom>
          <a:ln w="12700" cap="flat" cmpd="sng">
            <a:solidFill>
              <a:schemeClr val="tx1"/>
            </a:solidFill>
            <a:prstDash val="dash"/>
            <a:headEnd type="none" w="sm" len="sm"/>
            <a:tailEnd type="none" w="sm" len="sm"/>
          </a:ln>
        </p:spPr>
      </p:sp>
      <p:sp>
        <p:nvSpPr>
          <p:cNvPr id="56337" name="Line 17"/>
          <p:cNvSpPr/>
          <p:nvPr/>
        </p:nvSpPr>
        <p:spPr>
          <a:xfrm>
            <a:off x="2905125" y="3571875"/>
            <a:ext cx="0" cy="1476375"/>
          </a:xfrm>
          <a:prstGeom prst="line">
            <a:avLst/>
          </a:prstGeom>
          <a:ln w="12700" cap="flat" cmpd="sng">
            <a:solidFill>
              <a:schemeClr val="tx1"/>
            </a:solidFill>
            <a:prstDash val="dash"/>
            <a:headEnd type="none" w="sm" len="sm"/>
            <a:tailEnd type="none" w="sm" len="sm"/>
          </a:ln>
        </p:spPr>
      </p:sp>
      <p:sp>
        <p:nvSpPr>
          <p:cNvPr id="56338" name="Rectangle 18"/>
          <p:cNvSpPr/>
          <p:nvPr/>
        </p:nvSpPr>
        <p:spPr>
          <a:xfrm>
            <a:off x="887413" y="3278188"/>
            <a:ext cx="500062"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56339" name="Rectangle 19"/>
          <p:cNvSpPr/>
          <p:nvPr/>
        </p:nvSpPr>
        <p:spPr>
          <a:xfrm>
            <a:off x="2646363" y="5133975"/>
            <a:ext cx="65563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56340" name="Rectangle 20"/>
          <p:cNvSpPr/>
          <p:nvPr/>
        </p:nvSpPr>
        <p:spPr>
          <a:xfrm>
            <a:off x="5194300" y="5133975"/>
            <a:ext cx="520700"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6341" name="Rectangle 21"/>
          <p:cNvSpPr/>
          <p:nvPr/>
        </p:nvSpPr>
        <p:spPr>
          <a:xfrm>
            <a:off x="598488" y="5613400"/>
            <a:ext cx="79978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is profit-maximizing in this short-run.</a:t>
            </a:r>
            <a:endParaRPr lang="en-US" altLang="zh-CN" dirty="0">
              <a:ea typeface="宋体" panose="02010600030101010101" pitchFamily="2" charset="-122"/>
            </a:endParaRPr>
          </a:p>
        </p:txBody>
      </p:sp>
      <p:sp>
        <p:nvSpPr>
          <p:cNvPr id="56342" name="Rectangle 22"/>
          <p:cNvSpPr/>
          <p:nvPr/>
        </p:nvSpPr>
        <p:spPr>
          <a:xfrm>
            <a:off x="1384300" y="3543300"/>
            <a:ext cx="1524000" cy="419100"/>
          </a:xfrm>
          <a:prstGeom prst="rect">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56343" name="Rectangle 23"/>
          <p:cNvSpPr/>
          <p:nvPr/>
        </p:nvSpPr>
        <p:spPr>
          <a:xfrm>
            <a:off x="1698625" y="3449638"/>
            <a:ext cx="64452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latin typeface="Symbol" panose="05050102010706020507" pitchFamily="18" charset="2"/>
                <a:ea typeface="宋体" panose="02010600030101010101" pitchFamily="2" charset="-122"/>
              </a:rPr>
              <a:t>P</a:t>
            </a:r>
            <a:r>
              <a:rPr lang="en-US" altLang="zh-CN" baseline="-25000" dirty="0">
                <a:ea typeface="宋体" panose="02010600030101010101" pitchFamily="2" charset="-122"/>
              </a:rPr>
              <a:t>s</a:t>
            </a:r>
            <a:endParaRPr lang="en-US" altLang="zh-CN" baseline="-25000" dirty="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57347"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7348"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7349"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7350"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7351" name="Arc 7"/>
          <p:cNvSpPr/>
          <p:nvPr/>
        </p:nvSpPr>
        <p:spPr>
          <a:xfrm rot="10800000">
            <a:off x="1771650" y="1479550"/>
            <a:ext cx="2078038" cy="2547938"/>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57352" name="Arc 8"/>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57353"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7354"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7355"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7356"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7357" name="Rectangle 13"/>
          <p:cNvSpPr/>
          <p:nvPr/>
        </p:nvSpPr>
        <p:spPr>
          <a:xfrm>
            <a:off x="3455988" y="1395413"/>
            <a:ext cx="12700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AC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7358" name="Rectangle 14"/>
          <p:cNvSpPr/>
          <p:nvPr/>
        </p:nvSpPr>
        <p:spPr>
          <a:xfrm>
            <a:off x="2241550" y="2705100"/>
            <a:ext cx="13096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MC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7359" name="Line 15"/>
          <p:cNvSpPr/>
          <p:nvPr/>
        </p:nvSpPr>
        <p:spPr>
          <a:xfrm>
            <a:off x="1381125" y="3548063"/>
            <a:ext cx="4024313" cy="0"/>
          </a:xfrm>
          <a:prstGeom prst="line">
            <a:avLst/>
          </a:prstGeom>
          <a:ln w="25400" cap="flat" cmpd="sng">
            <a:solidFill>
              <a:schemeClr val="tx1"/>
            </a:solidFill>
            <a:prstDash val="solid"/>
            <a:headEnd type="none" w="sm" len="sm"/>
            <a:tailEnd type="none" w="sm" len="sm"/>
          </a:ln>
        </p:spPr>
      </p:sp>
      <p:sp>
        <p:nvSpPr>
          <p:cNvPr id="57360" name="Line 16"/>
          <p:cNvSpPr/>
          <p:nvPr/>
        </p:nvSpPr>
        <p:spPr>
          <a:xfrm>
            <a:off x="5429250" y="3548063"/>
            <a:ext cx="0" cy="1476375"/>
          </a:xfrm>
          <a:prstGeom prst="line">
            <a:avLst/>
          </a:prstGeom>
          <a:ln w="12700" cap="flat" cmpd="sng">
            <a:solidFill>
              <a:schemeClr val="tx1"/>
            </a:solidFill>
            <a:prstDash val="dash"/>
            <a:headEnd type="none" w="sm" len="sm"/>
            <a:tailEnd type="none" w="sm" len="sm"/>
          </a:ln>
        </p:spPr>
      </p:sp>
      <p:sp>
        <p:nvSpPr>
          <p:cNvPr id="57361" name="Line 17"/>
          <p:cNvSpPr/>
          <p:nvPr/>
        </p:nvSpPr>
        <p:spPr>
          <a:xfrm>
            <a:off x="2905125" y="3571875"/>
            <a:ext cx="0" cy="1476375"/>
          </a:xfrm>
          <a:prstGeom prst="line">
            <a:avLst/>
          </a:prstGeom>
          <a:ln w="12700" cap="flat" cmpd="sng">
            <a:solidFill>
              <a:schemeClr val="tx1"/>
            </a:solidFill>
            <a:prstDash val="dash"/>
            <a:headEnd type="none" w="sm" len="sm"/>
            <a:tailEnd type="none" w="sm" len="sm"/>
          </a:ln>
        </p:spPr>
      </p:sp>
      <p:sp>
        <p:nvSpPr>
          <p:cNvPr id="57362" name="Rectangle 18"/>
          <p:cNvSpPr/>
          <p:nvPr/>
        </p:nvSpPr>
        <p:spPr>
          <a:xfrm>
            <a:off x="887413" y="3278188"/>
            <a:ext cx="500062"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57363" name="Rectangle 19"/>
          <p:cNvSpPr/>
          <p:nvPr/>
        </p:nvSpPr>
        <p:spPr>
          <a:xfrm>
            <a:off x="2646363" y="5133975"/>
            <a:ext cx="65563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57364" name="Rectangle 20"/>
          <p:cNvSpPr/>
          <p:nvPr/>
        </p:nvSpPr>
        <p:spPr>
          <a:xfrm>
            <a:off x="5194300" y="5133975"/>
            <a:ext cx="520700"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7365" name="Rectangle 21"/>
          <p:cNvSpPr/>
          <p:nvPr/>
        </p:nvSpPr>
        <p:spPr>
          <a:xfrm>
            <a:off x="431800" y="5613400"/>
            <a:ext cx="8247063"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The firm can increase profit by increasing</a:t>
            </a:r>
            <a:br>
              <a:rPr lang="en-US" altLang="zh-CN" dirty="0">
                <a:ea typeface="宋体" panose="02010600030101010101" pitchFamily="2" charset="-122"/>
              </a:rPr>
            </a:br>
            <a:r>
              <a:rPr lang="en-US" altLang="zh-CN" dirty="0">
                <a:ea typeface="宋体" panose="02010600030101010101" pitchFamily="2" charset="-122"/>
              </a:rPr>
              <a:t>x</a:t>
            </a:r>
            <a:r>
              <a:rPr lang="en-US" altLang="zh-CN" baseline="-25000" dirty="0">
                <a:ea typeface="宋体" panose="02010600030101010101" pitchFamily="2" charset="-122"/>
              </a:rPr>
              <a:t>2</a:t>
            </a:r>
            <a:r>
              <a:rPr lang="en-US" altLang="zh-CN" dirty="0">
                <a:ea typeface="宋体" panose="02010600030101010101" pitchFamily="2" charset="-122"/>
              </a:rPr>
              <a:t> and producing y* output units.</a:t>
            </a:r>
            <a:endParaRPr lang="en-US" altLang="zh-CN" dirty="0">
              <a:ea typeface="宋体" panose="02010600030101010101" pitchFamily="2" charset="-122"/>
            </a:endParaRPr>
          </a:p>
        </p:txBody>
      </p:sp>
      <p:sp>
        <p:nvSpPr>
          <p:cNvPr id="57366" name="Rectangle 22"/>
          <p:cNvSpPr/>
          <p:nvPr/>
        </p:nvSpPr>
        <p:spPr>
          <a:xfrm>
            <a:off x="1384300" y="3543300"/>
            <a:ext cx="1524000" cy="419100"/>
          </a:xfrm>
          <a:prstGeom prst="rect">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57367" name="Rectangle 23"/>
          <p:cNvSpPr/>
          <p:nvPr/>
        </p:nvSpPr>
        <p:spPr>
          <a:xfrm>
            <a:off x="1698625" y="3449638"/>
            <a:ext cx="64452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latin typeface="Symbol" panose="05050102010706020507" pitchFamily="18" charset="2"/>
                <a:ea typeface="宋体" panose="02010600030101010101" pitchFamily="2" charset="-122"/>
              </a:rPr>
              <a:t>P</a:t>
            </a:r>
            <a:r>
              <a:rPr lang="en-US" altLang="zh-CN" baseline="-25000" dirty="0">
                <a:ea typeface="宋体" panose="02010600030101010101" pitchFamily="2" charset="-122"/>
              </a:rPr>
              <a:t>s</a:t>
            </a:r>
            <a:endParaRPr lang="en-US" altLang="zh-CN" baseline="-25000" dirty="0">
              <a:ea typeface="宋体" panose="02010600030101010101" pitchFamily="2" charset="-122"/>
            </a:endParaRPr>
          </a:p>
        </p:txBody>
      </p:sp>
      <p:sp>
        <p:nvSpPr>
          <p:cNvPr id="57368" name="Rectangle 24"/>
          <p:cNvSpPr/>
          <p:nvPr/>
        </p:nvSpPr>
        <p:spPr>
          <a:xfrm>
            <a:off x="1390650" y="3536950"/>
            <a:ext cx="4038600" cy="571500"/>
          </a:xfrm>
          <a:prstGeom prst="rect">
            <a:avLst/>
          </a:prstGeom>
          <a:solidFill>
            <a:srgbClr val="0099FF">
              <a:alpha val="50195"/>
            </a:srgbClr>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57369" name="Rectangle 25"/>
          <p:cNvSpPr/>
          <p:nvPr/>
        </p:nvSpPr>
        <p:spPr>
          <a:xfrm>
            <a:off x="3514725" y="3476625"/>
            <a:ext cx="614363" cy="7620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4400" dirty="0">
                <a:latin typeface="Symbol" panose="05050102010706020507" pitchFamily="18" charset="2"/>
                <a:ea typeface="宋体" panose="02010600030101010101" pitchFamily="2" charset="-122"/>
              </a:rPr>
              <a:t>P</a:t>
            </a:r>
            <a:endParaRPr lang="en-US" altLang="zh-CN" sz="4400" dirty="0">
              <a:latin typeface="Symbol" panose="05050102010706020507" pitchFamily="18" charset="2"/>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58371"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8372"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8373"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8374"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8375" name="Arc 7"/>
          <p:cNvSpPr/>
          <p:nvPr/>
        </p:nvSpPr>
        <p:spPr>
          <a:xfrm rot="10800000">
            <a:off x="1771650" y="1479550"/>
            <a:ext cx="2078038" cy="2547938"/>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58376" name="Arc 8"/>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58377"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8378"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8379"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8380"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8381" name="Rectangle 13"/>
          <p:cNvSpPr/>
          <p:nvPr/>
        </p:nvSpPr>
        <p:spPr>
          <a:xfrm>
            <a:off x="3455988" y="1395413"/>
            <a:ext cx="12700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AC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8382" name="Rectangle 14"/>
          <p:cNvSpPr/>
          <p:nvPr/>
        </p:nvSpPr>
        <p:spPr>
          <a:xfrm>
            <a:off x="2241550" y="2705100"/>
            <a:ext cx="13096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MC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8383" name="Line 15"/>
          <p:cNvSpPr/>
          <p:nvPr/>
        </p:nvSpPr>
        <p:spPr>
          <a:xfrm>
            <a:off x="1381125" y="4391025"/>
            <a:ext cx="3927475" cy="0"/>
          </a:xfrm>
          <a:prstGeom prst="line">
            <a:avLst/>
          </a:prstGeom>
          <a:ln w="25400" cap="flat" cmpd="sng">
            <a:solidFill>
              <a:schemeClr val="tx1"/>
            </a:solidFill>
            <a:prstDash val="solid"/>
            <a:headEnd type="none" w="sm" len="sm"/>
            <a:tailEnd type="none" w="sm" len="sm"/>
          </a:ln>
        </p:spPr>
      </p:sp>
      <p:sp>
        <p:nvSpPr>
          <p:cNvPr id="58384" name="Line 16"/>
          <p:cNvSpPr/>
          <p:nvPr/>
        </p:nvSpPr>
        <p:spPr>
          <a:xfrm>
            <a:off x="2733675" y="4381500"/>
            <a:ext cx="0" cy="666750"/>
          </a:xfrm>
          <a:prstGeom prst="line">
            <a:avLst/>
          </a:prstGeom>
          <a:ln w="12700" cap="flat" cmpd="sng">
            <a:solidFill>
              <a:schemeClr val="tx1"/>
            </a:solidFill>
            <a:prstDash val="dash"/>
            <a:headEnd type="none" w="sm" len="sm"/>
            <a:tailEnd type="none" w="sm" len="sm"/>
          </a:ln>
        </p:spPr>
      </p:sp>
      <p:sp>
        <p:nvSpPr>
          <p:cNvPr id="58385" name="Rectangle 17"/>
          <p:cNvSpPr/>
          <p:nvPr/>
        </p:nvSpPr>
        <p:spPr>
          <a:xfrm>
            <a:off x="830263" y="4106863"/>
            <a:ext cx="579437"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58386" name="Rectangle 18"/>
          <p:cNvSpPr/>
          <p:nvPr/>
        </p:nvSpPr>
        <p:spPr>
          <a:xfrm>
            <a:off x="2646363" y="5133975"/>
            <a:ext cx="65563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58387" name="Rectangle 19"/>
          <p:cNvSpPr/>
          <p:nvPr/>
        </p:nvSpPr>
        <p:spPr>
          <a:xfrm>
            <a:off x="598488" y="5613400"/>
            <a:ext cx="768191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is loss-minimizing in this short-run.</a:t>
            </a:r>
            <a:endParaRPr lang="en-US" altLang="zh-CN" dirty="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59395"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59396"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59397"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59398"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59399" name="Arc 7"/>
          <p:cNvSpPr/>
          <p:nvPr/>
        </p:nvSpPr>
        <p:spPr>
          <a:xfrm rot="10800000">
            <a:off x="1771650" y="1479550"/>
            <a:ext cx="2078038" cy="2547938"/>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59400" name="Arc 8"/>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59401"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59402"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59403"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59404"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59405" name="Rectangle 13"/>
          <p:cNvSpPr/>
          <p:nvPr/>
        </p:nvSpPr>
        <p:spPr>
          <a:xfrm>
            <a:off x="3455988" y="1395413"/>
            <a:ext cx="12700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AC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9406" name="Rectangle 14"/>
          <p:cNvSpPr/>
          <p:nvPr/>
        </p:nvSpPr>
        <p:spPr>
          <a:xfrm>
            <a:off x="2241550" y="2705100"/>
            <a:ext cx="13096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MC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59407" name="Line 15"/>
          <p:cNvSpPr/>
          <p:nvPr/>
        </p:nvSpPr>
        <p:spPr>
          <a:xfrm>
            <a:off x="1381125" y="4391025"/>
            <a:ext cx="3927475" cy="0"/>
          </a:xfrm>
          <a:prstGeom prst="line">
            <a:avLst/>
          </a:prstGeom>
          <a:ln w="25400" cap="flat" cmpd="sng">
            <a:solidFill>
              <a:schemeClr val="tx1"/>
            </a:solidFill>
            <a:prstDash val="solid"/>
            <a:headEnd type="none" w="sm" len="sm"/>
            <a:tailEnd type="none" w="sm" len="sm"/>
          </a:ln>
        </p:spPr>
      </p:sp>
      <p:sp>
        <p:nvSpPr>
          <p:cNvPr id="59408" name="Line 16"/>
          <p:cNvSpPr/>
          <p:nvPr/>
        </p:nvSpPr>
        <p:spPr>
          <a:xfrm>
            <a:off x="2733675" y="3987800"/>
            <a:ext cx="0" cy="1060450"/>
          </a:xfrm>
          <a:prstGeom prst="line">
            <a:avLst/>
          </a:prstGeom>
          <a:ln w="12700" cap="flat" cmpd="sng">
            <a:solidFill>
              <a:schemeClr val="tx1"/>
            </a:solidFill>
            <a:prstDash val="dash"/>
            <a:headEnd type="none" w="sm" len="sm"/>
            <a:tailEnd type="none" w="sm" len="sm"/>
          </a:ln>
        </p:spPr>
      </p:sp>
      <p:sp>
        <p:nvSpPr>
          <p:cNvPr id="59409" name="Rectangle 17"/>
          <p:cNvSpPr/>
          <p:nvPr/>
        </p:nvSpPr>
        <p:spPr>
          <a:xfrm>
            <a:off x="830263" y="4106863"/>
            <a:ext cx="579437"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59410" name="Rectangle 18"/>
          <p:cNvSpPr/>
          <p:nvPr/>
        </p:nvSpPr>
        <p:spPr>
          <a:xfrm>
            <a:off x="2646363" y="5133975"/>
            <a:ext cx="65563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59411" name="Rectangle 19"/>
          <p:cNvSpPr/>
          <p:nvPr/>
        </p:nvSpPr>
        <p:spPr>
          <a:xfrm>
            <a:off x="598488" y="5613400"/>
            <a:ext cx="768191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is loss-minimizing in this short-run.</a:t>
            </a:r>
            <a:endParaRPr lang="en-US" altLang="zh-CN" dirty="0">
              <a:ea typeface="宋体" panose="02010600030101010101" pitchFamily="2" charset="-122"/>
            </a:endParaRPr>
          </a:p>
        </p:txBody>
      </p:sp>
      <p:sp>
        <p:nvSpPr>
          <p:cNvPr id="59412" name="Rectangle 20"/>
          <p:cNvSpPr/>
          <p:nvPr/>
        </p:nvSpPr>
        <p:spPr>
          <a:xfrm>
            <a:off x="1390650" y="3994150"/>
            <a:ext cx="1333500" cy="368300"/>
          </a:xfrm>
          <a:prstGeom prst="rect">
            <a:avLst/>
          </a:prstGeom>
          <a:solidFill>
            <a:srgbClr val="FF3300"/>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59413" name="Rectangle 21"/>
          <p:cNvSpPr/>
          <p:nvPr/>
        </p:nvSpPr>
        <p:spPr>
          <a:xfrm>
            <a:off x="1495425" y="3919538"/>
            <a:ext cx="11334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Loss</a:t>
            </a:r>
            <a:endParaRPr lang="en-US" altLang="zh-CN" dirty="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0419"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0420"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0421"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0422"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0423" name="Arc 7"/>
          <p:cNvSpPr/>
          <p:nvPr/>
        </p:nvSpPr>
        <p:spPr>
          <a:xfrm rot="10800000">
            <a:off x="1771650" y="1479550"/>
            <a:ext cx="2078038" cy="2547938"/>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60424" name="Arc 8"/>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60425"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0426"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0427"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0428"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60429" name="Rectangle 13"/>
          <p:cNvSpPr/>
          <p:nvPr/>
        </p:nvSpPr>
        <p:spPr>
          <a:xfrm>
            <a:off x="3455988" y="1395413"/>
            <a:ext cx="12700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AC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60430" name="Rectangle 14"/>
          <p:cNvSpPr/>
          <p:nvPr/>
        </p:nvSpPr>
        <p:spPr>
          <a:xfrm>
            <a:off x="2241550" y="2705100"/>
            <a:ext cx="13096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accent1"/>
                </a:solidFill>
                <a:ea typeface="宋体" panose="02010600030101010101" pitchFamily="2" charset="-122"/>
              </a:rPr>
              <a:t>MC</a:t>
            </a:r>
            <a:r>
              <a:rPr lang="en-US" altLang="zh-CN" sz="2800" baseline="-25000" dirty="0">
                <a:solidFill>
                  <a:schemeClr val="accent1"/>
                </a:solidFill>
                <a:ea typeface="宋体" panose="02010600030101010101" pitchFamily="2" charset="-122"/>
              </a:rPr>
              <a:t>s</a:t>
            </a:r>
            <a:r>
              <a:rPr lang="en-US" altLang="zh-CN" sz="2800" dirty="0">
                <a:solidFill>
                  <a:schemeClr val="accent1"/>
                </a:solidFill>
                <a:ea typeface="宋体" panose="02010600030101010101" pitchFamily="2" charset="-122"/>
              </a:rPr>
              <a:t>(y)</a:t>
            </a:r>
            <a:endParaRPr lang="en-US" altLang="zh-CN" sz="2800" dirty="0">
              <a:solidFill>
                <a:schemeClr val="accent1"/>
              </a:solidFill>
              <a:ea typeface="宋体" panose="02010600030101010101" pitchFamily="2" charset="-122"/>
            </a:endParaRPr>
          </a:p>
        </p:txBody>
      </p:sp>
      <p:sp>
        <p:nvSpPr>
          <p:cNvPr id="60431" name="Line 15"/>
          <p:cNvSpPr/>
          <p:nvPr/>
        </p:nvSpPr>
        <p:spPr>
          <a:xfrm>
            <a:off x="1381125" y="4391025"/>
            <a:ext cx="3927475" cy="0"/>
          </a:xfrm>
          <a:prstGeom prst="line">
            <a:avLst/>
          </a:prstGeom>
          <a:ln w="25400" cap="flat" cmpd="sng">
            <a:solidFill>
              <a:schemeClr val="tx1"/>
            </a:solidFill>
            <a:prstDash val="solid"/>
            <a:headEnd type="none" w="sm" len="sm"/>
            <a:tailEnd type="none" w="sm" len="sm"/>
          </a:ln>
        </p:spPr>
      </p:sp>
      <p:sp>
        <p:nvSpPr>
          <p:cNvPr id="60432" name="Line 16"/>
          <p:cNvSpPr/>
          <p:nvPr/>
        </p:nvSpPr>
        <p:spPr>
          <a:xfrm>
            <a:off x="2733675" y="3987800"/>
            <a:ext cx="0" cy="1060450"/>
          </a:xfrm>
          <a:prstGeom prst="line">
            <a:avLst/>
          </a:prstGeom>
          <a:ln w="12700" cap="flat" cmpd="sng">
            <a:solidFill>
              <a:schemeClr val="tx1"/>
            </a:solidFill>
            <a:prstDash val="dash"/>
            <a:headEnd type="none" w="sm" len="sm"/>
            <a:tailEnd type="none" w="sm" len="sm"/>
          </a:ln>
        </p:spPr>
      </p:sp>
      <p:sp>
        <p:nvSpPr>
          <p:cNvPr id="60433" name="Rectangle 17"/>
          <p:cNvSpPr/>
          <p:nvPr/>
        </p:nvSpPr>
        <p:spPr>
          <a:xfrm>
            <a:off x="830263" y="4106863"/>
            <a:ext cx="579437"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60434" name="Rectangle 18"/>
          <p:cNvSpPr/>
          <p:nvPr/>
        </p:nvSpPr>
        <p:spPr>
          <a:xfrm>
            <a:off x="2646363" y="5133975"/>
            <a:ext cx="65563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60435" name="Rectangle 19"/>
          <p:cNvSpPr/>
          <p:nvPr/>
        </p:nvSpPr>
        <p:spPr>
          <a:xfrm>
            <a:off x="598488" y="5613400"/>
            <a:ext cx="7770812"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This loss can be eliminated in the long-</a:t>
            </a:r>
            <a:br>
              <a:rPr lang="en-US" altLang="zh-CN" dirty="0">
                <a:ea typeface="宋体" panose="02010600030101010101" pitchFamily="2" charset="-122"/>
              </a:rPr>
            </a:br>
            <a:r>
              <a:rPr lang="en-US" altLang="zh-CN" dirty="0">
                <a:ea typeface="宋体" panose="02010600030101010101" pitchFamily="2" charset="-122"/>
              </a:rPr>
              <a:t>run by the firm exiting the industry.</a:t>
            </a:r>
            <a:endParaRPr lang="en-US" altLang="zh-CN" dirty="0">
              <a:ea typeface="宋体" panose="02010600030101010101" pitchFamily="2" charset="-122"/>
            </a:endParaRPr>
          </a:p>
        </p:txBody>
      </p:sp>
      <p:sp>
        <p:nvSpPr>
          <p:cNvPr id="60436" name="Rectangle 20"/>
          <p:cNvSpPr/>
          <p:nvPr/>
        </p:nvSpPr>
        <p:spPr>
          <a:xfrm>
            <a:off x="1390650" y="3994150"/>
            <a:ext cx="1333500" cy="368300"/>
          </a:xfrm>
          <a:prstGeom prst="rect">
            <a:avLst/>
          </a:prstGeom>
          <a:solidFill>
            <a:srgbClr val="FF3300"/>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60437" name="Rectangle 21"/>
          <p:cNvSpPr/>
          <p:nvPr/>
        </p:nvSpPr>
        <p:spPr>
          <a:xfrm>
            <a:off x="1495425" y="3919538"/>
            <a:ext cx="11334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Loss</a:t>
            </a:r>
            <a:endParaRPr lang="en-US" altLang="zh-CN" dirty="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1443"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1444"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1445"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1446"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1447" name="Arc 7"/>
          <p:cNvSpPr/>
          <p:nvPr/>
        </p:nvSpPr>
        <p:spPr>
          <a:xfrm rot="10800000">
            <a:off x="5111750" y="1336675"/>
            <a:ext cx="1965325" cy="2547938"/>
          </a:xfrm>
          <a:custGeom>
            <a:avLst/>
            <a:gdLst>
              <a:gd name="txL" fmla="*/ 0 w 40497"/>
              <a:gd name="txT" fmla="*/ 0 h 21600"/>
              <a:gd name="txR" fmla="*/ 40497 w 40497"/>
              <a:gd name="txB" fmla="*/ 21600 h 21600"/>
            </a:gdLst>
            <a:ahLst/>
            <a:cxnLst>
              <a:cxn ang="0">
                <a:pos x="0" y="2147483646"/>
              </a:cxn>
              <a:cxn ang="0">
                <a:pos x="2147483646" y="2147483646"/>
              </a:cxn>
              <a:cxn ang="0">
                <a:pos x="2147483646" y="2147483646"/>
              </a:cxn>
            </a:cxnLst>
            <a:rect l="txL" t="txT" r="txR" b="txB"/>
            <a:pathLst>
              <a:path w="40497" h="21600" fill="none">
                <a:moveTo>
                  <a:pt x="-1" y="13911"/>
                </a:moveTo>
                <a:cubicBezTo>
                  <a:pt x="3189" y="5535"/>
                  <a:pt x="11221" y="-1"/>
                  <a:pt x="20185" y="0"/>
                </a:cubicBezTo>
                <a:cubicBezTo>
                  <a:pt x="29281" y="0"/>
                  <a:pt x="37402" y="5698"/>
                  <a:pt x="40496" y="14252"/>
                </a:cubicBezTo>
              </a:path>
              <a:path w="40497" h="21600" stroke="0">
                <a:moveTo>
                  <a:pt x="-1" y="13911"/>
                </a:moveTo>
                <a:cubicBezTo>
                  <a:pt x="3189" y="5535"/>
                  <a:pt x="11221" y="-1"/>
                  <a:pt x="20185" y="0"/>
                </a:cubicBezTo>
                <a:cubicBezTo>
                  <a:pt x="29281" y="0"/>
                  <a:pt x="37402" y="5698"/>
                  <a:pt x="40496" y="14252"/>
                </a:cubicBezTo>
                <a:lnTo>
                  <a:pt x="20185" y="21600"/>
                </a:lnTo>
                <a:lnTo>
                  <a:pt x="-1" y="13911"/>
                </a:lnTo>
                <a:close/>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sp>
        <p:nvSpPr>
          <p:cNvPr id="61448" name="Arc 8"/>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1449"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1450"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1451"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1452"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2467"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2468"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2469"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2470"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2471" name="Arc 7"/>
          <p:cNvSpPr/>
          <p:nvPr/>
        </p:nvSpPr>
        <p:spPr>
          <a:xfrm rot="10800000">
            <a:off x="5111750" y="1336675"/>
            <a:ext cx="1965325" cy="2547938"/>
          </a:xfrm>
          <a:custGeom>
            <a:avLst/>
            <a:gdLst>
              <a:gd name="txL" fmla="*/ 0 w 40497"/>
              <a:gd name="txT" fmla="*/ 0 h 21600"/>
              <a:gd name="txR" fmla="*/ 40497 w 40497"/>
              <a:gd name="txB" fmla="*/ 21600 h 21600"/>
            </a:gdLst>
            <a:ahLst/>
            <a:cxnLst>
              <a:cxn ang="0">
                <a:pos x="0" y="2147483646"/>
              </a:cxn>
              <a:cxn ang="0">
                <a:pos x="2147483646" y="2147483646"/>
              </a:cxn>
              <a:cxn ang="0">
                <a:pos x="2147483646" y="2147483646"/>
              </a:cxn>
            </a:cxnLst>
            <a:rect l="txL" t="txT" r="txR" b="txB"/>
            <a:pathLst>
              <a:path w="40497" h="21600" fill="none">
                <a:moveTo>
                  <a:pt x="-1" y="13911"/>
                </a:moveTo>
                <a:cubicBezTo>
                  <a:pt x="3189" y="5535"/>
                  <a:pt x="11221" y="-1"/>
                  <a:pt x="20185" y="0"/>
                </a:cubicBezTo>
                <a:cubicBezTo>
                  <a:pt x="29281" y="0"/>
                  <a:pt x="37402" y="5698"/>
                  <a:pt x="40496" y="14252"/>
                </a:cubicBezTo>
              </a:path>
              <a:path w="40497" h="21600" stroke="0">
                <a:moveTo>
                  <a:pt x="-1" y="13911"/>
                </a:moveTo>
                <a:cubicBezTo>
                  <a:pt x="3189" y="5535"/>
                  <a:pt x="11221" y="-1"/>
                  <a:pt x="20185" y="0"/>
                </a:cubicBezTo>
                <a:cubicBezTo>
                  <a:pt x="29281" y="0"/>
                  <a:pt x="37402" y="5698"/>
                  <a:pt x="40496" y="14252"/>
                </a:cubicBezTo>
                <a:lnTo>
                  <a:pt x="20185" y="21600"/>
                </a:lnTo>
                <a:lnTo>
                  <a:pt x="-1" y="13911"/>
                </a:lnTo>
                <a:close/>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sp>
        <p:nvSpPr>
          <p:cNvPr id="62472" name="Arc 8"/>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2473"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2474"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2475"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2476"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62477" name="Line 13"/>
          <p:cNvSpPr/>
          <p:nvPr/>
        </p:nvSpPr>
        <p:spPr>
          <a:xfrm flipH="1">
            <a:off x="1389063" y="3348038"/>
            <a:ext cx="4810125" cy="0"/>
          </a:xfrm>
          <a:prstGeom prst="line">
            <a:avLst/>
          </a:prstGeom>
          <a:ln w="12700" cap="flat" cmpd="sng">
            <a:solidFill>
              <a:schemeClr val="tx1"/>
            </a:solidFill>
            <a:prstDash val="solid"/>
            <a:headEnd type="none" w="sm" len="sm"/>
            <a:tailEnd type="none" w="sm" len="sm"/>
          </a:ln>
        </p:spPr>
      </p:sp>
      <p:sp>
        <p:nvSpPr>
          <p:cNvPr id="62478" name="Rectangle 14"/>
          <p:cNvSpPr/>
          <p:nvPr/>
        </p:nvSpPr>
        <p:spPr>
          <a:xfrm>
            <a:off x="911225" y="3074988"/>
            <a:ext cx="50006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62479" name="Line 15"/>
          <p:cNvSpPr/>
          <p:nvPr/>
        </p:nvSpPr>
        <p:spPr>
          <a:xfrm>
            <a:off x="6197600" y="3365500"/>
            <a:ext cx="0" cy="1689100"/>
          </a:xfrm>
          <a:prstGeom prst="line">
            <a:avLst/>
          </a:prstGeom>
          <a:ln w="12700" cap="flat" cmpd="sng">
            <a:solidFill>
              <a:schemeClr val="tx1"/>
            </a:solidFill>
            <a:prstDash val="dash"/>
            <a:headEnd type="none" w="sm" len="sm"/>
            <a:tailEnd type="none" w="sm" len="sm"/>
          </a:ln>
        </p:spPr>
      </p:sp>
      <p:sp>
        <p:nvSpPr>
          <p:cNvPr id="62480" name="Rectangle 16"/>
          <p:cNvSpPr/>
          <p:nvPr/>
        </p:nvSpPr>
        <p:spPr>
          <a:xfrm>
            <a:off x="5940425" y="5056188"/>
            <a:ext cx="655638"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62481" name="Rectangle 17"/>
          <p:cNvSpPr/>
          <p:nvPr/>
        </p:nvSpPr>
        <p:spPr>
          <a:xfrm>
            <a:off x="598488" y="5613400"/>
            <a:ext cx="79978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is profit-maximizing in this short-run.</a:t>
            </a:r>
            <a:endParaRPr lang="en-US" altLang="zh-CN" dirty="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3491"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3492"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3493"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3494"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3495" name="Arc 7"/>
          <p:cNvSpPr/>
          <p:nvPr/>
        </p:nvSpPr>
        <p:spPr>
          <a:xfrm rot="10800000">
            <a:off x="5111750" y="1336675"/>
            <a:ext cx="1965325" cy="2547938"/>
          </a:xfrm>
          <a:custGeom>
            <a:avLst/>
            <a:gdLst>
              <a:gd name="txL" fmla="*/ 0 w 40497"/>
              <a:gd name="txT" fmla="*/ 0 h 21600"/>
              <a:gd name="txR" fmla="*/ 40497 w 40497"/>
              <a:gd name="txB" fmla="*/ 21600 h 21600"/>
            </a:gdLst>
            <a:ahLst/>
            <a:cxnLst>
              <a:cxn ang="0">
                <a:pos x="0" y="2147483646"/>
              </a:cxn>
              <a:cxn ang="0">
                <a:pos x="2147483646" y="2147483646"/>
              </a:cxn>
              <a:cxn ang="0">
                <a:pos x="2147483646" y="2147483646"/>
              </a:cxn>
            </a:cxnLst>
            <a:rect l="txL" t="txT" r="txR" b="txB"/>
            <a:pathLst>
              <a:path w="40497" h="21600" fill="none">
                <a:moveTo>
                  <a:pt x="-1" y="13911"/>
                </a:moveTo>
                <a:cubicBezTo>
                  <a:pt x="3189" y="5535"/>
                  <a:pt x="11221" y="-1"/>
                  <a:pt x="20185" y="0"/>
                </a:cubicBezTo>
                <a:cubicBezTo>
                  <a:pt x="29281" y="0"/>
                  <a:pt x="37402" y="5698"/>
                  <a:pt x="40496" y="14252"/>
                </a:cubicBezTo>
              </a:path>
              <a:path w="40497" h="21600" stroke="0">
                <a:moveTo>
                  <a:pt x="-1" y="13911"/>
                </a:moveTo>
                <a:cubicBezTo>
                  <a:pt x="3189" y="5535"/>
                  <a:pt x="11221" y="-1"/>
                  <a:pt x="20185" y="0"/>
                </a:cubicBezTo>
                <a:cubicBezTo>
                  <a:pt x="29281" y="0"/>
                  <a:pt x="37402" y="5698"/>
                  <a:pt x="40496" y="14252"/>
                </a:cubicBezTo>
                <a:lnTo>
                  <a:pt x="20185" y="21600"/>
                </a:lnTo>
                <a:lnTo>
                  <a:pt x="-1" y="13911"/>
                </a:lnTo>
                <a:close/>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sp>
        <p:nvSpPr>
          <p:cNvPr id="63496" name="Arc 8"/>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3497"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3498"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3499"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3500"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63501" name="Line 13"/>
          <p:cNvSpPr/>
          <p:nvPr/>
        </p:nvSpPr>
        <p:spPr>
          <a:xfrm flipH="1">
            <a:off x="1389063" y="3348038"/>
            <a:ext cx="4810125" cy="0"/>
          </a:xfrm>
          <a:prstGeom prst="line">
            <a:avLst/>
          </a:prstGeom>
          <a:ln w="12700" cap="flat" cmpd="sng">
            <a:solidFill>
              <a:schemeClr val="tx1"/>
            </a:solidFill>
            <a:prstDash val="solid"/>
            <a:headEnd type="none" w="sm" len="sm"/>
            <a:tailEnd type="none" w="sm" len="sm"/>
          </a:ln>
        </p:spPr>
      </p:sp>
      <p:sp>
        <p:nvSpPr>
          <p:cNvPr id="63502" name="Rectangle 14"/>
          <p:cNvSpPr/>
          <p:nvPr/>
        </p:nvSpPr>
        <p:spPr>
          <a:xfrm>
            <a:off x="911225" y="3074988"/>
            <a:ext cx="50006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63503" name="Line 15"/>
          <p:cNvSpPr/>
          <p:nvPr/>
        </p:nvSpPr>
        <p:spPr>
          <a:xfrm>
            <a:off x="6197600" y="3365500"/>
            <a:ext cx="0" cy="1689100"/>
          </a:xfrm>
          <a:prstGeom prst="line">
            <a:avLst/>
          </a:prstGeom>
          <a:ln w="12700" cap="flat" cmpd="sng">
            <a:solidFill>
              <a:schemeClr val="tx1"/>
            </a:solidFill>
            <a:prstDash val="dash"/>
            <a:headEnd type="none" w="sm" len="sm"/>
            <a:tailEnd type="none" w="sm" len="sm"/>
          </a:ln>
        </p:spPr>
      </p:sp>
      <p:sp>
        <p:nvSpPr>
          <p:cNvPr id="63504" name="Rectangle 16"/>
          <p:cNvSpPr/>
          <p:nvPr/>
        </p:nvSpPr>
        <p:spPr>
          <a:xfrm>
            <a:off x="5940425" y="5056188"/>
            <a:ext cx="655638"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63505" name="Rectangle 17"/>
          <p:cNvSpPr/>
          <p:nvPr/>
        </p:nvSpPr>
        <p:spPr>
          <a:xfrm>
            <a:off x="598488" y="5613400"/>
            <a:ext cx="79978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is profit-maximizing in this short-run.</a:t>
            </a:r>
            <a:endParaRPr lang="en-US" altLang="zh-CN" dirty="0">
              <a:ea typeface="宋体" panose="02010600030101010101" pitchFamily="2" charset="-122"/>
            </a:endParaRPr>
          </a:p>
        </p:txBody>
      </p:sp>
      <p:sp>
        <p:nvSpPr>
          <p:cNvPr id="63506" name="Rectangle 18"/>
          <p:cNvSpPr/>
          <p:nvPr/>
        </p:nvSpPr>
        <p:spPr>
          <a:xfrm>
            <a:off x="1384300" y="3365500"/>
            <a:ext cx="4813300" cy="512763"/>
          </a:xfrm>
          <a:prstGeom prst="rect">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63507" name="Rectangle 19"/>
          <p:cNvSpPr/>
          <p:nvPr/>
        </p:nvSpPr>
        <p:spPr>
          <a:xfrm>
            <a:off x="3425825" y="3322638"/>
            <a:ext cx="64452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latin typeface="Symbol" panose="05050102010706020507" pitchFamily="18" charset="2"/>
                <a:ea typeface="宋体" panose="02010600030101010101" pitchFamily="2" charset="-122"/>
              </a:rPr>
              <a:t>P</a:t>
            </a:r>
            <a:r>
              <a:rPr lang="en-US" altLang="zh-CN" baseline="-25000" dirty="0">
                <a:ea typeface="宋体" panose="02010600030101010101" pitchFamily="2" charset="-122"/>
              </a:rPr>
              <a:t>s</a:t>
            </a:r>
            <a:endParaRPr lang="en-US" altLang="zh-CN" baseline="-25000" dirty="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4515"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4516"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4517"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4518"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4519" name="Arc 7"/>
          <p:cNvSpPr/>
          <p:nvPr/>
        </p:nvSpPr>
        <p:spPr>
          <a:xfrm rot="10800000">
            <a:off x="5111750" y="1336675"/>
            <a:ext cx="1965325" cy="2547938"/>
          </a:xfrm>
          <a:custGeom>
            <a:avLst/>
            <a:gdLst>
              <a:gd name="txL" fmla="*/ 0 w 40497"/>
              <a:gd name="txT" fmla="*/ 0 h 21600"/>
              <a:gd name="txR" fmla="*/ 40497 w 40497"/>
              <a:gd name="txB" fmla="*/ 21600 h 21600"/>
            </a:gdLst>
            <a:ahLst/>
            <a:cxnLst>
              <a:cxn ang="0">
                <a:pos x="0" y="2147483646"/>
              </a:cxn>
              <a:cxn ang="0">
                <a:pos x="2147483646" y="2147483646"/>
              </a:cxn>
              <a:cxn ang="0">
                <a:pos x="2147483646" y="2147483646"/>
              </a:cxn>
            </a:cxnLst>
            <a:rect l="txL" t="txT" r="txR" b="txB"/>
            <a:pathLst>
              <a:path w="40497" h="21600" fill="none">
                <a:moveTo>
                  <a:pt x="-1" y="13911"/>
                </a:moveTo>
                <a:cubicBezTo>
                  <a:pt x="3189" y="5535"/>
                  <a:pt x="11221" y="-1"/>
                  <a:pt x="20185" y="0"/>
                </a:cubicBezTo>
                <a:cubicBezTo>
                  <a:pt x="29281" y="0"/>
                  <a:pt x="37402" y="5698"/>
                  <a:pt x="40496" y="14252"/>
                </a:cubicBezTo>
              </a:path>
              <a:path w="40497" h="21600" stroke="0">
                <a:moveTo>
                  <a:pt x="-1" y="13911"/>
                </a:moveTo>
                <a:cubicBezTo>
                  <a:pt x="3189" y="5535"/>
                  <a:pt x="11221" y="-1"/>
                  <a:pt x="20185" y="0"/>
                </a:cubicBezTo>
                <a:cubicBezTo>
                  <a:pt x="29281" y="0"/>
                  <a:pt x="37402" y="5698"/>
                  <a:pt x="40496" y="14252"/>
                </a:cubicBezTo>
                <a:lnTo>
                  <a:pt x="20185" y="21600"/>
                </a:lnTo>
                <a:lnTo>
                  <a:pt x="-1" y="13911"/>
                </a:lnTo>
                <a:close/>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sp>
        <p:nvSpPr>
          <p:cNvPr id="64520" name="Arc 8"/>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4521"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4522"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4523"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4524"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64525" name="Line 13"/>
          <p:cNvSpPr/>
          <p:nvPr/>
        </p:nvSpPr>
        <p:spPr>
          <a:xfrm flipH="1">
            <a:off x="1389063" y="3348038"/>
            <a:ext cx="4810125" cy="0"/>
          </a:xfrm>
          <a:prstGeom prst="line">
            <a:avLst/>
          </a:prstGeom>
          <a:ln w="12700" cap="flat" cmpd="sng">
            <a:solidFill>
              <a:schemeClr val="tx1"/>
            </a:solidFill>
            <a:prstDash val="solid"/>
            <a:headEnd type="none" w="sm" len="sm"/>
            <a:tailEnd type="none" w="sm" len="sm"/>
          </a:ln>
        </p:spPr>
      </p:sp>
      <p:sp>
        <p:nvSpPr>
          <p:cNvPr id="64526" name="Rectangle 14"/>
          <p:cNvSpPr/>
          <p:nvPr/>
        </p:nvSpPr>
        <p:spPr>
          <a:xfrm>
            <a:off x="911225" y="3074988"/>
            <a:ext cx="50006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64527" name="Line 15"/>
          <p:cNvSpPr/>
          <p:nvPr/>
        </p:nvSpPr>
        <p:spPr>
          <a:xfrm>
            <a:off x="6197600" y="3365500"/>
            <a:ext cx="0" cy="1689100"/>
          </a:xfrm>
          <a:prstGeom prst="line">
            <a:avLst/>
          </a:prstGeom>
          <a:ln w="12700" cap="flat" cmpd="sng">
            <a:solidFill>
              <a:schemeClr val="tx1"/>
            </a:solidFill>
            <a:prstDash val="dash"/>
            <a:headEnd type="none" w="sm" len="sm"/>
            <a:tailEnd type="none" w="sm" len="sm"/>
          </a:ln>
        </p:spPr>
      </p:sp>
      <p:sp>
        <p:nvSpPr>
          <p:cNvPr id="64528" name="Rectangle 16"/>
          <p:cNvSpPr/>
          <p:nvPr/>
        </p:nvSpPr>
        <p:spPr>
          <a:xfrm>
            <a:off x="5940425" y="5056188"/>
            <a:ext cx="655638"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64529" name="Rectangle 17"/>
          <p:cNvSpPr/>
          <p:nvPr/>
        </p:nvSpPr>
        <p:spPr>
          <a:xfrm>
            <a:off x="598488" y="5613400"/>
            <a:ext cx="7997825"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is profit-maximizing in this short-run.</a:t>
            </a:r>
            <a:br>
              <a:rPr lang="en-US" altLang="zh-CN" dirty="0">
                <a:ea typeface="宋体" panose="02010600030101010101" pitchFamily="2" charset="-122"/>
              </a:rPr>
            </a:br>
            <a:r>
              <a:rPr lang="en-US" altLang="zh-CN" dirty="0">
                <a:ea typeface="宋体" panose="02010600030101010101" pitchFamily="2" charset="-122"/>
              </a:rPr>
              <a:t>y* is profit-maximizing in the long-run.</a:t>
            </a:r>
            <a:endParaRPr lang="en-US" altLang="zh-CN" dirty="0">
              <a:ea typeface="宋体" panose="02010600030101010101" pitchFamily="2" charset="-122"/>
            </a:endParaRPr>
          </a:p>
        </p:txBody>
      </p:sp>
      <p:sp>
        <p:nvSpPr>
          <p:cNvPr id="64530" name="Line 18"/>
          <p:cNvSpPr/>
          <p:nvPr/>
        </p:nvSpPr>
        <p:spPr>
          <a:xfrm>
            <a:off x="5651500" y="3352800"/>
            <a:ext cx="0" cy="1701800"/>
          </a:xfrm>
          <a:prstGeom prst="line">
            <a:avLst/>
          </a:prstGeom>
          <a:ln w="12700" cap="flat" cmpd="sng">
            <a:solidFill>
              <a:schemeClr val="tx1"/>
            </a:solidFill>
            <a:prstDash val="dash"/>
            <a:headEnd type="none" w="sm" len="sm"/>
            <a:tailEnd type="none" w="sm" len="sm"/>
          </a:ln>
        </p:spPr>
      </p:sp>
      <p:sp>
        <p:nvSpPr>
          <p:cNvPr id="64531" name="Rectangle 19"/>
          <p:cNvSpPr/>
          <p:nvPr/>
        </p:nvSpPr>
        <p:spPr>
          <a:xfrm>
            <a:off x="5432425" y="5068888"/>
            <a:ext cx="5207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5539"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5540"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5541"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5542"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5543" name="Arc 7"/>
          <p:cNvSpPr/>
          <p:nvPr/>
        </p:nvSpPr>
        <p:spPr>
          <a:xfrm rot="10800000">
            <a:off x="5111750" y="1336675"/>
            <a:ext cx="1965325" cy="2547938"/>
          </a:xfrm>
          <a:custGeom>
            <a:avLst/>
            <a:gdLst>
              <a:gd name="txL" fmla="*/ 0 w 40497"/>
              <a:gd name="txT" fmla="*/ 0 h 21600"/>
              <a:gd name="txR" fmla="*/ 40497 w 40497"/>
              <a:gd name="txB" fmla="*/ 21600 h 21600"/>
            </a:gdLst>
            <a:ahLst/>
            <a:cxnLst>
              <a:cxn ang="0">
                <a:pos x="0" y="2147483646"/>
              </a:cxn>
              <a:cxn ang="0">
                <a:pos x="2147483646" y="2147483646"/>
              </a:cxn>
              <a:cxn ang="0">
                <a:pos x="2147483646" y="2147483646"/>
              </a:cxn>
            </a:cxnLst>
            <a:rect l="txL" t="txT" r="txR" b="txB"/>
            <a:pathLst>
              <a:path w="40497" h="21600" fill="none">
                <a:moveTo>
                  <a:pt x="-1" y="13911"/>
                </a:moveTo>
                <a:cubicBezTo>
                  <a:pt x="3189" y="5535"/>
                  <a:pt x="11221" y="-1"/>
                  <a:pt x="20185" y="0"/>
                </a:cubicBezTo>
                <a:cubicBezTo>
                  <a:pt x="29281" y="0"/>
                  <a:pt x="37402" y="5698"/>
                  <a:pt x="40496" y="14252"/>
                </a:cubicBezTo>
              </a:path>
              <a:path w="40497" h="21600" stroke="0">
                <a:moveTo>
                  <a:pt x="-1" y="13911"/>
                </a:moveTo>
                <a:cubicBezTo>
                  <a:pt x="3189" y="5535"/>
                  <a:pt x="11221" y="-1"/>
                  <a:pt x="20185" y="0"/>
                </a:cubicBezTo>
                <a:cubicBezTo>
                  <a:pt x="29281" y="0"/>
                  <a:pt x="37402" y="5698"/>
                  <a:pt x="40496" y="14252"/>
                </a:cubicBezTo>
                <a:lnTo>
                  <a:pt x="20185" y="21600"/>
                </a:lnTo>
                <a:lnTo>
                  <a:pt x="-1" y="13911"/>
                </a:lnTo>
                <a:close/>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sp>
        <p:nvSpPr>
          <p:cNvPr id="65544" name="Arc 8"/>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5545"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5546"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5547"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5548"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65549" name="Line 13"/>
          <p:cNvSpPr/>
          <p:nvPr/>
        </p:nvSpPr>
        <p:spPr>
          <a:xfrm flipH="1">
            <a:off x="1389063" y="3348038"/>
            <a:ext cx="4810125" cy="0"/>
          </a:xfrm>
          <a:prstGeom prst="line">
            <a:avLst/>
          </a:prstGeom>
          <a:ln w="12700" cap="flat" cmpd="sng">
            <a:solidFill>
              <a:schemeClr val="tx1"/>
            </a:solidFill>
            <a:prstDash val="solid"/>
            <a:headEnd type="none" w="sm" len="sm"/>
            <a:tailEnd type="none" w="sm" len="sm"/>
          </a:ln>
        </p:spPr>
      </p:sp>
      <p:sp>
        <p:nvSpPr>
          <p:cNvPr id="65550" name="Rectangle 14"/>
          <p:cNvSpPr/>
          <p:nvPr/>
        </p:nvSpPr>
        <p:spPr>
          <a:xfrm>
            <a:off x="911225" y="3074988"/>
            <a:ext cx="50006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65551" name="Line 15"/>
          <p:cNvSpPr/>
          <p:nvPr/>
        </p:nvSpPr>
        <p:spPr>
          <a:xfrm>
            <a:off x="6197600" y="3365500"/>
            <a:ext cx="0" cy="1689100"/>
          </a:xfrm>
          <a:prstGeom prst="line">
            <a:avLst/>
          </a:prstGeom>
          <a:ln w="12700" cap="flat" cmpd="sng">
            <a:solidFill>
              <a:schemeClr val="tx1"/>
            </a:solidFill>
            <a:prstDash val="dash"/>
            <a:headEnd type="none" w="sm" len="sm"/>
            <a:tailEnd type="none" w="sm" len="sm"/>
          </a:ln>
        </p:spPr>
      </p:sp>
      <p:sp>
        <p:nvSpPr>
          <p:cNvPr id="65552" name="Rectangle 16"/>
          <p:cNvSpPr/>
          <p:nvPr/>
        </p:nvSpPr>
        <p:spPr>
          <a:xfrm>
            <a:off x="5940425" y="5056188"/>
            <a:ext cx="655638"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65553" name="Rectangle 17"/>
          <p:cNvSpPr/>
          <p:nvPr/>
        </p:nvSpPr>
        <p:spPr>
          <a:xfrm>
            <a:off x="598488" y="5613400"/>
            <a:ext cx="7997825"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r>
              <a:rPr lang="en-US" altLang="zh-CN" baseline="-25000" dirty="0">
                <a:ea typeface="宋体" panose="02010600030101010101" pitchFamily="2" charset="-122"/>
              </a:rPr>
              <a:t>s</a:t>
            </a:r>
            <a:r>
              <a:rPr lang="en-US" altLang="zh-CN" dirty="0">
                <a:ea typeface="宋体" panose="02010600030101010101" pitchFamily="2" charset="-122"/>
              </a:rPr>
              <a:t>* is profit-maximizing in this short-run.</a:t>
            </a:r>
            <a:br>
              <a:rPr lang="en-US" altLang="zh-CN" dirty="0">
                <a:ea typeface="宋体" panose="02010600030101010101" pitchFamily="2" charset="-122"/>
              </a:rPr>
            </a:br>
            <a:r>
              <a:rPr lang="en-US" altLang="zh-CN" dirty="0">
                <a:ea typeface="宋体" panose="02010600030101010101" pitchFamily="2" charset="-122"/>
              </a:rPr>
              <a:t>y* is profit-maximizing in the long-run.</a:t>
            </a:r>
            <a:endParaRPr lang="en-US" altLang="zh-CN" dirty="0">
              <a:ea typeface="宋体" panose="02010600030101010101" pitchFamily="2" charset="-122"/>
            </a:endParaRPr>
          </a:p>
        </p:txBody>
      </p:sp>
      <p:sp>
        <p:nvSpPr>
          <p:cNvPr id="65554" name="Line 18"/>
          <p:cNvSpPr/>
          <p:nvPr/>
        </p:nvSpPr>
        <p:spPr>
          <a:xfrm>
            <a:off x="5651500" y="3352800"/>
            <a:ext cx="0" cy="1701800"/>
          </a:xfrm>
          <a:prstGeom prst="line">
            <a:avLst/>
          </a:prstGeom>
          <a:ln w="12700" cap="flat" cmpd="sng">
            <a:solidFill>
              <a:schemeClr val="tx1"/>
            </a:solidFill>
            <a:prstDash val="dash"/>
            <a:headEnd type="none" w="sm" len="sm"/>
            <a:tailEnd type="none" w="sm" len="sm"/>
          </a:ln>
        </p:spPr>
      </p:sp>
      <p:sp>
        <p:nvSpPr>
          <p:cNvPr id="65555" name="Rectangle 19"/>
          <p:cNvSpPr/>
          <p:nvPr/>
        </p:nvSpPr>
        <p:spPr>
          <a:xfrm>
            <a:off x="5432425" y="5068888"/>
            <a:ext cx="5207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5556" name="Rectangle 20"/>
          <p:cNvSpPr/>
          <p:nvPr/>
        </p:nvSpPr>
        <p:spPr>
          <a:xfrm>
            <a:off x="1403350" y="3359150"/>
            <a:ext cx="4254500" cy="685800"/>
          </a:xfrm>
          <a:prstGeom prst="rect">
            <a:avLst/>
          </a:prstGeom>
          <a:solidFill>
            <a:srgbClr val="0099FF">
              <a:alpha val="50195"/>
            </a:srgbClr>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65557" name="Rectangle 21"/>
          <p:cNvSpPr/>
          <p:nvPr/>
        </p:nvSpPr>
        <p:spPr>
          <a:xfrm>
            <a:off x="3273425" y="3349625"/>
            <a:ext cx="614363" cy="7620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4400" dirty="0">
                <a:latin typeface="Symbol" panose="05050102010706020507" pitchFamily="18" charset="2"/>
                <a:ea typeface="宋体" panose="02010600030101010101" pitchFamily="2" charset="-122"/>
              </a:rPr>
              <a:t>P</a:t>
            </a:r>
            <a:endParaRPr lang="en-US" altLang="zh-CN" sz="4400" dirty="0">
              <a:latin typeface="Symbol" panose="05050102010706020507" pitchFamily="18" charset="2"/>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6563"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6564"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6565"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6566"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6567" name="Arc 7"/>
          <p:cNvSpPr/>
          <p:nvPr/>
        </p:nvSpPr>
        <p:spPr>
          <a:xfrm rot="10800000">
            <a:off x="5111750" y="1336675"/>
            <a:ext cx="1965325" cy="2547938"/>
          </a:xfrm>
          <a:custGeom>
            <a:avLst/>
            <a:gdLst>
              <a:gd name="txL" fmla="*/ 0 w 40497"/>
              <a:gd name="txT" fmla="*/ 0 h 21600"/>
              <a:gd name="txR" fmla="*/ 40497 w 40497"/>
              <a:gd name="txB" fmla="*/ 21600 h 21600"/>
            </a:gdLst>
            <a:ahLst/>
            <a:cxnLst>
              <a:cxn ang="0">
                <a:pos x="0" y="2147483646"/>
              </a:cxn>
              <a:cxn ang="0">
                <a:pos x="2147483646" y="2147483646"/>
              </a:cxn>
              <a:cxn ang="0">
                <a:pos x="2147483646" y="2147483646"/>
              </a:cxn>
            </a:cxnLst>
            <a:rect l="txL" t="txT" r="txR" b="txB"/>
            <a:pathLst>
              <a:path w="40497" h="21600" fill="none">
                <a:moveTo>
                  <a:pt x="-1" y="13911"/>
                </a:moveTo>
                <a:cubicBezTo>
                  <a:pt x="3189" y="5535"/>
                  <a:pt x="11221" y="-1"/>
                  <a:pt x="20185" y="0"/>
                </a:cubicBezTo>
                <a:cubicBezTo>
                  <a:pt x="29281" y="0"/>
                  <a:pt x="37402" y="5698"/>
                  <a:pt x="40496" y="14252"/>
                </a:cubicBezTo>
              </a:path>
              <a:path w="40497" h="21600" stroke="0">
                <a:moveTo>
                  <a:pt x="-1" y="13911"/>
                </a:moveTo>
                <a:cubicBezTo>
                  <a:pt x="3189" y="5535"/>
                  <a:pt x="11221" y="-1"/>
                  <a:pt x="20185" y="0"/>
                </a:cubicBezTo>
                <a:cubicBezTo>
                  <a:pt x="29281" y="0"/>
                  <a:pt x="37402" y="5698"/>
                  <a:pt x="40496" y="14252"/>
                </a:cubicBezTo>
                <a:lnTo>
                  <a:pt x="20185" y="21600"/>
                </a:lnTo>
                <a:lnTo>
                  <a:pt x="-1" y="13911"/>
                </a:lnTo>
                <a:close/>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sp>
        <p:nvSpPr>
          <p:cNvPr id="66568" name="Arc 8"/>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6569" name="Rectangle 9"/>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6570" name="Rectangle 10"/>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6571" name="Rectangle 11"/>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6572" name="Rectangle 12"/>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66573" name="Line 13"/>
          <p:cNvSpPr/>
          <p:nvPr/>
        </p:nvSpPr>
        <p:spPr>
          <a:xfrm flipH="1">
            <a:off x="1389063" y="3348038"/>
            <a:ext cx="4810125" cy="0"/>
          </a:xfrm>
          <a:prstGeom prst="line">
            <a:avLst/>
          </a:prstGeom>
          <a:ln w="12700" cap="flat" cmpd="sng">
            <a:solidFill>
              <a:schemeClr val="tx1"/>
            </a:solidFill>
            <a:prstDash val="solid"/>
            <a:headEnd type="none" w="sm" len="sm"/>
            <a:tailEnd type="none" w="sm" len="sm"/>
          </a:ln>
        </p:spPr>
      </p:sp>
      <p:sp>
        <p:nvSpPr>
          <p:cNvPr id="66574" name="Rectangle 14"/>
          <p:cNvSpPr/>
          <p:nvPr/>
        </p:nvSpPr>
        <p:spPr>
          <a:xfrm>
            <a:off x="911225" y="3074988"/>
            <a:ext cx="500063"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p’</a:t>
            </a:r>
            <a:endParaRPr lang="en-US" altLang="zh-CN" sz="2800" dirty="0">
              <a:ea typeface="宋体" panose="02010600030101010101" pitchFamily="2" charset="-122"/>
            </a:endParaRPr>
          </a:p>
        </p:txBody>
      </p:sp>
      <p:sp>
        <p:nvSpPr>
          <p:cNvPr id="66575" name="Line 15"/>
          <p:cNvSpPr/>
          <p:nvPr/>
        </p:nvSpPr>
        <p:spPr>
          <a:xfrm>
            <a:off x="6197600" y="3365500"/>
            <a:ext cx="0" cy="1689100"/>
          </a:xfrm>
          <a:prstGeom prst="line">
            <a:avLst/>
          </a:prstGeom>
          <a:ln w="12700" cap="flat" cmpd="sng">
            <a:solidFill>
              <a:schemeClr val="tx1"/>
            </a:solidFill>
            <a:prstDash val="dash"/>
            <a:headEnd type="none" w="sm" len="sm"/>
            <a:tailEnd type="none" w="sm" len="sm"/>
          </a:ln>
        </p:spPr>
      </p:sp>
      <p:sp>
        <p:nvSpPr>
          <p:cNvPr id="66576" name="Rectangle 16"/>
          <p:cNvSpPr/>
          <p:nvPr/>
        </p:nvSpPr>
        <p:spPr>
          <a:xfrm>
            <a:off x="5940425" y="5056188"/>
            <a:ext cx="655638"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r>
              <a:rPr lang="en-US" altLang="zh-CN" sz="2800" baseline="-25000" dirty="0">
                <a:ea typeface="宋体" panose="02010600030101010101" pitchFamily="2" charset="-122"/>
              </a:rPr>
              <a:t>s</a:t>
            </a:r>
            <a:r>
              <a:rPr lang="en-US" altLang="zh-CN" sz="2800" dirty="0">
                <a:ea typeface="宋体" panose="02010600030101010101" pitchFamily="2" charset="-122"/>
              </a:rPr>
              <a:t>*</a:t>
            </a:r>
            <a:endParaRPr lang="en-US" altLang="zh-CN" sz="2800" dirty="0">
              <a:ea typeface="宋体" panose="02010600030101010101" pitchFamily="2" charset="-122"/>
            </a:endParaRPr>
          </a:p>
        </p:txBody>
      </p:sp>
      <p:sp>
        <p:nvSpPr>
          <p:cNvPr id="66577" name="Rectangle 17"/>
          <p:cNvSpPr/>
          <p:nvPr/>
        </p:nvSpPr>
        <p:spPr>
          <a:xfrm>
            <a:off x="598488" y="5613400"/>
            <a:ext cx="184150" cy="579438"/>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66578" name="Line 18"/>
          <p:cNvSpPr/>
          <p:nvPr/>
        </p:nvSpPr>
        <p:spPr>
          <a:xfrm>
            <a:off x="5651500" y="3352800"/>
            <a:ext cx="0" cy="1701800"/>
          </a:xfrm>
          <a:prstGeom prst="line">
            <a:avLst/>
          </a:prstGeom>
          <a:ln w="12700" cap="flat" cmpd="sng">
            <a:solidFill>
              <a:schemeClr val="tx1"/>
            </a:solidFill>
            <a:prstDash val="dash"/>
            <a:headEnd type="none" w="sm" len="sm"/>
            <a:tailEnd type="none" w="sm" len="sm"/>
          </a:ln>
        </p:spPr>
      </p:sp>
      <p:sp>
        <p:nvSpPr>
          <p:cNvPr id="66579" name="Rectangle 19"/>
          <p:cNvSpPr/>
          <p:nvPr/>
        </p:nvSpPr>
        <p:spPr>
          <a:xfrm>
            <a:off x="5432425" y="5068888"/>
            <a:ext cx="5207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6580" name="Rectangle 20"/>
          <p:cNvSpPr/>
          <p:nvPr/>
        </p:nvSpPr>
        <p:spPr>
          <a:xfrm>
            <a:off x="1384300" y="3365500"/>
            <a:ext cx="4813300" cy="512763"/>
          </a:xfrm>
          <a:prstGeom prst="rect">
            <a:avLst/>
          </a:prstGeom>
          <a:solidFill>
            <a:schemeClr val="accent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66581" name="Rectangle 21"/>
          <p:cNvSpPr/>
          <p:nvPr/>
        </p:nvSpPr>
        <p:spPr>
          <a:xfrm>
            <a:off x="4187825" y="3322638"/>
            <a:ext cx="64452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latin typeface="Symbol" panose="05050102010706020507" pitchFamily="18" charset="2"/>
                <a:ea typeface="宋体" panose="02010600030101010101" pitchFamily="2" charset="-122"/>
              </a:rPr>
              <a:t>P</a:t>
            </a:r>
            <a:r>
              <a:rPr lang="en-US" altLang="zh-CN" baseline="-25000" dirty="0">
                <a:ea typeface="宋体" panose="02010600030101010101" pitchFamily="2" charset="-122"/>
              </a:rPr>
              <a:t>s</a:t>
            </a:r>
            <a:endParaRPr lang="en-US" altLang="zh-CN" baseline="-25000" dirty="0">
              <a:ea typeface="宋体" panose="02010600030101010101" pitchFamily="2" charset="-122"/>
            </a:endParaRPr>
          </a:p>
        </p:txBody>
      </p:sp>
      <p:sp>
        <p:nvSpPr>
          <p:cNvPr id="66582" name="Rectangle 22"/>
          <p:cNvSpPr/>
          <p:nvPr/>
        </p:nvSpPr>
        <p:spPr>
          <a:xfrm>
            <a:off x="1403350" y="3359150"/>
            <a:ext cx="4254500" cy="685800"/>
          </a:xfrm>
          <a:prstGeom prst="rect">
            <a:avLst/>
          </a:prstGeom>
          <a:solidFill>
            <a:srgbClr val="0099FF">
              <a:alpha val="50195"/>
            </a:srgbClr>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66583" name="Rectangle 23"/>
          <p:cNvSpPr/>
          <p:nvPr/>
        </p:nvSpPr>
        <p:spPr>
          <a:xfrm>
            <a:off x="3273425" y="3400425"/>
            <a:ext cx="614363" cy="7620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4400" dirty="0">
                <a:latin typeface="Symbol" panose="05050102010706020507" pitchFamily="18" charset="2"/>
                <a:ea typeface="宋体" panose="02010600030101010101" pitchFamily="2" charset="-122"/>
              </a:rPr>
              <a:t>P</a:t>
            </a:r>
            <a:endParaRPr lang="en-US" altLang="zh-CN" sz="4400" dirty="0">
              <a:latin typeface="Symbol" panose="05050102010706020507" pitchFamily="18" charset="2"/>
              <a:ea typeface="宋体" panose="02010600030101010101" pitchFamily="2" charset="-122"/>
            </a:endParaRPr>
          </a:p>
        </p:txBody>
      </p:sp>
      <p:sp>
        <p:nvSpPr>
          <p:cNvPr id="66584" name="Rectangle 24"/>
          <p:cNvSpPr/>
          <p:nvPr/>
        </p:nvSpPr>
        <p:spPr>
          <a:xfrm>
            <a:off x="598488" y="5613400"/>
            <a:ext cx="7929562"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The firm can increase profit by reducing</a:t>
            </a:r>
            <a:br>
              <a:rPr lang="en-US" altLang="zh-CN" dirty="0">
                <a:ea typeface="宋体" panose="02010600030101010101" pitchFamily="2" charset="-122"/>
              </a:rPr>
            </a:br>
            <a:r>
              <a:rPr lang="en-US" altLang="zh-CN" dirty="0">
                <a:ea typeface="宋体" panose="02010600030101010101" pitchFamily="2" charset="-122"/>
              </a:rPr>
              <a:t>x</a:t>
            </a:r>
            <a:r>
              <a:rPr lang="en-US" altLang="zh-CN" baseline="-25000" dirty="0">
                <a:ea typeface="宋体" panose="02010600030101010101" pitchFamily="2" charset="-122"/>
              </a:rPr>
              <a:t>2</a:t>
            </a:r>
            <a:r>
              <a:rPr lang="en-US" altLang="zh-CN" dirty="0">
                <a:ea typeface="宋体" panose="02010600030101010101" pitchFamily="2" charset="-122"/>
              </a:rPr>
              <a:t> and producing y* units of output.</a:t>
            </a:r>
            <a:endParaRPr lang="en-US" altLang="zh-CN" dirty="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7587"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7588"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7589"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7590"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7591" name="Arc 7"/>
          <p:cNvSpPr/>
          <p:nvPr/>
        </p:nvSpPr>
        <p:spPr>
          <a:xfrm rot="10800000">
            <a:off x="1771650" y="1479550"/>
            <a:ext cx="2078038" cy="2547938"/>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67592" name="Arc 8"/>
          <p:cNvSpPr/>
          <p:nvPr/>
        </p:nvSpPr>
        <p:spPr>
          <a:xfrm rot="10800000">
            <a:off x="3200400" y="1703388"/>
            <a:ext cx="2078038" cy="2547937"/>
          </a:xfrm>
          <a:custGeom>
            <a:avLst/>
            <a:gdLst>
              <a:gd name="txL" fmla="*/ 0 w 42794"/>
              <a:gd name="txT" fmla="*/ 0 h 21600"/>
              <a:gd name="txR" fmla="*/ 42794 w 42794"/>
              <a:gd name="txB" fmla="*/ 21600 h 21600"/>
            </a:gdLst>
            <a:ahLst/>
            <a:cxnLst>
              <a:cxn ang="0">
                <a:pos x="0" y="2147483646"/>
              </a:cxn>
              <a:cxn ang="0">
                <a:pos x="2147483646" y="2147483646"/>
              </a:cxn>
              <a:cxn ang="0">
                <a:pos x="2147483646" y="2147483646"/>
              </a:cxn>
            </a:cxnLst>
            <a:rect l="txL" t="txT" r="txR" b="txB"/>
            <a:pathLst>
              <a:path w="42794" h="21600" fill="none">
                <a:moveTo>
                  <a:pt x="0" y="18309"/>
                </a:moveTo>
                <a:cubicBezTo>
                  <a:pt x="1624" y="7774"/>
                  <a:pt x="10689" y="-1"/>
                  <a:pt x="21348" y="0"/>
                </a:cubicBezTo>
                <a:cubicBezTo>
                  <a:pt x="32281" y="0"/>
                  <a:pt x="41491" y="8170"/>
                  <a:pt x="42794" y="19025"/>
                </a:cubicBezTo>
              </a:path>
              <a:path w="42794" h="21600" stroke="0">
                <a:moveTo>
                  <a:pt x="0" y="18309"/>
                </a:moveTo>
                <a:cubicBezTo>
                  <a:pt x="1624" y="7774"/>
                  <a:pt x="10689" y="-1"/>
                  <a:pt x="21348" y="0"/>
                </a:cubicBezTo>
                <a:cubicBezTo>
                  <a:pt x="32281" y="0"/>
                  <a:pt x="41491" y="8170"/>
                  <a:pt x="42794" y="19025"/>
                </a:cubicBezTo>
                <a:lnTo>
                  <a:pt x="21348" y="21600"/>
                </a:lnTo>
                <a:lnTo>
                  <a:pt x="0" y="18309"/>
                </a:lnTo>
                <a:close/>
              </a:path>
            </a:pathLst>
          </a:custGeom>
          <a:noFill/>
          <a:ln w="25400" cap="rnd" cmpd="sng">
            <a:solidFill>
              <a:srgbClr val="0099FF">
                <a:alpha val="100000"/>
              </a:srgbClr>
            </a:solidFill>
            <a:prstDash val="solid"/>
            <a:round/>
            <a:headEnd type="none" w="sm" len="sm"/>
            <a:tailEnd type="none" w="sm" len="sm"/>
          </a:ln>
        </p:spPr>
        <p:txBody>
          <a:bodyPr/>
          <a:p>
            <a:endParaRPr lang="zh-CN" altLang="en-US"/>
          </a:p>
        </p:txBody>
      </p:sp>
      <p:sp>
        <p:nvSpPr>
          <p:cNvPr id="67593" name="Arc 9"/>
          <p:cNvSpPr/>
          <p:nvPr/>
        </p:nvSpPr>
        <p:spPr>
          <a:xfrm rot="10800000">
            <a:off x="5111750" y="1336675"/>
            <a:ext cx="1965325" cy="2547938"/>
          </a:xfrm>
          <a:custGeom>
            <a:avLst/>
            <a:gdLst>
              <a:gd name="txL" fmla="*/ 0 w 40497"/>
              <a:gd name="txT" fmla="*/ 0 h 21600"/>
              <a:gd name="txR" fmla="*/ 40497 w 40497"/>
              <a:gd name="txB" fmla="*/ 21600 h 21600"/>
            </a:gdLst>
            <a:ahLst/>
            <a:cxnLst>
              <a:cxn ang="0">
                <a:pos x="0" y="2147483646"/>
              </a:cxn>
              <a:cxn ang="0">
                <a:pos x="2147483646" y="2147483646"/>
              </a:cxn>
              <a:cxn ang="0">
                <a:pos x="2147483646" y="2147483646"/>
              </a:cxn>
            </a:cxnLst>
            <a:rect l="txL" t="txT" r="txR" b="txB"/>
            <a:pathLst>
              <a:path w="40497" h="21600" fill="none">
                <a:moveTo>
                  <a:pt x="-1" y="13911"/>
                </a:moveTo>
                <a:cubicBezTo>
                  <a:pt x="3189" y="5535"/>
                  <a:pt x="11221" y="-1"/>
                  <a:pt x="20185" y="0"/>
                </a:cubicBezTo>
                <a:cubicBezTo>
                  <a:pt x="29281" y="0"/>
                  <a:pt x="37402" y="5698"/>
                  <a:pt x="40496" y="14252"/>
                </a:cubicBezTo>
              </a:path>
              <a:path w="40497" h="21600" stroke="0">
                <a:moveTo>
                  <a:pt x="-1" y="13911"/>
                </a:moveTo>
                <a:cubicBezTo>
                  <a:pt x="3189" y="5535"/>
                  <a:pt x="11221" y="-1"/>
                  <a:pt x="20185" y="0"/>
                </a:cubicBezTo>
                <a:cubicBezTo>
                  <a:pt x="29281" y="0"/>
                  <a:pt x="37402" y="5698"/>
                  <a:pt x="40496" y="14252"/>
                </a:cubicBezTo>
                <a:lnTo>
                  <a:pt x="20185" y="21600"/>
                </a:lnTo>
                <a:lnTo>
                  <a:pt x="-1" y="13911"/>
                </a:lnTo>
                <a:close/>
              </a:path>
            </a:pathLst>
          </a:custGeom>
          <a:noFill/>
          <a:ln w="25400" cap="rnd" cmpd="sng">
            <a:solidFill>
              <a:srgbClr val="FF3300">
                <a:alpha val="100000"/>
              </a:srgbClr>
            </a:solidFill>
            <a:prstDash val="solid"/>
            <a:round/>
            <a:headEnd type="none" w="sm" len="sm"/>
            <a:tailEnd type="none" w="sm" len="sm"/>
          </a:ln>
        </p:spPr>
        <p:txBody>
          <a:bodyPr/>
          <a:p>
            <a:endParaRPr lang="zh-CN" altLang="en-US"/>
          </a:p>
        </p:txBody>
      </p:sp>
      <p:sp>
        <p:nvSpPr>
          <p:cNvPr id="67594" name="Arc 10"/>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67595" name="Line 11"/>
          <p:cNvSpPr/>
          <p:nvPr/>
        </p:nvSpPr>
        <p:spPr>
          <a:xfrm flipV="1">
            <a:off x="4240213" y="4251325"/>
            <a:ext cx="0" cy="798513"/>
          </a:xfrm>
          <a:prstGeom prst="line">
            <a:avLst/>
          </a:prstGeom>
          <a:ln w="12700" cap="flat" cmpd="sng">
            <a:solidFill>
              <a:schemeClr val="tx1"/>
            </a:solidFill>
            <a:prstDash val="dash"/>
            <a:headEnd type="none" w="sm" len="sm"/>
            <a:tailEnd type="none" w="sm" len="sm"/>
          </a:ln>
        </p:spPr>
      </p:sp>
      <p:sp>
        <p:nvSpPr>
          <p:cNvPr id="67596" name="Line 12"/>
          <p:cNvSpPr/>
          <p:nvPr/>
        </p:nvSpPr>
        <p:spPr>
          <a:xfrm>
            <a:off x="6302375" y="2736850"/>
            <a:ext cx="0" cy="2311400"/>
          </a:xfrm>
          <a:prstGeom prst="line">
            <a:avLst/>
          </a:prstGeom>
          <a:ln w="12700" cap="flat" cmpd="sng">
            <a:solidFill>
              <a:schemeClr val="tx1"/>
            </a:solidFill>
            <a:prstDash val="dash"/>
            <a:headEnd type="none" w="sm" len="sm"/>
            <a:tailEnd type="none" w="sm" len="sm"/>
          </a:ln>
        </p:spPr>
      </p:sp>
      <p:sp>
        <p:nvSpPr>
          <p:cNvPr id="67597" name="Line 13"/>
          <p:cNvSpPr/>
          <p:nvPr/>
        </p:nvSpPr>
        <p:spPr>
          <a:xfrm>
            <a:off x="2667000" y="4006850"/>
            <a:ext cx="0" cy="1041400"/>
          </a:xfrm>
          <a:prstGeom prst="line">
            <a:avLst/>
          </a:prstGeom>
          <a:ln w="12700" cap="flat" cmpd="sng">
            <a:solidFill>
              <a:schemeClr val="tx1"/>
            </a:solidFill>
            <a:prstDash val="dash"/>
            <a:headEnd type="none" w="sm" len="sm"/>
            <a:tailEnd type="none" w="sm" len="sm"/>
          </a:ln>
        </p:spPr>
      </p:sp>
      <p:sp>
        <p:nvSpPr>
          <p:cNvPr id="67598" name="Arc 14"/>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7599" name="Arc 15"/>
          <p:cNvSpPr/>
          <p:nvPr/>
        </p:nvSpPr>
        <p:spPr>
          <a:xfrm>
            <a:off x="3678238" y="3068638"/>
            <a:ext cx="747712" cy="1716087"/>
          </a:xfrm>
          <a:custGeom>
            <a:avLst/>
            <a:gdLst>
              <a:gd name="txL" fmla="*/ 0 w 21506"/>
              <a:gd name="txT" fmla="*/ 0 h 20714"/>
              <a:gd name="txR" fmla="*/ 21506 w 21506"/>
              <a:gd name="txB" fmla="*/ 20714 h 20714"/>
            </a:gdLst>
            <a:ahLst/>
            <a:cxnLst>
              <a:cxn ang="0">
                <a:pos x="903823773" y="1146348187"/>
              </a:cxn>
              <a:cxn ang="0">
                <a:pos x="257371086" y="2147483646"/>
              </a:cxn>
              <a:cxn ang="0">
                <a:pos x="0" y="0"/>
              </a:cxn>
            </a:cxnLst>
            <a:rect l="txL" t="txT" r="txR" b="txB"/>
            <a:pathLst>
              <a:path w="21506" h="20714" fill="none">
                <a:moveTo>
                  <a:pt x="21505" y="2015"/>
                </a:moveTo>
                <a:cubicBezTo>
                  <a:pt x="20681" y="10806"/>
                  <a:pt x="14590" y="18210"/>
                  <a:pt x="6123" y="20713"/>
                </a:cubicBezTo>
              </a:path>
              <a:path w="21506" h="20714" stroke="0">
                <a:moveTo>
                  <a:pt x="21505" y="2015"/>
                </a:moveTo>
                <a:cubicBezTo>
                  <a:pt x="20681" y="10806"/>
                  <a:pt x="14590" y="18210"/>
                  <a:pt x="6123" y="20713"/>
                </a:cubicBezTo>
                <a:lnTo>
                  <a:pt x="0" y="0"/>
                </a:lnTo>
                <a:lnTo>
                  <a:pt x="21505" y="2015"/>
                </a:lnTo>
                <a:close/>
              </a:path>
            </a:pathLst>
          </a:custGeom>
          <a:noFill/>
          <a:ln w="25400" cap="rnd" cmpd="sng">
            <a:solidFill>
              <a:srgbClr val="0099FF">
                <a:alpha val="100000"/>
              </a:srgbClr>
            </a:solidFill>
            <a:prstDash val="dash"/>
            <a:round/>
            <a:headEnd type="none" w="sm" len="sm"/>
            <a:tailEnd type="none" w="sm" len="sm"/>
          </a:ln>
        </p:spPr>
        <p:txBody>
          <a:bodyPr/>
          <a:p>
            <a:endParaRPr lang="zh-CN" altLang="en-US"/>
          </a:p>
        </p:txBody>
      </p:sp>
      <p:sp>
        <p:nvSpPr>
          <p:cNvPr id="67600" name="Rectangle 16"/>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7601" name="Rectangle 17"/>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7602" name="Rectangle 18"/>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7603" name="Rectangle 19"/>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8611"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8612"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8613"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8614" name="Arc 6"/>
          <p:cNvSpPr/>
          <p:nvPr/>
        </p:nvSpPr>
        <p:spPr>
          <a:xfrm>
            <a:off x="1119188" y="881063"/>
            <a:ext cx="5749925" cy="3935412"/>
          </a:xfrm>
          <a:custGeom>
            <a:avLst/>
            <a:gdLst>
              <a:gd name="txL" fmla="*/ 0 w 21203"/>
              <a:gd name="txT" fmla="*/ 0 h 21505"/>
              <a:gd name="txR" fmla="*/ 21203 w 21203"/>
              <a:gd name="txB" fmla="*/ 21505 h 21505"/>
            </a:gdLst>
            <a:ahLst/>
            <a:cxnLst>
              <a:cxn ang="0">
                <a:pos x="2147483646" y="2147483646"/>
              </a:cxn>
              <a:cxn ang="0">
                <a:pos x="2147483646" y="2147483646"/>
              </a:cxn>
              <a:cxn ang="0">
                <a:pos x="0" y="0"/>
              </a:cxn>
            </a:cxnLst>
            <a:rect l="txL" t="txT" r="txR" b="txB"/>
            <a:pathLst>
              <a:path w="21203" h="21505" fill="none">
                <a:moveTo>
                  <a:pt x="21203" y="4121"/>
                </a:moveTo>
                <a:cubicBezTo>
                  <a:pt x="19374" y="13530"/>
                  <a:pt x="11563" y="20608"/>
                  <a:pt x="2020" y="21505"/>
                </a:cubicBezTo>
              </a:path>
              <a:path w="21203" h="21505" stroke="0">
                <a:moveTo>
                  <a:pt x="21203" y="4121"/>
                </a:moveTo>
                <a:cubicBezTo>
                  <a:pt x="19374" y="13530"/>
                  <a:pt x="11563" y="20608"/>
                  <a:pt x="2020" y="21505"/>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8615" name="Arc 7"/>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68616" name="Line 8"/>
          <p:cNvSpPr/>
          <p:nvPr/>
        </p:nvSpPr>
        <p:spPr>
          <a:xfrm flipV="1">
            <a:off x="4240213" y="4251325"/>
            <a:ext cx="0" cy="798513"/>
          </a:xfrm>
          <a:prstGeom prst="line">
            <a:avLst/>
          </a:prstGeom>
          <a:ln w="12700" cap="flat" cmpd="sng">
            <a:solidFill>
              <a:schemeClr val="tx1"/>
            </a:solidFill>
            <a:prstDash val="dash"/>
            <a:headEnd type="none" w="sm" len="sm"/>
            <a:tailEnd type="none" w="sm" len="sm"/>
          </a:ln>
        </p:spPr>
      </p:sp>
      <p:sp>
        <p:nvSpPr>
          <p:cNvPr id="68617" name="Line 9"/>
          <p:cNvSpPr/>
          <p:nvPr/>
        </p:nvSpPr>
        <p:spPr>
          <a:xfrm>
            <a:off x="6302375" y="2736850"/>
            <a:ext cx="0" cy="2311400"/>
          </a:xfrm>
          <a:prstGeom prst="line">
            <a:avLst/>
          </a:prstGeom>
          <a:ln w="12700" cap="flat" cmpd="sng">
            <a:solidFill>
              <a:schemeClr val="tx1"/>
            </a:solidFill>
            <a:prstDash val="dash"/>
            <a:headEnd type="none" w="sm" len="sm"/>
            <a:tailEnd type="none" w="sm" len="sm"/>
          </a:ln>
        </p:spPr>
      </p:sp>
      <p:sp>
        <p:nvSpPr>
          <p:cNvPr id="68618" name="Line 10"/>
          <p:cNvSpPr/>
          <p:nvPr/>
        </p:nvSpPr>
        <p:spPr>
          <a:xfrm>
            <a:off x="2667000" y="4006850"/>
            <a:ext cx="0" cy="1041400"/>
          </a:xfrm>
          <a:prstGeom prst="line">
            <a:avLst/>
          </a:prstGeom>
          <a:ln w="12700" cap="flat" cmpd="sng">
            <a:solidFill>
              <a:schemeClr val="tx1"/>
            </a:solidFill>
            <a:prstDash val="dash"/>
            <a:headEnd type="none" w="sm" len="sm"/>
            <a:tailEnd type="none" w="sm" len="sm"/>
          </a:ln>
        </p:spPr>
      </p:sp>
      <p:sp>
        <p:nvSpPr>
          <p:cNvPr id="68619" name="Arc 11"/>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8620" name="Arc 12"/>
          <p:cNvSpPr/>
          <p:nvPr/>
        </p:nvSpPr>
        <p:spPr>
          <a:xfrm>
            <a:off x="3678238" y="3068638"/>
            <a:ext cx="747712" cy="1716087"/>
          </a:xfrm>
          <a:custGeom>
            <a:avLst/>
            <a:gdLst>
              <a:gd name="txL" fmla="*/ 0 w 21506"/>
              <a:gd name="txT" fmla="*/ 0 h 20714"/>
              <a:gd name="txR" fmla="*/ 21506 w 21506"/>
              <a:gd name="txB" fmla="*/ 20714 h 20714"/>
            </a:gdLst>
            <a:ahLst/>
            <a:cxnLst>
              <a:cxn ang="0">
                <a:pos x="903823773" y="1146348187"/>
              </a:cxn>
              <a:cxn ang="0">
                <a:pos x="257371086" y="2147483646"/>
              </a:cxn>
              <a:cxn ang="0">
                <a:pos x="0" y="0"/>
              </a:cxn>
            </a:cxnLst>
            <a:rect l="txL" t="txT" r="txR" b="txB"/>
            <a:pathLst>
              <a:path w="21506" h="20714" fill="none">
                <a:moveTo>
                  <a:pt x="21505" y="2015"/>
                </a:moveTo>
                <a:cubicBezTo>
                  <a:pt x="20681" y="10806"/>
                  <a:pt x="14590" y="18210"/>
                  <a:pt x="6123" y="20713"/>
                </a:cubicBezTo>
              </a:path>
              <a:path w="21506" h="20714" stroke="0">
                <a:moveTo>
                  <a:pt x="21505" y="2015"/>
                </a:moveTo>
                <a:cubicBezTo>
                  <a:pt x="20681" y="10806"/>
                  <a:pt x="14590" y="18210"/>
                  <a:pt x="6123" y="20713"/>
                </a:cubicBezTo>
                <a:lnTo>
                  <a:pt x="0" y="0"/>
                </a:lnTo>
                <a:lnTo>
                  <a:pt x="21505" y="2015"/>
                </a:lnTo>
                <a:close/>
              </a:path>
            </a:pathLst>
          </a:custGeom>
          <a:noFill/>
          <a:ln w="25400" cap="rnd" cmpd="sng">
            <a:solidFill>
              <a:srgbClr val="0099FF">
                <a:alpha val="100000"/>
              </a:srgbClr>
            </a:solidFill>
            <a:prstDash val="dash"/>
            <a:round/>
            <a:headEnd type="none" w="sm" len="sm"/>
            <a:tailEnd type="none" w="sm" len="sm"/>
          </a:ln>
        </p:spPr>
        <p:txBody>
          <a:bodyPr/>
          <a:p>
            <a:endParaRPr lang="zh-CN" altLang="en-US"/>
          </a:p>
        </p:txBody>
      </p:sp>
      <p:sp>
        <p:nvSpPr>
          <p:cNvPr id="68621" name="Rectangle 13"/>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8622" name="Rectangle 14"/>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8623" name="Rectangle 15"/>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8624" name="Rectangle 16"/>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69635"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69636"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69637"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69638" name="Arc 6"/>
          <p:cNvSpPr/>
          <p:nvPr/>
        </p:nvSpPr>
        <p:spPr>
          <a:xfrm>
            <a:off x="1119188" y="881063"/>
            <a:ext cx="5749925" cy="3357562"/>
          </a:xfrm>
          <a:custGeom>
            <a:avLst/>
            <a:gdLst>
              <a:gd name="txL" fmla="*/ 0 w 21203"/>
              <a:gd name="txT" fmla="*/ 0 h 18343"/>
              <a:gd name="txR" fmla="*/ 21203 w 21203"/>
              <a:gd name="txB" fmla="*/ 18343 h 18343"/>
            </a:gdLst>
            <a:ahLst/>
            <a:cxnLst>
              <a:cxn ang="0">
                <a:pos x="2147483646" y="2147483646"/>
              </a:cxn>
              <a:cxn ang="0">
                <a:pos x="2147483646" y="2147483646"/>
              </a:cxn>
              <a:cxn ang="0">
                <a:pos x="0" y="0"/>
              </a:cxn>
            </a:cxnLst>
            <a:rect l="txL" t="txT" r="txR" b="txB"/>
            <a:pathLst>
              <a:path w="21203" h="18343" fill="none">
                <a:moveTo>
                  <a:pt x="21203" y="4121"/>
                </a:moveTo>
                <a:cubicBezTo>
                  <a:pt x="20057" y="10017"/>
                  <a:pt x="16507" y="15170"/>
                  <a:pt x="11405" y="18342"/>
                </a:cubicBezTo>
              </a:path>
              <a:path w="21203" h="18343" stroke="0">
                <a:moveTo>
                  <a:pt x="21203" y="4121"/>
                </a:moveTo>
                <a:cubicBezTo>
                  <a:pt x="20057" y="10017"/>
                  <a:pt x="16507" y="15170"/>
                  <a:pt x="11405" y="18342"/>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69639" name="Arc 7"/>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69640" name="Line 8"/>
          <p:cNvSpPr/>
          <p:nvPr/>
        </p:nvSpPr>
        <p:spPr>
          <a:xfrm flipV="1">
            <a:off x="4240213" y="4251325"/>
            <a:ext cx="0" cy="798513"/>
          </a:xfrm>
          <a:prstGeom prst="line">
            <a:avLst/>
          </a:prstGeom>
          <a:ln w="12700" cap="flat" cmpd="sng">
            <a:solidFill>
              <a:schemeClr val="tx1"/>
            </a:solidFill>
            <a:prstDash val="dash"/>
            <a:headEnd type="none" w="sm" len="sm"/>
            <a:tailEnd type="none" w="sm" len="sm"/>
          </a:ln>
        </p:spPr>
      </p:sp>
      <p:sp>
        <p:nvSpPr>
          <p:cNvPr id="69641" name="Line 9"/>
          <p:cNvSpPr/>
          <p:nvPr/>
        </p:nvSpPr>
        <p:spPr>
          <a:xfrm>
            <a:off x="6302375" y="2736850"/>
            <a:ext cx="0" cy="2311400"/>
          </a:xfrm>
          <a:prstGeom prst="line">
            <a:avLst/>
          </a:prstGeom>
          <a:ln w="12700" cap="flat" cmpd="sng">
            <a:solidFill>
              <a:schemeClr val="tx1"/>
            </a:solidFill>
            <a:prstDash val="dash"/>
            <a:headEnd type="none" w="sm" len="sm"/>
            <a:tailEnd type="none" w="sm" len="sm"/>
          </a:ln>
        </p:spPr>
      </p:sp>
      <p:sp>
        <p:nvSpPr>
          <p:cNvPr id="69642" name="Line 10"/>
          <p:cNvSpPr/>
          <p:nvPr/>
        </p:nvSpPr>
        <p:spPr>
          <a:xfrm>
            <a:off x="2667000" y="4006850"/>
            <a:ext cx="0" cy="1041400"/>
          </a:xfrm>
          <a:prstGeom prst="line">
            <a:avLst/>
          </a:prstGeom>
          <a:ln w="12700" cap="flat" cmpd="sng">
            <a:solidFill>
              <a:schemeClr val="tx1"/>
            </a:solidFill>
            <a:prstDash val="dash"/>
            <a:headEnd type="none" w="sm" len="sm"/>
            <a:tailEnd type="none" w="sm" len="sm"/>
          </a:ln>
        </p:spPr>
      </p:sp>
      <p:sp>
        <p:nvSpPr>
          <p:cNvPr id="69643" name="Arc 11"/>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69644" name="Arc 12"/>
          <p:cNvSpPr/>
          <p:nvPr/>
        </p:nvSpPr>
        <p:spPr>
          <a:xfrm>
            <a:off x="3678238" y="3068638"/>
            <a:ext cx="747712" cy="1716087"/>
          </a:xfrm>
          <a:custGeom>
            <a:avLst/>
            <a:gdLst>
              <a:gd name="txL" fmla="*/ 0 w 21506"/>
              <a:gd name="txT" fmla="*/ 0 h 20714"/>
              <a:gd name="txR" fmla="*/ 21506 w 21506"/>
              <a:gd name="txB" fmla="*/ 20714 h 20714"/>
            </a:gdLst>
            <a:ahLst/>
            <a:cxnLst>
              <a:cxn ang="0">
                <a:pos x="903823773" y="1146348187"/>
              </a:cxn>
              <a:cxn ang="0">
                <a:pos x="257371086" y="2147483646"/>
              </a:cxn>
              <a:cxn ang="0">
                <a:pos x="0" y="0"/>
              </a:cxn>
            </a:cxnLst>
            <a:rect l="txL" t="txT" r="txR" b="txB"/>
            <a:pathLst>
              <a:path w="21506" h="20714" fill="none">
                <a:moveTo>
                  <a:pt x="21505" y="2015"/>
                </a:moveTo>
                <a:cubicBezTo>
                  <a:pt x="20681" y="10806"/>
                  <a:pt x="14590" y="18210"/>
                  <a:pt x="6123" y="20713"/>
                </a:cubicBezTo>
              </a:path>
              <a:path w="21506" h="20714" stroke="0">
                <a:moveTo>
                  <a:pt x="21505" y="2015"/>
                </a:moveTo>
                <a:cubicBezTo>
                  <a:pt x="20681" y="10806"/>
                  <a:pt x="14590" y="18210"/>
                  <a:pt x="6123" y="20713"/>
                </a:cubicBezTo>
                <a:lnTo>
                  <a:pt x="0" y="0"/>
                </a:lnTo>
                <a:lnTo>
                  <a:pt x="21505" y="2015"/>
                </a:lnTo>
                <a:close/>
              </a:path>
            </a:pathLst>
          </a:custGeom>
          <a:noFill/>
          <a:ln w="25400" cap="rnd" cmpd="sng">
            <a:solidFill>
              <a:srgbClr val="0099FF">
                <a:alpha val="100000"/>
              </a:srgbClr>
            </a:solidFill>
            <a:prstDash val="dash"/>
            <a:round/>
            <a:headEnd type="none" w="sm" len="sm"/>
            <a:tailEnd type="none" w="sm" len="sm"/>
          </a:ln>
        </p:spPr>
        <p:txBody>
          <a:bodyPr/>
          <a:p>
            <a:endParaRPr lang="zh-CN" altLang="en-US"/>
          </a:p>
        </p:txBody>
      </p:sp>
      <p:sp>
        <p:nvSpPr>
          <p:cNvPr id="69645" name="Rectangle 13"/>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69646" name="Rectangle 14"/>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69647" name="Rectangle 15"/>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69648" name="Rectangle 16"/>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The Firm</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Long &amp; Short-Run Supply Decisions</a:t>
            </a:r>
            <a:endParaRPr lang="en-US" altLang="zh-CN" dirty="0">
              <a:ea typeface="宋体" panose="02010600030101010101" pitchFamily="2" charset="-122"/>
            </a:endParaRPr>
          </a:p>
        </p:txBody>
      </p:sp>
      <p:sp>
        <p:nvSpPr>
          <p:cNvPr id="70659" name="Line 3"/>
          <p:cNvSpPr/>
          <p:nvPr/>
        </p:nvSpPr>
        <p:spPr>
          <a:xfrm>
            <a:off x="1381125" y="1500188"/>
            <a:ext cx="0" cy="3548062"/>
          </a:xfrm>
          <a:prstGeom prst="line">
            <a:avLst/>
          </a:prstGeom>
          <a:ln w="12700" cap="flat" cmpd="sng">
            <a:solidFill>
              <a:schemeClr val="tx1"/>
            </a:solidFill>
            <a:prstDash val="solid"/>
            <a:headEnd type="stealth" w="med" len="lg"/>
            <a:tailEnd type="none" w="sm" len="sm"/>
          </a:ln>
        </p:spPr>
      </p:sp>
      <p:sp>
        <p:nvSpPr>
          <p:cNvPr id="70660" name="Line 4"/>
          <p:cNvSpPr/>
          <p:nvPr/>
        </p:nvSpPr>
        <p:spPr>
          <a:xfrm>
            <a:off x="1381125" y="5048250"/>
            <a:ext cx="5881688" cy="0"/>
          </a:xfrm>
          <a:prstGeom prst="line">
            <a:avLst/>
          </a:prstGeom>
          <a:ln w="12700" cap="flat" cmpd="sng">
            <a:solidFill>
              <a:schemeClr val="tx1"/>
            </a:solidFill>
            <a:prstDash val="solid"/>
            <a:headEnd type="none" w="sm" len="sm"/>
            <a:tailEnd type="stealth" w="med" len="lg"/>
          </a:ln>
        </p:spPr>
      </p:sp>
      <p:sp>
        <p:nvSpPr>
          <p:cNvPr id="70661" name="Arc 5"/>
          <p:cNvSpPr/>
          <p:nvPr/>
        </p:nvSpPr>
        <p:spPr>
          <a:xfrm rot="10800000">
            <a:off x="1431925" y="2573338"/>
            <a:ext cx="5683250" cy="1689100"/>
          </a:xfrm>
          <a:custGeom>
            <a:avLst/>
            <a:gdLst>
              <a:gd name="txL" fmla="*/ 0 w 39462"/>
              <a:gd name="txT" fmla="*/ 0 h 21600"/>
              <a:gd name="txR" fmla="*/ 39462 w 39462"/>
              <a:gd name="txB" fmla="*/ 21600 h 21600"/>
            </a:gdLst>
            <a:ahLst/>
            <a:cxnLst>
              <a:cxn ang="0">
                <a:pos x="0" y="2147483646"/>
              </a:cxn>
              <a:cxn ang="0">
                <a:pos x="2147483646" y="2147483646"/>
              </a:cxn>
              <a:cxn ang="0">
                <a:pos x="2147483646" y="2147483646"/>
              </a:cxn>
            </a:cxnLst>
            <a:rect l="txL" t="txT" r="txR" b="txB"/>
            <a:pathLst>
              <a:path w="39462" h="21600" fill="none">
                <a:moveTo>
                  <a:pt x="-1" y="12633"/>
                </a:moveTo>
                <a:cubicBezTo>
                  <a:pt x="3511" y="4937"/>
                  <a:pt x="11191" y="-1"/>
                  <a:pt x="19651" y="0"/>
                </a:cubicBezTo>
                <a:cubicBezTo>
                  <a:pt x="28252" y="0"/>
                  <a:pt x="36033" y="5103"/>
                  <a:pt x="39461" y="12992"/>
                </a:cubicBezTo>
              </a:path>
              <a:path w="39462" h="21600" stroke="0">
                <a:moveTo>
                  <a:pt x="-1" y="12633"/>
                </a:moveTo>
                <a:cubicBezTo>
                  <a:pt x="3511" y="4937"/>
                  <a:pt x="11191" y="-1"/>
                  <a:pt x="19651" y="0"/>
                </a:cubicBezTo>
                <a:cubicBezTo>
                  <a:pt x="28252" y="0"/>
                  <a:pt x="36033" y="5103"/>
                  <a:pt x="39461" y="12992"/>
                </a:cubicBezTo>
                <a:lnTo>
                  <a:pt x="19651" y="21600"/>
                </a:lnTo>
                <a:lnTo>
                  <a:pt x="-1" y="12633"/>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70662" name="Arc 6"/>
          <p:cNvSpPr/>
          <p:nvPr/>
        </p:nvSpPr>
        <p:spPr>
          <a:xfrm>
            <a:off x="1119188" y="881063"/>
            <a:ext cx="5749925" cy="3357562"/>
          </a:xfrm>
          <a:custGeom>
            <a:avLst/>
            <a:gdLst>
              <a:gd name="txL" fmla="*/ 0 w 21203"/>
              <a:gd name="txT" fmla="*/ 0 h 18343"/>
              <a:gd name="txR" fmla="*/ 21203 w 21203"/>
              <a:gd name="txB" fmla="*/ 18343 h 18343"/>
            </a:gdLst>
            <a:ahLst/>
            <a:cxnLst>
              <a:cxn ang="0">
                <a:pos x="2147483646" y="2147483646"/>
              </a:cxn>
              <a:cxn ang="0">
                <a:pos x="2147483646" y="2147483646"/>
              </a:cxn>
              <a:cxn ang="0">
                <a:pos x="0" y="0"/>
              </a:cxn>
            </a:cxnLst>
            <a:rect l="txL" t="txT" r="txR" b="txB"/>
            <a:pathLst>
              <a:path w="21203" h="18343" fill="none">
                <a:moveTo>
                  <a:pt x="21203" y="4121"/>
                </a:moveTo>
                <a:cubicBezTo>
                  <a:pt x="20057" y="10017"/>
                  <a:pt x="16507" y="15170"/>
                  <a:pt x="11405" y="18342"/>
                </a:cubicBezTo>
              </a:path>
              <a:path w="21203" h="18343" stroke="0">
                <a:moveTo>
                  <a:pt x="21203" y="4121"/>
                </a:moveTo>
                <a:cubicBezTo>
                  <a:pt x="20057" y="10017"/>
                  <a:pt x="16507" y="15170"/>
                  <a:pt x="11405" y="18342"/>
                </a:cubicBezTo>
                <a:lnTo>
                  <a:pt x="0" y="0"/>
                </a:lnTo>
                <a:lnTo>
                  <a:pt x="21203" y="4121"/>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70663" name="Arc 7"/>
          <p:cNvSpPr/>
          <p:nvPr/>
        </p:nvSpPr>
        <p:spPr>
          <a:xfrm>
            <a:off x="2379663" y="3000375"/>
            <a:ext cx="517525" cy="1916113"/>
          </a:xfrm>
          <a:custGeom>
            <a:avLst/>
            <a:gdLst>
              <a:gd name="txL" fmla="*/ 0 w 21445"/>
              <a:gd name="txT" fmla="*/ 0 h 19969"/>
              <a:gd name="txR" fmla="*/ 21445 w 21445"/>
              <a:gd name="txB" fmla="*/ 19969 h 19969"/>
            </a:gdLst>
            <a:ahLst/>
            <a:cxnLst>
              <a:cxn ang="0">
                <a:pos x="301399031" y="2147483646"/>
              </a:cxn>
              <a:cxn ang="0">
                <a:pos x="115724647" y="2147483646"/>
              </a:cxn>
              <a:cxn ang="0">
                <a:pos x="0" y="0"/>
              </a:cxn>
            </a:cxnLst>
            <a:rect l="txL" t="txT" r="txR" b="txB"/>
            <a:pathLst>
              <a:path w="21445" h="19969" fill="none">
                <a:moveTo>
                  <a:pt x="21444" y="2584"/>
                </a:moveTo>
                <a:cubicBezTo>
                  <a:pt x="20509" y="10342"/>
                  <a:pt x="15457" y="16990"/>
                  <a:pt x="8234" y="19969"/>
                </a:cubicBezTo>
              </a:path>
              <a:path w="21445" h="19969" stroke="0">
                <a:moveTo>
                  <a:pt x="21444" y="2584"/>
                </a:moveTo>
                <a:cubicBezTo>
                  <a:pt x="20509" y="10342"/>
                  <a:pt x="15457" y="16990"/>
                  <a:pt x="8234" y="19969"/>
                </a:cubicBezTo>
                <a:lnTo>
                  <a:pt x="0" y="0"/>
                </a:lnTo>
                <a:lnTo>
                  <a:pt x="21444" y="2584"/>
                </a:lnTo>
                <a:close/>
              </a:path>
            </a:pathLst>
          </a:custGeom>
          <a:noFill/>
          <a:ln w="25400" cap="rnd" cmpd="sng">
            <a:solidFill>
              <a:schemeClr val="accent1">
                <a:alpha val="100000"/>
              </a:schemeClr>
            </a:solidFill>
            <a:prstDash val="dash"/>
            <a:round/>
            <a:headEnd type="none" w="sm" len="sm"/>
            <a:tailEnd type="none" w="sm" len="sm"/>
          </a:ln>
        </p:spPr>
        <p:txBody>
          <a:bodyPr/>
          <a:p>
            <a:endParaRPr lang="zh-CN" altLang="en-US"/>
          </a:p>
        </p:txBody>
      </p:sp>
      <p:sp>
        <p:nvSpPr>
          <p:cNvPr id="70664" name="Line 8"/>
          <p:cNvSpPr/>
          <p:nvPr/>
        </p:nvSpPr>
        <p:spPr>
          <a:xfrm flipV="1">
            <a:off x="4240213" y="4251325"/>
            <a:ext cx="0" cy="798513"/>
          </a:xfrm>
          <a:prstGeom prst="line">
            <a:avLst/>
          </a:prstGeom>
          <a:ln w="12700" cap="flat" cmpd="sng">
            <a:solidFill>
              <a:schemeClr val="tx1"/>
            </a:solidFill>
            <a:prstDash val="dash"/>
            <a:headEnd type="none" w="sm" len="sm"/>
            <a:tailEnd type="none" w="sm" len="sm"/>
          </a:ln>
        </p:spPr>
      </p:sp>
      <p:sp>
        <p:nvSpPr>
          <p:cNvPr id="70665" name="Line 9"/>
          <p:cNvSpPr/>
          <p:nvPr/>
        </p:nvSpPr>
        <p:spPr>
          <a:xfrm>
            <a:off x="6302375" y="2736850"/>
            <a:ext cx="0" cy="2311400"/>
          </a:xfrm>
          <a:prstGeom prst="line">
            <a:avLst/>
          </a:prstGeom>
          <a:ln w="12700" cap="flat" cmpd="sng">
            <a:solidFill>
              <a:schemeClr val="tx1"/>
            </a:solidFill>
            <a:prstDash val="dash"/>
            <a:headEnd type="none" w="sm" len="sm"/>
            <a:tailEnd type="none" w="sm" len="sm"/>
          </a:ln>
        </p:spPr>
      </p:sp>
      <p:sp>
        <p:nvSpPr>
          <p:cNvPr id="70666" name="Line 10"/>
          <p:cNvSpPr/>
          <p:nvPr/>
        </p:nvSpPr>
        <p:spPr>
          <a:xfrm>
            <a:off x="2667000" y="4006850"/>
            <a:ext cx="0" cy="1041400"/>
          </a:xfrm>
          <a:prstGeom prst="line">
            <a:avLst/>
          </a:prstGeom>
          <a:ln w="12700" cap="flat" cmpd="sng">
            <a:solidFill>
              <a:schemeClr val="tx1"/>
            </a:solidFill>
            <a:prstDash val="dash"/>
            <a:headEnd type="none" w="sm" len="sm"/>
            <a:tailEnd type="none" w="sm" len="sm"/>
          </a:ln>
        </p:spPr>
      </p:sp>
      <p:sp>
        <p:nvSpPr>
          <p:cNvPr id="70667" name="Arc 11"/>
          <p:cNvSpPr/>
          <p:nvPr/>
        </p:nvSpPr>
        <p:spPr>
          <a:xfrm>
            <a:off x="5395913" y="2044700"/>
            <a:ext cx="938212" cy="2559050"/>
          </a:xfrm>
          <a:custGeom>
            <a:avLst/>
            <a:gdLst>
              <a:gd name="txL" fmla="*/ 0 w 21600"/>
              <a:gd name="txT" fmla="*/ 0 h 20718"/>
              <a:gd name="txR" fmla="*/ 21600 w 21600"/>
              <a:gd name="txB" fmla="*/ 20718 h 20718"/>
            </a:gdLst>
            <a:ahLst/>
            <a:cxnLst>
              <a:cxn ang="0">
                <a:pos x="1770090223" y="0"/>
              </a:cxn>
              <a:cxn ang="0">
                <a:pos x="500624363" y="2147483646"/>
              </a:cxn>
              <a:cxn ang="0">
                <a:pos x="0" y="0"/>
              </a:cxn>
            </a:cxnLst>
            <a:rect l="txL" t="txT" r="txR" b="txB"/>
            <a:pathLst>
              <a:path w="21600" h="20718" fill="none">
                <a:moveTo>
                  <a:pt x="21600" y="0"/>
                </a:moveTo>
                <a:cubicBezTo>
                  <a:pt x="21600" y="9576"/>
                  <a:pt x="15294" y="18009"/>
                  <a:pt x="6109" y="20718"/>
                </a:cubicBezTo>
              </a:path>
              <a:path w="21600" h="20718" stroke="0">
                <a:moveTo>
                  <a:pt x="21600" y="0"/>
                </a:moveTo>
                <a:cubicBezTo>
                  <a:pt x="21600" y="9576"/>
                  <a:pt x="15294" y="18009"/>
                  <a:pt x="6109" y="20718"/>
                </a:cubicBezTo>
                <a:lnTo>
                  <a:pt x="0" y="0"/>
                </a:lnTo>
                <a:lnTo>
                  <a:pt x="21600" y="0"/>
                </a:lnTo>
                <a:close/>
              </a:path>
            </a:pathLst>
          </a:custGeom>
          <a:noFill/>
          <a:ln w="25400" cap="rnd" cmpd="sng">
            <a:solidFill>
              <a:srgbClr val="FF3300">
                <a:alpha val="100000"/>
              </a:srgbClr>
            </a:solidFill>
            <a:prstDash val="dash"/>
            <a:round/>
            <a:headEnd type="none" w="sm" len="sm"/>
            <a:tailEnd type="none" w="sm" len="sm"/>
          </a:ln>
        </p:spPr>
        <p:txBody>
          <a:bodyPr/>
          <a:p>
            <a:endParaRPr lang="zh-CN" altLang="en-US"/>
          </a:p>
        </p:txBody>
      </p:sp>
      <p:sp>
        <p:nvSpPr>
          <p:cNvPr id="70668" name="Arc 12"/>
          <p:cNvSpPr/>
          <p:nvPr/>
        </p:nvSpPr>
        <p:spPr>
          <a:xfrm>
            <a:off x="3678238" y="3068638"/>
            <a:ext cx="747712" cy="1716087"/>
          </a:xfrm>
          <a:custGeom>
            <a:avLst/>
            <a:gdLst>
              <a:gd name="txL" fmla="*/ 0 w 21506"/>
              <a:gd name="txT" fmla="*/ 0 h 20714"/>
              <a:gd name="txR" fmla="*/ 21506 w 21506"/>
              <a:gd name="txB" fmla="*/ 20714 h 20714"/>
            </a:gdLst>
            <a:ahLst/>
            <a:cxnLst>
              <a:cxn ang="0">
                <a:pos x="903823773" y="1146348187"/>
              </a:cxn>
              <a:cxn ang="0">
                <a:pos x="257371086" y="2147483646"/>
              </a:cxn>
              <a:cxn ang="0">
                <a:pos x="0" y="0"/>
              </a:cxn>
            </a:cxnLst>
            <a:rect l="txL" t="txT" r="txR" b="txB"/>
            <a:pathLst>
              <a:path w="21506" h="20714" fill="none">
                <a:moveTo>
                  <a:pt x="21505" y="2015"/>
                </a:moveTo>
                <a:cubicBezTo>
                  <a:pt x="20681" y="10806"/>
                  <a:pt x="14590" y="18210"/>
                  <a:pt x="6123" y="20713"/>
                </a:cubicBezTo>
              </a:path>
              <a:path w="21506" h="20714" stroke="0">
                <a:moveTo>
                  <a:pt x="21505" y="2015"/>
                </a:moveTo>
                <a:cubicBezTo>
                  <a:pt x="20681" y="10806"/>
                  <a:pt x="14590" y="18210"/>
                  <a:pt x="6123" y="20713"/>
                </a:cubicBezTo>
                <a:lnTo>
                  <a:pt x="0" y="0"/>
                </a:lnTo>
                <a:lnTo>
                  <a:pt x="21505" y="2015"/>
                </a:lnTo>
                <a:close/>
              </a:path>
            </a:pathLst>
          </a:custGeom>
          <a:noFill/>
          <a:ln w="25400" cap="rnd" cmpd="sng">
            <a:solidFill>
              <a:srgbClr val="0099FF">
                <a:alpha val="100000"/>
              </a:srgbClr>
            </a:solidFill>
            <a:prstDash val="dash"/>
            <a:round/>
            <a:headEnd type="none" w="sm" len="sm"/>
            <a:tailEnd type="none" w="sm" len="sm"/>
          </a:ln>
        </p:spPr>
        <p:txBody>
          <a:bodyPr/>
          <a:p>
            <a:endParaRPr lang="zh-CN" altLang="en-US"/>
          </a:p>
        </p:txBody>
      </p:sp>
      <p:sp>
        <p:nvSpPr>
          <p:cNvPr id="70669" name="Rectangle 13"/>
          <p:cNvSpPr/>
          <p:nvPr/>
        </p:nvSpPr>
        <p:spPr>
          <a:xfrm>
            <a:off x="6861175" y="1419225"/>
            <a:ext cx="1171575"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chemeClr val="hlink"/>
                </a:solidFill>
                <a:ea typeface="宋体" panose="02010600030101010101" pitchFamily="2" charset="-122"/>
              </a:rPr>
              <a:t>MC(y)</a:t>
            </a:r>
            <a:endParaRPr lang="en-US" altLang="zh-CN" sz="2800" dirty="0">
              <a:solidFill>
                <a:schemeClr val="hlink"/>
              </a:solidFill>
              <a:ea typeface="宋体" panose="02010600030101010101" pitchFamily="2" charset="-122"/>
            </a:endParaRPr>
          </a:p>
        </p:txBody>
      </p:sp>
      <p:sp>
        <p:nvSpPr>
          <p:cNvPr id="70670" name="Rectangle 14"/>
          <p:cNvSpPr/>
          <p:nvPr/>
        </p:nvSpPr>
        <p:spPr>
          <a:xfrm>
            <a:off x="7075488" y="3038475"/>
            <a:ext cx="1131887"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solidFill>
                  <a:srgbClr val="20F90F"/>
                </a:solidFill>
                <a:ea typeface="宋体" panose="02010600030101010101" pitchFamily="2" charset="-122"/>
              </a:rPr>
              <a:t>AC(y)</a:t>
            </a:r>
            <a:endParaRPr lang="en-US" altLang="zh-CN" sz="2800" dirty="0">
              <a:solidFill>
                <a:srgbClr val="20F90F"/>
              </a:solidFill>
              <a:ea typeface="宋体" panose="02010600030101010101" pitchFamily="2" charset="-122"/>
            </a:endParaRPr>
          </a:p>
        </p:txBody>
      </p:sp>
      <p:sp>
        <p:nvSpPr>
          <p:cNvPr id="70671" name="Rectangle 15"/>
          <p:cNvSpPr/>
          <p:nvPr/>
        </p:nvSpPr>
        <p:spPr>
          <a:xfrm>
            <a:off x="7099300" y="5038725"/>
            <a:ext cx="382588" cy="51911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y</a:t>
            </a:r>
            <a:endParaRPr lang="en-US" altLang="zh-CN" sz="2800" dirty="0">
              <a:ea typeface="宋体" panose="02010600030101010101" pitchFamily="2" charset="-122"/>
            </a:endParaRPr>
          </a:p>
        </p:txBody>
      </p:sp>
      <p:sp>
        <p:nvSpPr>
          <p:cNvPr id="70672" name="Rectangle 16"/>
          <p:cNvSpPr/>
          <p:nvPr/>
        </p:nvSpPr>
        <p:spPr>
          <a:xfrm>
            <a:off x="265113"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70673" name="Rectangle 17"/>
          <p:cNvSpPr/>
          <p:nvPr/>
        </p:nvSpPr>
        <p:spPr>
          <a:xfrm>
            <a:off x="3979863" y="5756275"/>
            <a:ext cx="48815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Short-run supply curves</a:t>
            </a:r>
            <a:endParaRPr lang="en-US" altLang="zh-CN" dirty="0">
              <a:ea typeface="宋体" panose="02010600030101010101" pitchFamily="2" charset="-122"/>
            </a:endParaRPr>
          </a:p>
        </p:txBody>
      </p:sp>
      <p:sp>
        <p:nvSpPr>
          <p:cNvPr id="70674" name="Rectangle 18"/>
          <p:cNvSpPr/>
          <p:nvPr/>
        </p:nvSpPr>
        <p:spPr>
          <a:xfrm>
            <a:off x="1527175" y="1589088"/>
            <a:ext cx="45878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Long-run supply curve</a:t>
            </a:r>
            <a:endParaRPr lang="en-US" altLang="zh-CN" dirty="0">
              <a:ea typeface="宋体" panose="02010600030101010101" pitchFamily="2" charset="-122"/>
            </a:endParaRPr>
          </a:p>
        </p:txBody>
      </p:sp>
      <p:sp>
        <p:nvSpPr>
          <p:cNvPr id="70675" name="Line 19"/>
          <p:cNvSpPr/>
          <p:nvPr/>
        </p:nvSpPr>
        <p:spPr>
          <a:xfrm>
            <a:off x="4857750" y="2095500"/>
            <a:ext cx="1047750" cy="1000125"/>
          </a:xfrm>
          <a:prstGeom prst="line">
            <a:avLst/>
          </a:prstGeom>
          <a:ln w="12700" cap="flat" cmpd="sng">
            <a:solidFill>
              <a:schemeClr val="tx1"/>
            </a:solidFill>
            <a:prstDash val="solid"/>
            <a:headEnd type="none" w="sm" len="sm"/>
            <a:tailEnd type="stealth" w="med" len="lg"/>
          </a:ln>
        </p:spPr>
      </p:sp>
      <p:sp>
        <p:nvSpPr>
          <p:cNvPr id="70676" name="Line 20"/>
          <p:cNvSpPr/>
          <p:nvPr/>
        </p:nvSpPr>
        <p:spPr>
          <a:xfrm flipH="1" flipV="1">
            <a:off x="2762250" y="4405313"/>
            <a:ext cx="2309813" cy="1381125"/>
          </a:xfrm>
          <a:prstGeom prst="line">
            <a:avLst/>
          </a:prstGeom>
          <a:ln w="12700" cap="flat" cmpd="sng">
            <a:solidFill>
              <a:schemeClr val="tx1"/>
            </a:solidFill>
            <a:prstDash val="solid"/>
            <a:headEnd type="none" w="sm" len="sm"/>
            <a:tailEnd type="stealth" w="med" len="lg"/>
          </a:ln>
        </p:spPr>
      </p:sp>
      <p:sp>
        <p:nvSpPr>
          <p:cNvPr id="70677" name="Line 21"/>
          <p:cNvSpPr/>
          <p:nvPr/>
        </p:nvSpPr>
        <p:spPr>
          <a:xfrm flipH="1" flipV="1">
            <a:off x="4357688" y="3929063"/>
            <a:ext cx="1690687" cy="1857375"/>
          </a:xfrm>
          <a:prstGeom prst="line">
            <a:avLst/>
          </a:prstGeom>
          <a:ln w="12700" cap="flat" cmpd="sng">
            <a:solidFill>
              <a:schemeClr val="tx1"/>
            </a:solidFill>
            <a:prstDash val="solid"/>
            <a:headEnd type="none" w="sm" len="sm"/>
            <a:tailEnd type="stealth" w="med" len="lg"/>
          </a:ln>
        </p:spPr>
      </p:sp>
      <p:sp>
        <p:nvSpPr>
          <p:cNvPr id="70678" name="Line 22"/>
          <p:cNvSpPr/>
          <p:nvPr/>
        </p:nvSpPr>
        <p:spPr>
          <a:xfrm flipH="1" flipV="1">
            <a:off x="5929313" y="4310063"/>
            <a:ext cx="476250" cy="1452562"/>
          </a:xfrm>
          <a:prstGeom prst="line">
            <a:avLst/>
          </a:prstGeom>
          <a:ln w="12700" cap="flat" cmpd="sng">
            <a:solidFill>
              <a:schemeClr val="tx1"/>
            </a:solidFill>
            <a:prstDash val="solid"/>
            <a:headEnd type="none" w="sm" len="sm"/>
            <a:tailEnd type="stealth" w="med" len="lg"/>
          </a:ln>
        </p:spPr>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1683"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The firm’s producer’s surplus is the accumulation, unit by extra unit of output, of extra revenue less extra production cost.</a:t>
            </a:r>
            <a:endParaRPr lang="en-US" altLang="zh-CN" dirty="0">
              <a:ea typeface="宋体" panose="02010600030101010101" pitchFamily="2" charset="-122"/>
            </a:endParaRPr>
          </a:p>
          <a:p>
            <a:r>
              <a:rPr lang="en-US" altLang="zh-CN" dirty="0">
                <a:ea typeface="宋体" panose="02010600030101010101" pitchFamily="2" charset="-122"/>
              </a:rPr>
              <a:t>How is producer’s surplus related profit?</a:t>
            </a:r>
            <a:endParaRPr lang="en-US" altLang="zh-CN" dirty="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2707"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72708"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72709"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72710"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72711"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72712" name="Rectangle 8"/>
          <p:cNvSpPr/>
          <p:nvPr/>
        </p:nvSpPr>
        <p:spPr>
          <a:xfrm>
            <a:off x="6819900" y="288290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72713" name="Rectangle 9"/>
          <p:cNvSpPr/>
          <p:nvPr/>
        </p:nvSpPr>
        <p:spPr>
          <a:xfrm>
            <a:off x="7027863" y="2305050"/>
            <a:ext cx="14144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72714" name="Rectangle 10"/>
          <p:cNvSpPr/>
          <p:nvPr/>
        </p:nvSpPr>
        <p:spPr>
          <a:xfrm>
            <a:off x="4837113" y="1636713"/>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72715" name="Arc 11"/>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72716" name="Arc 12"/>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3731"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73732"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73733"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73734"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73735"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73736" name="Arc 8"/>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73737" name="Arc 9"/>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73738" name="Rectangle 10"/>
          <p:cNvSpPr/>
          <p:nvPr/>
        </p:nvSpPr>
        <p:spPr>
          <a:xfrm>
            <a:off x="6819900" y="288290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73739" name="Rectangle 11"/>
          <p:cNvSpPr/>
          <p:nvPr/>
        </p:nvSpPr>
        <p:spPr>
          <a:xfrm>
            <a:off x="7027863" y="2305050"/>
            <a:ext cx="14144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73740" name="Rectangle 12"/>
          <p:cNvSpPr/>
          <p:nvPr/>
        </p:nvSpPr>
        <p:spPr>
          <a:xfrm>
            <a:off x="4837113" y="1636713"/>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73741" name="Arc 13"/>
          <p:cNvSpPr/>
          <p:nvPr/>
        </p:nvSpPr>
        <p:spPr>
          <a:xfrm rot="10800000">
            <a:off x="3133725" y="1763713"/>
            <a:ext cx="2036763" cy="2435225"/>
          </a:xfrm>
          <a:custGeom>
            <a:avLst/>
            <a:gdLst>
              <a:gd name="txL" fmla="*/ 0 w 21307"/>
              <a:gd name="txT" fmla="*/ 0 h 19379"/>
              <a:gd name="txR" fmla="*/ 21307 w 21307"/>
              <a:gd name="txB" fmla="*/ 19379 h 19379"/>
            </a:gdLst>
            <a:ahLst/>
            <a:cxnLst>
              <a:cxn ang="0">
                <a:pos x="0" y="2147483646"/>
              </a:cxn>
              <a:cxn ang="0">
                <a:pos x="2147483646" y="0"/>
              </a:cxn>
              <a:cxn ang="0">
                <a:pos x="2147483646" y="2147483646"/>
              </a:cxn>
            </a:cxnLst>
            <a:rect l="txL" t="txT" r="txR" b="txB"/>
            <a:pathLst>
              <a:path w="21307" h="19379" fill="none">
                <a:moveTo>
                  <a:pt x="0" y="15831"/>
                </a:moveTo>
                <a:cubicBezTo>
                  <a:pt x="1143" y="8967"/>
                  <a:pt x="5523" y="3073"/>
                  <a:pt x="11766" y="0"/>
                </a:cubicBezTo>
              </a:path>
              <a:path w="21307" h="19379" stroke="0">
                <a:moveTo>
                  <a:pt x="0" y="15831"/>
                </a:moveTo>
                <a:cubicBezTo>
                  <a:pt x="1143" y="8967"/>
                  <a:pt x="5523" y="3073"/>
                  <a:pt x="11766" y="0"/>
                </a:cubicBezTo>
                <a:lnTo>
                  <a:pt x="21307" y="19379"/>
                </a:lnTo>
                <a:lnTo>
                  <a:pt x="0" y="1583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4755"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74756"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74757"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74758"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74759"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74760" name="Arc 8"/>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74761" name="Arc 9"/>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74762" name="Rectangle 10"/>
          <p:cNvSpPr/>
          <p:nvPr/>
        </p:nvSpPr>
        <p:spPr>
          <a:xfrm>
            <a:off x="6819900" y="288290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74763" name="Rectangle 11"/>
          <p:cNvSpPr/>
          <p:nvPr/>
        </p:nvSpPr>
        <p:spPr>
          <a:xfrm>
            <a:off x="7027863" y="2305050"/>
            <a:ext cx="14144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74764" name="Rectangle 12"/>
          <p:cNvSpPr/>
          <p:nvPr/>
        </p:nvSpPr>
        <p:spPr>
          <a:xfrm>
            <a:off x="4837113" y="1636713"/>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74765" name="Line 13"/>
          <p:cNvSpPr/>
          <p:nvPr/>
        </p:nvSpPr>
        <p:spPr>
          <a:xfrm>
            <a:off x="1428750" y="2619375"/>
            <a:ext cx="3643313" cy="0"/>
          </a:xfrm>
          <a:prstGeom prst="line">
            <a:avLst/>
          </a:prstGeom>
          <a:ln w="25400" cap="flat" cmpd="sng">
            <a:solidFill>
              <a:schemeClr val="tx1"/>
            </a:solidFill>
            <a:prstDash val="solid"/>
            <a:headEnd type="none" w="sm" len="sm"/>
            <a:tailEnd type="none" w="sm" len="sm"/>
          </a:ln>
        </p:spPr>
      </p:sp>
      <p:sp>
        <p:nvSpPr>
          <p:cNvPr id="74766" name="Line 14"/>
          <p:cNvSpPr/>
          <p:nvPr/>
        </p:nvSpPr>
        <p:spPr>
          <a:xfrm>
            <a:off x="5072063" y="2619375"/>
            <a:ext cx="0" cy="2547938"/>
          </a:xfrm>
          <a:prstGeom prst="line">
            <a:avLst/>
          </a:prstGeom>
          <a:ln w="12700" cap="flat" cmpd="sng">
            <a:solidFill>
              <a:schemeClr val="tx1"/>
            </a:solidFill>
            <a:prstDash val="dash"/>
            <a:headEnd type="none" w="sm" len="sm"/>
            <a:tailEnd type="none" w="sm" len="sm"/>
          </a:ln>
        </p:spPr>
      </p:sp>
      <p:sp>
        <p:nvSpPr>
          <p:cNvPr id="74767" name="Arc 15"/>
          <p:cNvSpPr/>
          <p:nvPr/>
        </p:nvSpPr>
        <p:spPr>
          <a:xfrm rot="10800000">
            <a:off x="3133725" y="1763713"/>
            <a:ext cx="2036763" cy="2435225"/>
          </a:xfrm>
          <a:custGeom>
            <a:avLst/>
            <a:gdLst>
              <a:gd name="txL" fmla="*/ 0 w 21307"/>
              <a:gd name="txT" fmla="*/ 0 h 19379"/>
              <a:gd name="txR" fmla="*/ 21307 w 21307"/>
              <a:gd name="txB" fmla="*/ 19379 h 19379"/>
            </a:gdLst>
            <a:ahLst/>
            <a:cxnLst>
              <a:cxn ang="0">
                <a:pos x="0" y="2147483646"/>
              </a:cxn>
              <a:cxn ang="0">
                <a:pos x="2147483646" y="0"/>
              </a:cxn>
              <a:cxn ang="0">
                <a:pos x="2147483646" y="2147483646"/>
              </a:cxn>
            </a:cxnLst>
            <a:rect l="txL" t="txT" r="txR" b="txB"/>
            <a:pathLst>
              <a:path w="21307" h="19379" fill="none">
                <a:moveTo>
                  <a:pt x="0" y="15831"/>
                </a:moveTo>
                <a:cubicBezTo>
                  <a:pt x="1143" y="8967"/>
                  <a:pt x="5523" y="3073"/>
                  <a:pt x="11766" y="0"/>
                </a:cubicBezTo>
              </a:path>
              <a:path w="21307" h="19379" stroke="0">
                <a:moveTo>
                  <a:pt x="0" y="15831"/>
                </a:moveTo>
                <a:cubicBezTo>
                  <a:pt x="1143" y="8967"/>
                  <a:pt x="5523" y="3073"/>
                  <a:pt x="11766" y="0"/>
                </a:cubicBezTo>
                <a:lnTo>
                  <a:pt x="21307" y="19379"/>
                </a:lnTo>
                <a:lnTo>
                  <a:pt x="0" y="1583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74768" name="Rectangle 16"/>
          <p:cNvSpPr/>
          <p:nvPr/>
        </p:nvSpPr>
        <p:spPr>
          <a:xfrm>
            <a:off x="974725" y="2293938"/>
            <a:ext cx="4318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74769" name="Rectangle 17"/>
          <p:cNvSpPr/>
          <p:nvPr/>
        </p:nvSpPr>
        <p:spPr>
          <a:xfrm>
            <a:off x="4624388" y="5208588"/>
            <a:ext cx="1087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y*(p)</a:t>
            </a:r>
            <a:endParaRPr lang="en-US" altLang="zh-CN" dirty="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Freeform 20"/>
          <p:cNvSpPr/>
          <p:nvPr/>
        </p:nvSpPr>
        <p:spPr>
          <a:xfrm>
            <a:off x="1438275" y="2619375"/>
            <a:ext cx="3638550" cy="1857375"/>
          </a:xfrm>
          <a:custGeom>
            <a:avLst/>
            <a:gdLst>
              <a:gd name="txL" fmla="*/ 0 w 2292"/>
              <a:gd name="txT" fmla="*/ 0 h 1170"/>
              <a:gd name="txR" fmla="*/ 2292 w 2292"/>
              <a:gd name="txB" fmla="*/ 1170 h 1170"/>
            </a:gdLst>
            <a:ahLst/>
            <a:cxnLst>
              <a:cxn ang="0">
                <a:pos x="0" y="0"/>
              </a:cxn>
              <a:cxn ang="0">
                <a:pos x="2147483646" y="0"/>
              </a:cxn>
              <a:cxn ang="0">
                <a:pos x="2147483646" y="529232813"/>
              </a:cxn>
              <a:cxn ang="0">
                <a:pos x="2147483646" y="922377188"/>
              </a:cxn>
              <a:cxn ang="0">
                <a:pos x="2147483646" y="1376005313"/>
              </a:cxn>
              <a:cxn ang="0">
                <a:pos x="2147483646" y="1738907813"/>
              </a:cxn>
              <a:cxn ang="0">
                <a:pos x="2147483646" y="2086689375"/>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071568438" y="2147483646"/>
              </a:cxn>
              <a:cxn ang="0">
                <a:pos x="1769149688" y="2147483646"/>
              </a:cxn>
              <a:cxn ang="0">
                <a:pos x="1512093750" y="2147483646"/>
              </a:cxn>
              <a:cxn ang="0">
                <a:pos x="1255037813" y="2147483646"/>
              </a:cxn>
              <a:cxn ang="0">
                <a:pos x="997981875" y="2147483646"/>
              </a:cxn>
              <a:cxn ang="0">
                <a:pos x="801409688" y="2147483646"/>
              </a:cxn>
              <a:cxn ang="0">
                <a:pos x="589716563" y="1950600938"/>
              </a:cxn>
              <a:cxn ang="0">
                <a:pos x="408265313" y="1738907813"/>
              </a:cxn>
              <a:cxn ang="0">
                <a:pos x="257055938" y="1527214688"/>
              </a:cxn>
              <a:cxn ang="0">
                <a:pos x="0" y="1118949375"/>
              </a:cxn>
              <a:cxn ang="0">
                <a:pos x="0" y="0"/>
              </a:cxn>
            </a:cxnLst>
            <a:rect l="txL" t="txT" r="txR" b="txB"/>
            <a:pathLst>
              <a:path w="2292" h="1170">
                <a:moveTo>
                  <a:pt x="0" y="0"/>
                </a:moveTo>
                <a:lnTo>
                  <a:pt x="2292" y="0"/>
                </a:lnTo>
                <a:lnTo>
                  <a:pt x="2238" y="210"/>
                </a:lnTo>
                <a:lnTo>
                  <a:pt x="2172" y="366"/>
                </a:lnTo>
                <a:lnTo>
                  <a:pt x="2064" y="546"/>
                </a:lnTo>
                <a:lnTo>
                  <a:pt x="1962" y="690"/>
                </a:lnTo>
                <a:lnTo>
                  <a:pt x="1842" y="828"/>
                </a:lnTo>
                <a:lnTo>
                  <a:pt x="1680" y="972"/>
                </a:lnTo>
                <a:lnTo>
                  <a:pt x="1524" y="1062"/>
                </a:lnTo>
                <a:lnTo>
                  <a:pt x="1326" y="1134"/>
                </a:lnTo>
                <a:lnTo>
                  <a:pt x="1176" y="1164"/>
                </a:lnTo>
                <a:lnTo>
                  <a:pt x="1032" y="1170"/>
                </a:lnTo>
                <a:lnTo>
                  <a:pt x="936" y="1164"/>
                </a:lnTo>
                <a:lnTo>
                  <a:pt x="822" y="1140"/>
                </a:lnTo>
                <a:lnTo>
                  <a:pt x="702" y="1098"/>
                </a:lnTo>
                <a:lnTo>
                  <a:pt x="600" y="1056"/>
                </a:lnTo>
                <a:lnTo>
                  <a:pt x="498" y="996"/>
                </a:lnTo>
                <a:lnTo>
                  <a:pt x="396" y="924"/>
                </a:lnTo>
                <a:lnTo>
                  <a:pt x="318" y="858"/>
                </a:lnTo>
                <a:lnTo>
                  <a:pt x="234" y="774"/>
                </a:lnTo>
                <a:lnTo>
                  <a:pt x="162" y="690"/>
                </a:lnTo>
                <a:lnTo>
                  <a:pt x="102" y="606"/>
                </a:lnTo>
                <a:lnTo>
                  <a:pt x="0" y="444"/>
                </a:lnTo>
                <a:lnTo>
                  <a:pt x="0" y="0"/>
                </a:lnTo>
                <a:close/>
              </a:path>
            </a:pathLst>
          </a:custGeom>
          <a:solidFill>
            <a:srgbClr val="0099FF">
              <a:alpha val="100000"/>
            </a:srgbClr>
          </a:solidFill>
          <a:ln w="12700">
            <a:noFill/>
          </a:ln>
        </p:spPr>
        <p:txBody>
          <a:bodyPr/>
          <a:p>
            <a:endParaRPr lang="zh-CN" altLang="en-US"/>
          </a:p>
        </p:txBody>
      </p:sp>
      <p:sp>
        <p:nvSpPr>
          <p:cNvPr id="75779"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5780"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75781"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75782"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75783"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75784"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75785" name="Arc 8"/>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75786" name="Rectangle 9"/>
          <p:cNvSpPr/>
          <p:nvPr/>
        </p:nvSpPr>
        <p:spPr>
          <a:xfrm>
            <a:off x="6819900" y="288290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75787" name="Rectangle 10"/>
          <p:cNvSpPr/>
          <p:nvPr/>
        </p:nvSpPr>
        <p:spPr>
          <a:xfrm>
            <a:off x="7027863" y="2305050"/>
            <a:ext cx="14144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75788" name="Rectangle 11"/>
          <p:cNvSpPr/>
          <p:nvPr/>
        </p:nvSpPr>
        <p:spPr>
          <a:xfrm>
            <a:off x="4837113" y="1636713"/>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75789" name="Line 12"/>
          <p:cNvSpPr/>
          <p:nvPr/>
        </p:nvSpPr>
        <p:spPr>
          <a:xfrm>
            <a:off x="1428750" y="2619375"/>
            <a:ext cx="3643313" cy="0"/>
          </a:xfrm>
          <a:prstGeom prst="line">
            <a:avLst/>
          </a:prstGeom>
          <a:ln w="25400" cap="flat" cmpd="sng">
            <a:solidFill>
              <a:schemeClr val="tx1"/>
            </a:solidFill>
            <a:prstDash val="solid"/>
            <a:headEnd type="none" w="sm" len="sm"/>
            <a:tailEnd type="none" w="sm" len="sm"/>
          </a:ln>
        </p:spPr>
      </p:sp>
      <p:sp>
        <p:nvSpPr>
          <p:cNvPr id="75790" name="Line 13"/>
          <p:cNvSpPr/>
          <p:nvPr/>
        </p:nvSpPr>
        <p:spPr>
          <a:xfrm>
            <a:off x="5072063" y="2619375"/>
            <a:ext cx="0" cy="2547938"/>
          </a:xfrm>
          <a:prstGeom prst="line">
            <a:avLst/>
          </a:prstGeom>
          <a:ln w="12700" cap="flat" cmpd="sng">
            <a:solidFill>
              <a:schemeClr val="tx1"/>
            </a:solidFill>
            <a:prstDash val="dash"/>
            <a:headEnd type="none" w="sm" len="sm"/>
            <a:tailEnd type="none" w="sm" len="sm"/>
          </a:ln>
        </p:spPr>
      </p:sp>
      <p:sp>
        <p:nvSpPr>
          <p:cNvPr id="75791" name="Rectangle 14"/>
          <p:cNvSpPr/>
          <p:nvPr/>
        </p:nvSpPr>
        <p:spPr>
          <a:xfrm>
            <a:off x="974725" y="2293938"/>
            <a:ext cx="4318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75792" name="Arc 16"/>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75793" name="Arc 17"/>
          <p:cNvSpPr/>
          <p:nvPr/>
        </p:nvSpPr>
        <p:spPr>
          <a:xfrm rot="10800000">
            <a:off x="3133725" y="1763713"/>
            <a:ext cx="2036763" cy="2435225"/>
          </a:xfrm>
          <a:custGeom>
            <a:avLst/>
            <a:gdLst>
              <a:gd name="txL" fmla="*/ 0 w 21307"/>
              <a:gd name="txT" fmla="*/ 0 h 19379"/>
              <a:gd name="txR" fmla="*/ 21307 w 21307"/>
              <a:gd name="txB" fmla="*/ 19379 h 19379"/>
            </a:gdLst>
            <a:ahLst/>
            <a:cxnLst>
              <a:cxn ang="0">
                <a:pos x="0" y="2147483646"/>
              </a:cxn>
              <a:cxn ang="0">
                <a:pos x="2147483646" y="0"/>
              </a:cxn>
              <a:cxn ang="0">
                <a:pos x="2147483646" y="2147483646"/>
              </a:cxn>
            </a:cxnLst>
            <a:rect l="txL" t="txT" r="txR" b="txB"/>
            <a:pathLst>
              <a:path w="21307" h="19379" fill="none">
                <a:moveTo>
                  <a:pt x="0" y="15831"/>
                </a:moveTo>
                <a:cubicBezTo>
                  <a:pt x="1143" y="8967"/>
                  <a:pt x="5523" y="3073"/>
                  <a:pt x="11766" y="0"/>
                </a:cubicBezTo>
              </a:path>
              <a:path w="21307" h="19379" stroke="0">
                <a:moveTo>
                  <a:pt x="0" y="15831"/>
                </a:moveTo>
                <a:cubicBezTo>
                  <a:pt x="1143" y="8967"/>
                  <a:pt x="5523" y="3073"/>
                  <a:pt x="11766" y="0"/>
                </a:cubicBezTo>
                <a:lnTo>
                  <a:pt x="21307" y="19379"/>
                </a:lnTo>
                <a:lnTo>
                  <a:pt x="0" y="1583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75794" name="Rectangle 18"/>
          <p:cNvSpPr/>
          <p:nvPr/>
        </p:nvSpPr>
        <p:spPr>
          <a:xfrm>
            <a:off x="2676525" y="3090863"/>
            <a:ext cx="7270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PS</a:t>
            </a:r>
            <a:endParaRPr lang="en-US" altLang="zh-CN" dirty="0">
              <a:ea typeface="宋体" panose="02010600030101010101" pitchFamily="2" charset="-122"/>
            </a:endParaRPr>
          </a:p>
        </p:txBody>
      </p:sp>
      <p:sp>
        <p:nvSpPr>
          <p:cNvPr id="75795" name="Rectangle 19"/>
          <p:cNvSpPr/>
          <p:nvPr/>
        </p:nvSpPr>
        <p:spPr>
          <a:xfrm>
            <a:off x="4624388" y="5208588"/>
            <a:ext cx="1087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y*(p)</a:t>
            </a:r>
            <a:endParaRPr lang="en-US" altLang="zh-CN" dirty="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6803" name="Rectangle 3"/>
          <p:cNvSpPr/>
          <p:nvPr/>
        </p:nvSpPr>
        <p:spPr>
          <a:xfrm>
            <a:off x="669925" y="1350963"/>
            <a:ext cx="6891338"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So the firm’s producer’s surplus is</a:t>
            </a:r>
            <a:endParaRPr lang="en-US" altLang="zh-CN" dirty="0">
              <a:ea typeface="宋体" panose="02010600030101010101" pitchFamily="2" charset="-122"/>
            </a:endParaRPr>
          </a:p>
        </p:txBody>
      </p:sp>
      <p:graphicFrame>
        <p:nvGraphicFramePr>
          <p:cNvPr id="76804" name="Object 4"/>
          <p:cNvGraphicFramePr/>
          <p:nvPr/>
        </p:nvGraphicFramePr>
        <p:xfrm>
          <a:off x="1704975" y="1931988"/>
          <a:ext cx="5707063" cy="3205162"/>
        </p:xfrm>
        <a:graphic>
          <a:graphicData uri="http://schemas.openxmlformats.org/presentationml/2006/ole">
            <mc:AlternateContent xmlns:mc="http://schemas.openxmlformats.org/markup-compatibility/2006">
              <mc:Choice xmlns:v="urn:schemas-microsoft-com:vml" Requires="v">
                <p:oleObj spid="_x0000_s3096" name="" r:id="rId1" imgW="3927475" imgH="2211705" progId="Equation.2">
                  <p:embed/>
                </p:oleObj>
              </mc:Choice>
              <mc:Fallback>
                <p:oleObj name="" r:id="rId1" imgW="3927475" imgH="2211705" progId="Equation.2">
                  <p:embed/>
                  <p:pic>
                    <p:nvPicPr>
                      <p:cNvPr id="0" name="图片 3095"/>
                      <p:cNvPicPr/>
                      <p:nvPr/>
                    </p:nvPicPr>
                    <p:blipFill>
                      <a:blip r:embed="rId2">
                        <a:clrChange>
                          <a:clrFrom>
                            <a:srgbClr val="000000"/>
                          </a:clrFrom>
                          <a:clrTo>
                            <a:srgbClr val="000000"/>
                          </a:clrTo>
                        </a:clrChange>
                      </a:blip>
                      <a:stretch>
                        <a:fillRect/>
                      </a:stretch>
                    </p:blipFill>
                    <p:spPr>
                      <a:xfrm>
                        <a:off x="1704975" y="1931988"/>
                        <a:ext cx="5707063" cy="3205162"/>
                      </a:xfrm>
                      <a:prstGeom prst="rect">
                        <a:avLst/>
                      </a:prstGeom>
                      <a:noFill/>
                      <a:ln w="38100">
                        <a:noFill/>
                        <a:miter/>
                      </a:ln>
                    </p:spPr>
                  </p:pic>
                </p:oleObj>
              </mc:Fallback>
            </mc:AlternateContent>
          </a:graphicData>
        </a:graphic>
      </p:graphicFrame>
      <p:sp>
        <p:nvSpPr>
          <p:cNvPr id="76805" name="Rectangle 5"/>
          <p:cNvSpPr/>
          <p:nvPr/>
        </p:nvSpPr>
        <p:spPr>
          <a:xfrm>
            <a:off x="669925" y="5351463"/>
            <a:ext cx="748982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That is, PS = Revenue - Variable Cost.</a:t>
            </a:r>
            <a:endParaRPr lang="en-US" altLang="zh-CN" dirty="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Freeform 20"/>
          <p:cNvSpPr/>
          <p:nvPr/>
        </p:nvSpPr>
        <p:spPr>
          <a:xfrm>
            <a:off x="1438275" y="2619375"/>
            <a:ext cx="3638550" cy="1857375"/>
          </a:xfrm>
          <a:custGeom>
            <a:avLst/>
            <a:gdLst>
              <a:gd name="txL" fmla="*/ 0 w 2292"/>
              <a:gd name="txT" fmla="*/ 0 h 1170"/>
              <a:gd name="txR" fmla="*/ 2292 w 2292"/>
              <a:gd name="txB" fmla="*/ 1170 h 1170"/>
            </a:gdLst>
            <a:ahLst/>
            <a:cxnLst>
              <a:cxn ang="0">
                <a:pos x="0" y="0"/>
              </a:cxn>
              <a:cxn ang="0">
                <a:pos x="2147483646" y="0"/>
              </a:cxn>
              <a:cxn ang="0">
                <a:pos x="2147483646" y="529232813"/>
              </a:cxn>
              <a:cxn ang="0">
                <a:pos x="2147483646" y="922377188"/>
              </a:cxn>
              <a:cxn ang="0">
                <a:pos x="2147483646" y="1376005313"/>
              </a:cxn>
              <a:cxn ang="0">
                <a:pos x="2147483646" y="1738907813"/>
              </a:cxn>
              <a:cxn ang="0">
                <a:pos x="2147483646" y="2086689375"/>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071568438" y="2147483646"/>
              </a:cxn>
              <a:cxn ang="0">
                <a:pos x="1769149688" y="2147483646"/>
              </a:cxn>
              <a:cxn ang="0">
                <a:pos x="1512093750" y="2147483646"/>
              </a:cxn>
              <a:cxn ang="0">
                <a:pos x="1255037813" y="2147483646"/>
              </a:cxn>
              <a:cxn ang="0">
                <a:pos x="997981875" y="2147483646"/>
              </a:cxn>
              <a:cxn ang="0">
                <a:pos x="801409688" y="2147483646"/>
              </a:cxn>
              <a:cxn ang="0">
                <a:pos x="589716563" y="1950600938"/>
              </a:cxn>
              <a:cxn ang="0">
                <a:pos x="408265313" y="1738907813"/>
              </a:cxn>
              <a:cxn ang="0">
                <a:pos x="257055938" y="1527214688"/>
              </a:cxn>
              <a:cxn ang="0">
                <a:pos x="0" y="1118949375"/>
              </a:cxn>
              <a:cxn ang="0">
                <a:pos x="0" y="0"/>
              </a:cxn>
            </a:cxnLst>
            <a:rect l="txL" t="txT" r="txR" b="txB"/>
            <a:pathLst>
              <a:path w="2292" h="1170">
                <a:moveTo>
                  <a:pt x="0" y="0"/>
                </a:moveTo>
                <a:lnTo>
                  <a:pt x="2292" y="0"/>
                </a:lnTo>
                <a:lnTo>
                  <a:pt x="2238" y="210"/>
                </a:lnTo>
                <a:lnTo>
                  <a:pt x="2172" y="366"/>
                </a:lnTo>
                <a:lnTo>
                  <a:pt x="2064" y="546"/>
                </a:lnTo>
                <a:lnTo>
                  <a:pt x="1962" y="690"/>
                </a:lnTo>
                <a:lnTo>
                  <a:pt x="1842" y="828"/>
                </a:lnTo>
                <a:lnTo>
                  <a:pt x="1680" y="972"/>
                </a:lnTo>
                <a:lnTo>
                  <a:pt x="1524" y="1062"/>
                </a:lnTo>
                <a:lnTo>
                  <a:pt x="1326" y="1134"/>
                </a:lnTo>
                <a:lnTo>
                  <a:pt x="1176" y="1164"/>
                </a:lnTo>
                <a:lnTo>
                  <a:pt x="1032" y="1170"/>
                </a:lnTo>
                <a:lnTo>
                  <a:pt x="936" y="1164"/>
                </a:lnTo>
                <a:lnTo>
                  <a:pt x="822" y="1140"/>
                </a:lnTo>
                <a:lnTo>
                  <a:pt x="702" y="1098"/>
                </a:lnTo>
                <a:lnTo>
                  <a:pt x="600" y="1056"/>
                </a:lnTo>
                <a:lnTo>
                  <a:pt x="498" y="996"/>
                </a:lnTo>
                <a:lnTo>
                  <a:pt x="396" y="924"/>
                </a:lnTo>
                <a:lnTo>
                  <a:pt x="318" y="858"/>
                </a:lnTo>
                <a:lnTo>
                  <a:pt x="234" y="774"/>
                </a:lnTo>
                <a:lnTo>
                  <a:pt x="162" y="690"/>
                </a:lnTo>
                <a:lnTo>
                  <a:pt x="102" y="606"/>
                </a:lnTo>
                <a:lnTo>
                  <a:pt x="0" y="444"/>
                </a:lnTo>
                <a:lnTo>
                  <a:pt x="0" y="0"/>
                </a:lnTo>
                <a:close/>
              </a:path>
            </a:pathLst>
          </a:custGeom>
          <a:solidFill>
            <a:srgbClr val="0099FF">
              <a:alpha val="100000"/>
            </a:srgbClr>
          </a:solidFill>
          <a:ln w="12700">
            <a:noFill/>
          </a:ln>
        </p:spPr>
        <p:txBody>
          <a:bodyPr/>
          <a:p>
            <a:endParaRPr lang="zh-CN" altLang="en-US"/>
          </a:p>
        </p:txBody>
      </p:sp>
      <p:sp>
        <p:nvSpPr>
          <p:cNvPr id="77827"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7828"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77829"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77830"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77831"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77832"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77833" name="Arc 8"/>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77834" name="Rectangle 9"/>
          <p:cNvSpPr/>
          <p:nvPr/>
        </p:nvSpPr>
        <p:spPr>
          <a:xfrm>
            <a:off x="6819900" y="288290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77835" name="Rectangle 10"/>
          <p:cNvSpPr/>
          <p:nvPr/>
        </p:nvSpPr>
        <p:spPr>
          <a:xfrm>
            <a:off x="7027863" y="2305050"/>
            <a:ext cx="14144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77836" name="Rectangle 11"/>
          <p:cNvSpPr/>
          <p:nvPr/>
        </p:nvSpPr>
        <p:spPr>
          <a:xfrm>
            <a:off x="4837113" y="1636713"/>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77837" name="Line 12"/>
          <p:cNvSpPr/>
          <p:nvPr/>
        </p:nvSpPr>
        <p:spPr>
          <a:xfrm>
            <a:off x="1428750" y="2619375"/>
            <a:ext cx="3643313" cy="0"/>
          </a:xfrm>
          <a:prstGeom prst="line">
            <a:avLst/>
          </a:prstGeom>
          <a:ln w="25400" cap="flat" cmpd="sng">
            <a:solidFill>
              <a:schemeClr val="tx1"/>
            </a:solidFill>
            <a:prstDash val="solid"/>
            <a:headEnd type="none" w="sm" len="sm"/>
            <a:tailEnd type="none" w="sm" len="sm"/>
          </a:ln>
        </p:spPr>
      </p:sp>
      <p:sp>
        <p:nvSpPr>
          <p:cNvPr id="77838" name="Line 13"/>
          <p:cNvSpPr/>
          <p:nvPr/>
        </p:nvSpPr>
        <p:spPr>
          <a:xfrm>
            <a:off x="5072063" y="2619375"/>
            <a:ext cx="0" cy="2547938"/>
          </a:xfrm>
          <a:prstGeom prst="line">
            <a:avLst/>
          </a:prstGeom>
          <a:ln w="12700" cap="flat" cmpd="sng">
            <a:solidFill>
              <a:schemeClr val="tx1"/>
            </a:solidFill>
            <a:prstDash val="dash"/>
            <a:headEnd type="none" w="sm" len="sm"/>
            <a:tailEnd type="none" w="sm" len="sm"/>
          </a:ln>
        </p:spPr>
      </p:sp>
      <p:sp>
        <p:nvSpPr>
          <p:cNvPr id="77839" name="Rectangle 14"/>
          <p:cNvSpPr/>
          <p:nvPr/>
        </p:nvSpPr>
        <p:spPr>
          <a:xfrm>
            <a:off x="974725" y="2293938"/>
            <a:ext cx="4318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77840" name="Arc 16"/>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77841" name="Arc 17"/>
          <p:cNvSpPr/>
          <p:nvPr/>
        </p:nvSpPr>
        <p:spPr>
          <a:xfrm rot="10800000">
            <a:off x="3133725" y="1763713"/>
            <a:ext cx="2036763" cy="2435225"/>
          </a:xfrm>
          <a:custGeom>
            <a:avLst/>
            <a:gdLst>
              <a:gd name="txL" fmla="*/ 0 w 21307"/>
              <a:gd name="txT" fmla="*/ 0 h 19379"/>
              <a:gd name="txR" fmla="*/ 21307 w 21307"/>
              <a:gd name="txB" fmla="*/ 19379 h 19379"/>
            </a:gdLst>
            <a:ahLst/>
            <a:cxnLst>
              <a:cxn ang="0">
                <a:pos x="0" y="2147483646"/>
              </a:cxn>
              <a:cxn ang="0">
                <a:pos x="2147483646" y="0"/>
              </a:cxn>
              <a:cxn ang="0">
                <a:pos x="2147483646" y="2147483646"/>
              </a:cxn>
            </a:cxnLst>
            <a:rect l="txL" t="txT" r="txR" b="txB"/>
            <a:pathLst>
              <a:path w="21307" h="19379" fill="none">
                <a:moveTo>
                  <a:pt x="0" y="15831"/>
                </a:moveTo>
                <a:cubicBezTo>
                  <a:pt x="1143" y="8967"/>
                  <a:pt x="5523" y="3073"/>
                  <a:pt x="11766" y="0"/>
                </a:cubicBezTo>
              </a:path>
              <a:path w="21307" h="19379" stroke="0">
                <a:moveTo>
                  <a:pt x="0" y="15831"/>
                </a:moveTo>
                <a:cubicBezTo>
                  <a:pt x="1143" y="8967"/>
                  <a:pt x="5523" y="3073"/>
                  <a:pt x="11766" y="0"/>
                </a:cubicBezTo>
                <a:lnTo>
                  <a:pt x="21307" y="19379"/>
                </a:lnTo>
                <a:lnTo>
                  <a:pt x="0" y="1583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77842" name="Rectangle 18"/>
          <p:cNvSpPr/>
          <p:nvPr/>
        </p:nvSpPr>
        <p:spPr>
          <a:xfrm>
            <a:off x="2676525" y="3090863"/>
            <a:ext cx="7270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PS</a:t>
            </a:r>
            <a:endParaRPr lang="en-US" altLang="zh-CN" dirty="0">
              <a:ea typeface="宋体" panose="02010600030101010101" pitchFamily="2" charset="-122"/>
            </a:endParaRPr>
          </a:p>
        </p:txBody>
      </p:sp>
      <p:sp>
        <p:nvSpPr>
          <p:cNvPr id="77843" name="Rectangle 19"/>
          <p:cNvSpPr/>
          <p:nvPr/>
        </p:nvSpPr>
        <p:spPr>
          <a:xfrm>
            <a:off x="4624388" y="5208588"/>
            <a:ext cx="1087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y*(p)</a:t>
            </a:r>
            <a:endParaRPr lang="en-US" altLang="zh-CN" dirty="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Freeform 21"/>
          <p:cNvSpPr/>
          <p:nvPr/>
        </p:nvSpPr>
        <p:spPr>
          <a:xfrm>
            <a:off x="1428750" y="2619375"/>
            <a:ext cx="3648075" cy="2552700"/>
          </a:xfrm>
          <a:custGeom>
            <a:avLst/>
            <a:gdLst>
              <a:gd name="txL" fmla="*/ 0 w 2298"/>
              <a:gd name="txT" fmla="*/ 0 h 1608"/>
              <a:gd name="txR" fmla="*/ 2298 w 2298"/>
              <a:gd name="txB" fmla="*/ 1608 h 1608"/>
            </a:gdLst>
            <a:ahLst/>
            <a:cxnLst>
              <a:cxn ang="0">
                <a:pos x="15120938" y="1134070313"/>
              </a:cxn>
              <a:cxn ang="0">
                <a:pos x="226814063" y="1466730938"/>
              </a:cxn>
              <a:cxn ang="0">
                <a:pos x="378023438" y="1678424063"/>
              </a:cxn>
              <a:cxn ang="0">
                <a:pos x="559474688" y="1905238125"/>
              </a:cxn>
              <a:cxn ang="0">
                <a:pos x="740925938" y="2086689375"/>
              </a:cxn>
              <a:cxn ang="0">
                <a:pos x="982860938" y="2147483646"/>
              </a:cxn>
              <a:cxn ang="0">
                <a:pos x="1255037813" y="2147483646"/>
              </a:cxn>
              <a:cxn ang="0">
                <a:pos x="1512093750" y="2147483646"/>
              </a:cxn>
              <a:cxn ang="0">
                <a:pos x="1905238125"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1980842813"/>
              </a:cxn>
              <a:cxn ang="0">
                <a:pos x="2147483646" y="1572577500"/>
              </a:cxn>
              <a:cxn ang="0">
                <a:pos x="2147483646" y="1315521563"/>
              </a:cxn>
              <a:cxn ang="0">
                <a:pos x="2147483646" y="907256250"/>
              </a:cxn>
              <a:cxn ang="0">
                <a:pos x="2147483646" y="393144375"/>
              </a:cxn>
              <a:cxn ang="0">
                <a:pos x="2147483646" y="0"/>
              </a:cxn>
              <a:cxn ang="0">
                <a:pos x="2147483646" y="544353750"/>
              </a:cxn>
              <a:cxn ang="0">
                <a:pos x="2147483646" y="2147483646"/>
              </a:cxn>
              <a:cxn ang="0">
                <a:pos x="0" y="2147483646"/>
              </a:cxn>
              <a:cxn ang="0">
                <a:pos x="15120938" y="1134070313"/>
              </a:cxn>
            </a:cxnLst>
            <a:rect l="txL" t="txT" r="txR" b="txB"/>
            <a:pathLst>
              <a:path w="2298" h="1608">
                <a:moveTo>
                  <a:pt x="6" y="450"/>
                </a:moveTo>
                <a:lnTo>
                  <a:pt x="90" y="582"/>
                </a:lnTo>
                <a:lnTo>
                  <a:pt x="150" y="666"/>
                </a:lnTo>
                <a:lnTo>
                  <a:pt x="222" y="756"/>
                </a:lnTo>
                <a:lnTo>
                  <a:pt x="294" y="828"/>
                </a:lnTo>
                <a:lnTo>
                  <a:pt x="390" y="912"/>
                </a:lnTo>
                <a:lnTo>
                  <a:pt x="498" y="990"/>
                </a:lnTo>
                <a:lnTo>
                  <a:pt x="600" y="1050"/>
                </a:lnTo>
                <a:lnTo>
                  <a:pt x="756" y="1116"/>
                </a:lnTo>
                <a:lnTo>
                  <a:pt x="864" y="1146"/>
                </a:lnTo>
                <a:lnTo>
                  <a:pt x="972" y="1164"/>
                </a:lnTo>
                <a:lnTo>
                  <a:pt x="1074" y="1170"/>
                </a:lnTo>
                <a:lnTo>
                  <a:pt x="1188" y="1158"/>
                </a:lnTo>
                <a:lnTo>
                  <a:pt x="1296" y="1140"/>
                </a:lnTo>
                <a:lnTo>
                  <a:pt x="1404" y="1110"/>
                </a:lnTo>
                <a:lnTo>
                  <a:pt x="1506" y="1074"/>
                </a:lnTo>
                <a:lnTo>
                  <a:pt x="1662" y="984"/>
                </a:lnTo>
                <a:lnTo>
                  <a:pt x="1794" y="882"/>
                </a:lnTo>
                <a:lnTo>
                  <a:pt x="1896" y="786"/>
                </a:lnTo>
                <a:lnTo>
                  <a:pt x="2016" y="624"/>
                </a:lnTo>
                <a:lnTo>
                  <a:pt x="2088" y="522"/>
                </a:lnTo>
                <a:lnTo>
                  <a:pt x="2178" y="360"/>
                </a:lnTo>
                <a:lnTo>
                  <a:pt x="2256" y="156"/>
                </a:lnTo>
                <a:lnTo>
                  <a:pt x="2298" y="0"/>
                </a:lnTo>
                <a:lnTo>
                  <a:pt x="2292" y="216"/>
                </a:lnTo>
                <a:lnTo>
                  <a:pt x="2292" y="1608"/>
                </a:lnTo>
                <a:lnTo>
                  <a:pt x="0" y="1602"/>
                </a:lnTo>
                <a:lnTo>
                  <a:pt x="6" y="450"/>
                </a:lnTo>
                <a:close/>
              </a:path>
            </a:pathLst>
          </a:custGeom>
          <a:solidFill>
            <a:srgbClr val="FF3300">
              <a:alpha val="100000"/>
            </a:srgbClr>
          </a:solidFill>
          <a:ln w="12700">
            <a:noFill/>
          </a:ln>
        </p:spPr>
        <p:txBody>
          <a:bodyPr/>
          <a:p>
            <a:endParaRPr lang="zh-CN" altLang="en-US"/>
          </a:p>
        </p:txBody>
      </p:sp>
      <p:sp>
        <p:nvSpPr>
          <p:cNvPr id="78851"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8852"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78853"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78854"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78855"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78856"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78857" name="Arc 8"/>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78858" name="Rectangle 9"/>
          <p:cNvSpPr/>
          <p:nvPr/>
        </p:nvSpPr>
        <p:spPr>
          <a:xfrm>
            <a:off x="6819900" y="2882900"/>
            <a:ext cx="1685925"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78859" name="Rectangle 10"/>
          <p:cNvSpPr/>
          <p:nvPr/>
        </p:nvSpPr>
        <p:spPr>
          <a:xfrm>
            <a:off x="7027863" y="2305050"/>
            <a:ext cx="1414462"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78860" name="Rectangle 11"/>
          <p:cNvSpPr/>
          <p:nvPr/>
        </p:nvSpPr>
        <p:spPr>
          <a:xfrm>
            <a:off x="4837113" y="1636713"/>
            <a:ext cx="1458912"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78861" name="Line 12"/>
          <p:cNvSpPr/>
          <p:nvPr/>
        </p:nvSpPr>
        <p:spPr>
          <a:xfrm>
            <a:off x="1428750" y="2619375"/>
            <a:ext cx="3643313" cy="0"/>
          </a:xfrm>
          <a:prstGeom prst="line">
            <a:avLst/>
          </a:prstGeom>
          <a:ln w="25400" cap="flat" cmpd="sng">
            <a:solidFill>
              <a:schemeClr val="tx1"/>
            </a:solidFill>
            <a:prstDash val="solid"/>
            <a:headEnd type="none" w="sm" len="sm"/>
            <a:tailEnd type="none" w="sm" len="sm"/>
          </a:ln>
        </p:spPr>
      </p:sp>
      <p:sp>
        <p:nvSpPr>
          <p:cNvPr id="78862" name="Line 13"/>
          <p:cNvSpPr/>
          <p:nvPr/>
        </p:nvSpPr>
        <p:spPr>
          <a:xfrm>
            <a:off x="5072063" y="2619375"/>
            <a:ext cx="0" cy="2547938"/>
          </a:xfrm>
          <a:prstGeom prst="line">
            <a:avLst/>
          </a:prstGeom>
          <a:ln w="12700" cap="flat" cmpd="sng">
            <a:solidFill>
              <a:schemeClr val="tx1"/>
            </a:solidFill>
            <a:prstDash val="dash"/>
            <a:headEnd type="none" w="sm" len="sm"/>
            <a:tailEnd type="none" w="sm" len="sm"/>
          </a:ln>
        </p:spPr>
      </p:sp>
      <p:sp>
        <p:nvSpPr>
          <p:cNvPr id="78863" name="Rectangle 14"/>
          <p:cNvSpPr/>
          <p:nvPr/>
        </p:nvSpPr>
        <p:spPr>
          <a:xfrm>
            <a:off x="974725" y="2293938"/>
            <a:ext cx="4318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78864" name="Rectangle 15"/>
          <p:cNvSpPr/>
          <p:nvPr/>
        </p:nvSpPr>
        <p:spPr>
          <a:xfrm>
            <a:off x="4624388" y="5208588"/>
            <a:ext cx="1087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y*(p)</a:t>
            </a:r>
            <a:endParaRPr lang="en-US" altLang="zh-CN" dirty="0">
              <a:ea typeface="宋体" panose="02010600030101010101" pitchFamily="2" charset="-122"/>
            </a:endParaRPr>
          </a:p>
        </p:txBody>
      </p:sp>
      <p:sp>
        <p:nvSpPr>
          <p:cNvPr id="78865" name="Arc 17"/>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78866" name="Arc 18"/>
          <p:cNvSpPr/>
          <p:nvPr/>
        </p:nvSpPr>
        <p:spPr>
          <a:xfrm rot="10800000">
            <a:off x="3133725" y="1763713"/>
            <a:ext cx="2036763" cy="2435225"/>
          </a:xfrm>
          <a:custGeom>
            <a:avLst/>
            <a:gdLst>
              <a:gd name="txL" fmla="*/ 0 w 21307"/>
              <a:gd name="txT" fmla="*/ 0 h 19379"/>
              <a:gd name="txR" fmla="*/ 21307 w 21307"/>
              <a:gd name="txB" fmla="*/ 19379 h 19379"/>
            </a:gdLst>
            <a:ahLst/>
            <a:cxnLst>
              <a:cxn ang="0">
                <a:pos x="0" y="2147483646"/>
              </a:cxn>
              <a:cxn ang="0">
                <a:pos x="2147483646" y="0"/>
              </a:cxn>
              <a:cxn ang="0">
                <a:pos x="2147483646" y="2147483646"/>
              </a:cxn>
            </a:cxnLst>
            <a:rect l="txL" t="txT" r="txR" b="txB"/>
            <a:pathLst>
              <a:path w="21307" h="19379" fill="none">
                <a:moveTo>
                  <a:pt x="0" y="15831"/>
                </a:moveTo>
                <a:cubicBezTo>
                  <a:pt x="1143" y="8967"/>
                  <a:pt x="5523" y="3073"/>
                  <a:pt x="11766" y="0"/>
                </a:cubicBezTo>
              </a:path>
              <a:path w="21307" h="19379" stroke="0">
                <a:moveTo>
                  <a:pt x="0" y="15831"/>
                </a:moveTo>
                <a:cubicBezTo>
                  <a:pt x="1143" y="8967"/>
                  <a:pt x="5523" y="3073"/>
                  <a:pt x="11766" y="0"/>
                </a:cubicBezTo>
                <a:lnTo>
                  <a:pt x="21307" y="19379"/>
                </a:lnTo>
                <a:lnTo>
                  <a:pt x="0" y="1583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graphicFrame>
        <p:nvGraphicFramePr>
          <p:cNvPr id="78867" name="Object 19"/>
          <p:cNvGraphicFramePr/>
          <p:nvPr/>
        </p:nvGraphicFramePr>
        <p:xfrm>
          <a:off x="1044575" y="5508625"/>
          <a:ext cx="4884738" cy="1214438"/>
        </p:xfrm>
        <a:graphic>
          <a:graphicData uri="http://schemas.openxmlformats.org/presentationml/2006/ole">
            <mc:AlternateContent xmlns:mc="http://schemas.openxmlformats.org/markup-compatibility/2006">
              <mc:Choice xmlns:v="urn:schemas-microsoft-com:vml" Requires="v">
                <p:oleObj spid="_x0000_s3097" name="" r:id="rId1" imgW="3326765" imgH="836295" progId="Equation.2">
                  <p:embed/>
                </p:oleObj>
              </mc:Choice>
              <mc:Fallback>
                <p:oleObj name="" r:id="rId1" imgW="3326765" imgH="836295" progId="Equation.2">
                  <p:embed/>
                  <p:pic>
                    <p:nvPicPr>
                      <p:cNvPr id="0" name="图片 3096"/>
                      <p:cNvPicPr/>
                      <p:nvPr/>
                    </p:nvPicPr>
                    <p:blipFill>
                      <a:blip r:embed="rId2">
                        <a:clrChange>
                          <a:clrFrom>
                            <a:srgbClr val="000000"/>
                          </a:clrFrom>
                          <a:clrTo>
                            <a:srgbClr val="000000"/>
                          </a:clrTo>
                        </a:clrChange>
                      </a:blip>
                      <a:stretch>
                        <a:fillRect/>
                      </a:stretch>
                    </p:blipFill>
                    <p:spPr>
                      <a:xfrm>
                        <a:off x="1044575" y="5508625"/>
                        <a:ext cx="4884738" cy="1214438"/>
                      </a:xfrm>
                      <a:prstGeom prst="rect">
                        <a:avLst/>
                      </a:prstGeom>
                      <a:noFill/>
                      <a:ln w="38100">
                        <a:noFill/>
                        <a:miter/>
                      </a:ln>
                    </p:spPr>
                  </p:pic>
                </p:oleObj>
              </mc:Fallback>
            </mc:AlternateContent>
          </a:graphicData>
        </a:graphic>
      </p:graphicFrame>
      <p:sp>
        <p:nvSpPr>
          <p:cNvPr id="78868" name="Line 20"/>
          <p:cNvSpPr/>
          <p:nvPr/>
        </p:nvSpPr>
        <p:spPr>
          <a:xfrm flipV="1">
            <a:off x="2547938" y="4738688"/>
            <a:ext cx="619125" cy="1143000"/>
          </a:xfrm>
          <a:prstGeom prst="line">
            <a:avLst/>
          </a:prstGeom>
          <a:ln w="50800" cap="flat" cmpd="sng">
            <a:solidFill>
              <a:schemeClr val="tx1"/>
            </a:solidFill>
            <a:prstDash val="solid"/>
            <a:headEnd type="none" w="sm" len="sm"/>
            <a:tailEnd type="stealth" w="med" len="lg"/>
          </a:ln>
        </p:spPr>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19"/>
          <p:cNvSpPr/>
          <p:nvPr/>
        </p:nvSpPr>
        <p:spPr>
          <a:xfrm>
            <a:off x="1422400" y="2628900"/>
            <a:ext cx="3632200" cy="2527300"/>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79875"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79876"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79877"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79878"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79879"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79880"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79881" name="Arc 8"/>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79882" name="Rectangle 9"/>
          <p:cNvSpPr/>
          <p:nvPr/>
        </p:nvSpPr>
        <p:spPr>
          <a:xfrm>
            <a:off x="6819900" y="2882900"/>
            <a:ext cx="16875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79883" name="Rectangle 10"/>
          <p:cNvSpPr/>
          <p:nvPr/>
        </p:nvSpPr>
        <p:spPr>
          <a:xfrm>
            <a:off x="7027863" y="2305050"/>
            <a:ext cx="141605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79884" name="Rectangle 11"/>
          <p:cNvSpPr/>
          <p:nvPr/>
        </p:nvSpPr>
        <p:spPr>
          <a:xfrm>
            <a:off x="4837113" y="1636713"/>
            <a:ext cx="14605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79885" name="Line 12"/>
          <p:cNvSpPr/>
          <p:nvPr/>
        </p:nvSpPr>
        <p:spPr>
          <a:xfrm>
            <a:off x="1428750" y="2619375"/>
            <a:ext cx="3643313" cy="0"/>
          </a:xfrm>
          <a:prstGeom prst="line">
            <a:avLst/>
          </a:prstGeom>
          <a:ln w="25400" cap="flat" cmpd="sng">
            <a:solidFill>
              <a:schemeClr val="tx1"/>
            </a:solidFill>
            <a:prstDash val="solid"/>
            <a:headEnd type="none" w="sm" len="sm"/>
            <a:tailEnd type="none" w="sm" len="sm"/>
          </a:ln>
        </p:spPr>
      </p:sp>
      <p:sp>
        <p:nvSpPr>
          <p:cNvPr id="79886" name="Line 13"/>
          <p:cNvSpPr/>
          <p:nvPr/>
        </p:nvSpPr>
        <p:spPr>
          <a:xfrm>
            <a:off x="5072063" y="2619375"/>
            <a:ext cx="0" cy="2547938"/>
          </a:xfrm>
          <a:prstGeom prst="line">
            <a:avLst/>
          </a:prstGeom>
          <a:ln w="12700" cap="flat" cmpd="sng">
            <a:solidFill>
              <a:schemeClr val="tx1"/>
            </a:solidFill>
            <a:prstDash val="dash"/>
            <a:headEnd type="none" w="sm" len="sm"/>
            <a:tailEnd type="none" w="sm" len="sm"/>
          </a:ln>
        </p:spPr>
      </p:sp>
      <p:sp>
        <p:nvSpPr>
          <p:cNvPr id="79887" name="Rectangle 14"/>
          <p:cNvSpPr/>
          <p:nvPr/>
        </p:nvSpPr>
        <p:spPr>
          <a:xfrm>
            <a:off x="974725" y="2293938"/>
            <a:ext cx="4318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79888" name="Rectangle 15"/>
          <p:cNvSpPr/>
          <p:nvPr/>
        </p:nvSpPr>
        <p:spPr>
          <a:xfrm>
            <a:off x="4624388" y="5208588"/>
            <a:ext cx="1087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y*(p)</a:t>
            </a:r>
            <a:endParaRPr lang="en-US" altLang="zh-CN" dirty="0">
              <a:ea typeface="宋体" panose="02010600030101010101" pitchFamily="2" charset="-122"/>
            </a:endParaRPr>
          </a:p>
        </p:txBody>
      </p:sp>
      <p:sp>
        <p:nvSpPr>
          <p:cNvPr id="79889" name="Arc 17"/>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79890" name="Arc 22"/>
          <p:cNvSpPr/>
          <p:nvPr/>
        </p:nvSpPr>
        <p:spPr>
          <a:xfrm rot="10800000">
            <a:off x="1438275" y="17764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79891" name="Arc 23"/>
          <p:cNvSpPr/>
          <p:nvPr/>
        </p:nvSpPr>
        <p:spPr>
          <a:xfrm rot="10800000">
            <a:off x="3133725" y="1763713"/>
            <a:ext cx="2036763" cy="2435225"/>
          </a:xfrm>
          <a:custGeom>
            <a:avLst/>
            <a:gdLst>
              <a:gd name="txL" fmla="*/ 0 w 21307"/>
              <a:gd name="txT" fmla="*/ 0 h 19379"/>
              <a:gd name="txR" fmla="*/ 21307 w 21307"/>
              <a:gd name="txB" fmla="*/ 19379 h 19379"/>
            </a:gdLst>
            <a:ahLst/>
            <a:cxnLst>
              <a:cxn ang="0">
                <a:pos x="0" y="2147483646"/>
              </a:cxn>
              <a:cxn ang="0">
                <a:pos x="2147483646" y="0"/>
              </a:cxn>
              <a:cxn ang="0">
                <a:pos x="2147483646" y="2147483646"/>
              </a:cxn>
            </a:cxnLst>
            <a:rect l="txL" t="txT" r="txR" b="txB"/>
            <a:pathLst>
              <a:path w="21307" h="19379" fill="none">
                <a:moveTo>
                  <a:pt x="0" y="15831"/>
                </a:moveTo>
                <a:cubicBezTo>
                  <a:pt x="1143" y="8967"/>
                  <a:pt x="5523" y="3073"/>
                  <a:pt x="11766" y="0"/>
                </a:cubicBezTo>
              </a:path>
              <a:path w="21307" h="19379" stroke="0">
                <a:moveTo>
                  <a:pt x="0" y="15831"/>
                </a:moveTo>
                <a:cubicBezTo>
                  <a:pt x="1143" y="8967"/>
                  <a:pt x="5523" y="3073"/>
                  <a:pt x="11766" y="0"/>
                </a:cubicBezTo>
                <a:lnTo>
                  <a:pt x="21307" y="19379"/>
                </a:lnTo>
                <a:lnTo>
                  <a:pt x="0" y="1583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79892" name="Rectangle 25"/>
          <p:cNvSpPr/>
          <p:nvPr/>
        </p:nvSpPr>
        <p:spPr>
          <a:xfrm>
            <a:off x="2168525" y="3208338"/>
            <a:ext cx="1874838"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0099FF"/>
                </a:solidFill>
                <a:ea typeface="宋体" panose="02010600030101010101" pitchFamily="2" charset="-122"/>
              </a:rPr>
              <a:t>Revenue</a:t>
            </a:r>
            <a:endParaRPr lang="en-US" altLang="zh-CN" dirty="0">
              <a:solidFill>
                <a:srgbClr val="0099FF"/>
              </a:solidFill>
              <a:ea typeface="宋体" panose="02010600030101010101" pitchFamily="2" charset="-122"/>
            </a:endParaRPr>
          </a:p>
          <a:p>
            <a:pPr marL="0" lvl="0" indent="0">
              <a:spcBef>
                <a:spcPct val="0"/>
              </a:spcBef>
              <a:buClrTx/>
              <a:buSzTx/>
              <a:buFontTx/>
              <a:buNone/>
            </a:pPr>
            <a:r>
              <a:rPr lang="en-US" altLang="zh-CN" dirty="0">
                <a:solidFill>
                  <a:srgbClr val="0099FF"/>
                </a:solidFill>
                <a:ea typeface="宋体" panose="02010600030101010101" pitchFamily="2" charset="-122"/>
              </a:rPr>
              <a:t>= py*(p)</a:t>
            </a:r>
            <a:endParaRPr lang="en-US" altLang="zh-CN" dirty="0">
              <a:solidFill>
                <a:srgbClr val="0099FF"/>
              </a:solidFill>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0"/>
          <p:cNvSpPr/>
          <p:nvPr/>
        </p:nvSpPr>
        <p:spPr>
          <a:xfrm>
            <a:off x="1422400" y="2628900"/>
            <a:ext cx="3632200" cy="2527300"/>
          </a:xfrm>
          <a:prstGeom prst="rect">
            <a:avLst/>
          </a:prstGeom>
          <a:solidFill>
            <a:schemeClr val="tx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endParaRPr lang="zh-CN" altLang="en-US" dirty="0">
              <a:solidFill>
                <a:srgbClr val="0099FF"/>
              </a:solidFill>
              <a:ea typeface="宋体" panose="02010600030101010101" pitchFamily="2" charset="-122"/>
            </a:endParaRPr>
          </a:p>
        </p:txBody>
      </p:sp>
      <p:sp>
        <p:nvSpPr>
          <p:cNvPr id="80899" name="Freeform 22"/>
          <p:cNvSpPr/>
          <p:nvPr/>
        </p:nvSpPr>
        <p:spPr>
          <a:xfrm>
            <a:off x="1428750" y="2619375"/>
            <a:ext cx="3648075" cy="2552700"/>
          </a:xfrm>
          <a:custGeom>
            <a:avLst/>
            <a:gdLst>
              <a:gd name="txL" fmla="*/ 0 w 2298"/>
              <a:gd name="txT" fmla="*/ 0 h 1608"/>
              <a:gd name="txR" fmla="*/ 2298 w 2298"/>
              <a:gd name="txB" fmla="*/ 1608 h 1608"/>
            </a:gdLst>
            <a:ahLst/>
            <a:cxnLst>
              <a:cxn ang="0">
                <a:pos x="15120938" y="1134070313"/>
              </a:cxn>
              <a:cxn ang="0">
                <a:pos x="226814063" y="1466730938"/>
              </a:cxn>
              <a:cxn ang="0">
                <a:pos x="378023438" y="1678424063"/>
              </a:cxn>
              <a:cxn ang="0">
                <a:pos x="559474688" y="1905238125"/>
              </a:cxn>
              <a:cxn ang="0">
                <a:pos x="740925938" y="2086689375"/>
              </a:cxn>
              <a:cxn ang="0">
                <a:pos x="982860938" y="2147483646"/>
              </a:cxn>
              <a:cxn ang="0">
                <a:pos x="1255037813" y="2147483646"/>
              </a:cxn>
              <a:cxn ang="0">
                <a:pos x="1512093750" y="2147483646"/>
              </a:cxn>
              <a:cxn ang="0">
                <a:pos x="1905238125"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1980842813"/>
              </a:cxn>
              <a:cxn ang="0">
                <a:pos x="2147483646" y="1572577500"/>
              </a:cxn>
              <a:cxn ang="0">
                <a:pos x="2147483646" y="1315521563"/>
              </a:cxn>
              <a:cxn ang="0">
                <a:pos x="2147483646" y="907256250"/>
              </a:cxn>
              <a:cxn ang="0">
                <a:pos x="2147483646" y="393144375"/>
              </a:cxn>
              <a:cxn ang="0">
                <a:pos x="2147483646" y="0"/>
              </a:cxn>
              <a:cxn ang="0">
                <a:pos x="2147483646" y="544353750"/>
              </a:cxn>
              <a:cxn ang="0">
                <a:pos x="2147483646" y="2147483646"/>
              </a:cxn>
              <a:cxn ang="0">
                <a:pos x="0" y="2147483646"/>
              </a:cxn>
              <a:cxn ang="0">
                <a:pos x="15120938" y="1134070313"/>
              </a:cxn>
            </a:cxnLst>
            <a:rect l="txL" t="txT" r="txR" b="txB"/>
            <a:pathLst>
              <a:path w="2298" h="1608">
                <a:moveTo>
                  <a:pt x="6" y="450"/>
                </a:moveTo>
                <a:lnTo>
                  <a:pt x="90" y="582"/>
                </a:lnTo>
                <a:lnTo>
                  <a:pt x="150" y="666"/>
                </a:lnTo>
                <a:lnTo>
                  <a:pt x="222" y="756"/>
                </a:lnTo>
                <a:lnTo>
                  <a:pt x="294" y="828"/>
                </a:lnTo>
                <a:lnTo>
                  <a:pt x="390" y="912"/>
                </a:lnTo>
                <a:lnTo>
                  <a:pt x="498" y="990"/>
                </a:lnTo>
                <a:lnTo>
                  <a:pt x="600" y="1050"/>
                </a:lnTo>
                <a:lnTo>
                  <a:pt x="756" y="1116"/>
                </a:lnTo>
                <a:lnTo>
                  <a:pt x="864" y="1146"/>
                </a:lnTo>
                <a:lnTo>
                  <a:pt x="972" y="1164"/>
                </a:lnTo>
                <a:lnTo>
                  <a:pt x="1074" y="1170"/>
                </a:lnTo>
                <a:lnTo>
                  <a:pt x="1188" y="1158"/>
                </a:lnTo>
                <a:lnTo>
                  <a:pt x="1296" y="1140"/>
                </a:lnTo>
                <a:lnTo>
                  <a:pt x="1404" y="1110"/>
                </a:lnTo>
                <a:lnTo>
                  <a:pt x="1506" y="1074"/>
                </a:lnTo>
                <a:lnTo>
                  <a:pt x="1662" y="984"/>
                </a:lnTo>
                <a:lnTo>
                  <a:pt x="1794" y="882"/>
                </a:lnTo>
                <a:lnTo>
                  <a:pt x="1896" y="786"/>
                </a:lnTo>
                <a:lnTo>
                  <a:pt x="2016" y="624"/>
                </a:lnTo>
                <a:lnTo>
                  <a:pt x="2088" y="522"/>
                </a:lnTo>
                <a:lnTo>
                  <a:pt x="2178" y="360"/>
                </a:lnTo>
                <a:lnTo>
                  <a:pt x="2256" y="156"/>
                </a:lnTo>
                <a:lnTo>
                  <a:pt x="2298" y="0"/>
                </a:lnTo>
                <a:lnTo>
                  <a:pt x="2292" y="216"/>
                </a:lnTo>
                <a:lnTo>
                  <a:pt x="2292" y="1608"/>
                </a:lnTo>
                <a:lnTo>
                  <a:pt x="0" y="1602"/>
                </a:lnTo>
                <a:lnTo>
                  <a:pt x="6" y="450"/>
                </a:lnTo>
                <a:close/>
              </a:path>
            </a:pathLst>
          </a:custGeom>
          <a:solidFill>
            <a:srgbClr val="FF3300">
              <a:alpha val="100000"/>
            </a:srgbClr>
          </a:solidFill>
          <a:ln w="12700">
            <a:noFill/>
          </a:ln>
        </p:spPr>
        <p:txBody>
          <a:bodyPr/>
          <a:p>
            <a:endParaRPr lang="zh-CN" altLang="en-US"/>
          </a:p>
        </p:txBody>
      </p:sp>
      <p:sp>
        <p:nvSpPr>
          <p:cNvPr id="80900"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80901"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80902"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80903"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80904"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80905"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80906" name="Arc 8"/>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80907" name="Rectangle 9"/>
          <p:cNvSpPr/>
          <p:nvPr/>
        </p:nvSpPr>
        <p:spPr>
          <a:xfrm>
            <a:off x="6819900" y="2882900"/>
            <a:ext cx="16875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80908" name="Rectangle 10"/>
          <p:cNvSpPr/>
          <p:nvPr/>
        </p:nvSpPr>
        <p:spPr>
          <a:xfrm>
            <a:off x="7027863" y="2305050"/>
            <a:ext cx="141605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80909" name="Rectangle 11"/>
          <p:cNvSpPr/>
          <p:nvPr/>
        </p:nvSpPr>
        <p:spPr>
          <a:xfrm>
            <a:off x="4837113" y="1636713"/>
            <a:ext cx="14605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80910" name="Line 12"/>
          <p:cNvSpPr/>
          <p:nvPr/>
        </p:nvSpPr>
        <p:spPr>
          <a:xfrm>
            <a:off x="1428750" y="2619375"/>
            <a:ext cx="3643313" cy="0"/>
          </a:xfrm>
          <a:prstGeom prst="line">
            <a:avLst/>
          </a:prstGeom>
          <a:ln w="25400" cap="flat" cmpd="sng">
            <a:solidFill>
              <a:schemeClr val="tx1"/>
            </a:solidFill>
            <a:prstDash val="solid"/>
            <a:headEnd type="none" w="sm" len="sm"/>
            <a:tailEnd type="none" w="sm" len="sm"/>
          </a:ln>
        </p:spPr>
      </p:sp>
      <p:sp>
        <p:nvSpPr>
          <p:cNvPr id="80911" name="Line 13"/>
          <p:cNvSpPr/>
          <p:nvPr/>
        </p:nvSpPr>
        <p:spPr>
          <a:xfrm>
            <a:off x="5072063" y="2619375"/>
            <a:ext cx="0" cy="2547938"/>
          </a:xfrm>
          <a:prstGeom prst="line">
            <a:avLst/>
          </a:prstGeom>
          <a:ln w="12700" cap="flat" cmpd="sng">
            <a:solidFill>
              <a:schemeClr val="tx1"/>
            </a:solidFill>
            <a:prstDash val="dash"/>
            <a:headEnd type="none" w="sm" len="sm"/>
            <a:tailEnd type="none" w="sm" len="sm"/>
          </a:ln>
        </p:spPr>
      </p:sp>
      <p:sp>
        <p:nvSpPr>
          <p:cNvPr id="80912" name="Rectangle 14"/>
          <p:cNvSpPr/>
          <p:nvPr/>
        </p:nvSpPr>
        <p:spPr>
          <a:xfrm>
            <a:off x="974725" y="2293938"/>
            <a:ext cx="4318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80913" name="Rectangle 15"/>
          <p:cNvSpPr/>
          <p:nvPr/>
        </p:nvSpPr>
        <p:spPr>
          <a:xfrm>
            <a:off x="4624388" y="5208588"/>
            <a:ext cx="1087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y*(p)</a:t>
            </a:r>
            <a:endParaRPr lang="en-US" altLang="zh-CN" dirty="0">
              <a:ea typeface="宋体" panose="02010600030101010101" pitchFamily="2" charset="-122"/>
            </a:endParaRPr>
          </a:p>
        </p:txBody>
      </p:sp>
      <p:sp>
        <p:nvSpPr>
          <p:cNvPr id="80914" name="Arc 17"/>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80915" name="Arc 18"/>
          <p:cNvSpPr/>
          <p:nvPr/>
        </p:nvSpPr>
        <p:spPr>
          <a:xfrm rot="10800000">
            <a:off x="3133725" y="1763713"/>
            <a:ext cx="2036763" cy="2435225"/>
          </a:xfrm>
          <a:custGeom>
            <a:avLst/>
            <a:gdLst>
              <a:gd name="txL" fmla="*/ 0 w 21307"/>
              <a:gd name="txT" fmla="*/ 0 h 19379"/>
              <a:gd name="txR" fmla="*/ 21307 w 21307"/>
              <a:gd name="txB" fmla="*/ 19379 h 19379"/>
            </a:gdLst>
            <a:ahLst/>
            <a:cxnLst>
              <a:cxn ang="0">
                <a:pos x="0" y="2147483646"/>
              </a:cxn>
              <a:cxn ang="0">
                <a:pos x="2147483646" y="0"/>
              </a:cxn>
              <a:cxn ang="0">
                <a:pos x="2147483646" y="2147483646"/>
              </a:cxn>
            </a:cxnLst>
            <a:rect l="txL" t="txT" r="txR" b="txB"/>
            <a:pathLst>
              <a:path w="21307" h="19379" fill="none">
                <a:moveTo>
                  <a:pt x="0" y="15831"/>
                </a:moveTo>
                <a:cubicBezTo>
                  <a:pt x="1143" y="8967"/>
                  <a:pt x="5523" y="3073"/>
                  <a:pt x="11766" y="0"/>
                </a:cubicBezTo>
              </a:path>
              <a:path w="21307" h="19379" stroke="0">
                <a:moveTo>
                  <a:pt x="0" y="15831"/>
                </a:moveTo>
                <a:cubicBezTo>
                  <a:pt x="1143" y="8967"/>
                  <a:pt x="5523" y="3073"/>
                  <a:pt x="11766" y="0"/>
                </a:cubicBezTo>
                <a:lnTo>
                  <a:pt x="21307" y="19379"/>
                </a:lnTo>
                <a:lnTo>
                  <a:pt x="0" y="1583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80916" name="Rectangle 21"/>
          <p:cNvSpPr/>
          <p:nvPr/>
        </p:nvSpPr>
        <p:spPr>
          <a:xfrm>
            <a:off x="2168525" y="3208338"/>
            <a:ext cx="1878013" cy="106680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0099FF"/>
                </a:solidFill>
                <a:ea typeface="宋体" panose="02010600030101010101" pitchFamily="2" charset="-122"/>
              </a:rPr>
              <a:t>Revenue</a:t>
            </a:r>
            <a:endParaRPr lang="en-US" altLang="zh-CN" dirty="0">
              <a:solidFill>
                <a:srgbClr val="0099FF"/>
              </a:solidFill>
              <a:ea typeface="宋体" panose="02010600030101010101" pitchFamily="2" charset="-122"/>
            </a:endParaRPr>
          </a:p>
          <a:p>
            <a:pPr marL="0" lvl="0" indent="0">
              <a:spcBef>
                <a:spcPct val="0"/>
              </a:spcBef>
              <a:buClrTx/>
              <a:buSzTx/>
              <a:buFontTx/>
              <a:buNone/>
            </a:pPr>
            <a:r>
              <a:rPr lang="en-US" altLang="zh-CN" dirty="0">
                <a:solidFill>
                  <a:srgbClr val="0099FF"/>
                </a:solidFill>
                <a:ea typeface="宋体" panose="02010600030101010101" pitchFamily="2" charset="-122"/>
              </a:rPr>
              <a:t>= py*(p)</a:t>
            </a:r>
            <a:endParaRPr lang="en-US" altLang="zh-CN" dirty="0">
              <a:solidFill>
                <a:srgbClr val="0099FF"/>
              </a:solidFill>
              <a:ea typeface="宋体" panose="02010600030101010101" pitchFamily="2" charset="-122"/>
            </a:endParaRPr>
          </a:p>
        </p:txBody>
      </p:sp>
      <p:sp>
        <p:nvSpPr>
          <p:cNvPr id="80917" name="Rectangle 23"/>
          <p:cNvSpPr/>
          <p:nvPr/>
        </p:nvSpPr>
        <p:spPr>
          <a:xfrm>
            <a:off x="2270125" y="4503738"/>
            <a:ext cx="1728788"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c</a:t>
            </a:r>
            <a:r>
              <a:rPr lang="en-US" altLang="zh-CN" baseline="-25000" dirty="0">
                <a:solidFill>
                  <a:srgbClr val="20F90F"/>
                </a:solidFill>
                <a:ea typeface="宋体" panose="02010600030101010101" pitchFamily="2" charset="-122"/>
              </a:rPr>
              <a:t>v</a:t>
            </a:r>
            <a:r>
              <a:rPr lang="en-US" altLang="zh-CN" dirty="0">
                <a:solidFill>
                  <a:srgbClr val="20F90F"/>
                </a:solidFill>
                <a:ea typeface="宋体" panose="02010600030101010101" pitchFamily="2" charset="-122"/>
              </a:rPr>
              <a:t>(y*(p))</a:t>
            </a:r>
            <a:endParaRPr lang="en-US" altLang="zh-CN" dirty="0">
              <a:solidFill>
                <a:srgbClr val="20F90F"/>
              </a:solidFill>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Freeform 20"/>
          <p:cNvSpPr/>
          <p:nvPr/>
        </p:nvSpPr>
        <p:spPr>
          <a:xfrm>
            <a:off x="1438275" y="2619375"/>
            <a:ext cx="3638550" cy="1857375"/>
          </a:xfrm>
          <a:custGeom>
            <a:avLst/>
            <a:gdLst>
              <a:gd name="txL" fmla="*/ 0 w 2292"/>
              <a:gd name="txT" fmla="*/ 0 h 1170"/>
              <a:gd name="txR" fmla="*/ 2292 w 2292"/>
              <a:gd name="txB" fmla="*/ 1170 h 1170"/>
            </a:gdLst>
            <a:ahLst/>
            <a:cxnLst>
              <a:cxn ang="0">
                <a:pos x="0" y="0"/>
              </a:cxn>
              <a:cxn ang="0">
                <a:pos x="2147483646" y="0"/>
              </a:cxn>
              <a:cxn ang="0">
                <a:pos x="2147483646" y="529232813"/>
              </a:cxn>
              <a:cxn ang="0">
                <a:pos x="2147483646" y="922377188"/>
              </a:cxn>
              <a:cxn ang="0">
                <a:pos x="2147483646" y="1376005313"/>
              </a:cxn>
              <a:cxn ang="0">
                <a:pos x="2147483646" y="1738907813"/>
              </a:cxn>
              <a:cxn ang="0">
                <a:pos x="2147483646" y="2086689375"/>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071568438" y="2147483646"/>
              </a:cxn>
              <a:cxn ang="0">
                <a:pos x="1769149688" y="2147483646"/>
              </a:cxn>
              <a:cxn ang="0">
                <a:pos x="1512093750" y="2147483646"/>
              </a:cxn>
              <a:cxn ang="0">
                <a:pos x="1255037813" y="2147483646"/>
              </a:cxn>
              <a:cxn ang="0">
                <a:pos x="997981875" y="2147483646"/>
              </a:cxn>
              <a:cxn ang="0">
                <a:pos x="801409688" y="2147483646"/>
              </a:cxn>
              <a:cxn ang="0">
                <a:pos x="589716563" y="1950600938"/>
              </a:cxn>
              <a:cxn ang="0">
                <a:pos x="408265313" y="1738907813"/>
              </a:cxn>
              <a:cxn ang="0">
                <a:pos x="257055938" y="1527214688"/>
              </a:cxn>
              <a:cxn ang="0">
                <a:pos x="0" y="1118949375"/>
              </a:cxn>
              <a:cxn ang="0">
                <a:pos x="0" y="0"/>
              </a:cxn>
            </a:cxnLst>
            <a:rect l="txL" t="txT" r="txR" b="txB"/>
            <a:pathLst>
              <a:path w="2292" h="1170">
                <a:moveTo>
                  <a:pt x="0" y="0"/>
                </a:moveTo>
                <a:lnTo>
                  <a:pt x="2292" y="0"/>
                </a:lnTo>
                <a:lnTo>
                  <a:pt x="2238" y="210"/>
                </a:lnTo>
                <a:lnTo>
                  <a:pt x="2172" y="366"/>
                </a:lnTo>
                <a:lnTo>
                  <a:pt x="2064" y="546"/>
                </a:lnTo>
                <a:lnTo>
                  <a:pt x="1962" y="690"/>
                </a:lnTo>
                <a:lnTo>
                  <a:pt x="1842" y="828"/>
                </a:lnTo>
                <a:lnTo>
                  <a:pt x="1680" y="972"/>
                </a:lnTo>
                <a:lnTo>
                  <a:pt x="1524" y="1062"/>
                </a:lnTo>
                <a:lnTo>
                  <a:pt x="1326" y="1134"/>
                </a:lnTo>
                <a:lnTo>
                  <a:pt x="1176" y="1164"/>
                </a:lnTo>
                <a:lnTo>
                  <a:pt x="1032" y="1170"/>
                </a:lnTo>
                <a:lnTo>
                  <a:pt x="936" y="1164"/>
                </a:lnTo>
                <a:lnTo>
                  <a:pt x="822" y="1140"/>
                </a:lnTo>
                <a:lnTo>
                  <a:pt x="702" y="1098"/>
                </a:lnTo>
                <a:lnTo>
                  <a:pt x="600" y="1056"/>
                </a:lnTo>
                <a:lnTo>
                  <a:pt x="498" y="996"/>
                </a:lnTo>
                <a:lnTo>
                  <a:pt x="396" y="924"/>
                </a:lnTo>
                <a:lnTo>
                  <a:pt x="318" y="858"/>
                </a:lnTo>
                <a:lnTo>
                  <a:pt x="234" y="774"/>
                </a:lnTo>
                <a:lnTo>
                  <a:pt x="162" y="690"/>
                </a:lnTo>
                <a:lnTo>
                  <a:pt x="102" y="606"/>
                </a:lnTo>
                <a:lnTo>
                  <a:pt x="0" y="444"/>
                </a:lnTo>
                <a:lnTo>
                  <a:pt x="0" y="0"/>
                </a:lnTo>
                <a:close/>
              </a:path>
            </a:pathLst>
          </a:custGeom>
          <a:solidFill>
            <a:srgbClr val="0099FF">
              <a:alpha val="100000"/>
            </a:srgbClr>
          </a:solidFill>
          <a:ln w="12700">
            <a:noFill/>
          </a:ln>
        </p:spPr>
        <p:txBody>
          <a:bodyPr/>
          <a:p>
            <a:endParaRPr lang="zh-CN" altLang="en-US"/>
          </a:p>
        </p:txBody>
      </p:sp>
      <p:sp>
        <p:nvSpPr>
          <p:cNvPr id="81923"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81924" name="Line 3"/>
          <p:cNvSpPr/>
          <p:nvPr/>
        </p:nvSpPr>
        <p:spPr>
          <a:xfrm flipV="1">
            <a:off x="1428750" y="1522413"/>
            <a:ext cx="0" cy="3643312"/>
          </a:xfrm>
          <a:prstGeom prst="line">
            <a:avLst/>
          </a:prstGeom>
          <a:ln w="12700" cap="flat" cmpd="sng">
            <a:solidFill>
              <a:schemeClr val="tx1"/>
            </a:solidFill>
            <a:prstDash val="solid"/>
            <a:headEnd type="none" w="sm" len="sm"/>
            <a:tailEnd type="stealth" w="med" len="lg"/>
          </a:ln>
        </p:spPr>
      </p:sp>
      <p:sp>
        <p:nvSpPr>
          <p:cNvPr id="81925" name="Line 4"/>
          <p:cNvSpPr/>
          <p:nvPr/>
        </p:nvSpPr>
        <p:spPr>
          <a:xfrm>
            <a:off x="1428750" y="5167313"/>
            <a:ext cx="5738813" cy="0"/>
          </a:xfrm>
          <a:prstGeom prst="line">
            <a:avLst/>
          </a:prstGeom>
          <a:ln w="12700" cap="flat" cmpd="sng">
            <a:solidFill>
              <a:schemeClr val="tx1"/>
            </a:solidFill>
            <a:prstDash val="solid"/>
            <a:headEnd type="none" w="sm" len="sm"/>
            <a:tailEnd type="stealth" w="med" len="lg"/>
          </a:ln>
        </p:spPr>
      </p:sp>
      <p:sp>
        <p:nvSpPr>
          <p:cNvPr id="81926" name="Rectangle 5"/>
          <p:cNvSpPr/>
          <p:nvPr/>
        </p:nvSpPr>
        <p:spPr>
          <a:xfrm>
            <a:off x="7123113" y="5208588"/>
            <a:ext cx="4095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a:t>
            </a:r>
            <a:endParaRPr lang="en-US" altLang="zh-CN" dirty="0">
              <a:ea typeface="宋体" panose="02010600030101010101" pitchFamily="2" charset="-122"/>
            </a:endParaRPr>
          </a:p>
        </p:txBody>
      </p:sp>
      <p:sp>
        <p:nvSpPr>
          <p:cNvPr id="81927" name="Rectangle 6"/>
          <p:cNvSpPr/>
          <p:nvPr/>
        </p:nvSpPr>
        <p:spPr>
          <a:xfrm>
            <a:off x="288925" y="1014413"/>
            <a:ext cx="2336800" cy="5191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sz="2800" dirty="0">
                <a:ea typeface="宋体" panose="02010600030101010101" pitchFamily="2" charset="-122"/>
              </a:rPr>
              <a:t>$/output unit</a:t>
            </a:r>
            <a:endParaRPr lang="en-US" altLang="zh-CN" sz="2800" dirty="0">
              <a:ea typeface="宋体" panose="02010600030101010101" pitchFamily="2" charset="-122"/>
            </a:endParaRPr>
          </a:p>
        </p:txBody>
      </p:sp>
      <p:sp>
        <p:nvSpPr>
          <p:cNvPr id="81928" name="Arc 7"/>
          <p:cNvSpPr/>
          <p:nvPr/>
        </p:nvSpPr>
        <p:spPr>
          <a:xfrm rot="10800000">
            <a:off x="1914525" y="1289050"/>
            <a:ext cx="5113338" cy="2262188"/>
          </a:xfrm>
          <a:custGeom>
            <a:avLst/>
            <a:gdLst>
              <a:gd name="txL" fmla="*/ 0 w 38507"/>
              <a:gd name="txT" fmla="*/ 0 h 21600"/>
              <a:gd name="txR" fmla="*/ 38507 w 38507"/>
              <a:gd name="txB" fmla="*/ 21600 h 21600"/>
            </a:gdLst>
            <a:ahLst/>
            <a:cxnLst>
              <a:cxn ang="0">
                <a:pos x="0" y="2147483646"/>
              </a:cxn>
              <a:cxn ang="0">
                <a:pos x="2147483646" y="2147483646"/>
              </a:cxn>
              <a:cxn ang="0">
                <a:pos x="2147483646" y="2147483646"/>
              </a:cxn>
            </a:cxnLst>
            <a:rect l="txL" t="txT" r="txR" b="txB"/>
            <a:pathLst>
              <a:path w="38507" h="21600" fill="none">
                <a:moveTo>
                  <a:pt x="0" y="8887"/>
                </a:moveTo>
                <a:cubicBezTo>
                  <a:pt x="4065" y="3303"/>
                  <a:pt x="10555" y="-1"/>
                  <a:pt x="17463" y="0"/>
                </a:cubicBezTo>
                <a:cubicBezTo>
                  <a:pt x="27516" y="0"/>
                  <a:pt x="36241" y="6936"/>
                  <a:pt x="38507" y="16731"/>
                </a:cubicBezTo>
              </a:path>
              <a:path w="38507" h="21600" stroke="0">
                <a:moveTo>
                  <a:pt x="0" y="8887"/>
                </a:moveTo>
                <a:cubicBezTo>
                  <a:pt x="4065" y="3303"/>
                  <a:pt x="10555" y="-1"/>
                  <a:pt x="17463" y="0"/>
                </a:cubicBezTo>
                <a:cubicBezTo>
                  <a:pt x="27516" y="0"/>
                  <a:pt x="36241" y="6936"/>
                  <a:pt x="38507" y="16731"/>
                </a:cubicBezTo>
                <a:lnTo>
                  <a:pt x="17463" y="21600"/>
                </a:lnTo>
                <a:lnTo>
                  <a:pt x="0" y="8887"/>
                </a:lnTo>
                <a:close/>
              </a:path>
            </a:pathLst>
          </a:custGeom>
          <a:noFill/>
          <a:ln w="25400" cap="rnd" cmpd="sng">
            <a:solidFill>
              <a:schemeClr val="accent1">
                <a:alpha val="100000"/>
              </a:schemeClr>
            </a:solidFill>
            <a:prstDash val="solid"/>
            <a:round/>
            <a:headEnd type="none" w="sm" len="sm"/>
            <a:tailEnd type="none" w="sm" len="sm"/>
          </a:ln>
        </p:spPr>
        <p:txBody>
          <a:bodyPr/>
          <a:p>
            <a:endParaRPr lang="zh-CN" altLang="en-US"/>
          </a:p>
        </p:txBody>
      </p:sp>
      <p:sp>
        <p:nvSpPr>
          <p:cNvPr id="81929" name="Arc 8"/>
          <p:cNvSpPr/>
          <p:nvPr/>
        </p:nvSpPr>
        <p:spPr>
          <a:xfrm rot="10800000">
            <a:off x="1450975" y="1501775"/>
            <a:ext cx="5362575" cy="2687638"/>
          </a:xfrm>
          <a:custGeom>
            <a:avLst/>
            <a:gdLst>
              <a:gd name="txL" fmla="*/ 0 w 33174"/>
              <a:gd name="txT" fmla="*/ 0 h 21600"/>
              <a:gd name="txR" fmla="*/ 33174 w 33174"/>
              <a:gd name="txB" fmla="*/ 21600 h 21600"/>
            </a:gdLst>
            <a:ahLst/>
            <a:cxnLst>
              <a:cxn ang="0">
                <a:pos x="0" y="2147483646"/>
              </a:cxn>
              <a:cxn ang="0">
                <a:pos x="2147483646" y="2147483646"/>
              </a:cxn>
              <a:cxn ang="0">
                <a:pos x="2147483646" y="2147483646"/>
              </a:cxn>
            </a:cxnLst>
            <a:rect l="txL" t="txT" r="txR" b="txB"/>
            <a:pathLst>
              <a:path w="33174" h="21600" fill="none">
                <a:moveTo>
                  <a:pt x="0" y="8977"/>
                </a:moveTo>
                <a:cubicBezTo>
                  <a:pt x="4059" y="3340"/>
                  <a:pt x="10581" y="-1"/>
                  <a:pt x="17528" y="0"/>
                </a:cubicBezTo>
                <a:cubicBezTo>
                  <a:pt x="23441" y="0"/>
                  <a:pt x="29097" y="2424"/>
                  <a:pt x="33174" y="6708"/>
                </a:cubicBezTo>
              </a:path>
              <a:path w="33174" h="21600" stroke="0">
                <a:moveTo>
                  <a:pt x="0" y="8977"/>
                </a:moveTo>
                <a:cubicBezTo>
                  <a:pt x="4059" y="3340"/>
                  <a:pt x="10581" y="-1"/>
                  <a:pt x="17528" y="0"/>
                </a:cubicBezTo>
                <a:cubicBezTo>
                  <a:pt x="23441" y="0"/>
                  <a:pt x="29097" y="2424"/>
                  <a:pt x="33174" y="6708"/>
                </a:cubicBezTo>
                <a:lnTo>
                  <a:pt x="17528" y="21600"/>
                </a:lnTo>
                <a:lnTo>
                  <a:pt x="0" y="8977"/>
                </a:lnTo>
                <a:close/>
              </a:path>
            </a:pathLst>
          </a:custGeom>
          <a:noFill/>
          <a:ln w="25400" cap="rnd" cmpd="sng">
            <a:solidFill>
              <a:srgbClr val="20F90F">
                <a:alpha val="100000"/>
              </a:srgbClr>
            </a:solidFill>
            <a:prstDash val="solid"/>
            <a:round/>
            <a:headEnd type="none" w="sm" len="sm"/>
            <a:tailEnd type="none" w="sm" len="sm"/>
          </a:ln>
        </p:spPr>
        <p:txBody>
          <a:bodyPr/>
          <a:p>
            <a:endParaRPr lang="zh-CN" altLang="en-US"/>
          </a:p>
        </p:txBody>
      </p:sp>
      <p:sp>
        <p:nvSpPr>
          <p:cNvPr id="81930" name="Rectangle 9"/>
          <p:cNvSpPr/>
          <p:nvPr/>
        </p:nvSpPr>
        <p:spPr>
          <a:xfrm>
            <a:off x="6819900" y="2882900"/>
            <a:ext cx="1687513"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rgbClr val="20F90F"/>
                </a:solidFill>
                <a:ea typeface="宋体" panose="02010600030101010101" pitchFamily="2" charset="-122"/>
              </a:rPr>
              <a:t>AVC</a:t>
            </a:r>
            <a:r>
              <a:rPr lang="en-US" altLang="zh-CN" baseline="-25000" dirty="0">
                <a:solidFill>
                  <a:srgbClr val="20F90F"/>
                </a:solidFill>
                <a:ea typeface="宋体" panose="02010600030101010101" pitchFamily="2" charset="-122"/>
              </a:rPr>
              <a:t>s</a:t>
            </a:r>
            <a:r>
              <a:rPr lang="en-US" altLang="zh-CN" dirty="0">
                <a:solidFill>
                  <a:srgbClr val="20F90F"/>
                </a:solidFill>
                <a:ea typeface="宋体" panose="02010600030101010101" pitchFamily="2" charset="-122"/>
              </a:rPr>
              <a:t>(y)</a:t>
            </a:r>
            <a:endParaRPr lang="en-US" altLang="zh-CN" dirty="0">
              <a:solidFill>
                <a:srgbClr val="20F90F"/>
              </a:solidFill>
              <a:ea typeface="宋体" panose="02010600030101010101" pitchFamily="2" charset="-122"/>
            </a:endParaRPr>
          </a:p>
        </p:txBody>
      </p:sp>
      <p:sp>
        <p:nvSpPr>
          <p:cNvPr id="81931" name="Rectangle 10"/>
          <p:cNvSpPr/>
          <p:nvPr/>
        </p:nvSpPr>
        <p:spPr>
          <a:xfrm>
            <a:off x="7027863" y="2305050"/>
            <a:ext cx="1416050" cy="57943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accent1"/>
                </a:solidFill>
                <a:ea typeface="宋体" panose="02010600030101010101" pitchFamily="2" charset="-122"/>
              </a:rPr>
              <a:t>AC</a:t>
            </a:r>
            <a:r>
              <a:rPr lang="en-US" altLang="zh-CN" baseline="-25000" dirty="0">
                <a:solidFill>
                  <a:schemeClr val="accent1"/>
                </a:solidFill>
                <a:ea typeface="宋体" panose="02010600030101010101" pitchFamily="2" charset="-122"/>
              </a:rPr>
              <a:t>s</a:t>
            </a:r>
            <a:r>
              <a:rPr lang="en-US" altLang="zh-CN" dirty="0">
                <a:solidFill>
                  <a:schemeClr val="accent1"/>
                </a:solidFill>
                <a:ea typeface="宋体" panose="02010600030101010101" pitchFamily="2" charset="-122"/>
              </a:rPr>
              <a:t>(y)</a:t>
            </a:r>
            <a:endParaRPr lang="en-US" altLang="zh-CN" dirty="0">
              <a:solidFill>
                <a:schemeClr val="accent1"/>
              </a:solidFill>
              <a:ea typeface="宋体" panose="02010600030101010101" pitchFamily="2" charset="-122"/>
            </a:endParaRPr>
          </a:p>
        </p:txBody>
      </p:sp>
      <p:sp>
        <p:nvSpPr>
          <p:cNvPr id="81932" name="Rectangle 11"/>
          <p:cNvSpPr/>
          <p:nvPr/>
        </p:nvSpPr>
        <p:spPr>
          <a:xfrm>
            <a:off x="4837113" y="1636713"/>
            <a:ext cx="14605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solidFill>
                  <a:schemeClr val="hlink"/>
                </a:solidFill>
                <a:ea typeface="宋体" panose="02010600030101010101" pitchFamily="2" charset="-122"/>
              </a:rPr>
              <a:t>MC</a:t>
            </a:r>
            <a:r>
              <a:rPr lang="en-US" altLang="zh-CN" baseline="-25000" dirty="0">
                <a:solidFill>
                  <a:schemeClr val="hlink"/>
                </a:solidFill>
                <a:ea typeface="宋体" panose="02010600030101010101" pitchFamily="2" charset="-122"/>
              </a:rPr>
              <a:t>s</a:t>
            </a:r>
            <a:r>
              <a:rPr lang="en-US" altLang="zh-CN" dirty="0">
                <a:solidFill>
                  <a:schemeClr val="hlink"/>
                </a:solidFill>
                <a:ea typeface="宋体" panose="02010600030101010101" pitchFamily="2" charset="-122"/>
              </a:rPr>
              <a:t>(y)</a:t>
            </a:r>
            <a:endParaRPr lang="en-US" altLang="zh-CN" dirty="0">
              <a:solidFill>
                <a:schemeClr val="hlink"/>
              </a:solidFill>
              <a:ea typeface="宋体" panose="02010600030101010101" pitchFamily="2" charset="-122"/>
            </a:endParaRPr>
          </a:p>
        </p:txBody>
      </p:sp>
      <p:sp>
        <p:nvSpPr>
          <p:cNvPr id="81933" name="Line 12"/>
          <p:cNvSpPr/>
          <p:nvPr/>
        </p:nvSpPr>
        <p:spPr>
          <a:xfrm>
            <a:off x="1428750" y="2619375"/>
            <a:ext cx="3643313" cy="0"/>
          </a:xfrm>
          <a:prstGeom prst="line">
            <a:avLst/>
          </a:prstGeom>
          <a:ln w="25400" cap="flat" cmpd="sng">
            <a:solidFill>
              <a:schemeClr val="tx1"/>
            </a:solidFill>
            <a:prstDash val="solid"/>
            <a:headEnd type="none" w="sm" len="sm"/>
            <a:tailEnd type="none" w="sm" len="sm"/>
          </a:ln>
        </p:spPr>
      </p:sp>
      <p:sp>
        <p:nvSpPr>
          <p:cNvPr id="81934" name="Line 13"/>
          <p:cNvSpPr/>
          <p:nvPr/>
        </p:nvSpPr>
        <p:spPr>
          <a:xfrm>
            <a:off x="5072063" y="2619375"/>
            <a:ext cx="0" cy="2547938"/>
          </a:xfrm>
          <a:prstGeom prst="line">
            <a:avLst/>
          </a:prstGeom>
          <a:ln w="12700" cap="flat" cmpd="sng">
            <a:solidFill>
              <a:schemeClr val="tx1"/>
            </a:solidFill>
            <a:prstDash val="dash"/>
            <a:headEnd type="none" w="sm" len="sm"/>
            <a:tailEnd type="none" w="sm" len="sm"/>
          </a:ln>
        </p:spPr>
      </p:sp>
      <p:sp>
        <p:nvSpPr>
          <p:cNvPr id="81935" name="Rectangle 14"/>
          <p:cNvSpPr/>
          <p:nvPr/>
        </p:nvSpPr>
        <p:spPr>
          <a:xfrm>
            <a:off x="974725" y="2293938"/>
            <a:ext cx="431800"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a:t>
            </a:r>
            <a:endParaRPr lang="en-US" altLang="zh-CN" dirty="0">
              <a:ea typeface="宋体" panose="02010600030101010101" pitchFamily="2" charset="-122"/>
            </a:endParaRPr>
          </a:p>
        </p:txBody>
      </p:sp>
      <p:sp>
        <p:nvSpPr>
          <p:cNvPr id="81936" name="Arc 16"/>
          <p:cNvSpPr/>
          <p:nvPr/>
        </p:nvSpPr>
        <p:spPr>
          <a:xfrm rot="10800000">
            <a:off x="1463675" y="1763713"/>
            <a:ext cx="3705225" cy="2714625"/>
          </a:xfrm>
          <a:custGeom>
            <a:avLst/>
            <a:gdLst>
              <a:gd name="txL" fmla="*/ 0 w 38744"/>
              <a:gd name="txT" fmla="*/ 0 h 21600"/>
              <a:gd name="txR" fmla="*/ 38744 w 38744"/>
              <a:gd name="txB" fmla="*/ 21600 h 21600"/>
            </a:gdLst>
            <a:ahLst/>
            <a:cxnLst>
              <a:cxn ang="0">
                <a:pos x="0" y="2147483646"/>
              </a:cxn>
              <a:cxn ang="0">
                <a:pos x="2147483646" y="2147483646"/>
              </a:cxn>
              <a:cxn ang="0">
                <a:pos x="2147483646" y="2147483646"/>
              </a:cxn>
            </a:cxnLst>
            <a:rect l="txL" t="txT" r="txR" b="txB"/>
            <a:pathLst>
              <a:path w="38744" h="21600" fill="none">
                <a:moveTo>
                  <a:pt x="0" y="18052"/>
                </a:moveTo>
                <a:cubicBezTo>
                  <a:pt x="1734" y="7635"/>
                  <a:pt x="10746" y="-1"/>
                  <a:pt x="21307" y="0"/>
                </a:cubicBezTo>
                <a:cubicBezTo>
                  <a:pt x="28198" y="0"/>
                  <a:pt x="34676" y="3288"/>
                  <a:pt x="38743" y="8852"/>
                </a:cubicBezTo>
              </a:path>
              <a:path w="38744" h="21600" stroke="0">
                <a:moveTo>
                  <a:pt x="0" y="18052"/>
                </a:moveTo>
                <a:cubicBezTo>
                  <a:pt x="1734" y="7635"/>
                  <a:pt x="10746" y="-1"/>
                  <a:pt x="21307" y="0"/>
                </a:cubicBezTo>
                <a:cubicBezTo>
                  <a:pt x="28198" y="0"/>
                  <a:pt x="34676" y="3288"/>
                  <a:pt x="38743" y="8852"/>
                </a:cubicBezTo>
                <a:lnTo>
                  <a:pt x="21307" y="21600"/>
                </a:lnTo>
                <a:lnTo>
                  <a:pt x="0" y="18052"/>
                </a:lnTo>
                <a:close/>
              </a:path>
            </a:pathLst>
          </a:custGeom>
          <a:noFill/>
          <a:ln w="25400" cap="rnd" cmpd="sng">
            <a:solidFill>
              <a:schemeClr val="hlink">
                <a:alpha val="100000"/>
              </a:schemeClr>
            </a:solidFill>
            <a:prstDash val="solid"/>
            <a:round/>
            <a:headEnd type="none" w="sm" len="sm"/>
            <a:tailEnd type="none" w="sm" len="sm"/>
          </a:ln>
        </p:spPr>
        <p:txBody>
          <a:bodyPr/>
          <a:p>
            <a:endParaRPr lang="zh-CN" altLang="en-US"/>
          </a:p>
        </p:txBody>
      </p:sp>
      <p:sp>
        <p:nvSpPr>
          <p:cNvPr id="81937" name="Arc 17"/>
          <p:cNvSpPr/>
          <p:nvPr/>
        </p:nvSpPr>
        <p:spPr>
          <a:xfrm rot="10800000">
            <a:off x="3133725" y="1763713"/>
            <a:ext cx="2036763" cy="2435225"/>
          </a:xfrm>
          <a:custGeom>
            <a:avLst/>
            <a:gdLst>
              <a:gd name="txL" fmla="*/ 0 w 21307"/>
              <a:gd name="txT" fmla="*/ 0 h 19379"/>
              <a:gd name="txR" fmla="*/ 21307 w 21307"/>
              <a:gd name="txB" fmla="*/ 19379 h 19379"/>
            </a:gdLst>
            <a:ahLst/>
            <a:cxnLst>
              <a:cxn ang="0">
                <a:pos x="0" y="2147483646"/>
              </a:cxn>
              <a:cxn ang="0">
                <a:pos x="2147483646" y="0"/>
              </a:cxn>
              <a:cxn ang="0">
                <a:pos x="2147483646" y="2147483646"/>
              </a:cxn>
            </a:cxnLst>
            <a:rect l="txL" t="txT" r="txR" b="txB"/>
            <a:pathLst>
              <a:path w="21307" h="19379" fill="none">
                <a:moveTo>
                  <a:pt x="0" y="15831"/>
                </a:moveTo>
                <a:cubicBezTo>
                  <a:pt x="1143" y="8967"/>
                  <a:pt x="5523" y="3073"/>
                  <a:pt x="11766" y="0"/>
                </a:cubicBezTo>
              </a:path>
              <a:path w="21307" h="19379" stroke="0">
                <a:moveTo>
                  <a:pt x="0" y="15831"/>
                </a:moveTo>
                <a:cubicBezTo>
                  <a:pt x="1143" y="8967"/>
                  <a:pt x="5523" y="3073"/>
                  <a:pt x="11766" y="0"/>
                </a:cubicBezTo>
                <a:lnTo>
                  <a:pt x="21307" y="19379"/>
                </a:lnTo>
                <a:lnTo>
                  <a:pt x="0" y="15831"/>
                </a:lnTo>
                <a:close/>
              </a:path>
            </a:pathLst>
          </a:custGeom>
          <a:noFill/>
          <a:ln w="50800" cap="rnd" cmpd="sng">
            <a:solidFill>
              <a:schemeClr val="tx2">
                <a:alpha val="100000"/>
              </a:schemeClr>
            </a:solidFill>
            <a:prstDash val="solid"/>
            <a:round/>
            <a:headEnd type="none" w="sm" len="sm"/>
            <a:tailEnd type="none" w="sm" len="sm"/>
          </a:ln>
        </p:spPr>
        <p:txBody>
          <a:bodyPr/>
          <a:p>
            <a:endParaRPr lang="zh-CN" altLang="en-US"/>
          </a:p>
        </p:txBody>
      </p:sp>
      <p:sp>
        <p:nvSpPr>
          <p:cNvPr id="81938" name="Rectangle 18"/>
          <p:cNvSpPr/>
          <p:nvPr/>
        </p:nvSpPr>
        <p:spPr>
          <a:xfrm>
            <a:off x="2676525" y="3090863"/>
            <a:ext cx="727075"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PS</a:t>
            </a:r>
            <a:endParaRPr lang="en-US" altLang="zh-CN" dirty="0">
              <a:ea typeface="宋体" panose="02010600030101010101" pitchFamily="2" charset="-122"/>
            </a:endParaRPr>
          </a:p>
        </p:txBody>
      </p:sp>
      <p:sp>
        <p:nvSpPr>
          <p:cNvPr id="81939" name="Rectangle 19"/>
          <p:cNvSpPr/>
          <p:nvPr/>
        </p:nvSpPr>
        <p:spPr>
          <a:xfrm>
            <a:off x="4624388" y="5208588"/>
            <a:ext cx="1087437" cy="57943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tx2"/>
              </a:buClr>
              <a:buSzPct val="75000"/>
              <a:buFont typeface="Wingdings" panose="05000000000000000000" pitchFamily="2" charset="2"/>
              <a:buChar char="u"/>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l"/>
              <a:defRPr sz="3200" b="1">
                <a:solidFill>
                  <a:schemeClr val="tx1"/>
                </a:solidFill>
                <a:latin typeface="+mn-lt"/>
              </a:defRPr>
            </a:lvl2pPr>
            <a:lvl3pPr marL="1143000" indent="-228600" algn="l" rtl="0" eaLnBrk="0" fontAlgn="base" hangingPunct="0">
              <a:spcBef>
                <a:spcPct val="20000"/>
              </a:spcBef>
              <a:spcAft>
                <a:spcPct val="0"/>
              </a:spcAft>
              <a:buClr>
                <a:schemeClr val="tx2"/>
              </a:buClr>
              <a:buSzPct val="75000"/>
              <a:buFont typeface="Wingdings" panose="05000000000000000000" pitchFamily="2" charset="2"/>
              <a:buChar char="n"/>
              <a:defRPr sz="3200" b="1">
                <a:solidFill>
                  <a:schemeClr val="tx1"/>
                </a:solidFill>
                <a:latin typeface="+mn-lt"/>
              </a:defRPr>
            </a:lvl3pPr>
            <a:lvl4pPr marL="1600200" indent="-228600" algn="l" rtl="0" eaLnBrk="0" fontAlgn="base" hangingPunct="0">
              <a:spcBef>
                <a:spcPct val="20000"/>
              </a:spcBef>
              <a:spcAft>
                <a:spcPct val="0"/>
              </a:spcAft>
              <a:buClr>
                <a:schemeClr val="tx2"/>
              </a:buClr>
              <a:buSzPct val="10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Font typeface="Wingdings" panose="05000000000000000000" pitchFamily="2" charset="2"/>
              <a:buChar char="²"/>
              <a:defRPr sz="2000">
                <a:solidFill>
                  <a:schemeClr val="tx1"/>
                </a:solidFill>
                <a:latin typeface="+mn-lt"/>
              </a:defRPr>
            </a:lvl5pPr>
          </a:lstStyle>
          <a:p>
            <a:pPr marL="0" lvl="0" indent="0">
              <a:spcBef>
                <a:spcPct val="0"/>
              </a:spcBef>
              <a:buClrTx/>
              <a:buSzTx/>
              <a:buFontTx/>
              <a:buNone/>
            </a:pPr>
            <a:r>
              <a:rPr lang="en-US" altLang="zh-CN" dirty="0">
                <a:ea typeface="宋体" panose="02010600030101010101" pitchFamily="2" charset="-122"/>
              </a:rPr>
              <a:t>y*(p)</a:t>
            </a:r>
            <a:endParaRPr lang="en-US" altLang="zh-CN" dirty="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Producer</a:t>
            </a:r>
            <a:r>
              <a:rPr lang="en-US" altLang="zh-CN" dirty="0">
                <a:latin typeface="Arial" panose="020B0604020202020204" pitchFamily="34" charset="0"/>
                <a:ea typeface="宋体" panose="02010600030101010101" pitchFamily="2" charset="-122"/>
              </a:rPr>
              <a:t>’</a:t>
            </a:r>
            <a:r>
              <a:rPr lang="en-US" altLang="zh-CN" dirty="0">
                <a:ea typeface="宋体" panose="02010600030101010101" pitchFamily="2" charset="-122"/>
              </a:rPr>
              <a:t>s Surplus Revisited</a:t>
            </a:r>
            <a:endParaRPr lang="en-US" altLang="zh-CN" dirty="0">
              <a:ea typeface="宋体" panose="02010600030101010101" pitchFamily="2" charset="-122"/>
            </a:endParaRPr>
          </a:p>
        </p:txBody>
      </p:sp>
      <p:sp>
        <p:nvSpPr>
          <p:cNvPr id="82947" name="Rectangle 3"/>
          <p:cNvSpPr>
            <a:spLocks noGrp="1"/>
          </p:cNvSpPr>
          <p:nvPr>
            <p:ph idx="1"/>
          </p:nvPr>
        </p:nvSpPr>
        <p:spPr>
          <a:ln/>
        </p:spPr>
        <p:txBody>
          <a:bodyPr vert="horz" wrap="square" lIns="92075" tIns="46038" rIns="92075" bIns="46038" anchor="t" anchorCtr="0"/>
          <a:p>
            <a:r>
              <a:rPr lang="en-US" altLang="zh-CN" dirty="0">
                <a:ea typeface="宋体" panose="02010600030101010101" pitchFamily="2" charset="-122"/>
              </a:rPr>
              <a:t>PS = Revenue - Variable Cost.</a:t>
            </a:r>
            <a:endParaRPr lang="en-US" altLang="zh-CN" dirty="0">
              <a:ea typeface="宋体" panose="02010600030101010101" pitchFamily="2" charset="-122"/>
            </a:endParaRPr>
          </a:p>
          <a:p>
            <a:r>
              <a:rPr lang="en-US" altLang="zh-CN" dirty="0">
                <a:ea typeface="宋体" panose="02010600030101010101" pitchFamily="2" charset="-122"/>
              </a:rPr>
              <a:t>Profit = Revenue - Total Cost</a:t>
            </a:r>
            <a:br>
              <a:rPr lang="en-US" altLang="zh-CN" dirty="0">
                <a:ea typeface="宋体" panose="02010600030101010101" pitchFamily="2" charset="-122"/>
              </a:rPr>
            </a:br>
            <a:r>
              <a:rPr lang="en-US" altLang="zh-CN" dirty="0">
                <a:ea typeface="宋体" panose="02010600030101010101" pitchFamily="2" charset="-122"/>
              </a:rPr>
              <a:t>          = Revenue - Fixed Cost</a:t>
            </a:r>
            <a:br>
              <a:rPr lang="en-US" altLang="zh-CN" dirty="0">
                <a:ea typeface="宋体" panose="02010600030101010101" pitchFamily="2" charset="-122"/>
              </a:rPr>
            </a:br>
            <a:r>
              <a:rPr lang="en-US" altLang="zh-CN" dirty="0">
                <a:ea typeface="宋体" panose="02010600030101010101" pitchFamily="2" charset="-122"/>
              </a:rPr>
              <a:t>                             - Variable Cost.</a:t>
            </a:r>
            <a:endParaRPr lang="en-US" altLang="zh-CN" dirty="0">
              <a:ea typeface="宋体" panose="02010600030101010101" pitchFamily="2" charset="-122"/>
            </a:endParaRPr>
          </a:p>
          <a:p>
            <a:r>
              <a:rPr lang="en-US" altLang="zh-CN" dirty="0">
                <a:ea typeface="宋体" panose="02010600030101010101" pitchFamily="2" charset="-122"/>
              </a:rPr>
              <a:t>So,    PS = Profit + Fixed Cost.</a:t>
            </a:r>
            <a:endParaRPr lang="en-US" altLang="zh-CN" dirty="0">
              <a:ea typeface="宋体" panose="02010600030101010101" pitchFamily="2" charset="-122"/>
            </a:endParaRPr>
          </a:p>
          <a:p>
            <a:r>
              <a:rPr lang="en-US" altLang="zh-CN" dirty="0">
                <a:ea typeface="宋体" panose="02010600030101010101" pitchFamily="2" charset="-122"/>
              </a:rPr>
              <a:t>Only if fixed cost is zero (the long-run) are PS and profit the same.</a:t>
            </a:r>
            <a:endParaRPr lang="en-US" altLang="zh-CN" dirty="0">
              <a:ea typeface="宋体" panose="02010600030101010101" pitchFamily="2" charset="-122"/>
            </a:endParaRPr>
          </a:p>
        </p:txBody>
      </p:sp>
    </p:spTree>
  </p:cSld>
  <p:clrMapOvr>
    <a:masterClrMapping/>
  </p:clrMapOvr>
</p:sld>
</file>

<file path=ppt/theme/theme1.xml><?xml version="1.0" encoding="utf-8"?>
<a:theme xmlns:a="http://schemas.openxmlformats.org/drawingml/2006/main" name="Lines On Blue">
  <a:themeElements>
    <a:clrScheme name="Lines On Blue 1">
      <a:dk1>
        <a:srgbClr val="000000"/>
      </a:dk1>
      <a:lt1>
        <a:srgbClr val="FFFFFF"/>
      </a:lt1>
      <a:dk2>
        <a:srgbClr val="000000"/>
      </a:dk2>
      <a:lt2>
        <a:srgbClr val="FFFF00"/>
      </a:lt2>
      <a:accent1>
        <a:srgbClr val="FF9933"/>
      </a:accent1>
      <a:accent2>
        <a:srgbClr val="0000FF"/>
      </a:accent2>
      <a:accent3>
        <a:srgbClr val="AAAAAA"/>
      </a:accent3>
      <a:accent4>
        <a:srgbClr val="DADADA"/>
      </a:accent4>
      <a:accent5>
        <a:srgbClr val="FFCAAD"/>
      </a:accent5>
      <a:accent6>
        <a:srgbClr val="0000E7"/>
      </a:accent6>
      <a:hlink>
        <a:srgbClr val="FF33CC"/>
      </a:hlink>
      <a:folHlink>
        <a:srgbClr val="000080"/>
      </a:folHlink>
    </a:clrScheme>
    <a:fontScheme name="Lines On Blu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1" i="0" u="none" strike="noStrike" cap="none" normalizeH="0" baseline="0" smtClean="0">
            <a:ln>
              <a:noFill/>
            </a:ln>
            <a:solidFill>
              <a:srgbClr val="0099FF"/>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1" i="0" u="none" strike="noStrike" cap="none" normalizeH="0" baseline="0" smtClean="0">
            <a:ln>
              <a:noFill/>
            </a:ln>
            <a:solidFill>
              <a:srgbClr val="0099FF"/>
            </a:solidFill>
            <a:effectLst/>
            <a:latin typeface="Arial" panose="020B0604020202020204" pitchFamily="34" charset="0"/>
          </a:defRPr>
        </a:defPPr>
      </a:lstStyle>
    </a:lnDef>
  </a:objectDefaults>
  <a:extraClrSchemeLst>
    <a:extraClrScheme>
      <a:clrScheme name="Lines On Blue 1">
        <a:dk1>
          <a:srgbClr val="000000"/>
        </a:dk1>
        <a:lt1>
          <a:srgbClr val="FFFFFF"/>
        </a:lt1>
        <a:dk2>
          <a:srgbClr val="000000"/>
        </a:dk2>
        <a:lt2>
          <a:srgbClr val="FFFF00"/>
        </a:lt2>
        <a:accent1>
          <a:srgbClr val="FF9933"/>
        </a:accent1>
        <a:accent2>
          <a:srgbClr val="0000FF"/>
        </a:accent2>
        <a:accent3>
          <a:srgbClr val="AAAAAA"/>
        </a:accent3>
        <a:accent4>
          <a:srgbClr val="DADADA"/>
        </a:accent4>
        <a:accent5>
          <a:srgbClr val="FFCAAD"/>
        </a:accent5>
        <a:accent6>
          <a:srgbClr val="0000E7"/>
        </a:accent6>
        <a:hlink>
          <a:srgbClr val="FF33CC"/>
        </a:hlink>
        <a:folHlink>
          <a:srgbClr val="000080"/>
        </a:folHlink>
      </a:clrScheme>
      <a:clrMap bg1="dk2" tx1="lt1" bg2="dk1" tx2="lt2" accent1="accent1" accent2="accent2" accent3="accent3" accent4="accent4" accent5="accent5" accent6="accent6" hlink="hlink" folHlink="folHlink"/>
    </a:extraClrScheme>
    <a:extraClrScheme>
      <a:clrScheme name="Lines On Blue 2">
        <a:dk1>
          <a:srgbClr val="000000"/>
        </a:dk1>
        <a:lt1>
          <a:srgbClr val="CCCCFF"/>
        </a:lt1>
        <a:dk2>
          <a:srgbClr val="660066"/>
        </a:dk2>
        <a:lt2>
          <a:srgbClr val="99CCFF"/>
        </a:lt2>
        <a:accent1>
          <a:srgbClr val="33CCFF"/>
        </a:accent1>
        <a:accent2>
          <a:srgbClr val="6699FF"/>
        </a:accent2>
        <a:accent3>
          <a:srgbClr val="E2E2FF"/>
        </a:accent3>
        <a:accent4>
          <a:srgbClr val="000000"/>
        </a:accent4>
        <a:accent5>
          <a:srgbClr val="ADE2FF"/>
        </a:accent5>
        <a:accent6>
          <a:srgbClr val="5C8AE7"/>
        </a:accent6>
        <a:hlink>
          <a:srgbClr val="6666FF"/>
        </a:hlink>
        <a:folHlink>
          <a:srgbClr val="CC99FF"/>
        </a:folHlink>
      </a:clrScheme>
      <a:clrMap bg1="lt1" tx1="dk1" bg2="lt2" tx2="dk2" accent1="accent1" accent2="accent2" accent3="accent3" accent4="accent4" accent5="accent5" accent6="accent6" hlink="hlink" folHlink="folHlink"/>
    </a:extraClrScheme>
    <a:extraClrScheme>
      <a:clrScheme name="Lines On Blue 3">
        <a:dk1>
          <a:srgbClr val="000000"/>
        </a:dk1>
        <a:lt1>
          <a:srgbClr val="FFFFFF"/>
        </a:lt1>
        <a:dk2>
          <a:srgbClr val="000000"/>
        </a:dk2>
        <a:lt2>
          <a:srgbClr val="FFFFFF"/>
        </a:lt2>
        <a:accent1>
          <a:srgbClr val="EAEAEA"/>
        </a:accent1>
        <a:accent2>
          <a:srgbClr val="969696"/>
        </a:accent2>
        <a:accent3>
          <a:srgbClr val="FFFFFF"/>
        </a:accent3>
        <a:accent4>
          <a:srgbClr val="000000"/>
        </a:accent4>
        <a:accent5>
          <a:srgbClr val="F3F3F3"/>
        </a:accent5>
        <a:accent6>
          <a:srgbClr val="878787"/>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Lines On Blue 4">
        <a:dk1>
          <a:srgbClr val="000066"/>
        </a:dk1>
        <a:lt1>
          <a:srgbClr val="EAEAEA"/>
        </a:lt1>
        <a:dk2>
          <a:srgbClr val="660066"/>
        </a:dk2>
        <a:lt2>
          <a:srgbClr val="CBCBCB"/>
        </a:lt2>
        <a:accent1>
          <a:srgbClr val="330099"/>
        </a:accent1>
        <a:accent2>
          <a:srgbClr val="FF7C80"/>
        </a:accent2>
        <a:accent3>
          <a:srgbClr val="B8AAB8"/>
        </a:accent3>
        <a:accent4>
          <a:srgbClr val="C8C8C8"/>
        </a:accent4>
        <a:accent5>
          <a:srgbClr val="ADAACA"/>
        </a:accent5>
        <a:accent6>
          <a:srgbClr val="E77073"/>
        </a:accent6>
        <a:hlink>
          <a:srgbClr val="6666FF"/>
        </a:hlink>
        <a:folHlink>
          <a:srgbClr val="D60093"/>
        </a:folHlink>
      </a:clrScheme>
      <a:clrMap bg1="dk2" tx1="lt1" bg2="dk1" tx2="lt2" accent1="accent1" accent2="accent2" accent3="accent3" accent4="accent4" accent5="accent5" accent6="accent6" hlink="hlink" folHlink="folHlink"/>
    </a:extraClrScheme>
    <a:extraClrScheme>
      <a:clrScheme name="Lines On Blue 5">
        <a:dk1>
          <a:srgbClr val="000080"/>
        </a:dk1>
        <a:lt1>
          <a:srgbClr val="EAEAEA"/>
        </a:lt1>
        <a:dk2>
          <a:srgbClr val="9933FF"/>
        </a:dk2>
        <a:lt2>
          <a:srgbClr val="CBCBCB"/>
        </a:lt2>
        <a:accent1>
          <a:srgbClr val="00CC99"/>
        </a:accent1>
        <a:accent2>
          <a:srgbClr val="00CCFF"/>
        </a:accent2>
        <a:accent3>
          <a:srgbClr val="CAADFF"/>
        </a:accent3>
        <a:accent4>
          <a:srgbClr val="C8C8C8"/>
        </a:accent4>
        <a:accent5>
          <a:srgbClr val="AAE2CA"/>
        </a:accent5>
        <a:accent6>
          <a:srgbClr val="00B9E7"/>
        </a:accent6>
        <a:hlink>
          <a:srgbClr val="6666FF"/>
        </a:hlink>
        <a:folHlink>
          <a:srgbClr val="CC99FF"/>
        </a:folHlink>
      </a:clrScheme>
      <a:clrMap bg1="dk2" tx1="lt1" bg2="dk1" tx2="lt2" accent1="accent1" accent2="accent2" accent3="accent3" accent4="accent4" accent5="accent5" accent6="accent6" hlink="hlink" folHlink="folHlink"/>
    </a:extraClrScheme>
    <a:extraClrScheme>
      <a:clrScheme name="Lines On Blue 6">
        <a:dk1>
          <a:srgbClr val="000000"/>
        </a:dk1>
        <a:lt1>
          <a:srgbClr val="FFFFCC"/>
        </a:lt1>
        <a:dk2>
          <a:srgbClr val="660066"/>
        </a:dk2>
        <a:lt2>
          <a:srgbClr val="FFFFFF"/>
        </a:lt2>
        <a:accent1>
          <a:srgbClr val="99CCFF"/>
        </a:accent1>
        <a:accent2>
          <a:srgbClr val="FFCC99"/>
        </a:accent2>
        <a:accent3>
          <a:srgbClr val="FFFFE2"/>
        </a:accent3>
        <a:accent4>
          <a:srgbClr val="000000"/>
        </a:accent4>
        <a:accent5>
          <a:srgbClr val="CAE2FF"/>
        </a:accent5>
        <a:accent6>
          <a:srgbClr val="E7B98A"/>
        </a:accent6>
        <a:hlink>
          <a:srgbClr val="CCCCFF"/>
        </a:hlink>
        <a:folHlink>
          <a:srgbClr val="FFCC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Lines On Blue 1">
    <a:dk1>
      <a:srgbClr val="000000"/>
    </a:dk1>
    <a:lt1>
      <a:srgbClr val="FFFFFF"/>
    </a:lt1>
    <a:dk2>
      <a:srgbClr val="000000"/>
    </a:dk2>
    <a:lt2>
      <a:srgbClr val="FFFF00"/>
    </a:lt2>
    <a:accent1>
      <a:srgbClr val="FF9933"/>
    </a:accent1>
    <a:accent2>
      <a:srgbClr val="0000FF"/>
    </a:accent2>
    <a:accent3>
      <a:srgbClr val="AAAAAA"/>
    </a:accent3>
    <a:accent4>
      <a:srgbClr val="DADADA"/>
    </a:accent4>
    <a:accent5>
      <a:srgbClr val="FFCAAD"/>
    </a:accent5>
    <a:accent6>
      <a:srgbClr val="0000E7"/>
    </a:accent6>
    <a:hlink>
      <a:srgbClr val="FF33CC"/>
    </a:hlink>
    <a:folHlink>
      <a:srgbClr val="000080"/>
    </a:folHlink>
  </a:clrScheme>
</a:themeOverride>
</file>

<file path=docProps/app.xml><?xml version="1.0" encoding="utf-8"?>
<Properties xmlns="http://schemas.openxmlformats.org/officeDocument/2006/extended-properties" xmlns:vt="http://schemas.openxmlformats.org/officeDocument/2006/docPropsVTypes">
  <Template>C:\MSOffice\Templates\Presentation Designs\Lines On Blue.pot</Template>
  <TotalTime>0</TotalTime>
  <Words>10432</Words>
  <Application>WPS 演示</Application>
  <PresentationFormat>全屏显示(4:3)</PresentationFormat>
  <Paragraphs>935</Paragraphs>
  <Slides>79</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22</vt:i4>
      </vt:variant>
      <vt:variant>
        <vt:lpstr>幻灯片标题</vt:lpstr>
      </vt:variant>
      <vt:variant>
        <vt:i4>79</vt:i4>
      </vt:variant>
    </vt:vector>
  </HeadingPairs>
  <TitlesOfParts>
    <vt:vector size="108" baseType="lpstr">
      <vt:lpstr>Arial</vt:lpstr>
      <vt:lpstr>宋体</vt:lpstr>
      <vt:lpstr>Wingdings</vt:lpstr>
      <vt:lpstr>Times New Roman</vt:lpstr>
      <vt:lpstr>Symbol</vt:lpstr>
      <vt:lpstr>Arial Unicode MS</vt:lpstr>
      <vt:lpstr>Lines On Blue</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Equation.2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Twenty-One</dc:title>
  <dc:creator>LSA Media Services, PC-69</dc:creator>
  <cp:lastModifiedBy>蒋士成</cp:lastModifiedBy>
  <cp:revision>41</cp:revision>
  <dcterms:created xsi:type="dcterms:W3CDTF">1997-03-08T15:25:48Z</dcterms:created>
  <dcterms:modified xsi:type="dcterms:W3CDTF">2023-12-29T07:09:46Z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E142AEB04E964C6BA5A884C7B6E206CE_13</vt:lpwstr>
  </property>
  <property fmtid="{D5CDD505-2E9C-101B-9397-08002B2CF9AE}" pid="3" name="KSOProductBuildVer">
    <vt:lpwstr>2052-12.1.0.15990</vt:lpwstr>
  </property>
</Properties>
</file>
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256" r:id="rId3"/>
    <p:sldId id="257" r:id="rId4"/>
    <p:sldId id="259" r:id="rId5"/>
    <p:sldId id="263" r:id="rId6"/>
    <p:sldId id="273" r:id="rId7"/>
    <p:sldId id="261" r:id="rId8"/>
    <p:sldId id="265" r:id="rId9"/>
    <p:sldId id="266" r:id="rId10"/>
    <p:sldId id="274" r:id="rId11"/>
    <p:sldId id="267" r:id="rId12"/>
    <p:sldId id="269" r:id="rId13"/>
    <p:sldId id="270" r:id="rId14"/>
    <p:sldId id="271" r:id="rId15"/>
    <p:sldId id="275" r:id="rId16"/>
    <p:sldId id="339" r:id="rId17"/>
    <p:sldId id="272" r:id="rId18"/>
    <p:sldId id="276" r:id="rId19"/>
    <p:sldId id="277" r:id="rId20"/>
    <p:sldId id="279" r:id="rId21"/>
    <p:sldId id="280" r:id="rId22"/>
    <p:sldId id="282" r:id="rId23"/>
    <p:sldId id="278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2" r:id="rId43"/>
    <p:sldId id="301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37" r:id="rId52"/>
    <p:sldId id="311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38" r:id="rId61"/>
    <p:sldId id="320" r:id="rId62"/>
    <p:sldId id="321" r:id="rId63"/>
    <p:sldId id="323" r:id="rId64"/>
    <p:sldId id="324" r:id="rId65"/>
    <p:sldId id="325" r:id="rId66"/>
    <p:sldId id="326" r:id="rId67"/>
    <p:sldId id="327" r:id="rId68"/>
    <p:sldId id="328" r:id="rId69"/>
    <p:sldId id="330" r:id="rId70"/>
    <p:sldId id="331" r:id="rId71"/>
    <p:sldId id="332" r:id="rId72"/>
    <p:sldId id="333" r:id="rId73"/>
    <p:sldId id="335" r:id="rId74"/>
    <p:sldId id="336" r:id="rId7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3DF500"/>
    <a:srgbClr val="FF3300"/>
    <a:srgbClr val="FF4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 showGuides="1">
      <p:cViewPr varScale="1">
        <p:scale>
          <a:sx n="86" d="100"/>
          <a:sy n="86" d="100"/>
        </p:scale>
        <p:origin x="1524" y="84"/>
      </p:cViewPr>
      <p:guideLst>
        <p:guide orient="horz" pos="24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0" Type="http://schemas.openxmlformats.org/officeDocument/2006/relationships/tableStyles" Target="tableStyles.xml"/><Relationship Id="rId8" Type="http://schemas.openxmlformats.org/officeDocument/2006/relationships/slide" Target="slides/slide6.xml"/><Relationship Id="rId79" Type="http://schemas.openxmlformats.org/officeDocument/2006/relationships/viewProps" Target="viewProps.xml"/><Relationship Id="rId78" Type="http://schemas.openxmlformats.org/officeDocument/2006/relationships/presProps" Target="presProps.xml"/><Relationship Id="rId77" Type="http://schemas.openxmlformats.org/officeDocument/2006/relationships/handoutMaster" Target="handoutMasters/handoutMaster1.xml"/><Relationship Id="rId76" Type="http://schemas.openxmlformats.org/officeDocument/2006/relationships/notesMaster" Target="notesMasters/notesMaster1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050" tIns="0" rIns="19050" bIns="0" numCol="1" anchor="t" anchorCtr="0" compatLnSpc="1"/>
          <a:lstStyle>
            <a:lvl1pPr>
              <a:defRPr sz="1000" b="0" i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050" tIns="0" rIns="19050" bIns="0" numCol="1" anchor="t" anchorCtr="0" compatLnSpc="1"/>
          <a:lstStyle>
            <a:lvl1pPr algn="r">
              <a:defRPr sz="1000" b="0" i="1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49350" y="692150"/>
            <a:ext cx="4559300" cy="34163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050" tIns="0" rIns="19050" bIns="0" numCol="1" anchor="b" anchorCtr="0" compatLnSpc="1"/>
          <a:lstStyle>
            <a:lvl1pPr>
              <a:defRPr sz="1000" b="0" i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9050" tIns="0" rIns="19050" bIns="0" numCol="1" anchor="b" anchorCtr="0" compatLnSpc="1"/>
          <a:lstStyle>
            <a:lvl1pPr algn="r">
              <a:defRPr sz="1000" b="0" i="1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560881-0A54-44FE-9BF0-5AC6D2B7FC8F}" type="slidenum">
              <a:rPr kumimoji="0" lang="en-US" altLang="zh-CN" sz="10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zh-CN" sz="10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9"/>
          <p:cNvGrpSpPr/>
          <p:nvPr/>
        </p:nvGrpSpPr>
        <p:grpSpPr>
          <a:xfrm>
            <a:off x="0" y="2760663"/>
            <a:ext cx="9151938" cy="4113212"/>
            <a:chOff x="0" y="1739"/>
            <a:chExt cx="5765" cy="2591"/>
          </a:xfrm>
        </p:grpSpPr>
        <p:grpSp>
          <p:nvGrpSpPr>
            <p:cNvPr id="2056" name="Group 17"/>
            <p:cNvGrpSpPr/>
            <p:nvPr/>
          </p:nvGrpSpPr>
          <p:grpSpPr>
            <a:xfrm>
              <a:off x="0" y="3652"/>
              <a:ext cx="5765" cy="678"/>
              <a:chOff x="0" y="3652"/>
              <a:chExt cx="5765" cy="678"/>
            </a:xfrm>
          </p:grpSpPr>
          <p:sp>
            <p:nvSpPr>
              <p:cNvPr id="26" name="Rectangle 2"/>
              <p:cNvSpPr>
                <a:spLocks noChangeArrowheads="1"/>
              </p:cNvSpPr>
              <p:nvPr/>
            </p:nvSpPr>
            <p:spPr bwMode="ltGray">
              <a:xfrm>
                <a:off x="0" y="3676"/>
                <a:ext cx="5764" cy="64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59" name="Group 16"/>
              <p:cNvGrpSpPr/>
              <p:nvPr/>
            </p:nvGrpSpPr>
            <p:grpSpPr>
              <a:xfrm>
                <a:off x="0" y="3652"/>
                <a:ext cx="5765" cy="678"/>
                <a:chOff x="0" y="3652"/>
                <a:chExt cx="5765" cy="678"/>
              </a:xfrm>
            </p:grpSpPr>
            <p:sp useBgFill="1">
              <p:nvSpPr>
                <p:cNvPr id="2060" name="Freeform 3"/>
                <p:cNvSpPr/>
                <p:nvPr/>
              </p:nvSpPr>
              <p:spPr>
                <a:xfrm>
                  <a:off x="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1" name="Freeform 4"/>
                <p:cNvSpPr/>
                <p:nvPr/>
              </p:nvSpPr>
              <p:spPr>
                <a:xfrm>
                  <a:off x="43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2" name="Freeform 5"/>
                <p:cNvSpPr/>
                <p:nvPr/>
              </p:nvSpPr>
              <p:spPr>
                <a:xfrm>
                  <a:off x="87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3" name="Freeform 6"/>
                <p:cNvSpPr/>
                <p:nvPr/>
              </p:nvSpPr>
              <p:spPr>
                <a:xfrm>
                  <a:off x="132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4" name="Freeform 7"/>
                <p:cNvSpPr/>
                <p:nvPr/>
              </p:nvSpPr>
              <p:spPr>
                <a:xfrm>
                  <a:off x="176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5" name="Freeform 8"/>
                <p:cNvSpPr/>
                <p:nvPr/>
              </p:nvSpPr>
              <p:spPr>
                <a:xfrm>
                  <a:off x="221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6" name="Freeform 9"/>
                <p:cNvSpPr/>
                <p:nvPr/>
              </p:nvSpPr>
              <p:spPr>
                <a:xfrm>
                  <a:off x="2646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7" name="Freeform 10"/>
                <p:cNvSpPr/>
                <p:nvPr/>
              </p:nvSpPr>
              <p:spPr>
                <a:xfrm>
                  <a:off x="3090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8" name="Freeform 11"/>
                <p:cNvSpPr/>
                <p:nvPr/>
              </p:nvSpPr>
              <p:spPr>
                <a:xfrm>
                  <a:off x="3547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69" name="Freeform 12"/>
                <p:cNvSpPr/>
                <p:nvPr/>
              </p:nvSpPr>
              <p:spPr>
                <a:xfrm>
                  <a:off x="4004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70" name="Freeform 13"/>
                <p:cNvSpPr/>
                <p:nvPr/>
              </p:nvSpPr>
              <p:spPr>
                <a:xfrm>
                  <a:off x="4473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71" name="Freeform 14"/>
                <p:cNvSpPr/>
                <p:nvPr/>
              </p:nvSpPr>
              <p:spPr>
                <a:xfrm>
                  <a:off x="493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 useBgFill="1">
              <p:nvSpPr>
                <p:cNvPr id="2072" name="Freeform 15"/>
                <p:cNvSpPr/>
                <p:nvPr/>
              </p:nvSpPr>
              <p:spPr>
                <a:xfrm>
                  <a:off x="5403" y="3825"/>
                  <a:ext cx="362" cy="505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361" y="0"/>
                    </a:cxn>
                    <a:cxn ang="0">
                      <a:pos x="361" y="122"/>
                    </a:cxn>
                    <a:cxn ang="0">
                      <a:pos x="96" y="504"/>
                    </a:cxn>
                    <a:cxn ang="0">
                      <a:pos x="0" y="504"/>
                    </a:cxn>
                  </a:cxnLst>
                  <a:pathLst>
                    <a:path w="362" h="505">
                      <a:moveTo>
                        <a:pt x="0" y="504"/>
                      </a:moveTo>
                      <a:lnTo>
                        <a:pt x="361" y="0"/>
                      </a:lnTo>
                      <a:lnTo>
                        <a:pt x="361" y="122"/>
                      </a:lnTo>
                      <a:lnTo>
                        <a:pt x="96" y="504"/>
                      </a:lnTo>
                      <a:lnTo>
                        <a:pt x="0" y="504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2057" name="Freeform 18"/>
            <p:cNvSpPr/>
            <p:nvPr/>
          </p:nvSpPr>
          <p:spPr>
            <a:xfrm>
              <a:off x="0" y="1739"/>
              <a:ext cx="516" cy="9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5" y="0"/>
                </a:cxn>
                <a:cxn ang="0">
                  <a:pos x="0" y="912"/>
                </a:cxn>
                <a:cxn ang="0">
                  <a:pos x="0" y="0"/>
                </a:cxn>
              </a:cxnLst>
              <a:pathLst>
                <a:path w="516" h="913">
                  <a:moveTo>
                    <a:pt x="0" y="0"/>
                  </a:moveTo>
                  <a:lnTo>
                    <a:pt x="515" y="0"/>
                  </a:lnTo>
                  <a:lnTo>
                    <a:pt x="0" y="91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92" name="Rectangle 2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 altLang="zh-CN"/>
          </a:p>
        </p:txBody>
      </p:sp>
      <p:sp>
        <p:nvSpPr>
          <p:cNvPr id="41" name="Rectangle 22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2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D4EA71-1DD8-45BA-AEBE-629465AF951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4381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7"/>
          <p:cNvGrpSpPr/>
          <p:nvPr/>
        </p:nvGrpSpPr>
        <p:grpSpPr>
          <a:xfrm>
            <a:off x="0" y="5797550"/>
            <a:ext cx="9167813" cy="1076325"/>
            <a:chOff x="0" y="3652"/>
            <a:chExt cx="5775" cy="678"/>
          </a:xfrm>
        </p:grpSpPr>
        <p:sp>
          <p:nvSpPr>
            <p:cNvPr id="1032" name="Rectangle 2"/>
            <p:cNvSpPr>
              <a:spLocks noChangeArrowheads="1"/>
            </p:cNvSpPr>
            <p:nvPr/>
          </p:nvSpPr>
          <p:spPr bwMode="ltGray">
            <a:xfrm>
              <a:off x="0" y="3676"/>
              <a:ext cx="5774" cy="64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3" name="Group 16"/>
            <p:cNvGrpSpPr/>
            <p:nvPr/>
          </p:nvGrpSpPr>
          <p:grpSpPr>
            <a:xfrm>
              <a:off x="0" y="3652"/>
              <a:ext cx="5775" cy="678"/>
              <a:chOff x="0" y="3652"/>
              <a:chExt cx="5775" cy="678"/>
            </a:xfrm>
          </p:grpSpPr>
          <p:sp useBgFill="1">
            <p:nvSpPr>
              <p:cNvPr id="1034" name="Freeform 3"/>
              <p:cNvSpPr/>
              <p:nvPr/>
            </p:nvSpPr>
            <p:spPr>
              <a:xfrm>
                <a:off x="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5" name="Freeform 4"/>
              <p:cNvSpPr/>
              <p:nvPr/>
            </p:nvSpPr>
            <p:spPr>
              <a:xfrm>
                <a:off x="43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6" name="Freeform 5"/>
              <p:cNvSpPr/>
              <p:nvPr/>
            </p:nvSpPr>
            <p:spPr>
              <a:xfrm>
                <a:off x="879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7" name="Freeform 6"/>
              <p:cNvSpPr/>
              <p:nvPr/>
            </p:nvSpPr>
            <p:spPr>
              <a:xfrm>
                <a:off x="1325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8" name="Freeform 7"/>
              <p:cNvSpPr/>
              <p:nvPr/>
            </p:nvSpPr>
            <p:spPr>
              <a:xfrm>
                <a:off x="177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39" name="Freeform 8"/>
              <p:cNvSpPr/>
              <p:nvPr/>
            </p:nvSpPr>
            <p:spPr>
              <a:xfrm>
                <a:off x="2216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0" name="Freeform 9"/>
              <p:cNvSpPr/>
              <p:nvPr/>
            </p:nvSpPr>
            <p:spPr>
              <a:xfrm>
                <a:off x="265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1" name="Freeform 10"/>
              <p:cNvSpPr/>
              <p:nvPr/>
            </p:nvSpPr>
            <p:spPr>
              <a:xfrm>
                <a:off x="3096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2" name="Freeform 11"/>
              <p:cNvSpPr/>
              <p:nvPr/>
            </p:nvSpPr>
            <p:spPr>
              <a:xfrm>
                <a:off x="355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3" name="Freeform 12"/>
              <p:cNvSpPr/>
              <p:nvPr/>
            </p:nvSpPr>
            <p:spPr>
              <a:xfrm>
                <a:off x="401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4" name="Freeform 13"/>
              <p:cNvSpPr/>
              <p:nvPr/>
            </p:nvSpPr>
            <p:spPr>
              <a:xfrm>
                <a:off x="448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5" name="Freeform 14"/>
              <p:cNvSpPr/>
              <p:nvPr/>
            </p:nvSpPr>
            <p:spPr>
              <a:xfrm>
                <a:off x="4939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 useBgFill="1">
            <p:nvSpPr>
              <p:cNvPr id="1046" name="Freeform 15"/>
              <p:cNvSpPr/>
              <p:nvPr/>
            </p:nvSpPr>
            <p:spPr>
              <a:xfrm>
                <a:off x="5413" y="3825"/>
                <a:ext cx="362" cy="505"/>
              </a:xfrm>
              <a:custGeom>
                <a:avLst/>
                <a:gdLst/>
                <a:ahLst/>
                <a:cxnLst>
                  <a:cxn ang="0">
                    <a:pos x="0" y="504"/>
                  </a:cxn>
                  <a:cxn ang="0">
                    <a:pos x="361" y="0"/>
                  </a:cxn>
                  <a:cxn ang="0">
                    <a:pos x="361" y="122"/>
                  </a:cxn>
                  <a:cxn ang="0">
                    <a:pos x="96" y="504"/>
                  </a:cxn>
                  <a:cxn ang="0">
                    <a:pos x="0" y="504"/>
                  </a:cxn>
                </a:cxnLst>
                <a:pathLst>
                  <a:path w="362" h="505">
                    <a:moveTo>
                      <a:pt x="0" y="504"/>
                    </a:moveTo>
                    <a:lnTo>
                      <a:pt x="361" y="0"/>
                    </a:lnTo>
                    <a:lnTo>
                      <a:pt x="361" y="122"/>
                    </a:lnTo>
                    <a:lnTo>
                      <a:pt x="96" y="504"/>
                    </a:lnTo>
                    <a:lnTo>
                      <a:pt x="0" y="504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027" name="Rectangle 18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19"/>
          <p:cNvSpPr>
            <a:spLocks noGrp="1"/>
          </p:cNvSpPr>
          <p:nvPr>
            <p:ph type="body" idx="1"/>
          </p:nvPr>
        </p:nvSpPr>
        <p:spPr>
          <a:xfrm>
            <a:off x="685800" y="1485900"/>
            <a:ext cx="7772400" cy="43815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299045D-F2B6-45CF-8BEC-26FCAB0F596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v"/>
        <a:defRPr sz="32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ctrTitle" sz="quarter"/>
          </p:nvPr>
        </p:nvSpPr>
        <p:spPr>
          <a:ln/>
        </p:spPr>
        <p:txBody>
          <a:bodyPr vert="horz" wrap="square" lIns="92075" tIns="46038" rIns="92075" bIns="46038" anchor="ctr" anchorCtr="0"/>
          <a:p>
            <a:pPr>
              <a:buClrTx/>
              <a:buSzTx/>
              <a:buFontTx/>
            </a:pPr>
            <a:r>
              <a:rPr lang="en-US" altLang="zh-CN" dirty="0">
                <a:latin typeface="+mj-lt"/>
                <a:ea typeface="宋体" panose="02010600030101010101" pitchFamily="2" charset="-122"/>
                <a:cs typeface="+mj-cs"/>
              </a:rPr>
              <a:t>Chapter Twenty-Three</a:t>
            </a:r>
            <a:endParaRPr lang="en-US" altLang="zh-CN" dirty="0"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subTitle" sz="quarter" idx="1"/>
          </p:nvPr>
        </p:nvSpPr>
        <p:spPr>
          <a:ln/>
        </p:spPr>
        <p:txBody>
          <a:bodyPr vert="horz" wrap="square" lIns="92075" tIns="46038" rIns="92075" bIns="46038" anchor="t" anchorCtr="0"/>
          <a:p>
            <a:pPr>
              <a:buSzPct val="75000"/>
            </a:pPr>
            <a:r>
              <a:rPr lang="en-US" altLang="zh-CN" sz="4000" dirty="0">
                <a:latin typeface="+mn-lt"/>
                <a:ea typeface="宋体" panose="02010600030101010101" pitchFamily="2" charset="-122"/>
                <a:cs typeface="+mn-cs"/>
              </a:rPr>
              <a:t>Industry Supply</a:t>
            </a:r>
            <a:endParaRPr lang="en-US" altLang="zh-CN" sz="4000" dirty="0">
              <a:latin typeface="+mn-lt"/>
              <a:ea typeface="宋体" panose="02010600030101010101" pitchFamily="2" charset="-122"/>
              <a:cs typeface="+mn-cs"/>
            </a:endParaRPr>
          </a:p>
          <a:p>
            <a:pPr>
              <a:buSzPct val="75000"/>
            </a:pPr>
            <a:r>
              <a:rPr lang="zh-CN" altLang="en-US" sz="4000" dirty="0">
                <a:latin typeface="+mn-lt"/>
                <a:ea typeface="宋体" panose="02010600030101010101" pitchFamily="2" charset="-122"/>
                <a:cs typeface="+mn-cs"/>
              </a:rPr>
              <a:t>行业供给 </a:t>
            </a:r>
            <a:endParaRPr lang="en-US" altLang="zh-CN" sz="400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Supply From A Competitive Industry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7897813" cy="4381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How are the supply decisions of the many individual firms in a competitive industry to be combined to discover the market supply curve for the entire industry?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Supply From A Competitive Industry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560388" y="1485900"/>
            <a:ext cx="8040687" cy="4381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Since every firm in the industry is a price-taker, total quantity supplied at a given price is the sum of quantities supplied at that price by the individual firms.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a short-run the number of firms in the industry is, temporarily, fixed.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Let n be the number of firms;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 = 1, … ,n.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(p) is firm i’s supply function.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a short-run the number of firms in the industry is, temporarily, fixed.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Let n be the number of firms;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 = 1, … ,n.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</a:t>
            </a:r>
            <a:r>
              <a:rPr lang="en-US" altLang="zh-CN" baseline="-25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(p) is firm i’s supply function.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industry’s short-run supply function is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196" name="Object 4"/>
          <p:cNvGraphicFramePr/>
          <p:nvPr/>
        </p:nvGraphicFramePr>
        <p:xfrm>
          <a:off x="2835275" y="4887913"/>
          <a:ext cx="314007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001645" imgH="1258570" progId="Equation.2">
                  <p:embed/>
                </p:oleObj>
              </mc:Choice>
              <mc:Fallback>
                <p:oleObj name="" r:id="rId1" imgW="3001645" imgH="1258570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35275" y="4887913"/>
                        <a:ext cx="3140075" cy="1320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Supply From A Competitive Industry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19" name="Line 3"/>
          <p:cNvSpPr/>
          <p:nvPr/>
        </p:nvSpPr>
        <p:spPr>
          <a:xfrm flipV="1">
            <a:off x="12954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9220" name="Line 4"/>
          <p:cNvSpPr/>
          <p:nvPr/>
        </p:nvSpPr>
        <p:spPr>
          <a:xfrm>
            <a:off x="12954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9221" name="Line 5"/>
          <p:cNvSpPr/>
          <p:nvPr/>
        </p:nvSpPr>
        <p:spPr>
          <a:xfrm flipV="1">
            <a:off x="1295400" y="2057400"/>
            <a:ext cx="838200" cy="9144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2" name="Rectangle 6"/>
          <p:cNvSpPr/>
          <p:nvPr/>
        </p:nvSpPr>
        <p:spPr>
          <a:xfrm>
            <a:off x="7461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9223" name="Rectangle 7"/>
          <p:cNvSpPr/>
          <p:nvPr/>
        </p:nvSpPr>
        <p:spPr>
          <a:xfrm>
            <a:off x="31083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9224" name="Line 8"/>
          <p:cNvSpPr/>
          <p:nvPr/>
        </p:nvSpPr>
        <p:spPr>
          <a:xfrm flipV="1">
            <a:off x="49530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9225" name="Line 9"/>
          <p:cNvSpPr/>
          <p:nvPr/>
        </p:nvSpPr>
        <p:spPr>
          <a:xfrm>
            <a:off x="49530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9226" name="Line 10"/>
          <p:cNvSpPr/>
          <p:nvPr/>
        </p:nvSpPr>
        <p:spPr>
          <a:xfrm flipV="1">
            <a:off x="4953000" y="2133600"/>
            <a:ext cx="1676400" cy="4572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227" name="Rectangle 11"/>
          <p:cNvSpPr/>
          <p:nvPr/>
        </p:nvSpPr>
        <p:spPr>
          <a:xfrm>
            <a:off x="44037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9228" name="Rectangle 12"/>
          <p:cNvSpPr/>
          <p:nvPr/>
        </p:nvSpPr>
        <p:spPr>
          <a:xfrm>
            <a:off x="67659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9229" name="Rectangle 13"/>
          <p:cNvSpPr/>
          <p:nvPr/>
        </p:nvSpPr>
        <p:spPr>
          <a:xfrm>
            <a:off x="1098550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9230" name="Rectangle 14"/>
          <p:cNvSpPr/>
          <p:nvPr/>
        </p:nvSpPr>
        <p:spPr>
          <a:xfrm>
            <a:off x="4765675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Supply From A Competitive Industry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243" name="Line 3"/>
          <p:cNvSpPr/>
          <p:nvPr/>
        </p:nvSpPr>
        <p:spPr>
          <a:xfrm flipV="1">
            <a:off x="12954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0244" name="Line 4"/>
          <p:cNvSpPr/>
          <p:nvPr/>
        </p:nvSpPr>
        <p:spPr>
          <a:xfrm>
            <a:off x="12954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0245" name="Line 5"/>
          <p:cNvSpPr/>
          <p:nvPr/>
        </p:nvSpPr>
        <p:spPr>
          <a:xfrm flipV="1">
            <a:off x="1295400" y="2057400"/>
            <a:ext cx="838200" cy="9144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46" name="Rectangle 6"/>
          <p:cNvSpPr/>
          <p:nvPr/>
        </p:nvSpPr>
        <p:spPr>
          <a:xfrm>
            <a:off x="7461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47" name="Rectangle 7"/>
          <p:cNvSpPr/>
          <p:nvPr/>
        </p:nvSpPr>
        <p:spPr>
          <a:xfrm>
            <a:off x="31083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48" name="Line 8"/>
          <p:cNvSpPr/>
          <p:nvPr/>
        </p:nvSpPr>
        <p:spPr>
          <a:xfrm flipV="1">
            <a:off x="49530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0249" name="Line 9"/>
          <p:cNvSpPr/>
          <p:nvPr/>
        </p:nvSpPr>
        <p:spPr>
          <a:xfrm>
            <a:off x="49530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0250" name="Line 10"/>
          <p:cNvSpPr/>
          <p:nvPr/>
        </p:nvSpPr>
        <p:spPr>
          <a:xfrm flipV="1">
            <a:off x="4953000" y="2133600"/>
            <a:ext cx="1676400" cy="4572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1" name="Rectangle 11"/>
          <p:cNvSpPr/>
          <p:nvPr/>
        </p:nvSpPr>
        <p:spPr>
          <a:xfrm>
            <a:off x="44037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52" name="Rectangle 12"/>
          <p:cNvSpPr/>
          <p:nvPr/>
        </p:nvSpPr>
        <p:spPr>
          <a:xfrm>
            <a:off x="67659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53" name="Line 13"/>
          <p:cNvSpPr/>
          <p:nvPr/>
        </p:nvSpPr>
        <p:spPr>
          <a:xfrm flipV="1">
            <a:off x="1295400" y="38100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0254" name="Line 14"/>
          <p:cNvSpPr/>
          <p:nvPr/>
        </p:nvSpPr>
        <p:spPr>
          <a:xfrm>
            <a:off x="1295400" y="5410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0255" name="Line 15"/>
          <p:cNvSpPr/>
          <p:nvPr/>
        </p:nvSpPr>
        <p:spPr>
          <a:xfrm flipV="1">
            <a:off x="1295400" y="4710113"/>
            <a:ext cx="361950" cy="3952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6" name="Rectangle 16"/>
          <p:cNvSpPr/>
          <p:nvPr/>
        </p:nvSpPr>
        <p:spPr>
          <a:xfrm>
            <a:off x="746125" y="35956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57" name="Line 18"/>
          <p:cNvSpPr/>
          <p:nvPr/>
        </p:nvSpPr>
        <p:spPr>
          <a:xfrm>
            <a:off x="1295400" y="2586038"/>
            <a:ext cx="46482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0258" name="Line 19"/>
          <p:cNvSpPr/>
          <p:nvPr/>
        </p:nvSpPr>
        <p:spPr>
          <a:xfrm>
            <a:off x="1295400" y="4714875"/>
            <a:ext cx="23241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0259" name="Rectangle 20"/>
          <p:cNvSpPr/>
          <p:nvPr/>
        </p:nvSpPr>
        <p:spPr>
          <a:xfrm>
            <a:off x="771525" y="2355850"/>
            <a:ext cx="500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60" name="Rectangle 21"/>
          <p:cNvSpPr/>
          <p:nvPr/>
        </p:nvSpPr>
        <p:spPr>
          <a:xfrm>
            <a:off x="766763" y="4479925"/>
            <a:ext cx="50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61" name="Line 22"/>
          <p:cNvSpPr/>
          <p:nvPr/>
        </p:nvSpPr>
        <p:spPr>
          <a:xfrm>
            <a:off x="1657350" y="2606675"/>
            <a:ext cx="0" cy="66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0262" name="Line 23"/>
          <p:cNvSpPr/>
          <p:nvPr/>
        </p:nvSpPr>
        <p:spPr>
          <a:xfrm>
            <a:off x="1657350" y="4722813"/>
            <a:ext cx="0" cy="66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0263" name="Rectangle 24"/>
          <p:cNvSpPr/>
          <p:nvPr/>
        </p:nvSpPr>
        <p:spPr>
          <a:xfrm>
            <a:off x="1106488" y="3367088"/>
            <a:ext cx="110966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(p’)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64" name="Rectangle 25"/>
          <p:cNvSpPr/>
          <p:nvPr/>
        </p:nvSpPr>
        <p:spPr>
          <a:xfrm>
            <a:off x="1106488" y="5497513"/>
            <a:ext cx="110966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(p’)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65" name="Rectangle 26"/>
          <p:cNvSpPr/>
          <p:nvPr/>
        </p:nvSpPr>
        <p:spPr>
          <a:xfrm>
            <a:off x="1098550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66" name="Rectangle 27"/>
          <p:cNvSpPr/>
          <p:nvPr/>
        </p:nvSpPr>
        <p:spPr>
          <a:xfrm>
            <a:off x="4765675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67" name="Rectangle 29"/>
          <p:cNvSpPr/>
          <p:nvPr/>
        </p:nvSpPr>
        <p:spPr>
          <a:xfrm>
            <a:off x="5470525" y="5500688"/>
            <a:ext cx="33401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S(p) = 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(p) + 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0268" name="Rectangle 30"/>
          <p:cNvSpPr/>
          <p:nvPr/>
        </p:nvSpPr>
        <p:spPr>
          <a:xfrm>
            <a:off x="1676400" y="6110288"/>
            <a:ext cx="3170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Industry’s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Supply From A Competitive Industry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267" name="Line 3"/>
          <p:cNvSpPr/>
          <p:nvPr/>
        </p:nvSpPr>
        <p:spPr>
          <a:xfrm flipV="1">
            <a:off x="12954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268" name="Line 4"/>
          <p:cNvSpPr/>
          <p:nvPr/>
        </p:nvSpPr>
        <p:spPr>
          <a:xfrm>
            <a:off x="12954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269" name="Line 5"/>
          <p:cNvSpPr/>
          <p:nvPr/>
        </p:nvSpPr>
        <p:spPr>
          <a:xfrm flipV="1">
            <a:off x="1295400" y="2057400"/>
            <a:ext cx="838200" cy="9144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70" name="Rectangle 6"/>
          <p:cNvSpPr/>
          <p:nvPr/>
        </p:nvSpPr>
        <p:spPr>
          <a:xfrm>
            <a:off x="7461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71" name="Rectangle 7"/>
          <p:cNvSpPr/>
          <p:nvPr/>
        </p:nvSpPr>
        <p:spPr>
          <a:xfrm>
            <a:off x="31083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72" name="Line 8"/>
          <p:cNvSpPr/>
          <p:nvPr/>
        </p:nvSpPr>
        <p:spPr>
          <a:xfrm flipV="1">
            <a:off x="49530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273" name="Line 9"/>
          <p:cNvSpPr/>
          <p:nvPr/>
        </p:nvSpPr>
        <p:spPr>
          <a:xfrm>
            <a:off x="49530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274" name="Line 10"/>
          <p:cNvSpPr/>
          <p:nvPr/>
        </p:nvSpPr>
        <p:spPr>
          <a:xfrm flipV="1">
            <a:off x="4953000" y="2133600"/>
            <a:ext cx="1676400" cy="4572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75" name="Rectangle 11"/>
          <p:cNvSpPr/>
          <p:nvPr/>
        </p:nvSpPr>
        <p:spPr>
          <a:xfrm>
            <a:off x="44037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76" name="Rectangle 12"/>
          <p:cNvSpPr/>
          <p:nvPr/>
        </p:nvSpPr>
        <p:spPr>
          <a:xfrm>
            <a:off x="67659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77" name="Line 13"/>
          <p:cNvSpPr/>
          <p:nvPr/>
        </p:nvSpPr>
        <p:spPr>
          <a:xfrm flipV="1">
            <a:off x="1295400" y="38100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278" name="Line 14"/>
          <p:cNvSpPr/>
          <p:nvPr/>
        </p:nvSpPr>
        <p:spPr>
          <a:xfrm>
            <a:off x="1295400" y="5410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1279" name="Line 15"/>
          <p:cNvSpPr/>
          <p:nvPr/>
        </p:nvSpPr>
        <p:spPr>
          <a:xfrm flipV="1">
            <a:off x="1295400" y="4710113"/>
            <a:ext cx="361950" cy="3952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80" name="Rectangle 16"/>
          <p:cNvSpPr/>
          <p:nvPr/>
        </p:nvSpPr>
        <p:spPr>
          <a:xfrm>
            <a:off x="746125" y="35956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81" name="Rectangle 17"/>
          <p:cNvSpPr/>
          <p:nvPr/>
        </p:nvSpPr>
        <p:spPr>
          <a:xfrm>
            <a:off x="5470525" y="5500688"/>
            <a:ext cx="33401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S(p) = 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(p) + 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82" name="Line 18"/>
          <p:cNvSpPr/>
          <p:nvPr/>
        </p:nvSpPr>
        <p:spPr>
          <a:xfrm>
            <a:off x="1295400" y="2228850"/>
            <a:ext cx="57435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1283" name="Line 19"/>
          <p:cNvSpPr/>
          <p:nvPr/>
        </p:nvSpPr>
        <p:spPr>
          <a:xfrm>
            <a:off x="1295400" y="4357688"/>
            <a:ext cx="35512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1284" name="Rectangle 20"/>
          <p:cNvSpPr/>
          <p:nvPr/>
        </p:nvSpPr>
        <p:spPr>
          <a:xfrm>
            <a:off x="700088" y="1968500"/>
            <a:ext cx="5794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85" name="Rectangle 21"/>
          <p:cNvSpPr/>
          <p:nvPr/>
        </p:nvSpPr>
        <p:spPr>
          <a:xfrm>
            <a:off x="695325" y="4092575"/>
            <a:ext cx="5794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86" name="Line 22"/>
          <p:cNvSpPr/>
          <p:nvPr/>
        </p:nvSpPr>
        <p:spPr>
          <a:xfrm>
            <a:off x="1974850" y="2246313"/>
            <a:ext cx="0" cy="10239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1287" name="Line 23"/>
          <p:cNvSpPr/>
          <p:nvPr/>
        </p:nvSpPr>
        <p:spPr>
          <a:xfrm>
            <a:off x="6189663" y="2246313"/>
            <a:ext cx="0" cy="10239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1288" name="Line 24"/>
          <p:cNvSpPr/>
          <p:nvPr/>
        </p:nvSpPr>
        <p:spPr>
          <a:xfrm flipV="1">
            <a:off x="3287713" y="4352925"/>
            <a:ext cx="0" cy="10525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1289" name="Line 25"/>
          <p:cNvSpPr/>
          <p:nvPr/>
        </p:nvSpPr>
        <p:spPr>
          <a:xfrm flipV="1">
            <a:off x="1657350" y="4021138"/>
            <a:ext cx="3074988" cy="7064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290" name="Line 26"/>
          <p:cNvSpPr/>
          <p:nvPr/>
        </p:nvSpPr>
        <p:spPr>
          <a:xfrm flipV="1">
            <a:off x="1609725" y="4048125"/>
            <a:ext cx="2933700" cy="674688"/>
          </a:xfrm>
          <a:prstGeom prst="line">
            <a:avLst/>
          </a:prstGeom>
          <a:ln w="76200" cap="flat" cmpd="sng">
            <a:solidFill>
              <a:schemeClr val="hlink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1291" name="Rectangle 27"/>
          <p:cNvSpPr/>
          <p:nvPr/>
        </p:nvSpPr>
        <p:spPr>
          <a:xfrm>
            <a:off x="1392238" y="3367088"/>
            <a:ext cx="11890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(p”)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92" name="Rectangle 28"/>
          <p:cNvSpPr/>
          <p:nvPr/>
        </p:nvSpPr>
        <p:spPr>
          <a:xfrm>
            <a:off x="2078038" y="5497513"/>
            <a:ext cx="24018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(p”)+S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(p”)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93" name="Rectangle 29"/>
          <p:cNvSpPr/>
          <p:nvPr/>
        </p:nvSpPr>
        <p:spPr>
          <a:xfrm>
            <a:off x="5635625" y="3367088"/>
            <a:ext cx="11890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(p”)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94" name="Rectangle 30"/>
          <p:cNvSpPr/>
          <p:nvPr/>
        </p:nvSpPr>
        <p:spPr>
          <a:xfrm>
            <a:off x="1098550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95" name="Rectangle 31"/>
          <p:cNvSpPr/>
          <p:nvPr/>
        </p:nvSpPr>
        <p:spPr>
          <a:xfrm>
            <a:off x="4765675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1296" name="Rectangle 32"/>
          <p:cNvSpPr/>
          <p:nvPr/>
        </p:nvSpPr>
        <p:spPr>
          <a:xfrm>
            <a:off x="1676400" y="6110288"/>
            <a:ext cx="3170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Industry’s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Supply From A Competitive Industry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2291" name="Line 3"/>
          <p:cNvSpPr/>
          <p:nvPr/>
        </p:nvSpPr>
        <p:spPr>
          <a:xfrm flipV="1">
            <a:off x="12954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2292" name="Line 4"/>
          <p:cNvSpPr/>
          <p:nvPr/>
        </p:nvSpPr>
        <p:spPr>
          <a:xfrm>
            <a:off x="12954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2293" name="Line 5"/>
          <p:cNvSpPr/>
          <p:nvPr/>
        </p:nvSpPr>
        <p:spPr>
          <a:xfrm flipV="1">
            <a:off x="1295400" y="2057400"/>
            <a:ext cx="838200" cy="9144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94" name="Rectangle 6"/>
          <p:cNvSpPr/>
          <p:nvPr/>
        </p:nvSpPr>
        <p:spPr>
          <a:xfrm>
            <a:off x="7461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295" name="Rectangle 7"/>
          <p:cNvSpPr/>
          <p:nvPr/>
        </p:nvSpPr>
        <p:spPr>
          <a:xfrm>
            <a:off x="31083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296" name="Line 8"/>
          <p:cNvSpPr/>
          <p:nvPr/>
        </p:nvSpPr>
        <p:spPr>
          <a:xfrm flipV="1">
            <a:off x="4953000" y="16764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2297" name="Line 9"/>
          <p:cNvSpPr/>
          <p:nvPr/>
        </p:nvSpPr>
        <p:spPr>
          <a:xfrm>
            <a:off x="4953000" y="3276600"/>
            <a:ext cx="22860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2298" name="Line 10"/>
          <p:cNvSpPr/>
          <p:nvPr/>
        </p:nvSpPr>
        <p:spPr>
          <a:xfrm flipV="1">
            <a:off x="4953000" y="2133600"/>
            <a:ext cx="1676400" cy="4572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99" name="Rectangle 11"/>
          <p:cNvSpPr/>
          <p:nvPr/>
        </p:nvSpPr>
        <p:spPr>
          <a:xfrm>
            <a:off x="4403725" y="14620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300" name="Rectangle 12"/>
          <p:cNvSpPr/>
          <p:nvPr/>
        </p:nvSpPr>
        <p:spPr>
          <a:xfrm>
            <a:off x="6765925" y="3367088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301" name="Line 13"/>
          <p:cNvSpPr/>
          <p:nvPr/>
        </p:nvSpPr>
        <p:spPr>
          <a:xfrm flipV="1">
            <a:off x="1295400" y="3810000"/>
            <a:ext cx="0" cy="160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2302" name="Line 14"/>
          <p:cNvSpPr/>
          <p:nvPr/>
        </p:nvSpPr>
        <p:spPr>
          <a:xfrm>
            <a:off x="1295400" y="5410200"/>
            <a:ext cx="51054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2303" name="Line 15"/>
          <p:cNvSpPr/>
          <p:nvPr/>
        </p:nvSpPr>
        <p:spPr>
          <a:xfrm flipV="1">
            <a:off x="1295400" y="4710113"/>
            <a:ext cx="361950" cy="39528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304" name="Rectangle 16"/>
          <p:cNvSpPr/>
          <p:nvPr/>
        </p:nvSpPr>
        <p:spPr>
          <a:xfrm>
            <a:off x="746125" y="359568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305" name="Line 18"/>
          <p:cNvSpPr/>
          <p:nvPr/>
        </p:nvSpPr>
        <p:spPr>
          <a:xfrm flipV="1">
            <a:off x="1657350" y="4021138"/>
            <a:ext cx="3074988" cy="706437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306" name="Line 19"/>
          <p:cNvSpPr/>
          <p:nvPr/>
        </p:nvSpPr>
        <p:spPr>
          <a:xfrm flipV="1">
            <a:off x="1609725" y="4048125"/>
            <a:ext cx="2933700" cy="674688"/>
          </a:xfrm>
          <a:prstGeom prst="line">
            <a:avLst/>
          </a:prstGeom>
          <a:ln w="76200" cap="flat" cmpd="sng">
            <a:solidFill>
              <a:schemeClr val="hlink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2307" name="Rectangle 20"/>
          <p:cNvSpPr/>
          <p:nvPr/>
        </p:nvSpPr>
        <p:spPr>
          <a:xfrm>
            <a:off x="1098550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308" name="Rectangle 21"/>
          <p:cNvSpPr/>
          <p:nvPr/>
        </p:nvSpPr>
        <p:spPr>
          <a:xfrm>
            <a:off x="4765675" y="1085850"/>
            <a:ext cx="28321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309" name="Rectangle 23"/>
          <p:cNvSpPr/>
          <p:nvPr/>
        </p:nvSpPr>
        <p:spPr>
          <a:xfrm>
            <a:off x="5470525" y="5500688"/>
            <a:ext cx="33401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S(p) = S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</a:rPr>
              <a:t>(p) + S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(p)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2310" name="Rectangle 24"/>
          <p:cNvSpPr/>
          <p:nvPr/>
        </p:nvSpPr>
        <p:spPr>
          <a:xfrm>
            <a:off x="1676400" y="6110288"/>
            <a:ext cx="3170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Industry’s Supply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Industry Equilibrium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a short-run, neither entry nor exit can occur.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Consequently, in a short-run equilibrium, some firms may earn positive economics profits, others may suffer economic losses, and still others may earn zero economic profit.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Industry Equilibrium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4339" name="Line 3"/>
          <p:cNvSpPr/>
          <p:nvPr/>
        </p:nvSpPr>
        <p:spPr>
          <a:xfrm>
            <a:off x="1547813" y="1571625"/>
            <a:ext cx="0" cy="33099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4340" name="Line 4"/>
          <p:cNvSpPr/>
          <p:nvPr/>
        </p:nvSpPr>
        <p:spPr>
          <a:xfrm>
            <a:off x="1547813" y="4905375"/>
            <a:ext cx="49291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4341" name="Line 5"/>
          <p:cNvSpPr/>
          <p:nvPr/>
        </p:nvSpPr>
        <p:spPr>
          <a:xfrm>
            <a:off x="1547813" y="2190750"/>
            <a:ext cx="4071937" cy="2714625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342" name="Line 6"/>
          <p:cNvSpPr/>
          <p:nvPr/>
        </p:nvSpPr>
        <p:spPr>
          <a:xfrm flipV="1">
            <a:off x="1547813" y="2024063"/>
            <a:ext cx="3238500" cy="238125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343" name="Rectangle 7"/>
          <p:cNvSpPr/>
          <p:nvPr/>
        </p:nvSpPr>
        <p:spPr>
          <a:xfrm>
            <a:off x="4932363" y="3967163"/>
            <a:ext cx="27971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Market demand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14344" name="Rectangle 8"/>
          <p:cNvSpPr/>
          <p:nvPr/>
        </p:nvSpPr>
        <p:spPr>
          <a:xfrm>
            <a:off x="4837113" y="1752600"/>
            <a:ext cx="3308350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Short-run industry</a:t>
            </a:r>
            <a:b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supply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4345" name="Line 9"/>
          <p:cNvSpPr/>
          <p:nvPr/>
        </p:nvSpPr>
        <p:spPr>
          <a:xfrm>
            <a:off x="3114675" y="3241675"/>
            <a:ext cx="0" cy="16446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4346" name="Line 10"/>
          <p:cNvSpPr/>
          <p:nvPr/>
        </p:nvSpPr>
        <p:spPr>
          <a:xfrm flipH="1">
            <a:off x="1555750" y="3241675"/>
            <a:ext cx="15446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4347" name="Rectangle 11"/>
          <p:cNvSpPr/>
          <p:nvPr/>
        </p:nvSpPr>
        <p:spPr>
          <a:xfrm>
            <a:off x="903288" y="2960688"/>
            <a:ext cx="67151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4348" name="Rectangle 12"/>
          <p:cNvSpPr/>
          <p:nvPr/>
        </p:nvSpPr>
        <p:spPr>
          <a:xfrm>
            <a:off x="2820988" y="4937125"/>
            <a:ext cx="6905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4349" name="Rectangle 13"/>
          <p:cNvSpPr/>
          <p:nvPr/>
        </p:nvSpPr>
        <p:spPr>
          <a:xfrm>
            <a:off x="6235700" y="4937125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4350" name="Rectangle 14"/>
          <p:cNvSpPr/>
          <p:nvPr/>
        </p:nvSpPr>
        <p:spPr>
          <a:xfrm>
            <a:off x="407988" y="5541963"/>
            <a:ext cx="832326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Short-run equilibrium price clears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market and is taken as given by each firm.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Industry Equilibrium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5363" name="Line 3"/>
          <p:cNvSpPr/>
          <p:nvPr/>
        </p:nvSpPr>
        <p:spPr>
          <a:xfrm>
            <a:off x="904875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5364" name="Line 4"/>
          <p:cNvSpPr/>
          <p:nvPr/>
        </p:nvSpPr>
        <p:spPr>
          <a:xfrm>
            <a:off x="904875" y="4572000"/>
            <a:ext cx="22621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5365" name="Rectangle 5"/>
          <p:cNvSpPr/>
          <p:nvPr/>
        </p:nvSpPr>
        <p:spPr>
          <a:xfrm>
            <a:off x="2908300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5366" name="Line 6"/>
          <p:cNvSpPr/>
          <p:nvPr/>
        </p:nvSpPr>
        <p:spPr>
          <a:xfrm>
            <a:off x="3548063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5367" name="Line 7"/>
          <p:cNvSpPr/>
          <p:nvPr/>
        </p:nvSpPr>
        <p:spPr>
          <a:xfrm>
            <a:off x="3548063" y="4572000"/>
            <a:ext cx="22621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5368" name="Rectangle 8"/>
          <p:cNvSpPr/>
          <p:nvPr/>
        </p:nvSpPr>
        <p:spPr>
          <a:xfrm>
            <a:off x="5551488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5369" name="Line 9"/>
          <p:cNvSpPr/>
          <p:nvPr/>
        </p:nvSpPr>
        <p:spPr>
          <a:xfrm>
            <a:off x="6238875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5370" name="Line 10"/>
          <p:cNvSpPr/>
          <p:nvPr/>
        </p:nvSpPr>
        <p:spPr>
          <a:xfrm>
            <a:off x="6238875" y="4572000"/>
            <a:ext cx="22621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5371" name="Rectangle 11"/>
          <p:cNvSpPr/>
          <p:nvPr/>
        </p:nvSpPr>
        <p:spPr>
          <a:xfrm>
            <a:off x="8242300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5372" name="Arc 12"/>
          <p:cNvSpPr/>
          <p:nvPr/>
        </p:nvSpPr>
        <p:spPr>
          <a:xfrm rot="10800000">
            <a:off x="1081088" y="2573338"/>
            <a:ext cx="1514475" cy="1381125"/>
          </a:xfrm>
          <a:custGeom>
            <a:avLst/>
            <a:gdLst>
              <a:gd name="txL" fmla="*/ 0 w 41119"/>
              <a:gd name="txT" fmla="*/ 0 h 21600"/>
              <a:gd name="txR" fmla="*/ 41119 w 41119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19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5" y="0"/>
                  <a:pt x="37544" y="4807"/>
                  <a:pt x="41118" y="12349"/>
                </a:cubicBezTo>
              </a:path>
              <a:path w="41119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5" y="0"/>
                  <a:pt x="37544" y="4807"/>
                  <a:pt x="41118" y="12349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5373" name="Arc 13"/>
          <p:cNvSpPr/>
          <p:nvPr/>
        </p:nvSpPr>
        <p:spPr>
          <a:xfrm rot="10800000">
            <a:off x="3544888" y="2074863"/>
            <a:ext cx="2030412" cy="1262062"/>
          </a:xfrm>
          <a:custGeom>
            <a:avLst/>
            <a:gdLst>
              <a:gd name="txL" fmla="*/ 0 w 41122"/>
              <a:gd name="txT" fmla="*/ 0 h 21600"/>
              <a:gd name="txR" fmla="*/ 41122 w 41122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22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8" y="0"/>
                  <a:pt x="37549" y="4811"/>
                  <a:pt x="41122" y="12356"/>
                </a:cubicBezTo>
              </a:path>
              <a:path w="41122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8" y="0"/>
                  <a:pt x="37549" y="4811"/>
                  <a:pt x="41122" y="1235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5374" name="Arc 14"/>
          <p:cNvSpPr/>
          <p:nvPr/>
        </p:nvSpPr>
        <p:spPr>
          <a:xfrm rot="10800000">
            <a:off x="6256338" y="2384425"/>
            <a:ext cx="1768475" cy="1166813"/>
          </a:xfrm>
          <a:custGeom>
            <a:avLst/>
            <a:gdLst>
              <a:gd name="txL" fmla="*/ 0 w 41109"/>
              <a:gd name="txT" fmla="*/ 0 h 21600"/>
              <a:gd name="txR" fmla="*/ 41109 w 41109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09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37" y="0"/>
                  <a:pt x="37530" y="4798"/>
                  <a:pt x="41108" y="12328"/>
                </a:cubicBezTo>
              </a:path>
              <a:path w="41109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37" y="0"/>
                  <a:pt x="37530" y="4798"/>
                  <a:pt x="41108" y="1232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5375" name="Line 15"/>
          <p:cNvSpPr/>
          <p:nvPr/>
        </p:nvSpPr>
        <p:spPr>
          <a:xfrm flipH="1">
            <a:off x="906463" y="3529013"/>
            <a:ext cx="62341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5376" name="Arc 16"/>
          <p:cNvSpPr/>
          <p:nvPr/>
        </p:nvSpPr>
        <p:spPr>
          <a:xfrm>
            <a:off x="1052513" y="3125788"/>
            <a:ext cx="1025525" cy="1157287"/>
          </a:xfrm>
          <a:custGeom>
            <a:avLst/>
            <a:gdLst>
              <a:gd name="txL" fmla="*/ 0 w 21600"/>
              <a:gd name="txT" fmla="*/ 0 h 21136"/>
              <a:gd name="txR" fmla="*/ 21600 w 21600"/>
              <a:gd name="txB" fmla="*/ 21136 h 21136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36" fill="none">
                <a:moveTo>
                  <a:pt x="21600" y="0"/>
                </a:moveTo>
                <a:cubicBezTo>
                  <a:pt x="21600" y="10213"/>
                  <a:pt x="14446" y="19030"/>
                  <a:pt x="4453" y="21136"/>
                </a:cubicBezTo>
              </a:path>
              <a:path w="21600" h="21136" stroke="0">
                <a:moveTo>
                  <a:pt x="21600" y="0"/>
                </a:moveTo>
                <a:cubicBezTo>
                  <a:pt x="21600" y="10213"/>
                  <a:pt x="14446" y="19030"/>
                  <a:pt x="4453" y="21136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5377" name="Arc 17"/>
          <p:cNvSpPr/>
          <p:nvPr/>
        </p:nvSpPr>
        <p:spPr>
          <a:xfrm>
            <a:off x="3792538" y="2246313"/>
            <a:ext cx="1085850" cy="1355725"/>
          </a:xfrm>
          <a:custGeom>
            <a:avLst/>
            <a:gdLst>
              <a:gd name="txL" fmla="*/ 0 w 21371"/>
              <a:gd name="txT" fmla="*/ 0 h 21600"/>
              <a:gd name="txR" fmla="*/ 21371 w 21371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21371" h="21600" fill="none">
                <a:moveTo>
                  <a:pt x="21370" y="3138"/>
                </a:moveTo>
                <a:cubicBezTo>
                  <a:pt x="19813" y="13742"/>
                  <a:pt x="10716" y="21599"/>
                  <a:pt x="0" y="21600"/>
                </a:cubicBezTo>
              </a:path>
              <a:path w="21371" h="21600" stroke="0">
                <a:moveTo>
                  <a:pt x="21370" y="3138"/>
                </a:moveTo>
                <a:cubicBezTo>
                  <a:pt x="19813" y="13742"/>
                  <a:pt x="10716" y="21599"/>
                  <a:pt x="0" y="21600"/>
                </a:cubicBezTo>
                <a:lnTo>
                  <a:pt x="0" y="0"/>
                </a:lnTo>
                <a:lnTo>
                  <a:pt x="21370" y="3138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5378" name="Arc 18"/>
          <p:cNvSpPr/>
          <p:nvPr/>
        </p:nvSpPr>
        <p:spPr>
          <a:xfrm>
            <a:off x="6548438" y="2433638"/>
            <a:ext cx="833437" cy="1398587"/>
          </a:xfrm>
          <a:custGeom>
            <a:avLst/>
            <a:gdLst>
              <a:gd name="txL" fmla="*/ 0 w 20460"/>
              <a:gd name="txT" fmla="*/ 0 h 21600"/>
              <a:gd name="txR" fmla="*/ 20460 w 20460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20460" h="21600" fill="none">
                <a:moveTo>
                  <a:pt x="20460" y="6924"/>
                </a:moveTo>
                <a:cubicBezTo>
                  <a:pt x="17491" y="15696"/>
                  <a:pt x="9260" y="21599"/>
                  <a:pt x="0" y="21600"/>
                </a:cubicBezTo>
              </a:path>
              <a:path w="20460" h="21600" stroke="0">
                <a:moveTo>
                  <a:pt x="20460" y="6924"/>
                </a:moveTo>
                <a:cubicBezTo>
                  <a:pt x="17491" y="15696"/>
                  <a:pt x="9260" y="21599"/>
                  <a:pt x="0" y="21600"/>
                </a:cubicBezTo>
                <a:lnTo>
                  <a:pt x="0" y="0"/>
                </a:lnTo>
                <a:lnTo>
                  <a:pt x="20460" y="6924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5379" name="Rectangle 19"/>
          <p:cNvSpPr/>
          <p:nvPr/>
        </p:nvSpPr>
        <p:spPr>
          <a:xfrm>
            <a:off x="2171700" y="2138363"/>
            <a:ext cx="8334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5380" name="Rectangle 20"/>
          <p:cNvSpPr/>
          <p:nvPr/>
        </p:nvSpPr>
        <p:spPr>
          <a:xfrm>
            <a:off x="5172075" y="1631950"/>
            <a:ext cx="8334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5381" name="Rectangle 21"/>
          <p:cNvSpPr/>
          <p:nvPr/>
        </p:nvSpPr>
        <p:spPr>
          <a:xfrm>
            <a:off x="7640638" y="1905000"/>
            <a:ext cx="8334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5382" name="Rectangle 22"/>
          <p:cNvSpPr/>
          <p:nvPr/>
        </p:nvSpPr>
        <p:spPr>
          <a:xfrm>
            <a:off x="1609725" y="2673350"/>
            <a:ext cx="87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5383" name="Rectangle 23"/>
          <p:cNvSpPr/>
          <p:nvPr/>
        </p:nvSpPr>
        <p:spPr>
          <a:xfrm>
            <a:off x="4408488" y="2008188"/>
            <a:ext cx="8731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5384" name="Rectangle 24"/>
          <p:cNvSpPr/>
          <p:nvPr/>
        </p:nvSpPr>
        <p:spPr>
          <a:xfrm>
            <a:off x="6846888" y="2438400"/>
            <a:ext cx="87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5385" name="Line 25"/>
          <p:cNvSpPr/>
          <p:nvPr/>
        </p:nvSpPr>
        <p:spPr>
          <a:xfrm>
            <a:off x="1990725" y="3530600"/>
            <a:ext cx="0" cy="10382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5386" name="Line 26"/>
          <p:cNvSpPr/>
          <p:nvPr/>
        </p:nvSpPr>
        <p:spPr>
          <a:xfrm>
            <a:off x="4429125" y="3314700"/>
            <a:ext cx="0" cy="12541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5387" name="Line 27"/>
          <p:cNvSpPr/>
          <p:nvPr/>
        </p:nvSpPr>
        <p:spPr>
          <a:xfrm>
            <a:off x="7097713" y="3522663"/>
            <a:ext cx="0" cy="10461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5388" name="Rectangle 28"/>
          <p:cNvSpPr/>
          <p:nvPr/>
        </p:nvSpPr>
        <p:spPr>
          <a:xfrm>
            <a:off x="1665288" y="4730750"/>
            <a:ext cx="6111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5389" name="Rectangle 29"/>
          <p:cNvSpPr/>
          <p:nvPr/>
        </p:nvSpPr>
        <p:spPr>
          <a:xfrm>
            <a:off x="4138613" y="4730750"/>
            <a:ext cx="6111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5390" name="Rectangle 30"/>
          <p:cNvSpPr/>
          <p:nvPr/>
        </p:nvSpPr>
        <p:spPr>
          <a:xfrm>
            <a:off x="6797675" y="4732338"/>
            <a:ext cx="6111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5391" name="Rectangle 31"/>
          <p:cNvSpPr/>
          <p:nvPr/>
        </p:nvSpPr>
        <p:spPr>
          <a:xfrm>
            <a:off x="241300" y="3228975"/>
            <a:ext cx="6715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5392" name="Rectangle 32"/>
          <p:cNvSpPr/>
          <p:nvPr/>
        </p:nvSpPr>
        <p:spPr>
          <a:xfrm>
            <a:off x="1217613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5393" name="Rectangle 33"/>
          <p:cNvSpPr/>
          <p:nvPr/>
        </p:nvSpPr>
        <p:spPr>
          <a:xfrm>
            <a:off x="3836988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5394" name="Rectangle 34"/>
          <p:cNvSpPr/>
          <p:nvPr/>
        </p:nvSpPr>
        <p:spPr>
          <a:xfrm>
            <a:off x="6575425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3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Industry Equilibrium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7" name="Line 3"/>
          <p:cNvSpPr/>
          <p:nvPr/>
        </p:nvSpPr>
        <p:spPr>
          <a:xfrm>
            <a:off x="904875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6388" name="Line 4"/>
          <p:cNvSpPr/>
          <p:nvPr/>
        </p:nvSpPr>
        <p:spPr>
          <a:xfrm>
            <a:off x="904875" y="4572000"/>
            <a:ext cx="22621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6389" name="Rectangle 5"/>
          <p:cNvSpPr/>
          <p:nvPr/>
        </p:nvSpPr>
        <p:spPr>
          <a:xfrm>
            <a:off x="2908300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6390" name="Line 6"/>
          <p:cNvSpPr/>
          <p:nvPr/>
        </p:nvSpPr>
        <p:spPr>
          <a:xfrm>
            <a:off x="3548063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6391" name="Line 7"/>
          <p:cNvSpPr/>
          <p:nvPr/>
        </p:nvSpPr>
        <p:spPr>
          <a:xfrm>
            <a:off x="3548063" y="4572000"/>
            <a:ext cx="22621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6392" name="Rectangle 8"/>
          <p:cNvSpPr/>
          <p:nvPr/>
        </p:nvSpPr>
        <p:spPr>
          <a:xfrm>
            <a:off x="5551488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6393" name="Line 9"/>
          <p:cNvSpPr/>
          <p:nvPr/>
        </p:nvSpPr>
        <p:spPr>
          <a:xfrm>
            <a:off x="6238875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6394" name="Line 10"/>
          <p:cNvSpPr/>
          <p:nvPr/>
        </p:nvSpPr>
        <p:spPr>
          <a:xfrm>
            <a:off x="6238875" y="4572000"/>
            <a:ext cx="22621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6395" name="Rectangle 11"/>
          <p:cNvSpPr/>
          <p:nvPr/>
        </p:nvSpPr>
        <p:spPr>
          <a:xfrm>
            <a:off x="8242300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6396" name="Arc 12"/>
          <p:cNvSpPr/>
          <p:nvPr/>
        </p:nvSpPr>
        <p:spPr>
          <a:xfrm rot="10800000">
            <a:off x="1081088" y="2573338"/>
            <a:ext cx="1514475" cy="1381125"/>
          </a:xfrm>
          <a:custGeom>
            <a:avLst/>
            <a:gdLst>
              <a:gd name="txL" fmla="*/ 0 w 41119"/>
              <a:gd name="txT" fmla="*/ 0 h 21600"/>
              <a:gd name="txR" fmla="*/ 41119 w 41119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19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5" y="0"/>
                  <a:pt x="37544" y="4807"/>
                  <a:pt x="41118" y="12349"/>
                </a:cubicBezTo>
              </a:path>
              <a:path w="41119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5" y="0"/>
                  <a:pt x="37544" y="4807"/>
                  <a:pt x="41118" y="12349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397" name="Arc 13"/>
          <p:cNvSpPr/>
          <p:nvPr/>
        </p:nvSpPr>
        <p:spPr>
          <a:xfrm rot="10800000">
            <a:off x="3544888" y="2074863"/>
            <a:ext cx="2030412" cy="1262062"/>
          </a:xfrm>
          <a:custGeom>
            <a:avLst/>
            <a:gdLst>
              <a:gd name="txL" fmla="*/ 0 w 41122"/>
              <a:gd name="txT" fmla="*/ 0 h 21600"/>
              <a:gd name="txR" fmla="*/ 41122 w 41122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22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8" y="0"/>
                  <a:pt x="37549" y="4811"/>
                  <a:pt x="41122" y="12356"/>
                </a:cubicBezTo>
              </a:path>
              <a:path w="41122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8" y="0"/>
                  <a:pt x="37549" y="4811"/>
                  <a:pt x="41122" y="1235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398" name="Arc 14"/>
          <p:cNvSpPr/>
          <p:nvPr/>
        </p:nvSpPr>
        <p:spPr>
          <a:xfrm rot="10800000">
            <a:off x="6256338" y="2384425"/>
            <a:ext cx="1768475" cy="1166813"/>
          </a:xfrm>
          <a:custGeom>
            <a:avLst/>
            <a:gdLst>
              <a:gd name="txL" fmla="*/ 0 w 41109"/>
              <a:gd name="txT" fmla="*/ 0 h 21600"/>
              <a:gd name="txR" fmla="*/ 41109 w 41109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09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37" y="0"/>
                  <a:pt x="37530" y="4798"/>
                  <a:pt x="41108" y="12328"/>
                </a:cubicBezTo>
              </a:path>
              <a:path w="41109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37" y="0"/>
                  <a:pt x="37530" y="4798"/>
                  <a:pt x="41108" y="1232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399" name="Line 15"/>
          <p:cNvSpPr/>
          <p:nvPr/>
        </p:nvSpPr>
        <p:spPr>
          <a:xfrm flipH="1">
            <a:off x="906463" y="3529013"/>
            <a:ext cx="62341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6400" name="Arc 16"/>
          <p:cNvSpPr/>
          <p:nvPr/>
        </p:nvSpPr>
        <p:spPr>
          <a:xfrm>
            <a:off x="1052513" y="3125788"/>
            <a:ext cx="1025525" cy="1157287"/>
          </a:xfrm>
          <a:custGeom>
            <a:avLst/>
            <a:gdLst>
              <a:gd name="txL" fmla="*/ 0 w 21600"/>
              <a:gd name="txT" fmla="*/ 0 h 21136"/>
              <a:gd name="txR" fmla="*/ 21600 w 21600"/>
              <a:gd name="txB" fmla="*/ 21136 h 21136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36" fill="none">
                <a:moveTo>
                  <a:pt x="21600" y="0"/>
                </a:moveTo>
                <a:cubicBezTo>
                  <a:pt x="21600" y="10213"/>
                  <a:pt x="14446" y="19030"/>
                  <a:pt x="4453" y="21136"/>
                </a:cubicBezTo>
              </a:path>
              <a:path w="21600" h="21136" stroke="0">
                <a:moveTo>
                  <a:pt x="21600" y="0"/>
                </a:moveTo>
                <a:cubicBezTo>
                  <a:pt x="21600" y="10213"/>
                  <a:pt x="14446" y="19030"/>
                  <a:pt x="4453" y="21136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401" name="Arc 17"/>
          <p:cNvSpPr/>
          <p:nvPr/>
        </p:nvSpPr>
        <p:spPr>
          <a:xfrm>
            <a:off x="3792538" y="2246313"/>
            <a:ext cx="1085850" cy="1355725"/>
          </a:xfrm>
          <a:custGeom>
            <a:avLst/>
            <a:gdLst>
              <a:gd name="txL" fmla="*/ 0 w 21371"/>
              <a:gd name="txT" fmla="*/ 0 h 21600"/>
              <a:gd name="txR" fmla="*/ 21371 w 21371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21371" h="21600" fill="none">
                <a:moveTo>
                  <a:pt x="21370" y="3138"/>
                </a:moveTo>
                <a:cubicBezTo>
                  <a:pt x="19813" y="13742"/>
                  <a:pt x="10716" y="21599"/>
                  <a:pt x="0" y="21600"/>
                </a:cubicBezTo>
              </a:path>
              <a:path w="21371" h="21600" stroke="0">
                <a:moveTo>
                  <a:pt x="21370" y="3138"/>
                </a:moveTo>
                <a:cubicBezTo>
                  <a:pt x="19813" y="13742"/>
                  <a:pt x="10716" y="21599"/>
                  <a:pt x="0" y="21600"/>
                </a:cubicBezTo>
                <a:lnTo>
                  <a:pt x="0" y="0"/>
                </a:lnTo>
                <a:lnTo>
                  <a:pt x="21370" y="3138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402" name="Arc 18"/>
          <p:cNvSpPr/>
          <p:nvPr/>
        </p:nvSpPr>
        <p:spPr>
          <a:xfrm>
            <a:off x="6548438" y="2433638"/>
            <a:ext cx="833437" cy="1398587"/>
          </a:xfrm>
          <a:custGeom>
            <a:avLst/>
            <a:gdLst>
              <a:gd name="txL" fmla="*/ 0 w 20460"/>
              <a:gd name="txT" fmla="*/ 0 h 21600"/>
              <a:gd name="txR" fmla="*/ 20460 w 20460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20460" h="21600" fill="none">
                <a:moveTo>
                  <a:pt x="20460" y="6924"/>
                </a:moveTo>
                <a:cubicBezTo>
                  <a:pt x="17491" y="15696"/>
                  <a:pt x="9260" y="21599"/>
                  <a:pt x="0" y="21600"/>
                </a:cubicBezTo>
              </a:path>
              <a:path w="20460" h="21600" stroke="0">
                <a:moveTo>
                  <a:pt x="20460" y="6924"/>
                </a:moveTo>
                <a:cubicBezTo>
                  <a:pt x="17491" y="15696"/>
                  <a:pt x="9260" y="21599"/>
                  <a:pt x="0" y="21600"/>
                </a:cubicBezTo>
                <a:lnTo>
                  <a:pt x="0" y="0"/>
                </a:lnTo>
                <a:lnTo>
                  <a:pt x="20460" y="6924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6403" name="Rectangle 19"/>
          <p:cNvSpPr/>
          <p:nvPr/>
        </p:nvSpPr>
        <p:spPr>
          <a:xfrm>
            <a:off x="2171700" y="2138363"/>
            <a:ext cx="8334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6404" name="Rectangle 20"/>
          <p:cNvSpPr/>
          <p:nvPr/>
        </p:nvSpPr>
        <p:spPr>
          <a:xfrm>
            <a:off x="5172075" y="1631950"/>
            <a:ext cx="8334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6405" name="Rectangle 21"/>
          <p:cNvSpPr/>
          <p:nvPr/>
        </p:nvSpPr>
        <p:spPr>
          <a:xfrm>
            <a:off x="7640638" y="1905000"/>
            <a:ext cx="8334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6406" name="Rectangle 22"/>
          <p:cNvSpPr/>
          <p:nvPr/>
        </p:nvSpPr>
        <p:spPr>
          <a:xfrm>
            <a:off x="1609725" y="2673350"/>
            <a:ext cx="87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6407" name="Rectangle 23"/>
          <p:cNvSpPr/>
          <p:nvPr/>
        </p:nvSpPr>
        <p:spPr>
          <a:xfrm>
            <a:off x="4408488" y="2008188"/>
            <a:ext cx="8731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6408" name="Rectangle 24"/>
          <p:cNvSpPr/>
          <p:nvPr/>
        </p:nvSpPr>
        <p:spPr>
          <a:xfrm>
            <a:off x="6846888" y="2438400"/>
            <a:ext cx="87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6409" name="Line 25"/>
          <p:cNvSpPr/>
          <p:nvPr/>
        </p:nvSpPr>
        <p:spPr>
          <a:xfrm>
            <a:off x="1990725" y="3530600"/>
            <a:ext cx="0" cy="10382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6410" name="Line 26"/>
          <p:cNvSpPr/>
          <p:nvPr/>
        </p:nvSpPr>
        <p:spPr>
          <a:xfrm>
            <a:off x="4105275" y="3336925"/>
            <a:ext cx="0" cy="12541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6411" name="Line 27"/>
          <p:cNvSpPr/>
          <p:nvPr/>
        </p:nvSpPr>
        <p:spPr>
          <a:xfrm>
            <a:off x="7097713" y="3522663"/>
            <a:ext cx="0" cy="10461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6412" name="Rectangle 28"/>
          <p:cNvSpPr/>
          <p:nvPr/>
        </p:nvSpPr>
        <p:spPr>
          <a:xfrm>
            <a:off x="1665288" y="4730750"/>
            <a:ext cx="6111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6413" name="Rectangle 29"/>
          <p:cNvSpPr/>
          <p:nvPr/>
        </p:nvSpPr>
        <p:spPr>
          <a:xfrm>
            <a:off x="4138613" y="4730750"/>
            <a:ext cx="6111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6414" name="Rectangle 30"/>
          <p:cNvSpPr/>
          <p:nvPr/>
        </p:nvSpPr>
        <p:spPr>
          <a:xfrm>
            <a:off x="6797675" y="4732338"/>
            <a:ext cx="6111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6415" name="Rectangle 31"/>
          <p:cNvSpPr/>
          <p:nvPr/>
        </p:nvSpPr>
        <p:spPr>
          <a:xfrm>
            <a:off x="241300" y="3228975"/>
            <a:ext cx="6715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6416" name="Rectangle 32"/>
          <p:cNvSpPr/>
          <p:nvPr/>
        </p:nvSpPr>
        <p:spPr>
          <a:xfrm>
            <a:off x="901700" y="3517900"/>
            <a:ext cx="1104900" cy="3746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417" name="Rectangle 33"/>
          <p:cNvSpPr/>
          <p:nvPr/>
        </p:nvSpPr>
        <p:spPr>
          <a:xfrm>
            <a:off x="3543300" y="3213100"/>
            <a:ext cx="571500" cy="323850"/>
          </a:xfrm>
          <a:prstGeom prst="rect">
            <a:avLst/>
          </a:prstGeom>
          <a:solidFill>
            <a:srgbClr val="FF4E2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6418" name="Rectangle 37"/>
          <p:cNvSpPr/>
          <p:nvPr/>
        </p:nvSpPr>
        <p:spPr>
          <a:xfrm>
            <a:off x="1217613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6419" name="Rectangle 38"/>
          <p:cNvSpPr/>
          <p:nvPr/>
        </p:nvSpPr>
        <p:spPr>
          <a:xfrm>
            <a:off x="3836988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6420" name="Rectangle 39"/>
          <p:cNvSpPr/>
          <p:nvPr/>
        </p:nvSpPr>
        <p:spPr>
          <a:xfrm>
            <a:off x="6575425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3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6421" name="Rectangle 40"/>
          <p:cNvSpPr/>
          <p:nvPr/>
        </p:nvSpPr>
        <p:spPr>
          <a:xfrm>
            <a:off x="2033588" y="3840163"/>
            <a:ext cx="13192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&gt; 0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422" name="Rectangle 41"/>
          <p:cNvSpPr/>
          <p:nvPr/>
        </p:nvSpPr>
        <p:spPr>
          <a:xfrm>
            <a:off x="4471988" y="3840163"/>
            <a:ext cx="13192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&lt; 0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423" name="Rectangle 42"/>
          <p:cNvSpPr/>
          <p:nvPr/>
        </p:nvSpPr>
        <p:spPr>
          <a:xfrm>
            <a:off x="7138988" y="3840163"/>
            <a:ext cx="13192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3</a:t>
            </a:r>
            <a:r>
              <a:rPr lang="en-US" altLang="zh-CN" dirty="0">
                <a:ea typeface="宋体" panose="02010600030101010101" pitchFamily="2" charset="-122"/>
              </a:rPr>
              <a:t> = 0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Short-Run Industry Equilibrium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11" name="Line 3"/>
          <p:cNvSpPr/>
          <p:nvPr/>
        </p:nvSpPr>
        <p:spPr>
          <a:xfrm>
            <a:off x="904875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7412" name="Line 4"/>
          <p:cNvSpPr/>
          <p:nvPr/>
        </p:nvSpPr>
        <p:spPr>
          <a:xfrm>
            <a:off x="904875" y="4572000"/>
            <a:ext cx="22621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7413" name="Rectangle 5"/>
          <p:cNvSpPr/>
          <p:nvPr/>
        </p:nvSpPr>
        <p:spPr>
          <a:xfrm>
            <a:off x="2908300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7414" name="Line 6"/>
          <p:cNvSpPr/>
          <p:nvPr/>
        </p:nvSpPr>
        <p:spPr>
          <a:xfrm>
            <a:off x="3548063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7415" name="Line 7"/>
          <p:cNvSpPr/>
          <p:nvPr/>
        </p:nvSpPr>
        <p:spPr>
          <a:xfrm>
            <a:off x="3548063" y="4572000"/>
            <a:ext cx="22621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7416" name="Rectangle 8"/>
          <p:cNvSpPr/>
          <p:nvPr/>
        </p:nvSpPr>
        <p:spPr>
          <a:xfrm>
            <a:off x="5551488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7417" name="Line 9"/>
          <p:cNvSpPr/>
          <p:nvPr/>
        </p:nvSpPr>
        <p:spPr>
          <a:xfrm>
            <a:off x="6238875" y="1857375"/>
            <a:ext cx="0" cy="26908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17418" name="Line 10"/>
          <p:cNvSpPr/>
          <p:nvPr/>
        </p:nvSpPr>
        <p:spPr>
          <a:xfrm>
            <a:off x="6238875" y="4572000"/>
            <a:ext cx="22621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17419" name="Rectangle 11"/>
          <p:cNvSpPr/>
          <p:nvPr/>
        </p:nvSpPr>
        <p:spPr>
          <a:xfrm>
            <a:off x="8242300" y="4729163"/>
            <a:ext cx="517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17420" name="Arc 12"/>
          <p:cNvSpPr/>
          <p:nvPr/>
        </p:nvSpPr>
        <p:spPr>
          <a:xfrm rot="10800000">
            <a:off x="1081088" y="2573338"/>
            <a:ext cx="1514475" cy="1381125"/>
          </a:xfrm>
          <a:custGeom>
            <a:avLst/>
            <a:gdLst>
              <a:gd name="txL" fmla="*/ 0 w 41119"/>
              <a:gd name="txT" fmla="*/ 0 h 21600"/>
              <a:gd name="txR" fmla="*/ 41119 w 41119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19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5" y="0"/>
                  <a:pt x="37544" y="4807"/>
                  <a:pt x="41118" y="12349"/>
                </a:cubicBezTo>
              </a:path>
              <a:path w="41119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5" y="0"/>
                  <a:pt x="37544" y="4807"/>
                  <a:pt x="41118" y="12349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421" name="Arc 13"/>
          <p:cNvSpPr/>
          <p:nvPr/>
        </p:nvSpPr>
        <p:spPr>
          <a:xfrm rot="10800000">
            <a:off x="3544888" y="2074863"/>
            <a:ext cx="2030412" cy="1262062"/>
          </a:xfrm>
          <a:custGeom>
            <a:avLst/>
            <a:gdLst>
              <a:gd name="txL" fmla="*/ 0 w 41122"/>
              <a:gd name="txT" fmla="*/ 0 h 21600"/>
              <a:gd name="txR" fmla="*/ 41122 w 41122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22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8" y="0"/>
                  <a:pt x="37549" y="4811"/>
                  <a:pt x="41122" y="12356"/>
                </a:cubicBezTo>
              </a:path>
              <a:path w="41122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48" y="0"/>
                  <a:pt x="37549" y="4811"/>
                  <a:pt x="41122" y="1235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422" name="Arc 14"/>
          <p:cNvSpPr/>
          <p:nvPr/>
        </p:nvSpPr>
        <p:spPr>
          <a:xfrm rot="10800000">
            <a:off x="6256338" y="2384425"/>
            <a:ext cx="1768475" cy="1166813"/>
          </a:xfrm>
          <a:custGeom>
            <a:avLst/>
            <a:gdLst>
              <a:gd name="txL" fmla="*/ 0 w 41109"/>
              <a:gd name="txT" fmla="*/ 0 h 21600"/>
              <a:gd name="txR" fmla="*/ 41109 w 41109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1109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37" y="0"/>
                  <a:pt x="37530" y="4798"/>
                  <a:pt x="41108" y="12328"/>
                </a:cubicBezTo>
              </a:path>
              <a:path w="41109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29937" y="0"/>
                  <a:pt x="37530" y="4798"/>
                  <a:pt x="41108" y="12328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423" name="Line 15"/>
          <p:cNvSpPr/>
          <p:nvPr/>
        </p:nvSpPr>
        <p:spPr>
          <a:xfrm flipH="1">
            <a:off x="906463" y="3529013"/>
            <a:ext cx="623411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7424" name="Arc 16"/>
          <p:cNvSpPr/>
          <p:nvPr/>
        </p:nvSpPr>
        <p:spPr>
          <a:xfrm>
            <a:off x="1052513" y="3125788"/>
            <a:ext cx="1025525" cy="1157287"/>
          </a:xfrm>
          <a:custGeom>
            <a:avLst/>
            <a:gdLst>
              <a:gd name="txL" fmla="*/ 0 w 21600"/>
              <a:gd name="txT" fmla="*/ 0 h 21136"/>
              <a:gd name="txR" fmla="*/ 21600 w 21600"/>
              <a:gd name="txB" fmla="*/ 21136 h 21136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36" fill="none">
                <a:moveTo>
                  <a:pt x="21600" y="0"/>
                </a:moveTo>
                <a:cubicBezTo>
                  <a:pt x="21600" y="10213"/>
                  <a:pt x="14446" y="19030"/>
                  <a:pt x="4453" y="21136"/>
                </a:cubicBezTo>
              </a:path>
              <a:path w="21600" h="21136" stroke="0">
                <a:moveTo>
                  <a:pt x="21600" y="0"/>
                </a:moveTo>
                <a:cubicBezTo>
                  <a:pt x="21600" y="10213"/>
                  <a:pt x="14446" y="19030"/>
                  <a:pt x="4453" y="21136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425" name="Arc 17"/>
          <p:cNvSpPr/>
          <p:nvPr/>
        </p:nvSpPr>
        <p:spPr>
          <a:xfrm>
            <a:off x="3792538" y="2246313"/>
            <a:ext cx="1085850" cy="1355725"/>
          </a:xfrm>
          <a:custGeom>
            <a:avLst/>
            <a:gdLst>
              <a:gd name="txL" fmla="*/ 0 w 21371"/>
              <a:gd name="txT" fmla="*/ 0 h 21600"/>
              <a:gd name="txR" fmla="*/ 21371 w 21371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21371" h="21600" fill="none">
                <a:moveTo>
                  <a:pt x="21370" y="3138"/>
                </a:moveTo>
                <a:cubicBezTo>
                  <a:pt x="19813" y="13742"/>
                  <a:pt x="10716" y="21599"/>
                  <a:pt x="0" y="21600"/>
                </a:cubicBezTo>
              </a:path>
              <a:path w="21371" h="21600" stroke="0">
                <a:moveTo>
                  <a:pt x="21370" y="3138"/>
                </a:moveTo>
                <a:cubicBezTo>
                  <a:pt x="19813" y="13742"/>
                  <a:pt x="10716" y="21599"/>
                  <a:pt x="0" y="21600"/>
                </a:cubicBezTo>
                <a:lnTo>
                  <a:pt x="0" y="0"/>
                </a:lnTo>
                <a:lnTo>
                  <a:pt x="21370" y="3138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426" name="Arc 18"/>
          <p:cNvSpPr/>
          <p:nvPr/>
        </p:nvSpPr>
        <p:spPr>
          <a:xfrm>
            <a:off x="6548438" y="2433638"/>
            <a:ext cx="833437" cy="1398587"/>
          </a:xfrm>
          <a:custGeom>
            <a:avLst/>
            <a:gdLst>
              <a:gd name="txL" fmla="*/ 0 w 20460"/>
              <a:gd name="txT" fmla="*/ 0 h 21600"/>
              <a:gd name="txR" fmla="*/ 20460 w 20460"/>
              <a:gd name="txB" fmla="*/ 21600 h 21600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20460" h="21600" fill="none">
                <a:moveTo>
                  <a:pt x="20460" y="6924"/>
                </a:moveTo>
                <a:cubicBezTo>
                  <a:pt x="17491" y="15696"/>
                  <a:pt x="9260" y="21599"/>
                  <a:pt x="0" y="21600"/>
                </a:cubicBezTo>
              </a:path>
              <a:path w="20460" h="21600" stroke="0">
                <a:moveTo>
                  <a:pt x="20460" y="6924"/>
                </a:moveTo>
                <a:cubicBezTo>
                  <a:pt x="17491" y="15696"/>
                  <a:pt x="9260" y="21599"/>
                  <a:pt x="0" y="21600"/>
                </a:cubicBezTo>
                <a:lnTo>
                  <a:pt x="0" y="0"/>
                </a:lnTo>
                <a:lnTo>
                  <a:pt x="20460" y="6924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17427" name="Rectangle 19"/>
          <p:cNvSpPr/>
          <p:nvPr/>
        </p:nvSpPr>
        <p:spPr>
          <a:xfrm>
            <a:off x="2171700" y="2138363"/>
            <a:ext cx="8334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7428" name="Rectangle 20"/>
          <p:cNvSpPr/>
          <p:nvPr/>
        </p:nvSpPr>
        <p:spPr>
          <a:xfrm>
            <a:off x="5172075" y="1631950"/>
            <a:ext cx="8334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7429" name="Rectangle 21"/>
          <p:cNvSpPr/>
          <p:nvPr/>
        </p:nvSpPr>
        <p:spPr>
          <a:xfrm>
            <a:off x="7640638" y="1905000"/>
            <a:ext cx="8334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</a:t>
            </a:r>
            <a:r>
              <a:rPr lang="en-US" altLang="zh-CN" sz="2800" baseline="-25000" dirty="0">
                <a:solidFill>
                  <a:srgbClr val="00CCFF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17430" name="Rectangle 22"/>
          <p:cNvSpPr/>
          <p:nvPr/>
        </p:nvSpPr>
        <p:spPr>
          <a:xfrm>
            <a:off x="1609725" y="2673350"/>
            <a:ext cx="87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7431" name="Rectangle 23"/>
          <p:cNvSpPr/>
          <p:nvPr/>
        </p:nvSpPr>
        <p:spPr>
          <a:xfrm>
            <a:off x="4408488" y="2008188"/>
            <a:ext cx="8731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7432" name="Rectangle 24"/>
          <p:cNvSpPr/>
          <p:nvPr/>
        </p:nvSpPr>
        <p:spPr>
          <a:xfrm>
            <a:off x="6846888" y="2438400"/>
            <a:ext cx="873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</a:t>
            </a:r>
            <a:r>
              <a:rPr lang="en-US" altLang="zh-CN" sz="2800" baseline="-25000" dirty="0">
                <a:solidFill>
                  <a:schemeClr val="hlink"/>
                </a:solidFill>
                <a:ea typeface="宋体" panose="02010600030101010101" pitchFamily="2" charset="-122"/>
              </a:rPr>
              <a:t>s</a:t>
            </a:r>
            <a:endParaRPr lang="en-US" altLang="zh-CN" sz="2800" baseline="-250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7433" name="Line 25"/>
          <p:cNvSpPr/>
          <p:nvPr/>
        </p:nvSpPr>
        <p:spPr>
          <a:xfrm>
            <a:off x="1990725" y="3530600"/>
            <a:ext cx="0" cy="10382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7434" name="Line 26"/>
          <p:cNvSpPr/>
          <p:nvPr/>
        </p:nvSpPr>
        <p:spPr>
          <a:xfrm>
            <a:off x="4429125" y="3314700"/>
            <a:ext cx="0" cy="12541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7435" name="Line 27"/>
          <p:cNvSpPr/>
          <p:nvPr/>
        </p:nvSpPr>
        <p:spPr>
          <a:xfrm>
            <a:off x="7097713" y="3522663"/>
            <a:ext cx="0" cy="104616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17436" name="Rectangle 28"/>
          <p:cNvSpPr/>
          <p:nvPr/>
        </p:nvSpPr>
        <p:spPr>
          <a:xfrm>
            <a:off x="1665288" y="4730750"/>
            <a:ext cx="6111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7437" name="Rectangle 29"/>
          <p:cNvSpPr/>
          <p:nvPr/>
        </p:nvSpPr>
        <p:spPr>
          <a:xfrm>
            <a:off x="4138613" y="4730750"/>
            <a:ext cx="61118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7438" name="Rectangle 30"/>
          <p:cNvSpPr/>
          <p:nvPr/>
        </p:nvSpPr>
        <p:spPr>
          <a:xfrm>
            <a:off x="6797675" y="4732338"/>
            <a:ext cx="6111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baseline="30000" dirty="0">
                <a:ea typeface="宋体" panose="02010600030101010101" pitchFamily="2" charset="-122"/>
              </a:rPr>
              <a:t>*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7439" name="Rectangle 31"/>
          <p:cNvSpPr/>
          <p:nvPr/>
        </p:nvSpPr>
        <p:spPr>
          <a:xfrm>
            <a:off x="241300" y="3228975"/>
            <a:ext cx="6715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17440" name="Rectangle 32"/>
          <p:cNvSpPr/>
          <p:nvPr/>
        </p:nvSpPr>
        <p:spPr>
          <a:xfrm>
            <a:off x="1217613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7441" name="Rectangle 33"/>
          <p:cNvSpPr/>
          <p:nvPr/>
        </p:nvSpPr>
        <p:spPr>
          <a:xfrm>
            <a:off x="3836988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7442" name="Rectangle 34"/>
          <p:cNvSpPr/>
          <p:nvPr/>
        </p:nvSpPr>
        <p:spPr>
          <a:xfrm>
            <a:off x="6575425" y="108585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3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7443" name="Rectangle 35"/>
          <p:cNvSpPr/>
          <p:nvPr/>
        </p:nvSpPr>
        <p:spPr>
          <a:xfrm>
            <a:off x="836613" y="5253038"/>
            <a:ext cx="2536825" cy="13731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1 wishes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to remain in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the industry.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7444" name="Rectangle 36"/>
          <p:cNvSpPr/>
          <p:nvPr/>
        </p:nvSpPr>
        <p:spPr>
          <a:xfrm>
            <a:off x="3503613" y="5253038"/>
            <a:ext cx="2536825" cy="137318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2 wishes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to exit from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the industry.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7445" name="Rectangle 37"/>
          <p:cNvSpPr/>
          <p:nvPr/>
        </p:nvSpPr>
        <p:spPr>
          <a:xfrm>
            <a:off x="6218238" y="5253038"/>
            <a:ext cx="2024062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Firm 3 is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indifferent.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17446" name="Rectangle 38"/>
          <p:cNvSpPr/>
          <p:nvPr/>
        </p:nvSpPr>
        <p:spPr>
          <a:xfrm>
            <a:off x="901700" y="3517900"/>
            <a:ext cx="1104900" cy="3746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47" name="Rectangle 39"/>
          <p:cNvSpPr/>
          <p:nvPr/>
        </p:nvSpPr>
        <p:spPr>
          <a:xfrm>
            <a:off x="3543300" y="3213100"/>
            <a:ext cx="571500" cy="323850"/>
          </a:xfrm>
          <a:prstGeom prst="rect">
            <a:avLst/>
          </a:prstGeom>
          <a:solidFill>
            <a:srgbClr val="FF4E2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48" name="Rectangle 40"/>
          <p:cNvSpPr/>
          <p:nvPr/>
        </p:nvSpPr>
        <p:spPr>
          <a:xfrm>
            <a:off x="2033588" y="3840163"/>
            <a:ext cx="13192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&gt; 0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49" name="Rectangle 41"/>
          <p:cNvSpPr/>
          <p:nvPr/>
        </p:nvSpPr>
        <p:spPr>
          <a:xfrm>
            <a:off x="4471988" y="3840163"/>
            <a:ext cx="13192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&lt; 0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7450" name="Rectangle 42"/>
          <p:cNvSpPr/>
          <p:nvPr/>
        </p:nvSpPr>
        <p:spPr>
          <a:xfrm>
            <a:off x="7138988" y="3840163"/>
            <a:ext cx="131921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latin typeface="Symbol" panose="05050102010706020507" pitchFamily="18" charset="2"/>
                <a:ea typeface="宋体" panose="02010600030101010101" pitchFamily="2" charset="-122"/>
              </a:rPr>
              <a:t>3</a:t>
            </a:r>
            <a:r>
              <a:rPr lang="en-US" altLang="zh-CN" dirty="0">
                <a:ea typeface="宋体" panose="02010600030101010101" pitchFamily="2" charset="-122"/>
              </a:rPr>
              <a:t> = 0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idx="1"/>
          </p:nvPr>
        </p:nvSpPr>
        <p:spPr>
          <a:xfrm>
            <a:off x="685800" y="517525"/>
            <a:ext cx="7772400" cy="5349875"/>
          </a:xfrm>
          <a:ln/>
        </p:spPr>
        <p:txBody>
          <a:bodyPr vert="horz" wrap="square" lIns="92075" tIns="46038" rIns="92075" bIns="46038" anchor="t" anchorCtr="0"/>
          <a:p>
            <a:pPr>
              <a:lnSpc>
                <a:spcPct val="130000"/>
              </a:lnSpc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Example: There are 100 identical firms in a industry. Their short-run fixed cost is 200$. Their production function is y＝（min｛X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，4X</a:t>
            </a:r>
            <a:r>
              <a:rPr lang="en-US" altLang="zh-CN" baseline="-25000" dirty="0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｝）</a:t>
            </a:r>
            <a:r>
              <a:rPr lang="en-US" altLang="zh-CN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1/2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. The prices of input 1 and input 2 is respectively 2$ and 4$. What is the industry supply function?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the long-run every firm now in the industry is free to exit and firms now outside the industry are free to enter.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 industry’s long-run supply function must account for entry and exit as well as for the supply choices of firms that choose to be in the industry.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How is this done?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Positive economic profit induces entry.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Economic profit is positive when the market price p</a:t>
            </a:r>
            <a:r>
              <a:rPr lang="en-US" altLang="zh-CN" baseline="-25000" dirty="0">
                <a:ea typeface="宋体" panose="02010600030101010101" pitchFamily="2" charset="-122"/>
              </a:rPr>
              <a:t>s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r>
              <a:rPr lang="en-US" altLang="zh-CN" dirty="0">
                <a:ea typeface="宋体" panose="02010600030101010101" pitchFamily="2" charset="-122"/>
              </a:rPr>
              <a:t> is higher than a firm’s minimum av. total cost;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  p</a:t>
            </a:r>
            <a:r>
              <a:rPr lang="en-US" altLang="zh-CN" baseline="-25000" dirty="0">
                <a:ea typeface="宋体" panose="02010600030101010101" pitchFamily="2" charset="-122"/>
              </a:rPr>
              <a:t>s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r>
              <a:rPr lang="en-US" altLang="zh-CN" dirty="0">
                <a:ea typeface="宋体" panose="02010600030101010101" pitchFamily="2" charset="-122"/>
              </a:rPr>
              <a:t> &gt; min AC(y).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Entry increases industry supply, causing p</a:t>
            </a:r>
            <a:r>
              <a:rPr lang="en-US" altLang="zh-CN" baseline="-25000" dirty="0">
                <a:ea typeface="宋体" panose="02010600030101010101" pitchFamily="2" charset="-122"/>
              </a:rPr>
              <a:t>s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r>
              <a:rPr lang="en-US" altLang="zh-CN" dirty="0">
                <a:ea typeface="宋体" panose="02010600030101010101" pitchFamily="2" charset="-122"/>
              </a:rPr>
              <a:t> to fall.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When does entry cease?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07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1508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1509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1510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1511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1512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1513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514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515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1516" name="Rectangle 12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1517" name="Rectangle 13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1518" name="Rectangle 14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1519" name="Rectangle 15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20" name="Rectangle 16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21" name="Rectangle 17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22" name="Rectangle 18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23" name="Rectangle 19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24" name="Rectangle 20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1525" name="Rectangle 21"/>
          <p:cNvSpPr/>
          <p:nvPr/>
        </p:nvSpPr>
        <p:spPr>
          <a:xfrm>
            <a:off x="836613" y="5351463"/>
            <a:ext cx="76200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Suppose the industry initially contains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only two firms.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1526" name="Rectangle 22"/>
          <p:cNvSpPr/>
          <p:nvPr/>
        </p:nvSpPr>
        <p:spPr>
          <a:xfrm>
            <a:off x="3003550" y="2898775"/>
            <a:ext cx="15367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FF4E21"/>
                </a:solidFill>
                <a:ea typeface="宋体" panose="02010600030101010101" pitchFamily="2" charset="-122"/>
              </a:rPr>
              <a:t>Mkt.</a:t>
            </a:r>
            <a:br>
              <a:rPr lang="en-US" altLang="zh-CN" dirty="0">
                <a:solidFill>
                  <a:srgbClr val="FF4E21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4E21"/>
                </a:solidFill>
                <a:ea typeface="宋体" panose="02010600030101010101" pitchFamily="2" charset="-122"/>
              </a:rPr>
              <a:t>Supply</a:t>
            </a:r>
            <a:endParaRPr lang="en-US" altLang="zh-CN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2531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2532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2533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2534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2535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2536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2537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538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539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2540" name="Rectangle 12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2541" name="Rectangle 13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2542" name="Rectangle 14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2543" name="Rectangle 15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2544" name="Rectangle 16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2545" name="Rectangle 17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2546" name="Rectangle 18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2547" name="Rectangle 19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2548" name="Rectangle 20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2549" name="Line 21"/>
          <p:cNvSpPr/>
          <p:nvPr/>
        </p:nvSpPr>
        <p:spPr>
          <a:xfrm>
            <a:off x="904875" y="35385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2550" name="Rectangle 22"/>
          <p:cNvSpPr/>
          <p:nvPr/>
        </p:nvSpPr>
        <p:spPr>
          <a:xfrm>
            <a:off x="360363" y="3276600"/>
            <a:ext cx="536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2551" name="Rectangle 23"/>
          <p:cNvSpPr/>
          <p:nvPr/>
        </p:nvSpPr>
        <p:spPr>
          <a:xfrm>
            <a:off x="4794250" y="3276600"/>
            <a:ext cx="536575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2552" name="Rectangle 24"/>
          <p:cNvSpPr/>
          <p:nvPr/>
        </p:nvSpPr>
        <p:spPr>
          <a:xfrm>
            <a:off x="836613" y="5351463"/>
            <a:ext cx="71628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Then the market-clearing price is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5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3556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57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3558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3559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3560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3561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62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563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3564" name="Rectangle 12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3565" name="Rectangle 13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3566" name="Rectangle 14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3567" name="Rectangle 15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68" name="Rectangle 16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69" name="Rectangle 17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70" name="Rectangle 18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71" name="Rectangle 19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72" name="Rectangle 20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73" name="Line 21"/>
          <p:cNvSpPr/>
          <p:nvPr/>
        </p:nvSpPr>
        <p:spPr>
          <a:xfrm>
            <a:off x="904875" y="35385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3574" name="Rectangle 22"/>
          <p:cNvSpPr/>
          <p:nvPr/>
        </p:nvSpPr>
        <p:spPr>
          <a:xfrm>
            <a:off x="360363" y="3276600"/>
            <a:ext cx="536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3575" name="Rectangle 23"/>
          <p:cNvSpPr/>
          <p:nvPr/>
        </p:nvSpPr>
        <p:spPr>
          <a:xfrm>
            <a:off x="4794250" y="3276600"/>
            <a:ext cx="536575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3576" name="Line 24"/>
          <p:cNvSpPr/>
          <p:nvPr/>
        </p:nvSpPr>
        <p:spPr>
          <a:xfrm>
            <a:off x="6880225" y="3559175"/>
            <a:ext cx="0" cy="13128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3577" name="Rectangle 25"/>
          <p:cNvSpPr/>
          <p:nvPr/>
        </p:nvSpPr>
        <p:spPr>
          <a:xfrm>
            <a:off x="6645275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3578" name="Rectangle 26"/>
          <p:cNvSpPr/>
          <p:nvPr/>
        </p:nvSpPr>
        <p:spPr>
          <a:xfrm>
            <a:off x="836613" y="5351463"/>
            <a:ext cx="768032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Then the market-clearing price is p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Each firm produces y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* units of output.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79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4580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4581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4582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4583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4584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4585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586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587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4588" name="Rectangle 12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4589" name="Rectangle 13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4590" name="Rectangle 14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4591" name="Rectangle 15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592" name="Rectangle 16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593" name="Rectangle 17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594" name="Rectangle 18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595" name="Rectangle 19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596" name="Rectangle 20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597" name="Line 21"/>
          <p:cNvSpPr/>
          <p:nvPr/>
        </p:nvSpPr>
        <p:spPr>
          <a:xfrm>
            <a:off x="904875" y="35385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4598" name="Rectangle 22"/>
          <p:cNvSpPr/>
          <p:nvPr/>
        </p:nvSpPr>
        <p:spPr>
          <a:xfrm>
            <a:off x="360363" y="3276600"/>
            <a:ext cx="536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4599" name="Rectangle 23"/>
          <p:cNvSpPr/>
          <p:nvPr/>
        </p:nvSpPr>
        <p:spPr>
          <a:xfrm>
            <a:off x="4794250" y="3276600"/>
            <a:ext cx="536575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4600" name="Line 24"/>
          <p:cNvSpPr/>
          <p:nvPr/>
        </p:nvSpPr>
        <p:spPr>
          <a:xfrm>
            <a:off x="6880225" y="3559175"/>
            <a:ext cx="0" cy="13128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4601" name="Rectangle 25"/>
          <p:cNvSpPr/>
          <p:nvPr/>
        </p:nvSpPr>
        <p:spPr>
          <a:xfrm>
            <a:off x="6645275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602" name="Rectangle 26"/>
          <p:cNvSpPr/>
          <p:nvPr/>
        </p:nvSpPr>
        <p:spPr>
          <a:xfrm>
            <a:off x="5391150" y="3543300"/>
            <a:ext cx="1485900" cy="4000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4603" name="Rectangle 27"/>
          <p:cNvSpPr/>
          <p:nvPr/>
        </p:nvSpPr>
        <p:spPr>
          <a:xfrm>
            <a:off x="7127875" y="3814763"/>
            <a:ext cx="10604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ea typeface="宋体" panose="02010600030101010101" pitchFamily="2" charset="-122"/>
              </a:rPr>
              <a:t> &gt; 0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4604" name="Rectangle 28"/>
          <p:cNvSpPr/>
          <p:nvPr/>
        </p:nvSpPr>
        <p:spPr>
          <a:xfrm>
            <a:off x="836613" y="5351463"/>
            <a:ext cx="74199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Each firm makes a positive economic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profit, inducing entry by another firm.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03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5604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5605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5606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5607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5608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5609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0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1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612" name="Rectangle 12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5613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5614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5615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5616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5617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18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19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20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21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22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5623" name="Line 23"/>
          <p:cNvSpPr/>
          <p:nvPr/>
        </p:nvSpPr>
        <p:spPr>
          <a:xfrm>
            <a:off x="904875" y="35385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5624" name="Line 24"/>
          <p:cNvSpPr/>
          <p:nvPr/>
        </p:nvSpPr>
        <p:spPr>
          <a:xfrm>
            <a:off x="2595563" y="3381375"/>
            <a:ext cx="85725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5625" name="Rectangle 25"/>
          <p:cNvSpPr/>
          <p:nvPr/>
        </p:nvSpPr>
        <p:spPr>
          <a:xfrm>
            <a:off x="360363" y="3276600"/>
            <a:ext cx="536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5626" name="Rectangle 26"/>
          <p:cNvSpPr/>
          <p:nvPr/>
        </p:nvSpPr>
        <p:spPr>
          <a:xfrm>
            <a:off x="4794250" y="3276600"/>
            <a:ext cx="536575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5627" name="Rectangle 27"/>
          <p:cNvSpPr/>
          <p:nvPr/>
        </p:nvSpPr>
        <p:spPr>
          <a:xfrm>
            <a:off x="836613" y="5351463"/>
            <a:ext cx="61341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Market supply shifts outwards.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5628" name="Line 28"/>
          <p:cNvSpPr/>
          <p:nvPr/>
        </p:nvSpPr>
        <p:spPr>
          <a:xfrm>
            <a:off x="6880225" y="3559175"/>
            <a:ext cx="0" cy="13128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5629" name="Rectangle 29"/>
          <p:cNvSpPr/>
          <p:nvPr/>
        </p:nvSpPr>
        <p:spPr>
          <a:xfrm>
            <a:off x="6645275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27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6628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6629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6630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6631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6632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6633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4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5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636" name="Rectangle 12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6637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6638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6639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6640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6641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42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43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44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45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46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47" name="Line 23"/>
          <p:cNvSpPr/>
          <p:nvPr/>
        </p:nvSpPr>
        <p:spPr>
          <a:xfrm>
            <a:off x="904875" y="35385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6648" name="Line 24"/>
          <p:cNvSpPr/>
          <p:nvPr/>
        </p:nvSpPr>
        <p:spPr>
          <a:xfrm>
            <a:off x="2595563" y="3381375"/>
            <a:ext cx="85725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6649" name="Rectangle 25"/>
          <p:cNvSpPr/>
          <p:nvPr/>
        </p:nvSpPr>
        <p:spPr>
          <a:xfrm>
            <a:off x="360363" y="3276600"/>
            <a:ext cx="5365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6650" name="Rectangle 26"/>
          <p:cNvSpPr/>
          <p:nvPr/>
        </p:nvSpPr>
        <p:spPr>
          <a:xfrm>
            <a:off x="4794250" y="3276600"/>
            <a:ext cx="536575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6651" name="Rectangle 27"/>
          <p:cNvSpPr/>
          <p:nvPr/>
        </p:nvSpPr>
        <p:spPr>
          <a:xfrm>
            <a:off x="836613" y="5351463"/>
            <a:ext cx="613410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Market supply shifts outwards.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Market price falls.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6652" name="Line 28"/>
          <p:cNvSpPr/>
          <p:nvPr/>
        </p:nvSpPr>
        <p:spPr>
          <a:xfrm>
            <a:off x="6880225" y="3559175"/>
            <a:ext cx="0" cy="13128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6653" name="Rectangle 29"/>
          <p:cNvSpPr/>
          <p:nvPr/>
        </p:nvSpPr>
        <p:spPr>
          <a:xfrm>
            <a:off x="6645275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6654" name="Line 30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1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7652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7653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7654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7655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7656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7657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658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659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660" name="Rectangle 12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7661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7662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7663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7664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7665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7666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7667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7668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7669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7670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7671" name="Rectangle 23"/>
          <p:cNvSpPr/>
          <p:nvPr/>
        </p:nvSpPr>
        <p:spPr>
          <a:xfrm>
            <a:off x="360363" y="35385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7672" name="Rectangle 24"/>
          <p:cNvSpPr/>
          <p:nvPr/>
        </p:nvSpPr>
        <p:spPr>
          <a:xfrm>
            <a:off x="836613" y="5351463"/>
            <a:ext cx="498792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Each firm produces less.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73" name="Line 25"/>
          <p:cNvSpPr/>
          <p:nvPr/>
        </p:nvSpPr>
        <p:spPr>
          <a:xfrm>
            <a:off x="6880225" y="3559175"/>
            <a:ext cx="0" cy="131286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7674" name="Rectangle 26"/>
          <p:cNvSpPr/>
          <p:nvPr/>
        </p:nvSpPr>
        <p:spPr>
          <a:xfrm>
            <a:off x="65166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7675" name="Line 27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7676" name="Rectangle 28"/>
          <p:cNvSpPr/>
          <p:nvPr/>
        </p:nvSpPr>
        <p:spPr>
          <a:xfrm>
            <a:off x="4794250" y="35385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7677" name="Line 29"/>
          <p:cNvSpPr/>
          <p:nvPr/>
        </p:nvSpPr>
        <p:spPr>
          <a:xfrm>
            <a:off x="6751638" y="3832225"/>
            <a:ext cx="0" cy="10255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75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8676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8677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8678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8679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8680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8681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682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683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684" name="Rectangle 12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8685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8686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8687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8688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8689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8690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8691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8692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8693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8694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8695" name="Rectangle 23"/>
          <p:cNvSpPr/>
          <p:nvPr/>
        </p:nvSpPr>
        <p:spPr>
          <a:xfrm>
            <a:off x="360363" y="35385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8696" name="Rectangle 24"/>
          <p:cNvSpPr/>
          <p:nvPr/>
        </p:nvSpPr>
        <p:spPr>
          <a:xfrm>
            <a:off x="836613" y="5351463"/>
            <a:ext cx="7783512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Each firm produces less.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Each firm’s economic profit is reduced.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97" name="Rectangle 25"/>
          <p:cNvSpPr/>
          <p:nvPr/>
        </p:nvSpPr>
        <p:spPr>
          <a:xfrm>
            <a:off x="65166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8698" name="Line 26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8699" name="Rectangle 27"/>
          <p:cNvSpPr/>
          <p:nvPr/>
        </p:nvSpPr>
        <p:spPr>
          <a:xfrm>
            <a:off x="4794250" y="35385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8700" name="Line 28"/>
          <p:cNvSpPr/>
          <p:nvPr/>
        </p:nvSpPr>
        <p:spPr>
          <a:xfrm>
            <a:off x="6751638" y="3832225"/>
            <a:ext cx="0" cy="10255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8701" name="Rectangle 29"/>
          <p:cNvSpPr/>
          <p:nvPr/>
        </p:nvSpPr>
        <p:spPr>
          <a:xfrm>
            <a:off x="5384800" y="3822700"/>
            <a:ext cx="1365250" cy="1587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702" name="Rectangle 30"/>
          <p:cNvSpPr/>
          <p:nvPr/>
        </p:nvSpPr>
        <p:spPr>
          <a:xfrm>
            <a:off x="7127875" y="3814763"/>
            <a:ext cx="10604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ea typeface="宋体" panose="02010600030101010101" pitchFamily="2" charset="-122"/>
              </a:rPr>
              <a:t> &gt; 0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699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9700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9701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29702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29703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9704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29705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706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707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29708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29709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29710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29711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12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13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14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15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16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17" name="Rectangle 23"/>
          <p:cNvSpPr/>
          <p:nvPr/>
        </p:nvSpPr>
        <p:spPr>
          <a:xfrm>
            <a:off x="360363" y="35385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9718" name="Rectangle 24"/>
          <p:cNvSpPr/>
          <p:nvPr/>
        </p:nvSpPr>
        <p:spPr>
          <a:xfrm>
            <a:off x="836613" y="5351463"/>
            <a:ext cx="77374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Each firm’s economic profit is positive.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Will another firm enter?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19" name="Rectangle 25"/>
          <p:cNvSpPr/>
          <p:nvPr/>
        </p:nvSpPr>
        <p:spPr>
          <a:xfrm>
            <a:off x="65166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29720" name="Line 26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9721" name="Rectangle 27"/>
          <p:cNvSpPr/>
          <p:nvPr/>
        </p:nvSpPr>
        <p:spPr>
          <a:xfrm>
            <a:off x="4794250" y="35385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29722" name="Line 28"/>
          <p:cNvSpPr/>
          <p:nvPr/>
        </p:nvSpPr>
        <p:spPr>
          <a:xfrm>
            <a:off x="6751638" y="3832225"/>
            <a:ext cx="0" cy="10255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29723" name="Rectangle 29"/>
          <p:cNvSpPr/>
          <p:nvPr/>
        </p:nvSpPr>
        <p:spPr>
          <a:xfrm>
            <a:off x="5384800" y="3822700"/>
            <a:ext cx="1365250" cy="1587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9724" name="Rectangle 30"/>
          <p:cNvSpPr/>
          <p:nvPr/>
        </p:nvSpPr>
        <p:spPr>
          <a:xfrm>
            <a:off x="7127875" y="3814763"/>
            <a:ext cx="10604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ea typeface="宋体" panose="02010600030101010101" pitchFamily="2" charset="-122"/>
              </a:rPr>
              <a:t> &gt; 0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23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0724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0725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0726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0727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728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0729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30" name="Line 10"/>
          <p:cNvSpPr/>
          <p:nvPr/>
        </p:nvSpPr>
        <p:spPr>
          <a:xfrm flipV="1">
            <a:off x="904875" y="3733800"/>
            <a:ext cx="2905125" cy="1123950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31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732" name="Rectangle 12"/>
          <p:cNvSpPr/>
          <p:nvPr/>
        </p:nvSpPr>
        <p:spPr>
          <a:xfrm>
            <a:off x="3408363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0733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0734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30735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30736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30737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38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39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40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41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42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43" name="Rectangle 23"/>
          <p:cNvSpPr/>
          <p:nvPr/>
        </p:nvSpPr>
        <p:spPr>
          <a:xfrm>
            <a:off x="360363" y="35385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30744" name="Rectangle 24"/>
          <p:cNvSpPr/>
          <p:nvPr/>
        </p:nvSpPr>
        <p:spPr>
          <a:xfrm>
            <a:off x="503238" y="5351463"/>
            <a:ext cx="8364537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Market supply would shift outwards again.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45" name="Rectangle 25"/>
          <p:cNvSpPr/>
          <p:nvPr/>
        </p:nvSpPr>
        <p:spPr>
          <a:xfrm>
            <a:off x="65166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0746" name="Line 26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0747" name="Rectangle 27"/>
          <p:cNvSpPr/>
          <p:nvPr/>
        </p:nvSpPr>
        <p:spPr>
          <a:xfrm>
            <a:off x="4794250" y="35385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30748" name="Line 28"/>
          <p:cNvSpPr/>
          <p:nvPr/>
        </p:nvSpPr>
        <p:spPr>
          <a:xfrm>
            <a:off x="6751638" y="3832225"/>
            <a:ext cx="0" cy="10255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0749" name="Line 30"/>
          <p:cNvSpPr/>
          <p:nvPr/>
        </p:nvSpPr>
        <p:spPr>
          <a:xfrm>
            <a:off x="2743200" y="3810000"/>
            <a:ext cx="85725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47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1748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1749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1750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1751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1752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1753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54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55" name="Rectangle 12"/>
          <p:cNvSpPr/>
          <p:nvPr/>
        </p:nvSpPr>
        <p:spPr>
          <a:xfrm>
            <a:off x="3408363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1756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1757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31758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31759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31760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1761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1762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1763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1764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1765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1766" name="Rectangle 23"/>
          <p:cNvSpPr/>
          <p:nvPr/>
        </p:nvSpPr>
        <p:spPr>
          <a:xfrm>
            <a:off x="360363" y="35385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31767" name="Rectangle 24"/>
          <p:cNvSpPr/>
          <p:nvPr/>
        </p:nvSpPr>
        <p:spPr>
          <a:xfrm>
            <a:off x="503238" y="5351463"/>
            <a:ext cx="8364537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Market supply would shift outwards again.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Market price would fall again.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68" name="Rectangle 25"/>
          <p:cNvSpPr/>
          <p:nvPr/>
        </p:nvSpPr>
        <p:spPr>
          <a:xfrm>
            <a:off x="65166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1769" name="Line 26"/>
          <p:cNvSpPr/>
          <p:nvPr/>
        </p:nvSpPr>
        <p:spPr>
          <a:xfrm>
            <a:off x="914400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1770" name="Line 28"/>
          <p:cNvSpPr/>
          <p:nvPr/>
        </p:nvSpPr>
        <p:spPr>
          <a:xfrm>
            <a:off x="6751638" y="3832225"/>
            <a:ext cx="0" cy="10255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1771" name="Line 31"/>
          <p:cNvSpPr/>
          <p:nvPr/>
        </p:nvSpPr>
        <p:spPr>
          <a:xfrm flipV="1">
            <a:off x="904875" y="3733800"/>
            <a:ext cx="2905125" cy="1123950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72" name="Line 32"/>
          <p:cNvSpPr/>
          <p:nvPr/>
        </p:nvSpPr>
        <p:spPr>
          <a:xfrm>
            <a:off x="2743200" y="3810000"/>
            <a:ext cx="857250" cy="0"/>
          </a:xfrm>
          <a:prstGeom prst="line">
            <a:avLst/>
          </a:prstGeom>
          <a:ln w="508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1773" name="Line 33"/>
          <p:cNvSpPr/>
          <p:nvPr/>
        </p:nvSpPr>
        <p:spPr>
          <a:xfrm>
            <a:off x="914400" y="405765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1774" name="Rectangle 27"/>
          <p:cNvSpPr/>
          <p:nvPr/>
        </p:nvSpPr>
        <p:spPr>
          <a:xfrm>
            <a:off x="4800600" y="35385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1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2772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2773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2774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2775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2776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2777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778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779" name="Rectangle 12"/>
          <p:cNvSpPr/>
          <p:nvPr/>
        </p:nvSpPr>
        <p:spPr>
          <a:xfrm>
            <a:off x="3408363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2780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2781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32782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32783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32784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2785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2786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2787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2788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2789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2790" name="Rectangle 23"/>
          <p:cNvSpPr/>
          <p:nvPr/>
        </p:nvSpPr>
        <p:spPr>
          <a:xfrm>
            <a:off x="360363" y="37671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32791" name="Rectangle 24"/>
          <p:cNvSpPr/>
          <p:nvPr/>
        </p:nvSpPr>
        <p:spPr>
          <a:xfrm>
            <a:off x="503238" y="5351463"/>
            <a:ext cx="7218362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Each firm would produce less again.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92" name="Rectangle 25"/>
          <p:cNvSpPr/>
          <p:nvPr/>
        </p:nvSpPr>
        <p:spPr>
          <a:xfrm>
            <a:off x="63388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2793" name="Line 26"/>
          <p:cNvSpPr/>
          <p:nvPr/>
        </p:nvSpPr>
        <p:spPr>
          <a:xfrm>
            <a:off x="6751638" y="3832225"/>
            <a:ext cx="0" cy="1025525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2794" name="Line 29"/>
          <p:cNvSpPr/>
          <p:nvPr/>
        </p:nvSpPr>
        <p:spPr>
          <a:xfrm>
            <a:off x="6629400" y="4013200"/>
            <a:ext cx="0" cy="857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2795" name="Line 30"/>
          <p:cNvSpPr/>
          <p:nvPr/>
        </p:nvSpPr>
        <p:spPr>
          <a:xfrm flipV="1">
            <a:off x="904875" y="3733800"/>
            <a:ext cx="2905125" cy="1123950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796" name="Line 32"/>
          <p:cNvSpPr/>
          <p:nvPr/>
        </p:nvSpPr>
        <p:spPr>
          <a:xfrm>
            <a:off x="914400" y="405765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2797" name="Rectangle 28"/>
          <p:cNvSpPr/>
          <p:nvPr/>
        </p:nvSpPr>
        <p:spPr>
          <a:xfrm>
            <a:off x="4813300" y="37671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5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3796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3797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3798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3799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3800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3801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802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803" name="Rectangle 12"/>
          <p:cNvSpPr/>
          <p:nvPr/>
        </p:nvSpPr>
        <p:spPr>
          <a:xfrm>
            <a:off x="3408363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3804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3805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33806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33807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33808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09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10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11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12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13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14" name="Rectangle 23"/>
          <p:cNvSpPr/>
          <p:nvPr/>
        </p:nvSpPr>
        <p:spPr>
          <a:xfrm>
            <a:off x="360363" y="37671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33815" name="Rectangle 24"/>
          <p:cNvSpPr/>
          <p:nvPr/>
        </p:nvSpPr>
        <p:spPr>
          <a:xfrm>
            <a:off x="503238" y="5351463"/>
            <a:ext cx="84137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Each firm would produce less again.  Each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firm’s economic profit would be negative.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816" name="Rectangle 25"/>
          <p:cNvSpPr/>
          <p:nvPr/>
        </p:nvSpPr>
        <p:spPr>
          <a:xfrm>
            <a:off x="63388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17" name="Rectangle 30"/>
          <p:cNvSpPr/>
          <p:nvPr/>
        </p:nvSpPr>
        <p:spPr>
          <a:xfrm>
            <a:off x="6823075" y="4090988"/>
            <a:ext cx="10604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ea typeface="宋体" panose="02010600030101010101" pitchFamily="2" charset="-122"/>
              </a:rPr>
              <a:t> &lt; 0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3818" name="Line 31"/>
          <p:cNvSpPr/>
          <p:nvPr/>
        </p:nvSpPr>
        <p:spPr>
          <a:xfrm>
            <a:off x="6629400" y="4013200"/>
            <a:ext cx="0" cy="857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3819" name="Line 32"/>
          <p:cNvSpPr/>
          <p:nvPr/>
        </p:nvSpPr>
        <p:spPr>
          <a:xfrm flipV="1">
            <a:off x="904875" y="3733800"/>
            <a:ext cx="2905125" cy="1123950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820" name="Line 33"/>
          <p:cNvSpPr/>
          <p:nvPr/>
        </p:nvSpPr>
        <p:spPr>
          <a:xfrm>
            <a:off x="914400" y="405765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3821" name="Rectangle 27"/>
          <p:cNvSpPr/>
          <p:nvPr/>
        </p:nvSpPr>
        <p:spPr>
          <a:xfrm>
            <a:off x="4813300" y="37671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33822" name="Rectangle 36"/>
          <p:cNvSpPr/>
          <p:nvPr/>
        </p:nvSpPr>
        <p:spPr>
          <a:xfrm>
            <a:off x="5391150" y="3992563"/>
            <a:ext cx="1247775" cy="74612"/>
          </a:xfrm>
          <a:prstGeom prst="rect">
            <a:avLst/>
          </a:prstGeom>
          <a:solidFill>
            <a:srgbClr val="FF3300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19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4820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4821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4822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4823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4824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4825" name="Line 9"/>
          <p:cNvSpPr/>
          <p:nvPr/>
        </p:nvSpPr>
        <p:spPr>
          <a:xfrm>
            <a:off x="904875" y="2071688"/>
            <a:ext cx="2881313" cy="27860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826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827" name="Rectangle 12"/>
          <p:cNvSpPr/>
          <p:nvPr/>
        </p:nvSpPr>
        <p:spPr>
          <a:xfrm>
            <a:off x="3408363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4828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4829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34830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34831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34832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33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34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35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36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37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38" name="Rectangle 23"/>
          <p:cNvSpPr/>
          <p:nvPr/>
        </p:nvSpPr>
        <p:spPr>
          <a:xfrm>
            <a:off x="360363" y="3767138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  <p:sp>
        <p:nvSpPr>
          <p:cNvPr id="34839" name="Rectangle 24"/>
          <p:cNvSpPr/>
          <p:nvPr/>
        </p:nvSpPr>
        <p:spPr>
          <a:xfrm>
            <a:off x="503238" y="5351463"/>
            <a:ext cx="8413750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Each firm would produce less again.  Each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firm’s economic profit would be negative.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So the fourth firm would not enter.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4840" name="Rectangle 25"/>
          <p:cNvSpPr/>
          <p:nvPr/>
        </p:nvSpPr>
        <p:spPr>
          <a:xfrm>
            <a:off x="6338888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41" name="Rectangle 30"/>
          <p:cNvSpPr/>
          <p:nvPr/>
        </p:nvSpPr>
        <p:spPr>
          <a:xfrm>
            <a:off x="6823075" y="4090988"/>
            <a:ext cx="10604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Symbol" panose="05050102010706020507" pitchFamily="18" charset="2"/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ea typeface="宋体" panose="02010600030101010101" pitchFamily="2" charset="-122"/>
              </a:rPr>
              <a:t> &lt; 0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4842" name="Line 31"/>
          <p:cNvSpPr/>
          <p:nvPr/>
        </p:nvSpPr>
        <p:spPr>
          <a:xfrm>
            <a:off x="6629400" y="4013200"/>
            <a:ext cx="0" cy="8572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4843" name="Line 32"/>
          <p:cNvSpPr/>
          <p:nvPr/>
        </p:nvSpPr>
        <p:spPr>
          <a:xfrm flipV="1">
            <a:off x="904875" y="3733800"/>
            <a:ext cx="2905125" cy="1123950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844" name="Line 33"/>
          <p:cNvSpPr/>
          <p:nvPr/>
        </p:nvSpPr>
        <p:spPr>
          <a:xfrm>
            <a:off x="914400" y="405765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4845" name="Rectangle 34"/>
          <p:cNvSpPr/>
          <p:nvPr/>
        </p:nvSpPr>
        <p:spPr>
          <a:xfrm>
            <a:off x="5391150" y="3992563"/>
            <a:ext cx="1247775" cy="74612"/>
          </a:xfrm>
          <a:prstGeom prst="rect">
            <a:avLst/>
          </a:prstGeom>
          <a:solidFill>
            <a:srgbClr val="FF3300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4846" name="Rectangle 27"/>
          <p:cNvSpPr/>
          <p:nvPr/>
        </p:nvSpPr>
        <p:spPr>
          <a:xfrm>
            <a:off x="4813300" y="3767138"/>
            <a:ext cx="5365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endParaRPr lang="en-US" altLang="zh-CN" sz="2800" baseline="-25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The long-run number of firms in the industry is the largest number for which the market price is at least as large as min AC(y).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Now we can construct the industry’s long-run supply curve.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Suppose that market demand is large enough to sustain only two firms in the industry.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7891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7892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7893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7894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7895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7896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7897" name="Line 9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8" name="Line 10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899" name="Line 11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00" name="Rectangle 12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7901" name="Rectangle 13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7902" name="Rectangle 14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37903" name="Rectangle 15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37904" name="Rectangle 16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37905" name="Rectangle 17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06" name="Rectangle 18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07" name="Rectangle 19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08" name="Rectangle 20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09" name="Rectangle 21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10" name="Rectangle 22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11" name="Rectangle 23"/>
          <p:cNvSpPr/>
          <p:nvPr/>
        </p:nvSpPr>
        <p:spPr>
          <a:xfrm>
            <a:off x="284163" y="3676650"/>
            <a:ext cx="635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12" name="Line 24"/>
          <p:cNvSpPr/>
          <p:nvPr/>
        </p:nvSpPr>
        <p:spPr>
          <a:xfrm>
            <a:off x="6708775" y="3962400"/>
            <a:ext cx="0" cy="909638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7913" name="Rectangle 25"/>
          <p:cNvSpPr/>
          <p:nvPr/>
        </p:nvSpPr>
        <p:spPr>
          <a:xfrm>
            <a:off x="6473825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7914" name="Line 26"/>
          <p:cNvSpPr/>
          <p:nvPr/>
        </p:nvSpPr>
        <p:spPr>
          <a:xfrm>
            <a:off x="904875" y="395605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7915" name="Rectangle 27"/>
          <p:cNvSpPr/>
          <p:nvPr/>
        </p:nvSpPr>
        <p:spPr>
          <a:xfrm>
            <a:off x="4737100" y="3676650"/>
            <a:ext cx="6350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Suppose that market demand is large enough to sustain only two firms in the industry.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Then market demand increases, the market price rises, each firm produces more, and earns a higher economic profit.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39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9940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9941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39942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39943" name="Arc 7"/>
          <p:cNvSpPr/>
          <p:nvPr/>
        </p:nvSpPr>
        <p:spPr>
          <a:xfrm rot="10800000">
            <a:off x="5692775" y="2795588"/>
            <a:ext cx="2000250" cy="1166812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9944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39945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6" name="Line 10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947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9948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39949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39950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39951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39952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53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54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55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56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57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58" name="Rectangle 22"/>
          <p:cNvSpPr/>
          <p:nvPr/>
        </p:nvSpPr>
        <p:spPr>
          <a:xfrm>
            <a:off x="284163" y="3705225"/>
            <a:ext cx="635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59" name="Line 23"/>
          <p:cNvSpPr/>
          <p:nvPr/>
        </p:nvSpPr>
        <p:spPr>
          <a:xfrm>
            <a:off x="6708775" y="3962400"/>
            <a:ext cx="0" cy="909638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9960" name="Rectangle 24"/>
          <p:cNvSpPr/>
          <p:nvPr/>
        </p:nvSpPr>
        <p:spPr>
          <a:xfrm>
            <a:off x="6473825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61" name="Line 25"/>
          <p:cNvSpPr/>
          <p:nvPr/>
        </p:nvSpPr>
        <p:spPr>
          <a:xfrm>
            <a:off x="904875" y="395605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39962" name="Rectangle 26"/>
          <p:cNvSpPr/>
          <p:nvPr/>
        </p:nvSpPr>
        <p:spPr>
          <a:xfrm>
            <a:off x="4737100" y="3705225"/>
            <a:ext cx="6350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39963" name="Line 27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0963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0964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0965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0966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0967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0968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0969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70" name="Line 10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71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0972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0973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40974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40975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0976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77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78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79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80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81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82" name="Rectangle 22"/>
          <p:cNvSpPr/>
          <p:nvPr/>
        </p:nvSpPr>
        <p:spPr>
          <a:xfrm>
            <a:off x="188913" y="3576638"/>
            <a:ext cx="714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83" name="Rectangle 23"/>
          <p:cNvSpPr/>
          <p:nvPr/>
        </p:nvSpPr>
        <p:spPr>
          <a:xfrm>
            <a:off x="6545263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84" name="Line 24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0985" name="Rectangle 25"/>
          <p:cNvSpPr/>
          <p:nvPr/>
        </p:nvSpPr>
        <p:spPr>
          <a:xfrm>
            <a:off x="4641850" y="3576638"/>
            <a:ext cx="7143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0986" name="Line 26"/>
          <p:cNvSpPr/>
          <p:nvPr/>
        </p:nvSpPr>
        <p:spPr>
          <a:xfrm>
            <a:off x="6767513" y="3833813"/>
            <a:ext cx="0" cy="10239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0987" name="Line 27"/>
          <p:cNvSpPr/>
          <p:nvPr/>
        </p:nvSpPr>
        <p:spPr>
          <a:xfrm>
            <a:off x="892175" y="2693988"/>
            <a:ext cx="2236788" cy="21637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988" name="Line 28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0989" name="Line 29"/>
          <p:cNvSpPr/>
          <p:nvPr/>
        </p:nvSpPr>
        <p:spPr>
          <a:xfrm>
            <a:off x="1411288" y="3443288"/>
            <a:ext cx="274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1987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1988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1989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1990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1991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1992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1993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994" name="Line 10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995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1996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1997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41998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41999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2000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01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02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03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04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05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06" name="Rectangle 22"/>
          <p:cNvSpPr/>
          <p:nvPr/>
        </p:nvSpPr>
        <p:spPr>
          <a:xfrm>
            <a:off x="6545263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07" name="Line 23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2008" name="Line 24"/>
          <p:cNvSpPr/>
          <p:nvPr/>
        </p:nvSpPr>
        <p:spPr>
          <a:xfrm>
            <a:off x="6767513" y="3833813"/>
            <a:ext cx="0" cy="10239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2009" name="Rectangle 25"/>
          <p:cNvSpPr/>
          <p:nvPr/>
        </p:nvSpPr>
        <p:spPr>
          <a:xfrm>
            <a:off x="5381625" y="3829050"/>
            <a:ext cx="1390650" cy="1333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2010" name="Line 26"/>
          <p:cNvSpPr/>
          <p:nvPr/>
        </p:nvSpPr>
        <p:spPr>
          <a:xfrm>
            <a:off x="892175" y="2693988"/>
            <a:ext cx="2236788" cy="21637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011" name="Line 27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2012" name="Line 28"/>
          <p:cNvSpPr/>
          <p:nvPr/>
        </p:nvSpPr>
        <p:spPr>
          <a:xfrm>
            <a:off x="1411288" y="3443288"/>
            <a:ext cx="274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2013" name="Rectangle 29"/>
          <p:cNvSpPr/>
          <p:nvPr/>
        </p:nvSpPr>
        <p:spPr>
          <a:xfrm>
            <a:off x="188913" y="3576638"/>
            <a:ext cx="714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2014" name="Rectangle 30"/>
          <p:cNvSpPr/>
          <p:nvPr/>
        </p:nvSpPr>
        <p:spPr>
          <a:xfrm>
            <a:off x="4641850" y="3576638"/>
            <a:ext cx="7143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11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3012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3013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3014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3015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3016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3017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8" name="Line 10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19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3020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3021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43022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43023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3024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25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26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27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28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29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30" name="Rectangle 22"/>
          <p:cNvSpPr/>
          <p:nvPr/>
        </p:nvSpPr>
        <p:spPr>
          <a:xfrm>
            <a:off x="6545263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31" name="Line 23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3032" name="Line 24"/>
          <p:cNvSpPr/>
          <p:nvPr/>
        </p:nvSpPr>
        <p:spPr>
          <a:xfrm>
            <a:off x="6767513" y="3833813"/>
            <a:ext cx="0" cy="10239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3033" name="Rectangle 25"/>
          <p:cNvSpPr/>
          <p:nvPr/>
        </p:nvSpPr>
        <p:spPr>
          <a:xfrm>
            <a:off x="5381625" y="3829050"/>
            <a:ext cx="1390650" cy="1333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3034" name="Line 26"/>
          <p:cNvSpPr/>
          <p:nvPr/>
        </p:nvSpPr>
        <p:spPr>
          <a:xfrm>
            <a:off x="892175" y="2693988"/>
            <a:ext cx="2236788" cy="21637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035" name="Line 27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3036" name="Line 28"/>
          <p:cNvSpPr/>
          <p:nvPr/>
        </p:nvSpPr>
        <p:spPr>
          <a:xfrm>
            <a:off x="1411288" y="3443288"/>
            <a:ext cx="274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3037" name="Rectangle 29"/>
          <p:cNvSpPr/>
          <p:nvPr/>
        </p:nvSpPr>
        <p:spPr>
          <a:xfrm>
            <a:off x="431800" y="5375275"/>
            <a:ext cx="836771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Notice that a 3rd firm will not enter since it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would earn negative economic profits.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3038" name="Line 30"/>
          <p:cNvSpPr/>
          <p:nvPr/>
        </p:nvSpPr>
        <p:spPr>
          <a:xfrm>
            <a:off x="904875" y="405765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3039" name="Rectangle 31"/>
          <p:cNvSpPr/>
          <p:nvPr/>
        </p:nvSpPr>
        <p:spPr>
          <a:xfrm>
            <a:off x="188913" y="3576638"/>
            <a:ext cx="714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3040" name="Rectangle 32"/>
          <p:cNvSpPr/>
          <p:nvPr/>
        </p:nvSpPr>
        <p:spPr>
          <a:xfrm>
            <a:off x="4641850" y="3576638"/>
            <a:ext cx="7143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As market demand increases further, the market price rises further, the two incumbent firms each produce more and earn still higher economic profits -- until a 3rd firm becomes indifferent between entering and staying out.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5059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5060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5061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5062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5063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5064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5065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066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5067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5068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45069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45070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5071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72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73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74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75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76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77" name="Rectangle 22"/>
          <p:cNvSpPr/>
          <p:nvPr/>
        </p:nvSpPr>
        <p:spPr>
          <a:xfrm>
            <a:off x="6545263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78" name="Line 23"/>
          <p:cNvSpPr/>
          <p:nvPr/>
        </p:nvSpPr>
        <p:spPr>
          <a:xfrm>
            <a:off x="904875" y="382746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5079" name="Line 24"/>
          <p:cNvSpPr/>
          <p:nvPr/>
        </p:nvSpPr>
        <p:spPr>
          <a:xfrm>
            <a:off x="6767513" y="3833813"/>
            <a:ext cx="0" cy="102393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5080" name="Rectangle 25"/>
          <p:cNvSpPr/>
          <p:nvPr/>
        </p:nvSpPr>
        <p:spPr>
          <a:xfrm>
            <a:off x="5381625" y="3829050"/>
            <a:ext cx="1390650" cy="1333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5081" name="Line 26"/>
          <p:cNvSpPr/>
          <p:nvPr/>
        </p:nvSpPr>
        <p:spPr>
          <a:xfrm>
            <a:off x="892175" y="2693988"/>
            <a:ext cx="2236788" cy="216376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082" name="Line 27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5083" name="Line 28"/>
          <p:cNvSpPr/>
          <p:nvPr/>
        </p:nvSpPr>
        <p:spPr>
          <a:xfrm>
            <a:off x="1411288" y="3443288"/>
            <a:ext cx="27463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5084" name="Rectangle 29"/>
          <p:cNvSpPr/>
          <p:nvPr/>
        </p:nvSpPr>
        <p:spPr>
          <a:xfrm>
            <a:off x="188913" y="3576638"/>
            <a:ext cx="7143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85" name="Rectangle 30"/>
          <p:cNvSpPr/>
          <p:nvPr/>
        </p:nvSpPr>
        <p:spPr>
          <a:xfrm>
            <a:off x="4641850" y="3576638"/>
            <a:ext cx="714375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5086" name="Line 31"/>
          <p:cNvSpPr/>
          <p:nvPr/>
        </p:nvSpPr>
        <p:spPr>
          <a:xfrm flipV="1">
            <a:off x="928688" y="3414713"/>
            <a:ext cx="2786062" cy="144303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6083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6084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6085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6086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6087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6088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6089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090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6091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6092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46093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46094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6095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096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097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098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099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100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101" name="Rectangle 22"/>
          <p:cNvSpPr/>
          <p:nvPr/>
        </p:nvSpPr>
        <p:spPr>
          <a:xfrm>
            <a:off x="6545263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102" name="Line 23"/>
          <p:cNvSpPr/>
          <p:nvPr/>
        </p:nvSpPr>
        <p:spPr>
          <a:xfrm>
            <a:off x="904875" y="3698875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6103" name="Line 24"/>
          <p:cNvSpPr/>
          <p:nvPr/>
        </p:nvSpPr>
        <p:spPr>
          <a:xfrm>
            <a:off x="6824663" y="3703638"/>
            <a:ext cx="0" cy="1154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6104" name="Rectangle 25"/>
          <p:cNvSpPr/>
          <p:nvPr/>
        </p:nvSpPr>
        <p:spPr>
          <a:xfrm>
            <a:off x="5381625" y="3689350"/>
            <a:ext cx="1444625" cy="2476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6105" name="Line 26"/>
          <p:cNvSpPr/>
          <p:nvPr/>
        </p:nvSpPr>
        <p:spPr>
          <a:xfrm>
            <a:off x="892175" y="2693988"/>
            <a:ext cx="2236788" cy="2163762"/>
          </a:xfrm>
          <a:prstGeom prst="line">
            <a:avLst/>
          </a:prstGeom>
          <a:ln w="25400" cap="flat" cmpd="sng">
            <a:solidFill>
              <a:srgbClr val="3DF500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6106" name="Line 27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6107" name="Line 28"/>
          <p:cNvSpPr/>
          <p:nvPr/>
        </p:nvSpPr>
        <p:spPr>
          <a:xfrm>
            <a:off x="1411288" y="3443288"/>
            <a:ext cx="504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6108" name="Line 29"/>
          <p:cNvSpPr/>
          <p:nvPr/>
        </p:nvSpPr>
        <p:spPr>
          <a:xfrm>
            <a:off x="908050" y="2433638"/>
            <a:ext cx="2506663" cy="242411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109" name="Rectangle 30"/>
          <p:cNvSpPr/>
          <p:nvPr/>
        </p:nvSpPr>
        <p:spPr>
          <a:xfrm>
            <a:off x="103188" y="3419475"/>
            <a:ext cx="812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110" name="Rectangle 31"/>
          <p:cNvSpPr/>
          <p:nvPr/>
        </p:nvSpPr>
        <p:spPr>
          <a:xfrm>
            <a:off x="4556125" y="3419475"/>
            <a:ext cx="8128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6111" name="Line 32"/>
          <p:cNvSpPr/>
          <p:nvPr/>
        </p:nvSpPr>
        <p:spPr>
          <a:xfrm flipV="1">
            <a:off x="928688" y="3414713"/>
            <a:ext cx="2786062" cy="144303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07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7108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7109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7110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7111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7112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7113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114" name="Line 10"/>
          <p:cNvSpPr/>
          <p:nvPr/>
        </p:nvSpPr>
        <p:spPr>
          <a:xfrm flipV="1">
            <a:off x="928688" y="3414713"/>
            <a:ext cx="2786062" cy="144303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115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7116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7117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47118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47119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7120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21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22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23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24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25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26" name="Rectangle 22"/>
          <p:cNvSpPr/>
          <p:nvPr/>
        </p:nvSpPr>
        <p:spPr>
          <a:xfrm>
            <a:off x="6545263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27" name="Line 23"/>
          <p:cNvSpPr/>
          <p:nvPr/>
        </p:nvSpPr>
        <p:spPr>
          <a:xfrm>
            <a:off x="904875" y="3698875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7128" name="Line 24"/>
          <p:cNvSpPr/>
          <p:nvPr/>
        </p:nvSpPr>
        <p:spPr>
          <a:xfrm>
            <a:off x="6824663" y="3703638"/>
            <a:ext cx="0" cy="1154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7129" name="Rectangle 25"/>
          <p:cNvSpPr/>
          <p:nvPr/>
        </p:nvSpPr>
        <p:spPr>
          <a:xfrm>
            <a:off x="5381625" y="3689350"/>
            <a:ext cx="1444625" cy="2476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7130" name="Line 26"/>
          <p:cNvSpPr/>
          <p:nvPr/>
        </p:nvSpPr>
        <p:spPr>
          <a:xfrm>
            <a:off x="892175" y="2693988"/>
            <a:ext cx="2236788" cy="2163762"/>
          </a:xfrm>
          <a:prstGeom prst="line">
            <a:avLst/>
          </a:prstGeom>
          <a:ln w="25400" cap="flat" cmpd="sng">
            <a:solidFill>
              <a:srgbClr val="3DF500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7131" name="Line 27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7132" name="Line 28"/>
          <p:cNvSpPr/>
          <p:nvPr/>
        </p:nvSpPr>
        <p:spPr>
          <a:xfrm>
            <a:off x="1411288" y="3443288"/>
            <a:ext cx="504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7133" name="Rectangle 29"/>
          <p:cNvSpPr/>
          <p:nvPr/>
        </p:nvSpPr>
        <p:spPr>
          <a:xfrm>
            <a:off x="431800" y="5375275"/>
            <a:ext cx="864076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A third firm can now enter, causing all firms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to earn zero economic profits.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7134" name="Line 30"/>
          <p:cNvSpPr/>
          <p:nvPr/>
        </p:nvSpPr>
        <p:spPr>
          <a:xfrm>
            <a:off x="904875" y="400050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7135" name="Line 31"/>
          <p:cNvSpPr/>
          <p:nvPr/>
        </p:nvSpPr>
        <p:spPr>
          <a:xfrm>
            <a:off x="908050" y="2433638"/>
            <a:ext cx="2506663" cy="242411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7136" name="Rectangle 32"/>
          <p:cNvSpPr/>
          <p:nvPr/>
        </p:nvSpPr>
        <p:spPr>
          <a:xfrm>
            <a:off x="103188" y="3419475"/>
            <a:ext cx="812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7137" name="Rectangle 33"/>
          <p:cNvSpPr/>
          <p:nvPr/>
        </p:nvSpPr>
        <p:spPr>
          <a:xfrm>
            <a:off x="4556125" y="3419475"/>
            <a:ext cx="8128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So any further increase in market demand will cause the number of firms in the industry to rise to three.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55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9156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9157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49158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9159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9160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49161" name="Line 9"/>
          <p:cNvSpPr/>
          <p:nvPr/>
        </p:nvSpPr>
        <p:spPr>
          <a:xfrm flipV="1">
            <a:off x="904875" y="2738438"/>
            <a:ext cx="2452688" cy="2119312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162" name="Line 10"/>
          <p:cNvSpPr/>
          <p:nvPr/>
        </p:nvSpPr>
        <p:spPr>
          <a:xfrm flipV="1">
            <a:off x="928688" y="3255963"/>
            <a:ext cx="2786062" cy="160178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163" name="Rectangle 11"/>
          <p:cNvSpPr/>
          <p:nvPr/>
        </p:nvSpPr>
        <p:spPr>
          <a:xfrm>
            <a:off x="2955925" y="2347913"/>
            <a:ext cx="10112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9164" name="Rectangle 1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49165" name="Rectangle 13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49166" name="Rectangle 14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49167" name="Rectangle 15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49168" name="Rectangle 16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69" name="Rectangle 17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70" name="Rectangle 18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71" name="Rectangle 19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72" name="Rectangle 20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73" name="Rectangle 21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74" name="Rectangle 22"/>
          <p:cNvSpPr/>
          <p:nvPr/>
        </p:nvSpPr>
        <p:spPr>
          <a:xfrm>
            <a:off x="6545263" y="4879975"/>
            <a:ext cx="655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75" name="Line 23"/>
          <p:cNvSpPr/>
          <p:nvPr/>
        </p:nvSpPr>
        <p:spPr>
          <a:xfrm>
            <a:off x="904875" y="3698875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9176" name="Line 24"/>
          <p:cNvSpPr/>
          <p:nvPr/>
        </p:nvSpPr>
        <p:spPr>
          <a:xfrm>
            <a:off x="6824663" y="3703638"/>
            <a:ext cx="0" cy="11541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9177" name="Rectangle 25"/>
          <p:cNvSpPr/>
          <p:nvPr/>
        </p:nvSpPr>
        <p:spPr>
          <a:xfrm>
            <a:off x="5381625" y="3689350"/>
            <a:ext cx="1444625" cy="2476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9178" name="Line 26"/>
          <p:cNvSpPr/>
          <p:nvPr/>
        </p:nvSpPr>
        <p:spPr>
          <a:xfrm>
            <a:off x="892175" y="2943225"/>
            <a:ext cx="1979613" cy="1914525"/>
          </a:xfrm>
          <a:prstGeom prst="line">
            <a:avLst/>
          </a:prstGeom>
          <a:ln w="2540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49179" name="Line 27"/>
          <p:cNvSpPr/>
          <p:nvPr/>
        </p:nvSpPr>
        <p:spPr>
          <a:xfrm>
            <a:off x="1411288" y="3443288"/>
            <a:ext cx="504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9180" name="Rectangle 28"/>
          <p:cNvSpPr/>
          <p:nvPr/>
        </p:nvSpPr>
        <p:spPr>
          <a:xfrm>
            <a:off x="431800" y="5375275"/>
            <a:ext cx="85153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only relevant part of the short-run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supply curve for n = 2 firms in the industry.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9181" name="Line 29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49182" name="Line 30"/>
          <p:cNvSpPr/>
          <p:nvPr/>
        </p:nvSpPr>
        <p:spPr>
          <a:xfrm>
            <a:off x="908050" y="2433638"/>
            <a:ext cx="2506663" cy="242411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183" name="Line 31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184" name="Line 32"/>
          <p:cNvSpPr/>
          <p:nvPr/>
        </p:nvSpPr>
        <p:spPr>
          <a:xfrm flipH="1" flipV="1">
            <a:off x="2108200" y="3860800"/>
            <a:ext cx="1752600" cy="1600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49185" name="Rectangle 33"/>
          <p:cNvSpPr/>
          <p:nvPr/>
        </p:nvSpPr>
        <p:spPr>
          <a:xfrm>
            <a:off x="103188" y="3419475"/>
            <a:ext cx="8128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49186" name="Rectangle 34"/>
          <p:cNvSpPr/>
          <p:nvPr/>
        </p:nvSpPr>
        <p:spPr>
          <a:xfrm>
            <a:off x="4556125" y="3419475"/>
            <a:ext cx="8128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’”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How much further can market demand increase before a fourth firm enters the industry?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1203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1204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1205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1206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1207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1208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1209" name="Rectangle 11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51210" name="Rectangle 12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1211" name="Rectangle 13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51212" name="Rectangle 14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13" name="Rectangle 15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14" name="Rectangle 16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15" name="Rectangle 17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16" name="Rectangle 18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17" name="Rectangle 19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18" name="Rectangle 20"/>
          <p:cNvSpPr/>
          <p:nvPr/>
        </p:nvSpPr>
        <p:spPr>
          <a:xfrm>
            <a:off x="284163" y="3705225"/>
            <a:ext cx="635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19" name="Rectangle 21"/>
          <p:cNvSpPr/>
          <p:nvPr/>
        </p:nvSpPr>
        <p:spPr>
          <a:xfrm>
            <a:off x="6388100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1220" name="Line 23"/>
          <p:cNvSpPr/>
          <p:nvPr/>
        </p:nvSpPr>
        <p:spPr>
          <a:xfrm>
            <a:off x="6681788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1221" name="Line 24"/>
          <p:cNvSpPr/>
          <p:nvPr/>
        </p:nvSpPr>
        <p:spPr>
          <a:xfrm>
            <a:off x="908050" y="2433638"/>
            <a:ext cx="2506663" cy="242411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222" name="Line 29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223" name="Line 30"/>
          <p:cNvSpPr/>
          <p:nvPr/>
        </p:nvSpPr>
        <p:spPr>
          <a:xfrm flipV="1">
            <a:off x="928688" y="3414713"/>
            <a:ext cx="2786062" cy="144303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224" name="Rectangle 32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1225" name="Line 33"/>
          <p:cNvSpPr/>
          <p:nvPr/>
        </p:nvSpPr>
        <p:spPr>
          <a:xfrm flipV="1">
            <a:off x="904875" y="3692525"/>
            <a:ext cx="2901950" cy="1165225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226" name="Rectangle 34"/>
          <p:cNvSpPr/>
          <p:nvPr/>
        </p:nvSpPr>
        <p:spPr>
          <a:xfrm>
            <a:off x="3722688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1227" name="Line 31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1228" name="Rectangle 28"/>
          <p:cNvSpPr/>
          <p:nvPr/>
        </p:nvSpPr>
        <p:spPr>
          <a:xfrm>
            <a:off x="4737100" y="3705225"/>
            <a:ext cx="6350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27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2228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2229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2230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2231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2232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2233" name="Rectangle 11"/>
          <p:cNvSpPr/>
          <p:nvPr/>
        </p:nvSpPr>
        <p:spPr>
          <a:xfrm>
            <a:off x="1003300" y="182403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52234" name="Rectangle 12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2235" name="Rectangle 13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52236" name="Rectangle 14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37" name="Rectangle 15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38" name="Rectangle 16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39" name="Rectangle 17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40" name="Rectangle 18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41" name="Rectangle 19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42" name="Rectangle 20"/>
          <p:cNvSpPr/>
          <p:nvPr/>
        </p:nvSpPr>
        <p:spPr>
          <a:xfrm>
            <a:off x="284163" y="3705225"/>
            <a:ext cx="635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43" name="Rectangle 21"/>
          <p:cNvSpPr/>
          <p:nvPr/>
        </p:nvSpPr>
        <p:spPr>
          <a:xfrm>
            <a:off x="6388100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44" name="Line 23"/>
          <p:cNvSpPr/>
          <p:nvPr/>
        </p:nvSpPr>
        <p:spPr>
          <a:xfrm>
            <a:off x="6681788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2245" name="Line 24"/>
          <p:cNvSpPr/>
          <p:nvPr/>
        </p:nvSpPr>
        <p:spPr>
          <a:xfrm>
            <a:off x="904875" y="411321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2246" name="Line 25"/>
          <p:cNvSpPr/>
          <p:nvPr/>
        </p:nvSpPr>
        <p:spPr>
          <a:xfrm>
            <a:off x="908050" y="2433638"/>
            <a:ext cx="2506663" cy="2424112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47" name="Rectangle 30"/>
          <p:cNvSpPr/>
          <p:nvPr/>
        </p:nvSpPr>
        <p:spPr>
          <a:xfrm>
            <a:off x="431800" y="5375275"/>
            <a:ext cx="829786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A 4th firm would now earn negative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economic profits if it entered the industry.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48" name="Line 31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49" name="Line 32"/>
          <p:cNvSpPr/>
          <p:nvPr/>
        </p:nvSpPr>
        <p:spPr>
          <a:xfrm flipV="1">
            <a:off x="928688" y="3414713"/>
            <a:ext cx="2786062" cy="144303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50" name="Line 33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2251" name="Rectangle 29"/>
          <p:cNvSpPr/>
          <p:nvPr/>
        </p:nvSpPr>
        <p:spPr>
          <a:xfrm>
            <a:off x="4737100" y="3705225"/>
            <a:ext cx="6350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2252" name="Rectangle 34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2253" name="Line 35"/>
          <p:cNvSpPr/>
          <p:nvPr/>
        </p:nvSpPr>
        <p:spPr>
          <a:xfrm flipV="1">
            <a:off x="904875" y="3692525"/>
            <a:ext cx="2901950" cy="1165225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54" name="Rectangle 36"/>
          <p:cNvSpPr/>
          <p:nvPr/>
        </p:nvSpPr>
        <p:spPr>
          <a:xfrm>
            <a:off x="3722688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51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3252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3253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3254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3255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3256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3257" name="Rectangle 10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3258" name="Rectangle 11"/>
          <p:cNvSpPr/>
          <p:nvPr/>
        </p:nvSpPr>
        <p:spPr>
          <a:xfrm>
            <a:off x="1003300" y="165258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53259" name="Rectangle 12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3260" name="Rectangle 13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53261" name="Rectangle 14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2" name="Rectangle 15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3" name="Rectangle 16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4" name="Rectangle 17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5" name="Rectangle 18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6" name="Rectangle 19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7" name="Rectangle 20"/>
          <p:cNvSpPr/>
          <p:nvPr/>
        </p:nvSpPr>
        <p:spPr>
          <a:xfrm>
            <a:off x="6388100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68" name="Line 21"/>
          <p:cNvSpPr/>
          <p:nvPr/>
        </p:nvSpPr>
        <p:spPr>
          <a:xfrm>
            <a:off x="6681788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3269" name="Line 22"/>
          <p:cNvSpPr/>
          <p:nvPr/>
        </p:nvSpPr>
        <p:spPr>
          <a:xfrm>
            <a:off x="904875" y="3036888"/>
            <a:ext cx="1885950" cy="1816100"/>
          </a:xfrm>
          <a:prstGeom prst="line">
            <a:avLst/>
          </a:prstGeom>
          <a:ln w="25400" cap="flat" cmpd="sng">
            <a:solidFill>
              <a:srgbClr val="3DF500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3270" name="Line 24"/>
          <p:cNvSpPr/>
          <p:nvPr/>
        </p:nvSpPr>
        <p:spPr>
          <a:xfrm flipV="1">
            <a:off x="904875" y="3692525"/>
            <a:ext cx="2901950" cy="1165225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71" name="Rectangle 25"/>
          <p:cNvSpPr/>
          <p:nvPr/>
        </p:nvSpPr>
        <p:spPr>
          <a:xfrm>
            <a:off x="3722688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3272" name="Rectangle 26"/>
          <p:cNvSpPr/>
          <p:nvPr/>
        </p:nvSpPr>
        <p:spPr>
          <a:xfrm>
            <a:off x="431800" y="5375275"/>
            <a:ext cx="8072438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But now a 4th firm would earn zero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economic profit if it entered the industry.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3273" name="Line 27"/>
          <p:cNvSpPr/>
          <p:nvPr/>
        </p:nvSpPr>
        <p:spPr>
          <a:xfrm>
            <a:off x="904875" y="2381250"/>
            <a:ext cx="2616200" cy="2498725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74" name="Line 28"/>
          <p:cNvSpPr/>
          <p:nvPr/>
        </p:nvSpPr>
        <p:spPr>
          <a:xfrm>
            <a:off x="1277938" y="3286125"/>
            <a:ext cx="54927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3275" name="Rectangle 29"/>
          <p:cNvSpPr/>
          <p:nvPr/>
        </p:nvSpPr>
        <p:spPr>
          <a:xfrm>
            <a:off x="284163" y="3505200"/>
            <a:ext cx="635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76" name="Line 30"/>
          <p:cNvSpPr/>
          <p:nvPr/>
        </p:nvSpPr>
        <p:spPr>
          <a:xfrm>
            <a:off x="904875" y="3832225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3277" name="Line 31"/>
          <p:cNvSpPr/>
          <p:nvPr/>
        </p:nvSpPr>
        <p:spPr>
          <a:xfrm>
            <a:off x="904875" y="399891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3278" name="Rectangle 32"/>
          <p:cNvSpPr/>
          <p:nvPr/>
        </p:nvSpPr>
        <p:spPr>
          <a:xfrm>
            <a:off x="4737100" y="3505200"/>
            <a:ext cx="6350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3279" name="Line 34"/>
          <p:cNvSpPr/>
          <p:nvPr/>
        </p:nvSpPr>
        <p:spPr>
          <a:xfrm flipV="1">
            <a:off x="928688" y="3414713"/>
            <a:ext cx="2786062" cy="144303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80" name="Rectangle 12"/>
          <p:cNvSpPr/>
          <p:nvPr/>
        </p:nvSpPr>
        <p:spPr>
          <a:xfrm>
            <a:off x="3638550" y="2033588"/>
            <a:ext cx="10096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3281" name="Line 10"/>
          <p:cNvSpPr/>
          <p:nvPr/>
        </p:nvSpPr>
        <p:spPr>
          <a:xfrm flipV="1">
            <a:off x="904875" y="2501900"/>
            <a:ext cx="2733675" cy="2378075"/>
          </a:xfrm>
          <a:prstGeom prst="line">
            <a:avLst/>
          </a:prstGeom>
          <a:ln w="4445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282" name="Line 33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275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4276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4277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4278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4279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4280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4281" name="Rectangle 9"/>
          <p:cNvSpPr/>
          <p:nvPr/>
        </p:nvSpPr>
        <p:spPr>
          <a:xfrm>
            <a:off x="3313113" y="2895600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4282" name="Rectangle 10"/>
          <p:cNvSpPr/>
          <p:nvPr/>
        </p:nvSpPr>
        <p:spPr>
          <a:xfrm>
            <a:off x="1003300" y="1652588"/>
            <a:ext cx="24003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54283" name="Rectangle 11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4284" name="Rectangle 12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54285" name="Rectangle 13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86" name="Rectangle 14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87" name="Rectangle 15"/>
          <p:cNvSpPr/>
          <p:nvPr/>
        </p:nvSpPr>
        <p:spPr>
          <a:xfrm>
            <a:off x="1455738" y="1133475"/>
            <a:ext cx="2065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The Market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88" name="Rectangle 16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89" name="Rectangle 17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90" name="Rectangle 18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91" name="Rectangle 19"/>
          <p:cNvSpPr/>
          <p:nvPr/>
        </p:nvSpPr>
        <p:spPr>
          <a:xfrm>
            <a:off x="6388100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92" name="Line 20"/>
          <p:cNvSpPr/>
          <p:nvPr/>
        </p:nvSpPr>
        <p:spPr>
          <a:xfrm>
            <a:off x="6681788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4293" name="Line 21"/>
          <p:cNvSpPr/>
          <p:nvPr/>
        </p:nvSpPr>
        <p:spPr>
          <a:xfrm>
            <a:off x="908050" y="2433638"/>
            <a:ext cx="2506663" cy="2424112"/>
          </a:xfrm>
          <a:prstGeom prst="line">
            <a:avLst/>
          </a:prstGeom>
          <a:ln w="25400" cap="flat" cmpd="sng">
            <a:solidFill>
              <a:srgbClr val="3DF500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4294" name="Line 22"/>
          <p:cNvSpPr/>
          <p:nvPr/>
        </p:nvSpPr>
        <p:spPr>
          <a:xfrm flipV="1">
            <a:off x="904875" y="3692525"/>
            <a:ext cx="2901950" cy="1165225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295" name="Rectangle 23"/>
          <p:cNvSpPr/>
          <p:nvPr/>
        </p:nvSpPr>
        <p:spPr>
          <a:xfrm>
            <a:off x="3722688" y="3286125"/>
            <a:ext cx="10112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4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4296" name="Line 25"/>
          <p:cNvSpPr/>
          <p:nvPr/>
        </p:nvSpPr>
        <p:spPr>
          <a:xfrm>
            <a:off x="911225" y="1928813"/>
            <a:ext cx="3055938" cy="2924175"/>
          </a:xfrm>
          <a:prstGeom prst="line">
            <a:avLst/>
          </a:prstGeom>
          <a:ln w="2540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297" name="Line 26"/>
          <p:cNvSpPr/>
          <p:nvPr/>
        </p:nvSpPr>
        <p:spPr>
          <a:xfrm>
            <a:off x="1743075" y="3241675"/>
            <a:ext cx="549275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4298" name="Rectangle 27"/>
          <p:cNvSpPr/>
          <p:nvPr/>
        </p:nvSpPr>
        <p:spPr>
          <a:xfrm>
            <a:off x="284163" y="3505200"/>
            <a:ext cx="6350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299" name="Line 28"/>
          <p:cNvSpPr/>
          <p:nvPr/>
        </p:nvSpPr>
        <p:spPr>
          <a:xfrm>
            <a:off x="904875" y="3832225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4300" name="Line 29"/>
          <p:cNvSpPr/>
          <p:nvPr/>
        </p:nvSpPr>
        <p:spPr>
          <a:xfrm>
            <a:off x="904875" y="3998913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4301" name="Rectangle 30"/>
          <p:cNvSpPr/>
          <p:nvPr/>
        </p:nvSpPr>
        <p:spPr>
          <a:xfrm>
            <a:off x="4737100" y="3505200"/>
            <a:ext cx="635000" cy="5191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4302" name="Line 32"/>
          <p:cNvSpPr/>
          <p:nvPr/>
        </p:nvSpPr>
        <p:spPr>
          <a:xfrm flipV="1">
            <a:off x="928688" y="3414713"/>
            <a:ext cx="2786062" cy="1443037"/>
          </a:xfrm>
          <a:prstGeom prst="line">
            <a:avLst/>
          </a:prstGeom>
          <a:ln w="2540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303" name="Rectangle 33"/>
          <p:cNvSpPr/>
          <p:nvPr/>
        </p:nvSpPr>
        <p:spPr>
          <a:xfrm>
            <a:off x="431800" y="5375275"/>
            <a:ext cx="8515350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only relevant part of the short-run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supply curve for n = 3 firms in the industry.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4304" name="Line 34"/>
          <p:cNvSpPr/>
          <p:nvPr/>
        </p:nvSpPr>
        <p:spPr>
          <a:xfrm flipV="1">
            <a:off x="2555875" y="3841750"/>
            <a:ext cx="311150" cy="16510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305" name="Line 35"/>
          <p:cNvSpPr/>
          <p:nvPr/>
        </p:nvSpPr>
        <p:spPr>
          <a:xfrm>
            <a:off x="2667000" y="3976688"/>
            <a:ext cx="1397000" cy="15224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4306" name="Line 10"/>
          <p:cNvSpPr/>
          <p:nvPr/>
        </p:nvSpPr>
        <p:spPr>
          <a:xfrm flipV="1">
            <a:off x="908050" y="2455863"/>
            <a:ext cx="2806700" cy="2378075"/>
          </a:xfrm>
          <a:prstGeom prst="line">
            <a:avLst/>
          </a:prstGeom>
          <a:ln w="4445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307" name="Rectangle 12"/>
          <p:cNvSpPr/>
          <p:nvPr/>
        </p:nvSpPr>
        <p:spPr>
          <a:xfrm>
            <a:off x="3521075" y="2033588"/>
            <a:ext cx="10096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54308" name="Line 31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Continuing in this manner builds the industry’s long-run supply curve, one section at-a-time from successive short-run industry supply curves.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323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6324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6325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6326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6327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6328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6329" name="Rectangle 9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6330" name="Rectangle 10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56331" name="Rectangle 11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6332" name="Rectangle 12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6333" name="Rectangle 13"/>
          <p:cNvSpPr/>
          <p:nvPr/>
        </p:nvSpPr>
        <p:spPr>
          <a:xfrm>
            <a:off x="1455738" y="1133475"/>
            <a:ext cx="2478087" cy="13731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The Market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Long-Run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Supply Curve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6334" name="Rectangle 14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6335" name="Rectangle 15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6336" name="Rectangle 16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6337" name="Rectangle 17"/>
          <p:cNvSpPr/>
          <p:nvPr/>
        </p:nvSpPr>
        <p:spPr>
          <a:xfrm>
            <a:off x="6388100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6338" name="Line 18"/>
          <p:cNvSpPr/>
          <p:nvPr/>
        </p:nvSpPr>
        <p:spPr>
          <a:xfrm>
            <a:off x="6681788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6339" name="Line 20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6340" name="Line 22"/>
          <p:cNvSpPr/>
          <p:nvPr/>
        </p:nvSpPr>
        <p:spPr>
          <a:xfrm flipV="1">
            <a:off x="3046413" y="3832225"/>
            <a:ext cx="357187" cy="13652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341" name="Line 23"/>
          <p:cNvSpPr/>
          <p:nvPr/>
        </p:nvSpPr>
        <p:spPr>
          <a:xfrm flipV="1">
            <a:off x="3556000" y="3857625"/>
            <a:ext cx="376238" cy="11271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342" name="Line 24"/>
          <p:cNvSpPr/>
          <p:nvPr/>
        </p:nvSpPr>
        <p:spPr>
          <a:xfrm flipV="1">
            <a:off x="1404938" y="3429000"/>
            <a:ext cx="358775" cy="58737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343" name="Line 25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344" name="Line 26"/>
          <p:cNvSpPr/>
          <p:nvPr/>
        </p:nvSpPr>
        <p:spPr>
          <a:xfrm flipV="1">
            <a:off x="2555875" y="3803650"/>
            <a:ext cx="311150" cy="16510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47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7348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7349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7350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7351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7352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7353" name="Rectangle 9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7354" name="Rectangle 10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57355" name="Rectangle 11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7356" name="Rectangle 12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7357" name="Rectangle 13"/>
          <p:cNvSpPr/>
          <p:nvPr/>
        </p:nvSpPr>
        <p:spPr>
          <a:xfrm>
            <a:off x="1455738" y="1133475"/>
            <a:ext cx="2478087" cy="13731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The Market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Long-Run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Supply Curve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7358" name="Rectangle 14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7359" name="Rectangle 15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7360" name="Rectangle 16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7361" name="Rectangle 17"/>
          <p:cNvSpPr/>
          <p:nvPr/>
        </p:nvSpPr>
        <p:spPr>
          <a:xfrm>
            <a:off x="6388100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7362" name="Line 18"/>
          <p:cNvSpPr/>
          <p:nvPr/>
        </p:nvSpPr>
        <p:spPr>
          <a:xfrm>
            <a:off x="6681788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7363" name="Rectangle 20"/>
          <p:cNvSpPr/>
          <p:nvPr/>
        </p:nvSpPr>
        <p:spPr>
          <a:xfrm>
            <a:off x="431800" y="5375275"/>
            <a:ext cx="82962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Notice that the bottom of each segment of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 supply curve is min AC(y).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7364" name="Line 21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7365" name="Line 25"/>
          <p:cNvSpPr/>
          <p:nvPr/>
        </p:nvSpPr>
        <p:spPr>
          <a:xfrm flipV="1">
            <a:off x="1404938" y="3429000"/>
            <a:ext cx="358775" cy="58737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66" name="Line 26"/>
          <p:cNvSpPr/>
          <p:nvPr/>
        </p:nvSpPr>
        <p:spPr>
          <a:xfrm flipV="1">
            <a:off x="3046413" y="3832225"/>
            <a:ext cx="357187" cy="13652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67" name="Line 27"/>
          <p:cNvSpPr/>
          <p:nvPr/>
        </p:nvSpPr>
        <p:spPr>
          <a:xfrm flipV="1">
            <a:off x="3556000" y="3857625"/>
            <a:ext cx="376238" cy="11271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68" name="Line 28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69" name="Line 29"/>
          <p:cNvSpPr/>
          <p:nvPr/>
        </p:nvSpPr>
        <p:spPr>
          <a:xfrm flipV="1">
            <a:off x="2555875" y="3803650"/>
            <a:ext cx="311150" cy="16510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7934325" cy="4381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As each firm gets “smaller” relative to the industry, the long-run industry supply curve approaches a horizontal line at the height of min AC(y).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9395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9396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9397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59398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59399" name="Arc 7"/>
          <p:cNvSpPr/>
          <p:nvPr/>
        </p:nvSpPr>
        <p:spPr>
          <a:xfrm rot="10800000">
            <a:off x="5692775" y="283527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9400" name="Arc 8"/>
          <p:cNvSpPr/>
          <p:nvPr/>
        </p:nvSpPr>
        <p:spPr>
          <a:xfrm>
            <a:off x="5643563" y="2786063"/>
            <a:ext cx="1381125" cy="1792287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59401" name="Rectangle 9"/>
          <p:cNvSpPr/>
          <p:nvPr/>
        </p:nvSpPr>
        <p:spPr>
          <a:xfrm>
            <a:off x="7480300" y="2276475"/>
            <a:ext cx="11350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9402" name="Rectangle 10"/>
          <p:cNvSpPr/>
          <p:nvPr/>
        </p:nvSpPr>
        <p:spPr>
          <a:xfrm>
            <a:off x="6289675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59403" name="Rectangle 11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9404" name="Rectangle 12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9405" name="Rectangle 13"/>
          <p:cNvSpPr/>
          <p:nvPr/>
        </p:nvSpPr>
        <p:spPr>
          <a:xfrm>
            <a:off x="1455738" y="1133475"/>
            <a:ext cx="2478087" cy="13731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The Market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Long-Run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Supply Curve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59406" name="Rectangle 14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9407" name="Rectangle 15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9408" name="Rectangle 16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9409" name="Rectangle 17"/>
          <p:cNvSpPr/>
          <p:nvPr/>
        </p:nvSpPr>
        <p:spPr>
          <a:xfrm>
            <a:off x="6388100" y="4879975"/>
            <a:ext cx="655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59410" name="Line 18"/>
          <p:cNvSpPr/>
          <p:nvPr/>
        </p:nvSpPr>
        <p:spPr>
          <a:xfrm>
            <a:off x="6681788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9411" name="Rectangle 20"/>
          <p:cNvSpPr/>
          <p:nvPr/>
        </p:nvSpPr>
        <p:spPr>
          <a:xfrm>
            <a:off x="431800" y="5375275"/>
            <a:ext cx="82962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Notice that the bottom of each segment of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 supply curve is min AC(y).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9412" name="Line 21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59413" name="Line 25"/>
          <p:cNvSpPr/>
          <p:nvPr/>
        </p:nvSpPr>
        <p:spPr>
          <a:xfrm flipV="1">
            <a:off x="1404938" y="3429000"/>
            <a:ext cx="358775" cy="58737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14" name="Line 26"/>
          <p:cNvSpPr/>
          <p:nvPr/>
        </p:nvSpPr>
        <p:spPr>
          <a:xfrm flipV="1">
            <a:off x="3046413" y="3832225"/>
            <a:ext cx="357187" cy="13652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15" name="Line 27"/>
          <p:cNvSpPr/>
          <p:nvPr/>
        </p:nvSpPr>
        <p:spPr>
          <a:xfrm flipV="1">
            <a:off x="3556000" y="3857625"/>
            <a:ext cx="376238" cy="11271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16" name="Line 28"/>
          <p:cNvSpPr/>
          <p:nvPr/>
        </p:nvSpPr>
        <p:spPr>
          <a:xfrm flipV="1">
            <a:off x="1920875" y="3692525"/>
            <a:ext cx="330200" cy="284163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17" name="Line 29"/>
          <p:cNvSpPr/>
          <p:nvPr/>
        </p:nvSpPr>
        <p:spPr>
          <a:xfrm flipV="1">
            <a:off x="2555875" y="3803650"/>
            <a:ext cx="311150" cy="16510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0419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60420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0421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60422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0423" name="Arc 7"/>
          <p:cNvSpPr/>
          <p:nvPr/>
        </p:nvSpPr>
        <p:spPr>
          <a:xfrm rot="10800000">
            <a:off x="5526088" y="2835275"/>
            <a:ext cx="619125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0424" name="Arc 8"/>
          <p:cNvSpPr/>
          <p:nvPr/>
        </p:nvSpPr>
        <p:spPr>
          <a:xfrm>
            <a:off x="5524500" y="2786063"/>
            <a:ext cx="357188" cy="1792287"/>
          </a:xfrm>
          <a:custGeom>
            <a:avLst/>
            <a:gdLst>
              <a:gd name="txL" fmla="*/ 0 w 21600"/>
              <a:gd name="txT" fmla="*/ 0 h 21123"/>
              <a:gd name="txR" fmla="*/ 21600 w 21600"/>
              <a:gd name="txB" fmla="*/ 21123 h 21123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3" fill="none">
                <a:moveTo>
                  <a:pt x="21600" y="0"/>
                </a:moveTo>
                <a:cubicBezTo>
                  <a:pt x="21600" y="10189"/>
                  <a:pt x="14478" y="18993"/>
                  <a:pt x="4514" y="21123"/>
                </a:cubicBezTo>
              </a:path>
              <a:path w="21600" h="21123" stroke="0">
                <a:moveTo>
                  <a:pt x="21600" y="0"/>
                </a:moveTo>
                <a:cubicBezTo>
                  <a:pt x="21600" y="10189"/>
                  <a:pt x="14478" y="18993"/>
                  <a:pt x="4514" y="21123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0425" name="Rectangle 9"/>
          <p:cNvSpPr/>
          <p:nvPr/>
        </p:nvSpPr>
        <p:spPr>
          <a:xfrm>
            <a:off x="6242050" y="2824163"/>
            <a:ext cx="11350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60426" name="Rectangle 10"/>
          <p:cNvSpPr/>
          <p:nvPr/>
        </p:nvSpPr>
        <p:spPr>
          <a:xfrm>
            <a:off x="5408613" y="2109788"/>
            <a:ext cx="1174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0427" name="Rectangle 11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0428" name="Rectangle 12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0429" name="Rectangle 13"/>
          <p:cNvSpPr/>
          <p:nvPr/>
        </p:nvSpPr>
        <p:spPr>
          <a:xfrm>
            <a:off x="1455738" y="1133475"/>
            <a:ext cx="2478087" cy="13731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The Market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Long-Run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Supply Curve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60430" name="Rectangle 14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0431" name="Rectangle 15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0432" name="Rectangle 16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0433" name="Rectangle 17"/>
          <p:cNvSpPr/>
          <p:nvPr/>
        </p:nvSpPr>
        <p:spPr>
          <a:xfrm>
            <a:off x="5602288" y="4879975"/>
            <a:ext cx="520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0434" name="Line 18"/>
          <p:cNvSpPr/>
          <p:nvPr/>
        </p:nvSpPr>
        <p:spPr>
          <a:xfrm>
            <a:off x="5776913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0435" name="Line 19"/>
          <p:cNvSpPr/>
          <p:nvPr/>
        </p:nvSpPr>
        <p:spPr>
          <a:xfrm flipV="1">
            <a:off x="1320800" y="3729038"/>
            <a:ext cx="298450" cy="25717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436" name="Rectangle 20"/>
          <p:cNvSpPr/>
          <p:nvPr/>
        </p:nvSpPr>
        <p:spPr>
          <a:xfrm>
            <a:off x="431800" y="5375275"/>
            <a:ext cx="8374063" cy="155416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bottom of each segment of the supply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curve is min AC(y).  As firms get “smaller”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the segments get shorter.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0437" name="Line 21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0438" name="Line 22"/>
          <p:cNvSpPr/>
          <p:nvPr/>
        </p:nvSpPr>
        <p:spPr>
          <a:xfrm flipV="1">
            <a:off x="1708150" y="3773488"/>
            <a:ext cx="339725" cy="195262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439" name="Line 23"/>
          <p:cNvSpPr/>
          <p:nvPr/>
        </p:nvSpPr>
        <p:spPr>
          <a:xfrm flipV="1">
            <a:off x="2112963" y="3795713"/>
            <a:ext cx="374650" cy="163512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440" name="Line 24"/>
          <p:cNvSpPr/>
          <p:nvPr/>
        </p:nvSpPr>
        <p:spPr>
          <a:xfrm flipV="1">
            <a:off x="2555875" y="3829050"/>
            <a:ext cx="376238" cy="13335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441" name="Line 25"/>
          <p:cNvSpPr/>
          <p:nvPr/>
        </p:nvSpPr>
        <p:spPr>
          <a:xfrm flipV="1">
            <a:off x="1047750" y="3714750"/>
            <a:ext cx="166688" cy="27305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442" name="Line 26"/>
          <p:cNvSpPr/>
          <p:nvPr/>
        </p:nvSpPr>
        <p:spPr>
          <a:xfrm flipV="1">
            <a:off x="3022600" y="3848100"/>
            <a:ext cx="415925" cy="11430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443" name="Line 27"/>
          <p:cNvSpPr/>
          <p:nvPr/>
        </p:nvSpPr>
        <p:spPr>
          <a:xfrm flipV="1">
            <a:off x="3508375" y="3876675"/>
            <a:ext cx="425450" cy="85725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Industry Supply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43" name="Line 3"/>
          <p:cNvSpPr/>
          <p:nvPr/>
        </p:nvSpPr>
        <p:spPr>
          <a:xfrm>
            <a:off x="90487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61444" name="Line 4"/>
          <p:cNvSpPr/>
          <p:nvPr/>
        </p:nvSpPr>
        <p:spPr>
          <a:xfrm>
            <a:off x="904875" y="4857750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1445" name="Line 5"/>
          <p:cNvSpPr/>
          <p:nvPr/>
        </p:nvSpPr>
        <p:spPr>
          <a:xfrm>
            <a:off x="5381625" y="1643063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61446" name="Line 6"/>
          <p:cNvSpPr/>
          <p:nvPr/>
        </p:nvSpPr>
        <p:spPr>
          <a:xfrm>
            <a:off x="5381625" y="4857750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1447" name="Arc 7"/>
          <p:cNvSpPr/>
          <p:nvPr/>
        </p:nvSpPr>
        <p:spPr>
          <a:xfrm rot="10800000">
            <a:off x="5429250" y="2835275"/>
            <a:ext cx="166688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550082940" y="2147483646"/>
              </a:cxn>
              <a:cxn ang="0">
                <a:pos x="275041030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5" y="0"/>
                  <a:pt x="43166" y="9633"/>
                  <a:pt x="43199" y="21539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5" y="0"/>
                  <a:pt x="43166" y="9633"/>
                  <a:pt x="43199" y="21539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1448" name="Arc 8"/>
          <p:cNvSpPr/>
          <p:nvPr/>
        </p:nvSpPr>
        <p:spPr>
          <a:xfrm>
            <a:off x="5286375" y="2786063"/>
            <a:ext cx="261938" cy="1679575"/>
          </a:xfrm>
          <a:custGeom>
            <a:avLst/>
            <a:gdLst>
              <a:gd name="txL" fmla="*/ 0 w 21600"/>
              <a:gd name="txT" fmla="*/ 0 h 19786"/>
              <a:gd name="txR" fmla="*/ 21600 w 21600"/>
              <a:gd name="txB" fmla="*/ 19786 h 19786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19786" fill="none">
                <a:moveTo>
                  <a:pt x="21600" y="0"/>
                </a:moveTo>
                <a:cubicBezTo>
                  <a:pt x="21600" y="8578"/>
                  <a:pt x="16523" y="16344"/>
                  <a:pt x="8664" y="19785"/>
                </a:cubicBezTo>
              </a:path>
              <a:path w="21600" h="19786" stroke="0">
                <a:moveTo>
                  <a:pt x="21600" y="0"/>
                </a:moveTo>
                <a:cubicBezTo>
                  <a:pt x="21600" y="8578"/>
                  <a:pt x="16523" y="16344"/>
                  <a:pt x="8664" y="19785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1449" name="Rectangle 9"/>
          <p:cNvSpPr/>
          <p:nvPr/>
        </p:nvSpPr>
        <p:spPr>
          <a:xfrm>
            <a:off x="5599113" y="2871788"/>
            <a:ext cx="1135062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61450" name="Rectangle 10"/>
          <p:cNvSpPr/>
          <p:nvPr/>
        </p:nvSpPr>
        <p:spPr>
          <a:xfrm>
            <a:off x="5360988" y="2276475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1451" name="Rectangle 11"/>
          <p:cNvSpPr/>
          <p:nvPr/>
        </p:nvSpPr>
        <p:spPr>
          <a:xfrm>
            <a:off x="8004175" y="4895850"/>
            <a:ext cx="3825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452" name="Rectangle 12"/>
          <p:cNvSpPr/>
          <p:nvPr/>
        </p:nvSpPr>
        <p:spPr>
          <a:xfrm>
            <a:off x="5456238" y="1133475"/>
            <a:ext cx="29908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453" name="Rectangle 13"/>
          <p:cNvSpPr/>
          <p:nvPr/>
        </p:nvSpPr>
        <p:spPr>
          <a:xfrm>
            <a:off x="1455738" y="1133475"/>
            <a:ext cx="2478087" cy="13731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The Market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Long-Run</a:t>
            </a:r>
            <a:b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</a:b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Supply Curve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61454" name="Rectangle 14"/>
          <p:cNvSpPr/>
          <p:nvPr/>
        </p:nvSpPr>
        <p:spPr>
          <a:xfrm>
            <a:off x="431800" y="1514475"/>
            <a:ext cx="4016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455" name="Rectangle 15"/>
          <p:cNvSpPr/>
          <p:nvPr/>
        </p:nvSpPr>
        <p:spPr>
          <a:xfrm>
            <a:off x="4884738" y="1514475"/>
            <a:ext cx="4016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456" name="Rectangle 16"/>
          <p:cNvSpPr/>
          <p:nvPr/>
        </p:nvSpPr>
        <p:spPr>
          <a:xfrm>
            <a:off x="4003675" y="4967288"/>
            <a:ext cx="4206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457" name="Rectangle 17"/>
          <p:cNvSpPr/>
          <p:nvPr/>
        </p:nvSpPr>
        <p:spPr>
          <a:xfrm>
            <a:off x="5292725" y="4879975"/>
            <a:ext cx="5207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1458" name="Line 18"/>
          <p:cNvSpPr/>
          <p:nvPr/>
        </p:nvSpPr>
        <p:spPr>
          <a:xfrm>
            <a:off x="5467350" y="3962400"/>
            <a:ext cx="0" cy="89535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1459" name="Rectangle 19"/>
          <p:cNvSpPr/>
          <p:nvPr/>
        </p:nvSpPr>
        <p:spPr>
          <a:xfrm>
            <a:off x="431800" y="5375275"/>
            <a:ext cx="8542338" cy="15700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In the limit, as firms become infinitesimally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small, the industry’s long-run supply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curve is horizontal at min AC(y).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1460" name="Line 20"/>
          <p:cNvSpPr/>
          <p:nvPr/>
        </p:nvSpPr>
        <p:spPr>
          <a:xfrm>
            <a:off x="904875" y="39703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1461" name="Line 21"/>
          <p:cNvSpPr/>
          <p:nvPr/>
        </p:nvSpPr>
        <p:spPr>
          <a:xfrm>
            <a:off x="904875" y="3970338"/>
            <a:ext cx="3190875" cy="0"/>
          </a:xfrm>
          <a:prstGeom prst="line">
            <a:avLst/>
          </a:prstGeom>
          <a:ln w="76200" cap="flat" cmpd="sng">
            <a:solidFill>
              <a:srgbClr val="00CC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Market Equilibrium Price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the long-run market equilibrium, the market price is determined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solely</a:t>
            </a:r>
            <a:r>
              <a:rPr lang="en-US" altLang="zh-CN" dirty="0">
                <a:ea typeface="宋体" panose="02010600030101010101" pitchFamily="2" charset="-122"/>
              </a:rPr>
              <a:t> by the long-run minimum average production cost.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Long-run market price is</a:t>
            </a:r>
            <a:endParaRPr lang="en-US" altLang="zh-CN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2468" name="Object 1024"/>
          <p:cNvGraphicFramePr/>
          <p:nvPr/>
        </p:nvGraphicFramePr>
        <p:xfrm>
          <a:off x="3140075" y="4822825"/>
          <a:ext cx="27971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152140" imgH="1075690" progId="Equation.2">
                  <p:embed/>
                </p:oleObj>
              </mc:Choice>
              <mc:Fallback>
                <p:oleObj name="" r:id="rId1" imgW="3152140" imgH="1075690" progId="Equation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40075" y="4822825"/>
                        <a:ext cx="2797175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b="1" dirty="0">
                <a:ea typeface="黑体" panose="02010609060101010101" pitchFamily="2" charset="-122"/>
              </a:rPr>
              <a:t>Increasing Average Cost Industries</a:t>
            </a:r>
            <a:endParaRPr lang="zh-CN" altLang="en-US" b="1" dirty="0">
              <a:ea typeface="黑体" panose="02010609060101010101" pitchFamily="2" charset="-122"/>
            </a:endParaRPr>
          </a:p>
        </p:txBody>
      </p:sp>
      <p:sp>
        <p:nvSpPr>
          <p:cNvPr id="63491" name="Line 3"/>
          <p:cNvSpPr/>
          <p:nvPr/>
        </p:nvSpPr>
        <p:spPr>
          <a:xfrm>
            <a:off x="904875" y="1952625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63492" name="Line 4"/>
          <p:cNvSpPr/>
          <p:nvPr/>
        </p:nvSpPr>
        <p:spPr>
          <a:xfrm>
            <a:off x="904875" y="5167313"/>
            <a:ext cx="33813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3493" name="Line 5"/>
          <p:cNvSpPr/>
          <p:nvPr/>
        </p:nvSpPr>
        <p:spPr>
          <a:xfrm>
            <a:off x="5381625" y="1952625"/>
            <a:ext cx="0" cy="31908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63494" name="Line 6"/>
          <p:cNvSpPr/>
          <p:nvPr/>
        </p:nvSpPr>
        <p:spPr>
          <a:xfrm>
            <a:off x="5381625" y="5167313"/>
            <a:ext cx="28813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3495" name="Arc 7"/>
          <p:cNvSpPr/>
          <p:nvPr/>
        </p:nvSpPr>
        <p:spPr>
          <a:xfrm rot="10800000">
            <a:off x="5692775" y="3144838"/>
            <a:ext cx="2000250" cy="1166812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3496" name="Arc 8"/>
          <p:cNvSpPr/>
          <p:nvPr/>
        </p:nvSpPr>
        <p:spPr>
          <a:xfrm>
            <a:off x="5643563" y="3095625"/>
            <a:ext cx="1381125" cy="1792288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3497" name="Line 9"/>
          <p:cNvSpPr/>
          <p:nvPr/>
        </p:nvSpPr>
        <p:spPr>
          <a:xfrm flipV="1">
            <a:off x="904875" y="3048000"/>
            <a:ext cx="2452688" cy="2119313"/>
          </a:xfrm>
          <a:prstGeom prst="line">
            <a:avLst/>
          </a:prstGeom>
          <a:ln w="44450" cap="flat" cmpd="sng">
            <a:solidFill>
              <a:srgbClr val="FF4E2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498" name="Rectangle 10"/>
          <p:cNvSpPr/>
          <p:nvPr/>
        </p:nvSpPr>
        <p:spPr>
          <a:xfrm>
            <a:off x="2955925" y="2657475"/>
            <a:ext cx="10112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63499" name="Rectangle 11"/>
          <p:cNvSpPr/>
          <p:nvPr/>
        </p:nvSpPr>
        <p:spPr>
          <a:xfrm>
            <a:off x="3313113" y="3205163"/>
            <a:ext cx="10112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aseline="30000" dirty="0">
                <a:solidFill>
                  <a:srgbClr val="FF4E21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solidFill>
                  <a:srgbClr val="FF4E21"/>
                </a:solidFill>
                <a:ea typeface="宋体" panose="02010600030101010101" pitchFamily="2" charset="-122"/>
              </a:rPr>
              <a:t>(p)</a:t>
            </a:r>
            <a:endParaRPr lang="en-US" altLang="zh-CN" sz="2800" dirty="0">
              <a:solidFill>
                <a:srgbClr val="FF4E21"/>
              </a:solidFill>
              <a:ea typeface="宋体" panose="02010600030101010101" pitchFamily="2" charset="-122"/>
            </a:endParaRPr>
          </a:p>
        </p:txBody>
      </p:sp>
      <p:sp>
        <p:nvSpPr>
          <p:cNvPr id="63500" name="Rectangle 12"/>
          <p:cNvSpPr/>
          <p:nvPr/>
        </p:nvSpPr>
        <p:spPr>
          <a:xfrm>
            <a:off x="1003300" y="2133600"/>
            <a:ext cx="2736850" cy="58578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3DF500"/>
                </a:solidFill>
                <a:ea typeface="宋体" panose="02010600030101010101" pitchFamily="2" charset="-122"/>
              </a:rPr>
              <a:t>Mkt. Demand</a:t>
            </a:r>
            <a:endParaRPr lang="en-US" altLang="zh-CN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63501" name="Rectangle 13"/>
          <p:cNvSpPr/>
          <p:nvPr/>
        </p:nvSpPr>
        <p:spPr>
          <a:xfrm>
            <a:off x="7480300" y="2586038"/>
            <a:ext cx="1135063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63502" name="Rectangle 14"/>
          <p:cNvSpPr/>
          <p:nvPr/>
        </p:nvSpPr>
        <p:spPr>
          <a:xfrm>
            <a:off x="6289675" y="2586038"/>
            <a:ext cx="11747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3503" name="Rectangle 15"/>
          <p:cNvSpPr/>
          <p:nvPr/>
        </p:nvSpPr>
        <p:spPr>
          <a:xfrm>
            <a:off x="8004175" y="5205413"/>
            <a:ext cx="38258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04" name="Rectangle 16"/>
          <p:cNvSpPr/>
          <p:nvPr/>
        </p:nvSpPr>
        <p:spPr>
          <a:xfrm>
            <a:off x="431800" y="1824038"/>
            <a:ext cx="401638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05" name="Rectangle 17"/>
          <p:cNvSpPr/>
          <p:nvPr/>
        </p:nvSpPr>
        <p:spPr>
          <a:xfrm>
            <a:off x="4884738" y="1824038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06" name="Rectangle 18"/>
          <p:cNvSpPr/>
          <p:nvPr/>
        </p:nvSpPr>
        <p:spPr>
          <a:xfrm>
            <a:off x="4003675" y="5276850"/>
            <a:ext cx="4206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07" name="Rectangle 19"/>
          <p:cNvSpPr/>
          <p:nvPr/>
        </p:nvSpPr>
        <p:spPr>
          <a:xfrm>
            <a:off x="6545263" y="5189538"/>
            <a:ext cx="655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y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*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08" name="Line 20"/>
          <p:cNvSpPr/>
          <p:nvPr/>
        </p:nvSpPr>
        <p:spPr>
          <a:xfrm>
            <a:off x="904875" y="4008438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3509" name="Line 21"/>
          <p:cNvSpPr/>
          <p:nvPr/>
        </p:nvSpPr>
        <p:spPr>
          <a:xfrm>
            <a:off x="6824663" y="4013200"/>
            <a:ext cx="0" cy="11541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3510" name="Rectangle 22"/>
          <p:cNvSpPr/>
          <p:nvPr/>
        </p:nvSpPr>
        <p:spPr>
          <a:xfrm>
            <a:off x="5381625" y="3998913"/>
            <a:ext cx="1444625" cy="247650"/>
          </a:xfrm>
          <a:prstGeom prst="rect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3511" name="Line 23"/>
          <p:cNvSpPr/>
          <p:nvPr/>
        </p:nvSpPr>
        <p:spPr>
          <a:xfrm>
            <a:off x="892175" y="3252788"/>
            <a:ext cx="1979613" cy="1914525"/>
          </a:xfrm>
          <a:prstGeom prst="line">
            <a:avLst/>
          </a:prstGeom>
          <a:ln w="44450" cap="flat" cmpd="sng">
            <a:solidFill>
              <a:srgbClr val="3DF5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63512" name="Line 24"/>
          <p:cNvSpPr/>
          <p:nvPr/>
        </p:nvSpPr>
        <p:spPr>
          <a:xfrm>
            <a:off x="1411288" y="3752850"/>
            <a:ext cx="504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3513" name="Line 25"/>
          <p:cNvSpPr/>
          <p:nvPr/>
        </p:nvSpPr>
        <p:spPr>
          <a:xfrm>
            <a:off x="866775" y="4279900"/>
            <a:ext cx="726281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3514" name="Line 26"/>
          <p:cNvSpPr/>
          <p:nvPr/>
        </p:nvSpPr>
        <p:spPr>
          <a:xfrm>
            <a:off x="908050" y="2743200"/>
            <a:ext cx="2506663" cy="2424113"/>
          </a:xfrm>
          <a:prstGeom prst="line">
            <a:avLst/>
          </a:prstGeom>
          <a:ln w="44450" cap="flat" cmpd="sng">
            <a:solidFill>
              <a:srgbClr val="3DF5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515" name="Line 27"/>
          <p:cNvSpPr/>
          <p:nvPr/>
        </p:nvSpPr>
        <p:spPr>
          <a:xfrm flipH="1" flipV="1">
            <a:off x="2108200" y="4170363"/>
            <a:ext cx="1752600" cy="1600200"/>
          </a:xfrm>
          <a:prstGeom prst="line">
            <a:avLst/>
          </a:prstGeom>
          <a:ln w="47625" cap="flat" cmpd="sng">
            <a:solidFill>
              <a:srgbClr val="FF0000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3516" name="Rectangle 28"/>
          <p:cNvSpPr/>
          <p:nvPr/>
        </p:nvSpPr>
        <p:spPr>
          <a:xfrm>
            <a:off x="103188" y="3729038"/>
            <a:ext cx="6350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17" name="Rectangle 29"/>
          <p:cNvSpPr/>
          <p:nvPr/>
        </p:nvSpPr>
        <p:spPr>
          <a:xfrm>
            <a:off x="4556125" y="3729038"/>
            <a:ext cx="635000" cy="5191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’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18" name="Arc 30"/>
          <p:cNvSpPr/>
          <p:nvPr/>
        </p:nvSpPr>
        <p:spPr>
          <a:xfrm rot="10800000">
            <a:off x="6824663" y="2981325"/>
            <a:ext cx="2000250" cy="1166813"/>
          </a:xfrm>
          <a:custGeom>
            <a:avLst/>
            <a:gdLst>
              <a:gd name="txL" fmla="*/ 0 w 43200"/>
              <a:gd name="txT" fmla="*/ 0 h 21600"/>
              <a:gd name="txR" fmla="*/ 43200 w 4320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200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</a:path>
              <a:path w="43200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06" y="0"/>
                  <a:pt x="43167" y="9634"/>
                  <a:pt x="43199" y="21541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3519" name="Arc 31"/>
          <p:cNvSpPr/>
          <p:nvPr/>
        </p:nvSpPr>
        <p:spPr>
          <a:xfrm>
            <a:off x="6900863" y="2676525"/>
            <a:ext cx="1381125" cy="1792288"/>
          </a:xfrm>
          <a:custGeom>
            <a:avLst/>
            <a:gdLst>
              <a:gd name="txL" fmla="*/ 0 w 21600"/>
              <a:gd name="txT" fmla="*/ 0 h 21122"/>
              <a:gd name="txR" fmla="*/ 21600 w 21600"/>
              <a:gd name="txB" fmla="*/ 21122 h 21122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21600" h="21122" fill="none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</a:path>
              <a:path w="21600" h="21122" stroke="0">
                <a:moveTo>
                  <a:pt x="21600" y="0"/>
                </a:moveTo>
                <a:cubicBezTo>
                  <a:pt x="21600" y="10187"/>
                  <a:pt x="14481" y="18989"/>
                  <a:pt x="4519" y="21121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63520" name="Line 32"/>
          <p:cNvSpPr/>
          <p:nvPr/>
        </p:nvSpPr>
        <p:spPr>
          <a:xfrm>
            <a:off x="892175" y="4148138"/>
            <a:ext cx="77231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521" name="Line 34"/>
          <p:cNvSpPr/>
          <p:nvPr/>
        </p:nvSpPr>
        <p:spPr>
          <a:xfrm flipV="1">
            <a:off x="908050" y="3486150"/>
            <a:ext cx="2506663" cy="1681163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522" name="Rectangle 35"/>
          <p:cNvSpPr/>
          <p:nvPr/>
        </p:nvSpPr>
        <p:spPr>
          <a:xfrm>
            <a:off x="571500" y="5770563"/>
            <a:ext cx="8378825" cy="1077912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industry’s long-run supply curve is upwards sloping at every min AC(y).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63523" name="Rectangle 12"/>
          <p:cNvSpPr/>
          <p:nvPr/>
        </p:nvSpPr>
        <p:spPr>
          <a:xfrm>
            <a:off x="5456238" y="1563688"/>
            <a:ext cx="2990850" cy="5207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A “Typical” Firm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3524" name="Line 33"/>
          <p:cNvSpPr/>
          <p:nvPr/>
        </p:nvSpPr>
        <p:spPr>
          <a:xfrm flipV="1">
            <a:off x="5692775" y="4013200"/>
            <a:ext cx="2922588" cy="455613"/>
          </a:xfrm>
          <a:prstGeom prst="line">
            <a:avLst/>
          </a:prstGeom>
          <a:ln w="50800" cap="flat" cmpd="sng">
            <a:solidFill>
              <a:srgbClr val="00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525" name="Line 33"/>
          <p:cNvSpPr/>
          <p:nvPr/>
        </p:nvSpPr>
        <p:spPr>
          <a:xfrm flipV="1">
            <a:off x="1003300" y="3724275"/>
            <a:ext cx="2736850" cy="882650"/>
          </a:xfrm>
          <a:prstGeom prst="line">
            <a:avLst/>
          </a:prstGeom>
          <a:ln w="50800" cap="flat" cmpd="sng">
            <a:solidFill>
              <a:srgbClr val="00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Implications for Taxation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In a short-run equilibrium, the burden of a sales or an excise tax is typically shared by both buyers and sellers, tax incidence of the tax depending upon the own-price elasticities of demand and supply.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Q: Is this true in a long-run market equilibrium?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Implications for Taxation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5539" name="Line 3"/>
          <p:cNvSpPr/>
          <p:nvPr/>
        </p:nvSpPr>
        <p:spPr>
          <a:xfrm flipV="1">
            <a:off x="1619250" y="1808163"/>
            <a:ext cx="0" cy="33099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5540" name="Line 4"/>
          <p:cNvSpPr/>
          <p:nvPr/>
        </p:nvSpPr>
        <p:spPr>
          <a:xfrm>
            <a:off x="1619250" y="5119688"/>
            <a:ext cx="42624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5541" name="Line 5"/>
          <p:cNvSpPr/>
          <p:nvPr/>
        </p:nvSpPr>
        <p:spPr>
          <a:xfrm>
            <a:off x="1619250" y="2571750"/>
            <a:ext cx="3571875" cy="254793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42" name="Line 6"/>
          <p:cNvSpPr/>
          <p:nvPr/>
        </p:nvSpPr>
        <p:spPr>
          <a:xfrm>
            <a:off x="1619250" y="4357688"/>
            <a:ext cx="3381375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543" name="Line 7"/>
          <p:cNvSpPr/>
          <p:nvPr/>
        </p:nvSpPr>
        <p:spPr>
          <a:xfrm>
            <a:off x="4124325" y="4367213"/>
            <a:ext cx="0" cy="735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5544" name="Oval 8"/>
          <p:cNvSpPr/>
          <p:nvPr/>
        </p:nvSpPr>
        <p:spPr>
          <a:xfrm>
            <a:off x="4005263" y="4238625"/>
            <a:ext cx="214312" cy="214313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5545" name="Rectangle 9"/>
          <p:cNvSpPr/>
          <p:nvPr/>
        </p:nvSpPr>
        <p:spPr>
          <a:xfrm>
            <a:off x="5072063" y="4100513"/>
            <a:ext cx="32908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LR supply (no tax)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5546" name="Rectangle 10"/>
          <p:cNvSpPr/>
          <p:nvPr/>
        </p:nvSpPr>
        <p:spPr>
          <a:xfrm>
            <a:off x="1122363" y="1585913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5547" name="Rectangle 11"/>
          <p:cNvSpPr/>
          <p:nvPr/>
        </p:nvSpPr>
        <p:spPr>
          <a:xfrm>
            <a:off x="5694363" y="5184775"/>
            <a:ext cx="8397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X,Y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5548" name="Rectangle 12"/>
          <p:cNvSpPr/>
          <p:nvPr/>
        </p:nvSpPr>
        <p:spPr>
          <a:xfrm>
            <a:off x="1741488" y="2181225"/>
            <a:ext cx="2360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65549" name="Rectangle 13"/>
          <p:cNvSpPr/>
          <p:nvPr/>
        </p:nvSpPr>
        <p:spPr>
          <a:xfrm>
            <a:off x="3860800" y="5184775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Q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5550" name="Rectangle 14"/>
          <p:cNvSpPr/>
          <p:nvPr/>
        </p:nvSpPr>
        <p:spPr>
          <a:xfrm>
            <a:off x="1050925" y="4017963"/>
            <a:ext cx="579438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Implications for Taxation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6563" name="Line 3"/>
          <p:cNvSpPr/>
          <p:nvPr/>
        </p:nvSpPr>
        <p:spPr>
          <a:xfrm flipV="1">
            <a:off x="1619250" y="1808163"/>
            <a:ext cx="0" cy="33099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6564" name="Line 4"/>
          <p:cNvSpPr/>
          <p:nvPr/>
        </p:nvSpPr>
        <p:spPr>
          <a:xfrm>
            <a:off x="1619250" y="5119688"/>
            <a:ext cx="42624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6565" name="Line 5"/>
          <p:cNvSpPr/>
          <p:nvPr/>
        </p:nvSpPr>
        <p:spPr>
          <a:xfrm>
            <a:off x="1619250" y="2571750"/>
            <a:ext cx="3571875" cy="254793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566" name="Line 6"/>
          <p:cNvSpPr/>
          <p:nvPr/>
        </p:nvSpPr>
        <p:spPr>
          <a:xfrm>
            <a:off x="1619250" y="4357688"/>
            <a:ext cx="3381375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567" name="Line 7"/>
          <p:cNvSpPr/>
          <p:nvPr/>
        </p:nvSpPr>
        <p:spPr>
          <a:xfrm>
            <a:off x="4124325" y="4367213"/>
            <a:ext cx="0" cy="735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6568" name="Oval 8"/>
          <p:cNvSpPr/>
          <p:nvPr/>
        </p:nvSpPr>
        <p:spPr>
          <a:xfrm>
            <a:off x="4005263" y="4238625"/>
            <a:ext cx="214312" cy="214313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6569" name="Rectangle 9"/>
          <p:cNvSpPr/>
          <p:nvPr/>
        </p:nvSpPr>
        <p:spPr>
          <a:xfrm>
            <a:off x="5072063" y="4100513"/>
            <a:ext cx="32908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LR supply (no tax)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6570" name="Rectangle 10"/>
          <p:cNvSpPr/>
          <p:nvPr/>
        </p:nvSpPr>
        <p:spPr>
          <a:xfrm>
            <a:off x="1122363" y="1585913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6571" name="Rectangle 11"/>
          <p:cNvSpPr/>
          <p:nvPr/>
        </p:nvSpPr>
        <p:spPr>
          <a:xfrm>
            <a:off x="5694363" y="5184775"/>
            <a:ext cx="8397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X,Y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6572" name="Rectangle 12"/>
          <p:cNvSpPr/>
          <p:nvPr/>
        </p:nvSpPr>
        <p:spPr>
          <a:xfrm>
            <a:off x="1741488" y="2181225"/>
            <a:ext cx="2360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66573" name="Rectangle 13"/>
          <p:cNvSpPr/>
          <p:nvPr/>
        </p:nvSpPr>
        <p:spPr>
          <a:xfrm>
            <a:off x="3860800" y="5184775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Q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6574" name="Rectangle 14"/>
          <p:cNvSpPr/>
          <p:nvPr/>
        </p:nvSpPr>
        <p:spPr>
          <a:xfrm>
            <a:off x="393700" y="4017963"/>
            <a:ext cx="121285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=p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6575" name="Line 15"/>
          <p:cNvSpPr/>
          <p:nvPr/>
        </p:nvSpPr>
        <p:spPr>
          <a:xfrm>
            <a:off x="1619250" y="3595688"/>
            <a:ext cx="3381375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576" name="Rectangle 16"/>
          <p:cNvSpPr/>
          <p:nvPr/>
        </p:nvSpPr>
        <p:spPr>
          <a:xfrm>
            <a:off x="5072063" y="3362325"/>
            <a:ext cx="35671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LR supply (with tax)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6577" name="Line 18"/>
          <p:cNvSpPr/>
          <p:nvPr/>
        </p:nvSpPr>
        <p:spPr>
          <a:xfrm>
            <a:off x="3014663" y="3602038"/>
            <a:ext cx="0" cy="15001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6578" name="Rectangle 19"/>
          <p:cNvSpPr/>
          <p:nvPr/>
        </p:nvSpPr>
        <p:spPr>
          <a:xfrm>
            <a:off x="2703513" y="5187950"/>
            <a:ext cx="5889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Q</a:t>
            </a:r>
            <a:r>
              <a:rPr lang="en-US" altLang="zh-CN" baseline="30000" dirty="0">
                <a:ea typeface="宋体" panose="02010600030101010101" pitchFamily="2" charset="-122"/>
              </a:rPr>
              <a:t>t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6579" name="Rectangle 20"/>
          <p:cNvSpPr/>
          <p:nvPr/>
        </p:nvSpPr>
        <p:spPr>
          <a:xfrm>
            <a:off x="695325" y="2908300"/>
            <a:ext cx="954088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b</a:t>
            </a:r>
            <a:r>
              <a:rPr lang="en-US" altLang="zh-CN" sz="2800" dirty="0">
                <a:ea typeface="宋体" panose="02010600030101010101" pitchFamily="2" charset="-122"/>
              </a:rPr>
              <a:t> =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ea typeface="宋体" panose="02010600030101010101" pitchFamily="2" charset="-122"/>
              </a:rPr>
              <a:t>+t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6580" name="Line 21"/>
          <p:cNvSpPr/>
          <p:nvPr/>
        </p:nvSpPr>
        <p:spPr>
          <a:xfrm flipV="1">
            <a:off x="4600575" y="3587750"/>
            <a:ext cx="0" cy="7508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6581" name="Rectangle 22"/>
          <p:cNvSpPr/>
          <p:nvPr/>
        </p:nvSpPr>
        <p:spPr>
          <a:xfrm>
            <a:off x="4249738" y="3797300"/>
            <a:ext cx="3032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6582" name="Oval 17"/>
          <p:cNvSpPr/>
          <p:nvPr/>
        </p:nvSpPr>
        <p:spPr>
          <a:xfrm>
            <a:off x="2909888" y="3476625"/>
            <a:ext cx="214312" cy="214313"/>
          </a:xfrm>
          <a:prstGeom prst="ellipse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Long-Run Implications for Taxation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587" name="Line 3"/>
          <p:cNvSpPr/>
          <p:nvPr/>
        </p:nvSpPr>
        <p:spPr>
          <a:xfrm flipV="1">
            <a:off x="1619250" y="1808163"/>
            <a:ext cx="0" cy="33099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7588" name="Line 4"/>
          <p:cNvSpPr/>
          <p:nvPr/>
        </p:nvSpPr>
        <p:spPr>
          <a:xfrm>
            <a:off x="1619250" y="5119688"/>
            <a:ext cx="426243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7589" name="Line 5"/>
          <p:cNvSpPr/>
          <p:nvPr/>
        </p:nvSpPr>
        <p:spPr>
          <a:xfrm>
            <a:off x="1619250" y="2571750"/>
            <a:ext cx="3571875" cy="2547938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590" name="Line 6"/>
          <p:cNvSpPr/>
          <p:nvPr/>
        </p:nvSpPr>
        <p:spPr>
          <a:xfrm>
            <a:off x="1619250" y="4357688"/>
            <a:ext cx="3381375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591" name="Line 7"/>
          <p:cNvSpPr/>
          <p:nvPr/>
        </p:nvSpPr>
        <p:spPr>
          <a:xfrm>
            <a:off x="4124325" y="4367213"/>
            <a:ext cx="0" cy="735012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7592" name="Oval 8"/>
          <p:cNvSpPr/>
          <p:nvPr/>
        </p:nvSpPr>
        <p:spPr>
          <a:xfrm>
            <a:off x="4005263" y="4238625"/>
            <a:ext cx="214312" cy="214313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7593" name="Rectangle 9"/>
          <p:cNvSpPr/>
          <p:nvPr/>
        </p:nvSpPr>
        <p:spPr>
          <a:xfrm>
            <a:off x="5072063" y="4100513"/>
            <a:ext cx="329088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LR supply (no tax)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7594" name="Rectangle 10"/>
          <p:cNvSpPr/>
          <p:nvPr/>
        </p:nvSpPr>
        <p:spPr>
          <a:xfrm>
            <a:off x="1122363" y="1585913"/>
            <a:ext cx="401637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7595" name="Rectangle 11"/>
          <p:cNvSpPr/>
          <p:nvPr/>
        </p:nvSpPr>
        <p:spPr>
          <a:xfrm>
            <a:off x="5694363" y="5184775"/>
            <a:ext cx="83978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X,Y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596" name="Rectangle 12"/>
          <p:cNvSpPr/>
          <p:nvPr/>
        </p:nvSpPr>
        <p:spPr>
          <a:xfrm>
            <a:off x="1741488" y="2181225"/>
            <a:ext cx="23606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Mkt. demand</a:t>
            </a:r>
            <a:endParaRPr lang="en-US" altLang="zh-CN" sz="2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67597" name="Rectangle 13"/>
          <p:cNvSpPr/>
          <p:nvPr/>
        </p:nvSpPr>
        <p:spPr>
          <a:xfrm>
            <a:off x="3860800" y="5184775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Q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7598" name="Rectangle 14"/>
          <p:cNvSpPr/>
          <p:nvPr/>
        </p:nvSpPr>
        <p:spPr>
          <a:xfrm>
            <a:off x="393700" y="4017963"/>
            <a:ext cx="121285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=p</a:t>
            </a:r>
            <a:r>
              <a:rPr lang="en-US" altLang="zh-CN" baseline="30000" dirty="0">
                <a:ea typeface="宋体" panose="02010600030101010101" pitchFamily="2" charset="-122"/>
              </a:rPr>
              <a:t>e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7599" name="Line 15"/>
          <p:cNvSpPr/>
          <p:nvPr/>
        </p:nvSpPr>
        <p:spPr>
          <a:xfrm>
            <a:off x="1619250" y="3595688"/>
            <a:ext cx="3381375" cy="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600" name="Rectangle 16"/>
          <p:cNvSpPr/>
          <p:nvPr/>
        </p:nvSpPr>
        <p:spPr>
          <a:xfrm>
            <a:off x="5072063" y="3362325"/>
            <a:ext cx="35671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LR supply (with tax)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67601" name="Line 18"/>
          <p:cNvSpPr/>
          <p:nvPr/>
        </p:nvSpPr>
        <p:spPr>
          <a:xfrm>
            <a:off x="3014663" y="3602038"/>
            <a:ext cx="0" cy="1500187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67602" name="Rectangle 19"/>
          <p:cNvSpPr/>
          <p:nvPr/>
        </p:nvSpPr>
        <p:spPr>
          <a:xfrm>
            <a:off x="2703513" y="5187950"/>
            <a:ext cx="5889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Q</a:t>
            </a:r>
            <a:r>
              <a:rPr lang="en-US" altLang="zh-CN" baseline="30000" dirty="0">
                <a:ea typeface="宋体" panose="02010600030101010101" pitchFamily="2" charset="-122"/>
              </a:rPr>
              <a:t>t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sp>
        <p:nvSpPr>
          <p:cNvPr id="67603" name="Rectangle 20"/>
          <p:cNvSpPr/>
          <p:nvPr/>
        </p:nvSpPr>
        <p:spPr>
          <a:xfrm>
            <a:off x="695325" y="2908300"/>
            <a:ext cx="954088" cy="9461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b</a:t>
            </a:r>
            <a:r>
              <a:rPr lang="en-US" altLang="zh-CN" sz="2800" dirty="0">
                <a:ea typeface="宋体" panose="02010600030101010101" pitchFamily="2" charset="-122"/>
              </a:rPr>
              <a:t> = 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r>
              <a:rPr lang="en-US" altLang="zh-CN" sz="2800" dirty="0">
                <a:ea typeface="宋体" panose="02010600030101010101" pitchFamily="2" charset="-122"/>
              </a:rPr>
              <a:t>+t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7604" name="Line 21"/>
          <p:cNvSpPr/>
          <p:nvPr/>
        </p:nvSpPr>
        <p:spPr>
          <a:xfrm flipV="1">
            <a:off x="4600575" y="3587750"/>
            <a:ext cx="0" cy="7508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67605" name="Rectangle 22"/>
          <p:cNvSpPr/>
          <p:nvPr/>
        </p:nvSpPr>
        <p:spPr>
          <a:xfrm>
            <a:off x="4249738" y="3797300"/>
            <a:ext cx="30321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67606" name="Rectangle 23"/>
          <p:cNvSpPr/>
          <p:nvPr/>
        </p:nvSpPr>
        <p:spPr>
          <a:xfrm>
            <a:off x="4384675" y="1208088"/>
            <a:ext cx="4467225" cy="155416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In the long-run the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buyers pay all of a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sales or an excise tax.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7607" name="Oval 17"/>
          <p:cNvSpPr/>
          <p:nvPr/>
        </p:nvSpPr>
        <p:spPr>
          <a:xfrm>
            <a:off x="2909888" y="3476625"/>
            <a:ext cx="214312" cy="214313"/>
          </a:xfrm>
          <a:prstGeom prst="ellipse">
            <a:avLst/>
          </a:prstGeom>
          <a:solidFill>
            <a:srgbClr val="3DF5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What if there is a barriers to entry or exit?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E.g., the taxi-cab industry has a barrier to entry even though there are lots of cabs competing with each other.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Liquor licensing is a barrier to entry into a competitive industry.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Q: When there is a barrier to entry, will not the firms already in the industry make positive economic profits?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Q: When there is a barrier to entry, will not the firms already in the industry make positive economic profits?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A:  No.  Each firm in the industry makes a zero economic profit.  Why?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683" name="Rectangle 3"/>
          <p:cNvSpPr>
            <a:spLocks noGrp="1"/>
          </p:cNvSpPr>
          <p:nvPr>
            <p:ph idx="1"/>
          </p:nvPr>
        </p:nvSpPr>
        <p:spPr>
          <a:xfrm>
            <a:off x="685800" y="1485900"/>
            <a:ext cx="8029575" cy="4381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An input (e.g. an operating license) that is fixed in the long-run causes a long-run fixed cost, F.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Long-run total cost, c(y) = F + c</a:t>
            </a:r>
            <a:r>
              <a:rPr lang="en-US" altLang="zh-CN" baseline="-25000" dirty="0">
                <a:ea typeface="宋体" panose="02010600030101010101" pitchFamily="2" charset="-122"/>
              </a:rPr>
              <a:t>v</a:t>
            </a:r>
            <a:r>
              <a:rPr lang="en-US" altLang="zh-CN" dirty="0">
                <a:ea typeface="宋体" panose="02010600030101010101" pitchFamily="2" charset="-122"/>
              </a:rPr>
              <a:t>(y).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And long-run average total cost,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     AC(y) = AFC(y) + AVC(y).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In the long-run equilibrium, what will be the value of F?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>
          <a:xfrm>
            <a:off x="523875" y="1485900"/>
            <a:ext cx="8262938" cy="4381500"/>
          </a:xfrm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Think of a firm that needs an operating license -- the license is a fixed input that is rented but not owned by the firm.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If the firm makes a positive economic profit then another firm can offer the  license owner a higher price for it.  In this way, all firms’ economic profits are competed away, to zero.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373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ea typeface="宋体" panose="02010600030101010101" pitchFamily="2" charset="-122"/>
              </a:rPr>
              <a:t>So in the long-run equilibrium, each firm makes a zero economic profit and each firm’s fixed cost is its payment for its operating license.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4755" name="Line 3"/>
          <p:cNvSpPr/>
          <p:nvPr/>
        </p:nvSpPr>
        <p:spPr>
          <a:xfrm>
            <a:off x="1452563" y="1690688"/>
            <a:ext cx="0" cy="3238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74756" name="Line 4"/>
          <p:cNvSpPr/>
          <p:nvPr/>
        </p:nvSpPr>
        <p:spPr>
          <a:xfrm>
            <a:off x="1452563" y="4953000"/>
            <a:ext cx="4405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74757" name="Rectangle 5"/>
          <p:cNvSpPr/>
          <p:nvPr/>
        </p:nvSpPr>
        <p:spPr>
          <a:xfrm>
            <a:off x="5765800" y="499427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4758" name="Rectangle 6"/>
          <p:cNvSpPr/>
          <p:nvPr/>
        </p:nvSpPr>
        <p:spPr>
          <a:xfrm>
            <a:off x="288925" y="1228725"/>
            <a:ext cx="2339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74759" name="Arc 7"/>
          <p:cNvSpPr/>
          <p:nvPr/>
        </p:nvSpPr>
        <p:spPr>
          <a:xfrm rot="10800000">
            <a:off x="1811338" y="1144588"/>
            <a:ext cx="4049712" cy="2239962"/>
          </a:xfrm>
          <a:custGeom>
            <a:avLst/>
            <a:gdLst>
              <a:gd name="txL" fmla="*/ 0 w 39180"/>
              <a:gd name="txT" fmla="*/ 0 h 21600"/>
              <a:gd name="txR" fmla="*/ 39180 w 3918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9180" h="21600" fill="none">
                <a:moveTo>
                  <a:pt x="0" y="10599"/>
                </a:moveTo>
                <a:cubicBezTo>
                  <a:pt x="3888" y="4029"/>
                  <a:pt x="10955" y="-1"/>
                  <a:pt x="18589" y="0"/>
                </a:cubicBezTo>
                <a:cubicBezTo>
                  <a:pt x="28004" y="0"/>
                  <a:pt x="36335" y="6099"/>
                  <a:pt x="39179" y="15075"/>
                </a:cubicBezTo>
              </a:path>
              <a:path w="39180" h="21600" stroke="0">
                <a:moveTo>
                  <a:pt x="0" y="10599"/>
                </a:moveTo>
                <a:cubicBezTo>
                  <a:pt x="3888" y="4029"/>
                  <a:pt x="10955" y="-1"/>
                  <a:pt x="18589" y="0"/>
                </a:cubicBezTo>
                <a:cubicBezTo>
                  <a:pt x="28004" y="0"/>
                  <a:pt x="36335" y="6099"/>
                  <a:pt x="39179" y="15075"/>
                </a:cubicBezTo>
                <a:lnTo>
                  <a:pt x="18589" y="21600"/>
                </a:lnTo>
                <a:lnTo>
                  <a:pt x="0" y="10599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4760" name="Arc 8"/>
          <p:cNvSpPr/>
          <p:nvPr/>
        </p:nvSpPr>
        <p:spPr>
          <a:xfrm rot="10800000">
            <a:off x="1501775" y="1835150"/>
            <a:ext cx="4619625" cy="2192338"/>
          </a:xfrm>
          <a:custGeom>
            <a:avLst/>
            <a:gdLst>
              <a:gd name="txL" fmla="*/ 0 w 36936"/>
              <a:gd name="txT" fmla="*/ 0 h 21600"/>
              <a:gd name="txR" fmla="*/ 36936 w 36936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6936" h="21600" fill="none">
                <a:moveTo>
                  <a:pt x="0" y="14535"/>
                </a:moveTo>
                <a:cubicBezTo>
                  <a:pt x="3011" y="5835"/>
                  <a:pt x="11205" y="-1"/>
                  <a:pt x="20412" y="0"/>
                </a:cubicBezTo>
                <a:cubicBezTo>
                  <a:pt x="26784" y="0"/>
                  <a:pt x="32831" y="2813"/>
                  <a:pt x="36936" y="7688"/>
                </a:cubicBezTo>
              </a:path>
              <a:path w="36936" h="21600" stroke="0">
                <a:moveTo>
                  <a:pt x="0" y="14535"/>
                </a:moveTo>
                <a:cubicBezTo>
                  <a:pt x="3011" y="5835"/>
                  <a:pt x="11205" y="-1"/>
                  <a:pt x="20412" y="0"/>
                </a:cubicBezTo>
                <a:cubicBezTo>
                  <a:pt x="26784" y="0"/>
                  <a:pt x="32831" y="2813"/>
                  <a:pt x="36936" y="7688"/>
                </a:cubicBezTo>
                <a:lnTo>
                  <a:pt x="20412" y="21600"/>
                </a:lnTo>
                <a:lnTo>
                  <a:pt x="0" y="14535"/>
                </a:lnTo>
                <a:close/>
              </a:path>
            </a:pathLst>
          </a:custGeom>
          <a:noFill/>
          <a:ln w="25400" cap="rnd" cmpd="sng">
            <a:solidFill>
              <a:srgbClr val="3DF500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4761" name="Arc 9"/>
          <p:cNvSpPr/>
          <p:nvPr/>
        </p:nvSpPr>
        <p:spPr>
          <a:xfrm rot="10800000">
            <a:off x="1509713" y="2693988"/>
            <a:ext cx="2587625" cy="1738312"/>
          </a:xfrm>
          <a:custGeom>
            <a:avLst/>
            <a:gdLst>
              <a:gd name="txL" fmla="*/ 0 w 42073"/>
              <a:gd name="txT" fmla="*/ 0 h 21600"/>
              <a:gd name="txR" fmla="*/ 42073 w 42073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2073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0875" y="0"/>
                  <a:pt x="39115" y="5921"/>
                  <a:pt x="42072" y="14713"/>
                </a:cubicBezTo>
              </a:path>
              <a:path w="42073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0875" y="0"/>
                  <a:pt x="39115" y="5921"/>
                  <a:pt x="42072" y="14713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4762" name="Rectangle 10"/>
          <p:cNvSpPr/>
          <p:nvPr/>
        </p:nvSpPr>
        <p:spPr>
          <a:xfrm>
            <a:off x="5932488" y="1847850"/>
            <a:ext cx="11350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74763" name="Rectangle 11"/>
          <p:cNvSpPr/>
          <p:nvPr/>
        </p:nvSpPr>
        <p:spPr>
          <a:xfrm>
            <a:off x="6170613" y="23241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AVC(y)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74764" name="Rectangle 12"/>
          <p:cNvSpPr/>
          <p:nvPr/>
        </p:nvSpPr>
        <p:spPr>
          <a:xfrm>
            <a:off x="3765550" y="2133600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74765" name="Line 13"/>
          <p:cNvSpPr/>
          <p:nvPr/>
        </p:nvSpPr>
        <p:spPr>
          <a:xfrm flipH="1">
            <a:off x="1455738" y="3371850"/>
            <a:ext cx="24955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74766" name="Line 14"/>
          <p:cNvSpPr/>
          <p:nvPr/>
        </p:nvSpPr>
        <p:spPr>
          <a:xfrm>
            <a:off x="3965575" y="3371850"/>
            <a:ext cx="0" cy="15859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74767" name="Rectangle 15"/>
          <p:cNvSpPr/>
          <p:nvPr/>
        </p:nvSpPr>
        <p:spPr>
          <a:xfrm>
            <a:off x="3683000" y="4989513"/>
            <a:ext cx="56832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y*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4768" name="Rectangle 16"/>
          <p:cNvSpPr/>
          <p:nvPr/>
        </p:nvSpPr>
        <p:spPr>
          <a:xfrm>
            <a:off x="915988" y="3090863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74769" name="Rectangle 17"/>
          <p:cNvSpPr/>
          <p:nvPr/>
        </p:nvSpPr>
        <p:spPr>
          <a:xfrm>
            <a:off x="4956175" y="3660775"/>
            <a:ext cx="41306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firm’s economic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profit is zero.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79" name="Line 3"/>
          <p:cNvSpPr/>
          <p:nvPr/>
        </p:nvSpPr>
        <p:spPr>
          <a:xfrm>
            <a:off x="1452563" y="1690688"/>
            <a:ext cx="0" cy="3238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75780" name="Line 4"/>
          <p:cNvSpPr/>
          <p:nvPr/>
        </p:nvSpPr>
        <p:spPr>
          <a:xfrm>
            <a:off x="1452563" y="4953000"/>
            <a:ext cx="4405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75781" name="Rectangle 5"/>
          <p:cNvSpPr/>
          <p:nvPr/>
        </p:nvSpPr>
        <p:spPr>
          <a:xfrm>
            <a:off x="5765800" y="499427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82" name="Rectangle 6"/>
          <p:cNvSpPr/>
          <p:nvPr/>
        </p:nvSpPr>
        <p:spPr>
          <a:xfrm>
            <a:off x="288925" y="1228725"/>
            <a:ext cx="2339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75783" name="Arc 7"/>
          <p:cNvSpPr/>
          <p:nvPr/>
        </p:nvSpPr>
        <p:spPr>
          <a:xfrm rot="10800000">
            <a:off x="1811338" y="1144588"/>
            <a:ext cx="4049712" cy="2239962"/>
          </a:xfrm>
          <a:custGeom>
            <a:avLst/>
            <a:gdLst>
              <a:gd name="txL" fmla="*/ 0 w 39180"/>
              <a:gd name="txT" fmla="*/ 0 h 21600"/>
              <a:gd name="txR" fmla="*/ 39180 w 3918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9180" h="21600" fill="none">
                <a:moveTo>
                  <a:pt x="0" y="10599"/>
                </a:moveTo>
                <a:cubicBezTo>
                  <a:pt x="3888" y="4029"/>
                  <a:pt x="10955" y="-1"/>
                  <a:pt x="18589" y="0"/>
                </a:cubicBezTo>
                <a:cubicBezTo>
                  <a:pt x="28004" y="0"/>
                  <a:pt x="36335" y="6099"/>
                  <a:pt x="39179" y="15075"/>
                </a:cubicBezTo>
              </a:path>
              <a:path w="39180" h="21600" stroke="0">
                <a:moveTo>
                  <a:pt x="0" y="10599"/>
                </a:moveTo>
                <a:cubicBezTo>
                  <a:pt x="3888" y="4029"/>
                  <a:pt x="10955" y="-1"/>
                  <a:pt x="18589" y="0"/>
                </a:cubicBezTo>
                <a:cubicBezTo>
                  <a:pt x="28004" y="0"/>
                  <a:pt x="36335" y="6099"/>
                  <a:pt x="39179" y="15075"/>
                </a:cubicBezTo>
                <a:lnTo>
                  <a:pt x="18589" y="21600"/>
                </a:lnTo>
                <a:lnTo>
                  <a:pt x="0" y="10599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5784" name="Arc 8"/>
          <p:cNvSpPr/>
          <p:nvPr/>
        </p:nvSpPr>
        <p:spPr>
          <a:xfrm rot="10800000">
            <a:off x="1501775" y="1835150"/>
            <a:ext cx="4619625" cy="2192338"/>
          </a:xfrm>
          <a:custGeom>
            <a:avLst/>
            <a:gdLst>
              <a:gd name="txL" fmla="*/ 0 w 36936"/>
              <a:gd name="txT" fmla="*/ 0 h 21600"/>
              <a:gd name="txR" fmla="*/ 36936 w 36936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6936" h="21600" fill="none">
                <a:moveTo>
                  <a:pt x="0" y="14535"/>
                </a:moveTo>
                <a:cubicBezTo>
                  <a:pt x="3011" y="5835"/>
                  <a:pt x="11205" y="-1"/>
                  <a:pt x="20412" y="0"/>
                </a:cubicBezTo>
                <a:cubicBezTo>
                  <a:pt x="26784" y="0"/>
                  <a:pt x="32831" y="2813"/>
                  <a:pt x="36936" y="7688"/>
                </a:cubicBezTo>
              </a:path>
              <a:path w="36936" h="21600" stroke="0">
                <a:moveTo>
                  <a:pt x="0" y="14535"/>
                </a:moveTo>
                <a:cubicBezTo>
                  <a:pt x="3011" y="5835"/>
                  <a:pt x="11205" y="-1"/>
                  <a:pt x="20412" y="0"/>
                </a:cubicBezTo>
                <a:cubicBezTo>
                  <a:pt x="26784" y="0"/>
                  <a:pt x="32831" y="2813"/>
                  <a:pt x="36936" y="7688"/>
                </a:cubicBezTo>
                <a:lnTo>
                  <a:pt x="20412" y="21600"/>
                </a:lnTo>
                <a:lnTo>
                  <a:pt x="0" y="14535"/>
                </a:lnTo>
                <a:close/>
              </a:path>
            </a:pathLst>
          </a:custGeom>
          <a:noFill/>
          <a:ln w="25400" cap="rnd" cmpd="sng">
            <a:solidFill>
              <a:srgbClr val="3DF500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5785" name="Arc 9"/>
          <p:cNvSpPr/>
          <p:nvPr/>
        </p:nvSpPr>
        <p:spPr>
          <a:xfrm rot="10800000">
            <a:off x="1509713" y="2693988"/>
            <a:ext cx="2587625" cy="1738312"/>
          </a:xfrm>
          <a:custGeom>
            <a:avLst/>
            <a:gdLst>
              <a:gd name="txL" fmla="*/ 0 w 42073"/>
              <a:gd name="txT" fmla="*/ 0 h 21600"/>
              <a:gd name="txR" fmla="*/ 42073 w 42073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2073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0875" y="0"/>
                  <a:pt x="39115" y="5921"/>
                  <a:pt x="42072" y="14713"/>
                </a:cubicBezTo>
              </a:path>
              <a:path w="42073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0875" y="0"/>
                  <a:pt x="39115" y="5921"/>
                  <a:pt x="42072" y="14713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5786" name="Rectangle 10"/>
          <p:cNvSpPr/>
          <p:nvPr/>
        </p:nvSpPr>
        <p:spPr>
          <a:xfrm>
            <a:off x="5932488" y="1847850"/>
            <a:ext cx="11350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75787" name="Rectangle 11"/>
          <p:cNvSpPr/>
          <p:nvPr/>
        </p:nvSpPr>
        <p:spPr>
          <a:xfrm>
            <a:off x="6170613" y="23241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AVC(y)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75788" name="Rectangle 12"/>
          <p:cNvSpPr/>
          <p:nvPr/>
        </p:nvSpPr>
        <p:spPr>
          <a:xfrm>
            <a:off x="3765550" y="2133600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75789" name="Line 13"/>
          <p:cNvSpPr/>
          <p:nvPr/>
        </p:nvSpPr>
        <p:spPr>
          <a:xfrm flipH="1">
            <a:off x="1455738" y="3371850"/>
            <a:ext cx="24955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75790" name="Line 14"/>
          <p:cNvSpPr/>
          <p:nvPr/>
        </p:nvSpPr>
        <p:spPr>
          <a:xfrm>
            <a:off x="3965575" y="3371850"/>
            <a:ext cx="0" cy="15859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75791" name="Rectangle 15"/>
          <p:cNvSpPr/>
          <p:nvPr/>
        </p:nvSpPr>
        <p:spPr>
          <a:xfrm>
            <a:off x="3683000" y="4989513"/>
            <a:ext cx="56832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y*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92" name="Rectangle 16"/>
          <p:cNvSpPr/>
          <p:nvPr/>
        </p:nvSpPr>
        <p:spPr>
          <a:xfrm>
            <a:off x="915988" y="3090863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75793" name="Rectangle 17"/>
          <p:cNvSpPr/>
          <p:nvPr/>
        </p:nvSpPr>
        <p:spPr>
          <a:xfrm>
            <a:off x="1455738" y="3371850"/>
            <a:ext cx="2495550" cy="619125"/>
          </a:xfrm>
          <a:prstGeom prst="rect">
            <a:avLst/>
          </a:prstGeom>
          <a:solidFill>
            <a:srgbClr val="FF4E2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5794" name="Rectangle 18"/>
          <p:cNvSpPr/>
          <p:nvPr/>
        </p:nvSpPr>
        <p:spPr>
          <a:xfrm>
            <a:off x="2360613" y="3446463"/>
            <a:ext cx="4318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F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95" name="Rectangle 19"/>
          <p:cNvSpPr/>
          <p:nvPr/>
        </p:nvSpPr>
        <p:spPr>
          <a:xfrm>
            <a:off x="4956175" y="3660775"/>
            <a:ext cx="41306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firm’s economic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profit is zero.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5796" name="Rectangle 20"/>
          <p:cNvSpPr/>
          <p:nvPr/>
        </p:nvSpPr>
        <p:spPr>
          <a:xfrm>
            <a:off x="479425" y="5613400"/>
            <a:ext cx="818356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F is the payment to the owner of the fixed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input (the license).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2075" tIns="46038" rIns="92075" bIns="46038" anchor="t" anchorCtr="0"/>
          <a:p>
            <a:r>
              <a:rPr lang="en-US" altLang="zh-CN" dirty="0">
                <a:solidFill>
                  <a:schemeClr val="tx2"/>
                </a:solidFill>
                <a:ea typeface="宋体" panose="02010600030101010101" pitchFamily="2" charset="-122"/>
              </a:rPr>
              <a:t>Economic rent</a:t>
            </a:r>
            <a:r>
              <a:rPr lang="en-US" altLang="zh-CN" dirty="0">
                <a:ea typeface="宋体" panose="02010600030101010101" pitchFamily="2" charset="-122"/>
              </a:rPr>
              <a:t> is the payment for an input that is in excess of the minimum payment required to have that input supplied.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Each license essentially costs zero to supply, so the long-run economic rent paid to the license owner is the firm’s long-run fixed cost.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2075" tIns="46038" rIns="92075" bIns="46038" anchor="ctr" anchorCtr="0"/>
          <a:p>
            <a:r>
              <a:rPr lang="en-US" altLang="zh-CN" dirty="0">
                <a:ea typeface="宋体" panose="02010600030101010101" pitchFamily="2" charset="-122"/>
              </a:rPr>
              <a:t>Fixed Inputs and Economic Rent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27" name="Line 3"/>
          <p:cNvSpPr/>
          <p:nvPr/>
        </p:nvSpPr>
        <p:spPr>
          <a:xfrm>
            <a:off x="1452563" y="1690688"/>
            <a:ext cx="0" cy="3238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stealth" w="med" len="lg"/>
            <a:tailEnd type="none" w="sm" len="sm"/>
          </a:ln>
        </p:spPr>
      </p:sp>
      <p:sp>
        <p:nvSpPr>
          <p:cNvPr id="77828" name="Line 4"/>
          <p:cNvSpPr/>
          <p:nvPr/>
        </p:nvSpPr>
        <p:spPr>
          <a:xfrm>
            <a:off x="1452563" y="4953000"/>
            <a:ext cx="440531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</p:sp>
      <p:sp>
        <p:nvSpPr>
          <p:cNvPr id="77829" name="Rectangle 5"/>
          <p:cNvSpPr/>
          <p:nvPr/>
        </p:nvSpPr>
        <p:spPr>
          <a:xfrm>
            <a:off x="5765800" y="4994275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30" name="Rectangle 6"/>
          <p:cNvSpPr/>
          <p:nvPr/>
        </p:nvSpPr>
        <p:spPr>
          <a:xfrm>
            <a:off x="288925" y="1228725"/>
            <a:ext cx="2339975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$/output unit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  <p:sp>
        <p:nvSpPr>
          <p:cNvPr id="77831" name="Arc 7"/>
          <p:cNvSpPr/>
          <p:nvPr/>
        </p:nvSpPr>
        <p:spPr>
          <a:xfrm rot="10800000">
            <a:off x="1811338" y="1144588"/>
            <a:ext cx="4049712" cy="2239962"/>
          </a:xfrm>
          <a:custGeom>
            <a:avLst/>
            <a:gdLst>
              <a:gd name="txL" fmla="*/ 0 w 39180"/>
              <a:gd name="txT" fmla="*/ 0 h 21600"/>
              <a:gd name="txR" fmla="*/ 39180 w 39180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9180" h="21600" fill="none">
                <a:moveTo>
                  <a:pt x="0" y="10599"/>
                </a:moveTo>
                <a:cubicBezTo>
                  <a:pt x="3888" y="4029"/>
                  <a:pt x="10955" y="-1"/>
                  <a:pt x="18589" y="0"/>
                </a:cubicBezTo>
                <a:cubicBezTo>
                  <a:pt x="28004" y="0"/>
                  <a:pt x="36335" y="6099"/>
                  <a:pt x="39179" y="15075"/>
                </a:cubicBezTo>
              </a:path>
              <a:path w="39180" h="21600" stroke="0">
                <a:moveTo>
                  <a:pt x="0" y="10599"/>
                </a:moveTo>
                <a:cubicBezTo>
                  <a:pt x="3888" y="4029"/>
                  <a:pt x="10955" y="-1"/>
                  <a:pt x="18589" y="0"/>
                </a:cubicBezTo>
                <a:cubicBezTo>
                  <a:pt x="28004" y="0"/>
                  <a:pt x="36335" y="6099"/>
                  <a:pt x="39179" y="15075"/>
                </a:cubicBezTo>
                <a:lnTo>
                  <a:pt x="18589" y="21600"/>
                </a:lnTo>
                <a:lnTo>
                  <a:pt x="0" y="10599"/>
                </a:lnTo>
                <a:close/>
              </a:path>
            </a:pathLst>
          </a:custGeom>
          <a:noFill/>
          <a:ln w="25400" cap="rnd" cmpd="sng">
            <a:solidFill>
              <a:srgbClr val="00CCFF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7832" name="Arc 8"/>
          <p:cNvSpPr/>
          <p:nvPr/>
        </p:nvSpPr>
        <p:spPr>
          <a:xfrm rot="10800000">
            <a:off x="1501775" y="1835150"/>
            <a:ext cx="4619625" cy="2192338"/>
          </a:xfrm>
          <a:custGeom>
            <a:avLst/>
            <a:gdLst>
              <a:gd name="txL" fmla="*/ 0 w 36936"/>
              <a:gd name="txT" fmla="*/ 0 h 21600"/>
              <a:gd name="txR" fmla="*/ 36936 w 36936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6936" h="21600" fill="none">
                <a:moveTo>
                  <a:pt x="0" y="14535"/>
                </a:moveTo>
                <a:cubicBezTo>
                  <a:pt x="3011" y="5835"/>
                  <a:pt x="11205" y="-1"/>
                  <a:pt x="20412" y="0"/>
                </a:cubicBezTo>
                <a:cubicBezTo>
                  <a:pt x="26784" y="0"/>
                  <a:pt x="32831" y="2813"/>
                  <a:pt x="36936" y="7688"/>
                </a:cubicBezTo>
              </a:path>
              <a:path w="36936" h="21600" stroke="0">
                <a:moveTo>
                  <a:pt x="0" y="14535"/>
                </a:moveTo>
                <a:cubicBezTo>
                  <a:pt x="3011" y="5835"/>
                  <a:pt x="11205" y="-1"/>
                  <a:pt x="20412" y="0"/>
                </a:cubicBezTo>
                <a:cubicBezTo>
                  <a:pt x="26784" y="0"/>
                  <a:pt x="32831" y="2813"/>
                  <a:pt x="36936" y="7688"/>
                </a:cubicBezTo>
                <a:lnTo>
                  <a:pt x="20412" y="21600"/>
                </a:lnTo>
                <a:lnTo>
                  <a:pt x="0" y="14535"/>
                </a:lnTo>
                <a:close/>
              </a:path>
            </a:pathLst>
          </a:custGeom>
          <a:noFill/>
          <a:ln w="25400" cap="rnd" cmpd="sng">
            <a:solidFill>
              <a:srgbClr val="3DF500">
                <a:alpha val="10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7833" name="Arc 9"/>
          <p:cNvSpPr/>
          <p:nvPr/>
        </p:nvSpPr>
        <p:spPr>
          <a:xfrm rot="10800000">
            <a:off x="1509713" y="2693988"/>
            <a:ext cx="2587625" cy="1738312"/>
          </a:xfrm>
          <a:custGeom>
            <a:avLst/>
            <a:gdLst>
              <a:gd name="txL" fmla="*/ 0 w 42073"/>
              <a:gd name="txT" fmla="*/ 0 h 21600"/>
              <a:gd name="txR" fmla="*/ 42073 w 42073"/>
              <a:gd name="txB" fmla="*/ 21600 h 21600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2073" h="21600" fill="none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0875" y="0"/>
                  <a:pt x="39115" y="5921"/>
                  <a:pt x="42072" y="14713"/>
                </a:cubicBezTo>
              </a:path>
              <a:path w="42073" h="21600" stroke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0875" y="0"/>
                  <a:pt x="39115" y="5921"/>
                  <a:pt x="42072" y="14713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 cmpd="sng">
            <a:solidFill>
              <a:schemeClr val="hlink">
                <a:alpha val="10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>
          <a:xfrm>
            <a:off x="5932488" y="1847850"/>
            <a:ext cx="1135062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00CCFF"/>
                </a:solidFill>
                <a:ea typeface="宋体" panose="02010600030101010101" pitchFamily="2" charset="-122"/>
              </a:rPr>
              <a:t>AC(y)</a:t>
            </a:r>
            <a:endParaRPr lang="en-US" altLang="zh-CN" sz="2800" dirty="0">
              <a:solidFill>
                <a:srgbClr val="00CCFF"/>
              </a:solidFill>
              <a:ea typeface="宋体" panose="02010600030101010101" pitchFamily="2" charset="-122"/>
            </a:endParaRPr>
          </a:p>
        </p:txBody>
      </p:sp>
      <p:sp>
        <p:nvSpPr>
          <p:cNvPr id="77835" name="Rectangle 11"/>
          <p:cNvSpPr/>
          <p:nvPr/>
        </p:nvSpPr>
        <p:spPr>
          <a:xfrm>
            <a:off x="6170613" y="23241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3DF500"/>
                </a:solidFill>
                <a:ea typeface="宋体" panose="02010600030101010101" pitchFamily="2" charset="-122"/>
              </a:rPr>
              <a:t>AVC(y)</a:t>
            </a:r>
            <a:endParaRPr lang="en-US" altLang="zh-CN" sz="2800" dirty="0">
              <a:solidFill>
                <a:srgbClr val="3DF500"/>
              </a:solidFill>
              <a:ea typeface="宋体" panose="02010600030101010101" pitchFamily="2" charset="-122"/>
            </a:endParaRPr>
          </a:p>
        </p:txBody>
      </p:sp>
      <p:sp>
        <p:nvSpPr>
          <p:cNvPr id="77836" name="Rectangle 12"/>
          <p:cNvSpPr/>
          <p:nvPr/>
        </p:nvSpPr>
        <p:spPr>
          <a:xfrm>
            <a:off x="3765550" y="2133600"/>
            <a:ext cx="1174750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hlink"/>
                </a:solidFill>
                <a:ea typeface="宋体" panose="02010600030101010101" pitchFamily="2" charset="-122"/>
              </a:rPr>
              <a:t>MC(y)</a:t>
            </a:r>
            <a:endParaRPr lang="en-US" altLang="zh-CN" sz="2800" dirty="0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77837" name="Line 13"/>
          <p:cNvSpPr/>
          <p:nvPr/>
        </p:nvSpPr>
        <p:spPr>
          <a:xfrm flipH="1">
            <a:off x="1455738" y="3371850"/>
            <a:ext cx="24955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77838" name="Line 14"/>
          <p:cNvSpPr/>
          <p:nvPr/>
        </p:nvSpPr>
        <p:spPr>
          <a:xfrm>
            <a:off x="3965575" y="3371850"/>
            <a:ext cx="0" cy="1585913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</p:sp>
      <p:sp>
        <p:nvSpPr>
          <p:cNvPr id="77839" name="Rectangle 15"/>
          <p:cNvSpPr/>
          <p:nvPr/>
        </p:nvSpPr>
        <p:spPr>
          <a:xfrm>
            <a:off x="3683000" y="4989513"/>
            <a:ext cx="568325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y*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40" name="Rectangle 16"/>
          <p:cNvSpPr/>
          <p:nvPr/>
        </p:nvSpPr>
        <p:spPr>
          <a:xfrm>
            <a:off x="915988" y="3090863"/>
            <a:ext cx="53657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p</a:t>
            </a:r>
            <a:r>
              <a:rPr lang="en-US" altLang="zh-CN" sz="2800" baseline="30000" dirty="0">
                <a:ea typeface="宋体" panose="02010600030101010101" pitchFamily="2" charset="-122"/>
              </a:rPr>
              <a:t>e</a:t>
            </a:r>
            <a:endParaRPr lang="en-US" altLang="zh-CN" sz="2800" baseline="30000" dirty="0">
              <a:ea typeface="宋体" panose="02010600030101010101" pitchFamily="2" charset="-122"/>
            </a:endParaRPr>
          </a:p>
        </p:txBody>
      </p:sp>
      <p:sp>
        <p:nvSpPr>
          <p:cNvPr id="77841" name="Rectangle 17"/>
          <p:cNvSpPr/>
          <p:nvPr/>
        </p:nvSpPr>
        <p:spPr>
          <a:xfrm>
            <a:off x="1455738" y="3371850"/>
            <a:ext cx="2495550" cy="619125"/>
          </a:xfrm>
          <a:prstGeom prst="rect">
            <a:avLst/>
          </a:prstGeom>
          <a:solidFill>
            <a:srgbClr val="FF4E2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7842" name="Rectangle 18"/>
          <p:cNvSpPr/>
          <p:nvPr/>
        </p:nvSpPr>
        <p:spPr>
          <a:xfrm>
            <a:off x="2360613" y="3446463"/>
            <a:ext cx="431800" cy="5794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F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43" name="Rectangle 19"/>
          <p:cNvSpPr/>
          <p:nvPr/>
        </p:nvSpPr>
        <p:spPr>
          <a:xfrm>
            <a:off x="4956175" y="3660775"/>
            <a:ext cx="4130675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The firm’s economic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profit is zero.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7844" name="Rectangle 20"/>
          <p:cNvSpPr/>
          <p:nvPr/>
        </p:nvSpPr>
        <p:spPr>
          <a:xfrm>
            <a:off x="479425" y="5613400"/>
            <a:ext cx="8183563" cy="10668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v"/>
              <a:defRPr sz="32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F is the payment to the owner of the fixed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input (the license); F = economic rent.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 On Blue">
  <a:themeElements>
    <a:clrScheme name="Lines On Blue 1">
      <a:dk1>
        <a:srgbClr val="000000"/>
      </a:dk1>
      <a:lt1>
        <a:srgbClr val="FFFFFF"/>
      </a:lt1>
      <a:dk2>
        <a:srgbClr val="000000"/>
      </a:dk2>
      <a:lt2>
        <a:srgbClr val="FFFF00"/>
      </a:lt2>
      <a:accent1>
        <a:srgbClr val="FF9933"/>
      </a:accent1>
      <a:accent2>
        <a:srgbClr val="0000FF"/>
      </a:accent2>
      <a:accent3>
        <a:srgbClr val="AAAAAA"/>
      </a:accent3>
      <a:accent4>
        <a:srgbClr val="DADADA"/>
      </a:accent4>
      <a:accent5>
        <a:srgbClr val="FFCAAD"/>
      </a:accent5>
      <a:accent6>
        <a:srgbClr val="0000E7"/>
      </a:accent6>
      <a:hlink>
        <a:srgbClr val="FF33CC"/>
      </a:hlink>
      <a:folHlink>
        <a:srgbClr val="000080"/>
      </a:folHlink>
    </a:clrScheme>
    <a:fontScheme name="Lines On Blu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ines On Blue 1">
        <a:dk1>
          <a:srgbClr val="000000"/>
        </a:dk1>
        <a:lt1>
          <a:srgbClr val="FFFFFF"/>
        </a:lt1>
        <a:dk2>
          <a:srgbClr val="000000"/>
        </a:dk2>
        <a:lt2>
          <a:srgbClr val="FFFF00"/>
        </a:lt2>
        <a:accent1>
          <a:srgbClr val="FF9933"/>
        </a:accent1>
        <a:accent2>
          <a:srgbClr val="0000FF"/>
        </a:accent2>
        <a:accent3>
          <a:srgbClr val="AAAAAA"/>
        </a:accent3>
        <a:accent4>
          <a:srgbClr val="DADADA"/>
        </a:accent4>
        <a:accent5>
          <a:srgbClr val="FFCAAD"/>
        </a:accent5>
        <a:accent6>
          <a:srgbClr val="0000E7"/>
        </a:accent6>
        <a:hlink>
          <a:srgbClr val="FF33CC"/>
        </a:hlink>
        <a:folHlink>
          <a:srgbClr val="000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2">
        <a:dk1>
          <a:srgbClr val="000000"/>
        </a:dk1>
        <a:lt1>
          <a:srgbClr val="CCCCFF"/>
        </a:lt1>
        <a:dk2>
          <a:srgbClr val="660066"/>
        </a:dk2>
        <a:lt2>
          <a:srgbClr val="99CCFF"/>
        </a:lt2>
        <a:accent1>
          <a:srgbClr val="33CCFF"/>
        </a:accent1>
        <a:accent2>
          <a:srgbClr val="6699FF"/>
        </a:accent2>
        <a:accent3>
          <a:srgbClr val="E2E2FF"/>
        </a:accent3>
        <a:accent4>
          <a:srgbClr val="000000"/>
        </a:accent4>
        <a:accent5>
          <a:srgbClr val="ADE2FF"/>
        </a:accent5>
        <a:accent6>
          <a:srgbClr val="5C8AE7"/>
        </a:accent6>
        <a:hlink>
          <a:srgbClr val="6666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4">
        <a:dk1>
          <a:srgbClr val="000066"/>
        </a:dk1>
        <a:lt1>
          <a:srgbClr val="EAEAEA"/>
        </a:lt1>
        <a:dk2>
          <a:srgbClr val="660066"/>
        </a:dk2>
        <a:lt2>
          <a:srgbClr val="CBCBCB"/>
        </a:lt2>
        <a:accent1>
          <a:srgbClr val="330099"/>
        </a:accent1>
        <a:accent2>
          <a:srgbClr val="FF7C80"/>
        </a:accent2>
        <a:accent3>
          <a:srgbClr val="B8AAB8"/>
        </a:accent3>
        <a:accent4>
          <a:srgbClr val="C8C8C8"/>
        </a:accent4>
        <a:accent5>
          <a:srgbClr val="ADAACA"/>
        </a:accent5>
        <a:accent6>
          <a:srgbClr val="E77073"/>
        </a:accent6>
        <a:hlink>
          <a:srgbClr val="66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5">
        <a:dk1>
          <a:srgbClr val="000080"/>
        </a:dk1>
        <a:lt1>
          <a:srgbClr val="EAEAEA"/>
        </a:lt1>
        <a:dk2>
          <a:srgbClr val="9933FF"/>
        </a:dk2>
        <a:lt2>
          <a:srgbClr val="CBCBCB"/>
        </a:lt2>
        <a:accent1>
          <a:srgbClr val="00CC99"/>
        </a:accent1>
        <a:accent2>
          <a:srgbClr val="00CCFF"/>
        </a:accent2>
        <a:accent3>
          <a:srgbClr val="CAADFF"/>
        </a:accent3>
        <a:accent4>
          <a:srgbClr val="C8C8C8"/>
        </a:accent4>
        <a:accent5>
          <a:srgbClr val="AAE2CA"/>
        </a:accent5>
        <a:accent6>
          <a:srgbClr val="00B9E7"/>
        </a:accent6>
        <a:hlink>
          <a:srgbClr val="6666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6">
        <a:dk1>
          <a:srgbClr val="000000"/>
        </a:dk1>
        <a:lt1>
          <a:srgbClr val="FFFFCC"/>
        </a:lt1>
        <a:dk2>
          <a:srgbClr val="660066"/>
        </a:dk2>
        <a:lt2>
          <a:srgbClr val="FFFFFF"/>
        </a:lt2>
        <a:accent1>
          <a:srgbClr val="99CCFF"/>
        </a:accent1>
        <a:accent2>
          <a:srgbClr val="FFCC99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E7B98A"/>
        </a:accent6>
        <a:hlink>
          <a:srgbClr val="CC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ines On Blue 1">
    <a:dk1>
      <a:srgbClr val="000000"/>
    </a:dk1>
    <a:lt1>
      <a:srgbClr val="FFFFFF"/>
    </a:lt1>
    <a:dk2>
      <a:srgbClr val="000000"/>
    </a:dk2>
    <a:lt2>
      <a:srgbClr val="FFFF00"/>
    </a:lt2>
    <a:accent1>
      <a:srgbClr val="FF9933"/>
    </a:accent1>
    <a:accent2>
      <a:srgbClr val="0000FF"/>
    </a:accent2>
    <a:accent3>
      <a:srgbClr val="AAAAAA"/>
    </a:accent3>
    <a:accent4>
      <a:srgbClr val="DADADA"/>
    </a:accent4>
    <a:accent5>
      <a:srgbClr val="FFCAAD"/>
    </a:accent5>
    <a:accent6>
      <a:srgbClr val="0000E7"/>
    </a:accent6>
    <a:hlink>
      <a:srgbClr val="FF33CC"/>
    </a:hlink>
    <a:folHlink>
      <a:srgbClr val="0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Designs\Lines On Blue.pot</Template>
  <TotalTime>0</TotalTime>
  <Words>12012</Words>
  <Application>WPS 演示</Application>
  <PresentationFormat>全屏显示(4:3)</PresentationFormat>
  <Paragraphs>1461</Paragraphs>
  <Slides>73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73</vt:i4>
      </vt:variant>
    </vt:vector>
  </HeadingPairs>
  <TitlesOfParts>
    <vt:vector size="86" baseType="lpstr">
      <vt:lpstr>Arial</vt:lpstr>
      <vt:lpstr>宋体</vt:lpstr>
      <vt:lpstr>Wingdings</vt:lpstr>
      <vt:lpstr>Times New Roman</vt:lpstr>
      <vt:lpstr>Monotype Sorts</vt:lpstr>
      <vt:lpstr>Wingdings</vt:lpstr>
      <vt:lpstr>Symbol</vt:lpstr>
      <vt:lpstr>黑体</vt:lpstr>
      <vt:lpstr>微软雅黑</vt:lpstr>
      <vt:lpstr>Arial Unicode MS</vt:lpstr>
      <vt:lpstr>Lines On Blue</vt:lpstr>
      <vt:lpstr>Equation.2</vt:lpstr>
      <vt:lpstr>Equation.2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Twenty-Two</dc:title>
  <dc:creator>Gateway Authorized Customer</dc:creator>
  <cp:lastModifiedBy>蒋士成</cp:lastModifiedBy>
  <cp:revision>44</cp:revision>
  <dcterms:created xsi:type="dcterms:W3CDTF">1997-03-09T03:01:06Z</dcterms:created>
  <dcterms:modified xsi:type="dcterms:W3CDTF">2023-12-29T07:09:20Z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1A69973BD628404F98A43AA61A3F023B_13</vt:lpwstr>
  </property>
  <property fmtid="{D5CDD505-2E9C-101B-9397-08002B2CF9AE}" pid="3" name="KSOProductBuildVer">
    <vt:lpwstr>2052-12.1.0.15990</vt:lpwstr>
  </property>
</Properties>
</file>